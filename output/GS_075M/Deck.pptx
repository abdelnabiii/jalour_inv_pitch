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charts/chart1.xml" ContentType="application/vnd.openxmlformats-officedocument.drawingml.chart+xml"/>
  <Override PartName="/ppt/slideMasters/slideMaster7.xml" ContentType="application/vnd.openxmlformats-officedocument.presentationml.slideMaster+xml"/>
  <Override PartName="/ppt/slides/slide7.xml" ContentType="application/vnd.openxmlformats-officedocument.presentationml.slide+xml"/>
  <Override PartName="/ppt/charts/chart2.xml" ContentType="application/vnd.openxmlformats-officedocument.drawingml.chart+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charts/chart3.xml" ContentType="application/vnd.openxmlformats-officedocument.drawingml.chart+xml"/>
  <Override PartName="/ppt/slideMasters/slideMaster10.xml" ContentType="application/vnd.openxmlformats-officedocument.presentationml.slideMaster+xml"/>
  <Override PartName="/ppt/slides/slide10.xml" ContentType="application/vnd.openxmlformats-officedocument.presentationml.slide+xml"/>
  <Override PartName="/ppt/charts/chart4.xml" ContentType="application/vnd.openxmlformats-officedocument.drawingml.chart+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slideMasters/slideMaster13.xml" ContentType="application/vnd.openxmlformats-officedocument.presentationml.slideMaster+xml"/>
  <Override PartName="/ppt/slides/slide13.xml" ContentType="application/vnd.openxmlformats-officedocument.presentationml.slide+xml"/>
  <Override PartName="/ppt/slideMasters/slideMaster14.xml" ContentType="application/vnd.openxmlformats-officedocument.presentationml.slideMaster+xml"/>
  <Override PartName="/ppt/slides/slide14.xml" ContentType="application/vnd.openxmlformats-officedocument.presentationml.slide+xml"/>
  <Override PartName="/ppt/charts/chart5.xml" ContentType="application/vnd.openxmlformats-officedocument.drawingml.chart+xml"/>
  <Override PartName="/ppt/slideMasters/slideMaster15.xml" ContentType="application/vnd.openxmlformats-officedocument.presentationml.slideMaster+xml"/>
  <Override PartName="/ppt/slides/slide15.xml" ContentType="application/vnd.openxmlformats-officedocument.presentationml.slide+xml"/>
  <Override PartName="/ppt/slideMasters/slideMaster16.xml" ContentType="application/vnd.openxmlformats-officedocument.presentationml.slideMaster+xml"/>
  <Override PartName="/ppt/slides/slide16.xml" ContentType="application/vnd.openxmlformats-officedocument.presentationml.slide+xml"/>
  <Override PartName="/ppt/slideMasters/slideMaster17.xml" ContentType="application/vnd.openxmlformats-officedocument.presentationml.slideMaster+xml"/>
  <Override PartName="/ppt/slides/slide17.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Lst>
  <p:notesMasterIdLst>
    <p:notesMasterId r:id="rId19"/>
  </p:notesMaster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slide" Target="slides/slide16.xml"/><Relationship Id="rId18" Type="http://schemas.openxmlformats.org/officeDocument/2006/relationships/slide" Target="slides/slide17.xml"/><Relationship Id="rId19" Type="http://schemas.openxmlformats.org/officeDocument/2006/relationships/notesMaster" Target="notesMasters/notesMaster1.xml"/><Relationship Id="rId20" Type="http://schemas.openxmlformats.org/officeDocument/2006/relationships/presProps" Target="presProps.xml"/><Relationship Id="rId21" Type="http://schemas.openxmlformats.org/officeDocument/2006/relationships/viewProps" Target="viewProps.xml"/><Relationship Id="rId22" Type="http://schemas.openxmlformats.org/officeDocument/2006/relationships/theme" Target="theme/theme1.xml"/><Relationship Id="rId23" Type="http://schemas.openxmlformats.org/officeDocument/2006/relationships/tableStyles" Target="tableStyles.xml"/></Relationships>
</file>

<file path=ppt/charts/_rels/chart1.xml.rels><?xml version="1.0" encoding="UTF-8" standalone="yes"?><Relationships xmlns="http://schemas.openxmlformats.org/package/2006/relationships"><Relationship Id="rId1" Type="http://schemas.openxmlformats.org/officeDocument/2006/relationships/package" Target="../embeddings/Microsoft_Excel_Worksheet1.xlsx"/></Relationships>
</file>

<file path=ppt/charts/_rels/chart2.xml.rels><?xml version="1.0" encoding="UTF-8" standalone="yes"?><Relationships xmlns="http://schemas.openxmlformats.org/package/2006/relationships"><Relationship Id="rId1" Type="http://schemas.openxmlformats.org/officeDocument/2006/relationships/package" Target="../embeddings/Microsoft_Excel_Worksheet2.xlsx"/></Relationships>
</file>

<file path=ppt/charts/_rels/chart3.xml.rels><?xml version="1.0" encoding="UTF-8" standalone="yes"?><Relationships xmlns="http://schemas.openxmlformats.org/package/2006/relationships"><Relationship Id="rId1" Type="http://schemas.openxmlformats.org/officeDocument/2006/relationships/package" Target="../embeddings/Microsoft_Excel_Worksheet3.xlsx"/></Relationships>
</file>

<file path=ppt/charts/_rels/chart4.xml.rels><?xml version="1.0" encoding="UTF-8" standalone="yes"?><Relationships xmlns="http://schemas.openxmlformats.org/package/2006/relationships"><Relationship Id="rId1" Type="http://schemas.openxmlformats.org/officeDocument/2006/relationships/package" Target="../embeddings/Microsoft_Excel_Worksheet4.xlsx"/></Relationships>
</file>

<file path=ppt/charts/_rels/chart5.xml.rels><?xml version="1.0" encoding="UTF-8" standalone="yes"?><Relationships xmlns="http://schemas.openxmlformats.org/package/2006/relationships"><Relationship Id="rId1" Type="http://schemas.openxmlformats.org/officeDocument/2006/relationships/package" Target="../embeddings/Microsoft_Excel_Worksheet5.xlsx"/></Relationships>
</file>

<file path=ppt/charts/chart1.xml><?xml version="1.0" encoding="utf-8"?>
<c:chartSpace xmlns:c="http://schemas.openxmlformats.org/drawingml/2006/chart" xmlns:a="http://schemas.openxmlformats.org/drawingml/2006/main" xmlns:r="http://schemas.openxmlformats.org/officeDocument/2006/relationships">
  <c:date1904 val="0"/>
  <c:roundedCorners val="1"/>
  <c:chart>
    <c:title>
      <c:tx>
        <c:rich>
          <a:bodyPr/>
          <a:lstStyle/>
          <a:p>
            <a:pPr>
              <a:defRPr sz="1300" b="0" i="0" u="none" strike="noStrike">
                <a:solidFill>
                  <a:srgbClr val="1B1F2A"/>
                </a:solidFill>
                <a:latin typeface="Arial"/>
              </a:defRPr>
            </a:pPr>
            <a:r>
              <a:rPr sz="1300" b="0" i="0" u="none" strike="noStrike">
                <a:solidFill>
                  <a:srgbClr val="1B1F2A"/>
                </a:solidFill>
                <a:latin typeface="Arial"/>
              </a:rPr>
              <a:t>Built-up area mix (m2)</a:t>
            </a:r>
          </a:p>
        </c:rich>
      </c:tx>
      <c:layout/>
      <c:overlay val="0"/>
    </c:title>
    <c:autoTitleDeleted val="0"/>
    <c:plotArea>
      <c:layout/>
      <c:doughnutChart>
        <c:varyColors val="1"/>
        <c:ser>
          <c:idx val="0"/>
          <c:order val="0"/>
          <c:tx>
            <c:strRef>
              <c:f>Sheet1!$B$1</c:f>
              <c:strCache>
                <c:ptCount val="1"/>
                <c:pt idx="0">
                  <c:v>Built-up area</c:v>
                </c:pt>
              </c:strCache>
            </c:strRef>
          </c:tx>
          <c:spPr>
            <a:solidFill>
              <a:schemeClr val="accent1"/>
            </a:solidFill>
            <a:ln w="9525" cap="flat">
              <a:solidFill>
                <a:srgbClr val="F9F9F9"/>
              </a:solidFill>
              <a:prstDash val="solid"/>
              <a:round/>
            </a:ln>
            <a:effectLst/>
          </c:spPr>
          <c:dPt>
            <c:idx val="0"/>
            <c:bubble3D val="0"/>
            <c:spPr>
              <a:solidFill>
                <a:srgbClr val="B8893B"/>
              </a:solidFill>
              <a:effectLst/>
            </c:spPr>
          </c:dPt>
          <c:dPt>
            <c:idx val="1"/>
            <c:bubble3D val="0"/>
            <c:spPr>
              <a:solidFill>
                <a:srgbClr val="17324D"/>
              </a:solidFill>
              <a:effectLst/>
            </c:spPr>
          </c:dPt>
          <c:dLbls>
            <c:dLbl>
              <c:idx val="0"/>
              <c:numFmt formatCode="0%" sourceLinked="0"/>
              <c:spPr/>
              <c:txPr>
                <a:bodyPr/>
                <a:lstStyle/>
                <a:p>
                  <a:pPr>
                    <a:defRPr sz="1200" b="0" i="0" u="none" strike="noStrike">
                      <a:solidFill>
                        <a:srgbClr val="FFFFFF"/>
                      </a:solidFill>
                      <a:latin typeface="Arial"/>
                    </a:defRPr>
                  </a:pPr>
                </a:p>
              </c:txPr>
              <c:showLegendKey val="0"/>
              <c:showVal val="0"/>
              <c:showCatName val="0"/>
              <c:showSerName val="0"/>
              <c:showPercent val="1"/>
              <c:showBubbleSize val="0"/>
            </c:dLbl>
            <c:dLbl>
              <c:idx val="1"/>
              <c:numFmt formatCode="0%" sourceLinked="0"/>
              <c:spPr/>
              <c:txPr>
                <a:bodyPr/>
                <a:lstStyle/>
                <a:p>
                  <a:pPr>
                    <a:defRPr sz="1200" b="0" i="0" u="none" strike="noStrike">
                      <a:solidFill>
                        <a:srgbClr val="FFFFFF"/>
                      </a:solidFill>
                      <a:latin typeface="Arial"/>
                    </a:defRPr>
                  </a:pPr>
                </a:p>
              </c:txPr>
              <c:showLegendKey val="0"/>
              <c:showVal val="0"/>
              <c:showCatName val="0"/>
              <c:showSerName val="0"/>
              <c:showPercent val="1"/>
              <c:showBubbleSize val="0"/>
            </c:dLbl>
            <c:numFmt formatCode="0%" sourceLinked="0"/>
            <c:txPr>
              <a:bodyPr/>
              <a:lstStyle/>
              <a:p>
                <a:pPr>
                  <a:defRPr sz="1800" b="0" i="0" u="none" strike="noStrike">
                    <a:solidFill>
                      <a:srgbClr val="000000"/>
                    </a:solidFill>
                    <a:latin typeface="Arial"/>
                  </a:defRPr>
                </a:pPr>
              </a:p>
            </c:txPr>
            <c:showLegendKey val="0"/>
            <c:showVal val="0"/>
            <c:showCatName val="1"/>
            <c:showSerName val="0"/>
            <c:showPercent val="1"/>
            <c:showBubbleSize val="0"/>
            <c:showLeaderLines val="0"/>
          </c:dLbls>
          <c:cat>
            <c:strRef>
              <c:f>Sheet1!$A$2:$A$3</c:f>
              <c:strCache>
                <c:ptCount val="2"/>
                <c:pt idx="0">
                  <c:v>Retail</c:v>
                </c:pt>
                <c:pt idx="1">
                  <c:v>Offices</c:v>
                </c:pt>
              </c:strCache>
            </c:strRef>
          </c:cat>
          <c:val>
            <c:numRef>
              <c:f>Sheet1!$B$2:$B$3</c:f>
              <c:numCache>
                <c:ptCount val="2"/>
                <c:pt idx="0">
                  <c:v>4341</c:v>
                </c:pt>
                <c:pt idx="1">
                  <c:v>8682</c:v>
                </c:pt>
              </c:numCache>
            </c:numRef>
          </c:val>
        </c:ser>
        <c:firstSliceAng val="0"/>
        <c:holeSize val="55"/>
      </c:doughnutChart>
      <c:spPr>
        <a:noFill/>
        <a:ln>
          <a:noFill/>
        </a:ln>
        <a:effectLst/>
      </c:spPr>
    </c:plotArea>
    <c:legend>
      <c:legendPos val="b"/>
      <c:overlay val="0"/>
      <c:txPr>
        <a:bodyPr/>
        <a:lstStyle/>
        <a:p>
          <a:pPr>
            <a:defRPr sz="1200">      </a:defRPr>
          </a:pPr>
          <a:endParaRPr lang="en-US"/>
        </a:p>
      </c:txPr>
    </c:legend>
    <c:plotVisOnly val="1"/>
    <c:dispBlanksAs val="span"/>
  </c:chart>
  <c:spPr>
    <a:noFill/>
    <a:ln>
      <a:noFill/>
    </a:ln>
    <a:effectLst/>
  </c:spPr>
  <c:externalData r:id="rId1">
    <c:autoUpdate val="0"/>
  </c:externalData>
</c:chartSpace>
</file>

<file path=ppt/charts/chart2.xml><?xml version="1.0" encoding="utf-8"?>
<c:chartSpace xmlns:c="http://schemas.openxmlformats.org/drawingml/2006/chart" xmlns:a="http://schemas.openxmlformats.org/drawingml/2006/main" xmlns:r="http://schemas.openxmlformats.org/officeDocument/2006/relationships">
  <c:date1904 val="0"/>
  <c:roundedCorners val="1"/>
  <c:chart>
    <c:title>
      <c:tx>
        <c:rich>
          <a:bodyPr/>
          <a:lstStyle/>
          <a:p>
            <a:pPr>
              <a:defRPr sz="1300" b="0" i="0" u="none" strike="noStrike">
                <a:solidFill>
                  <a:srgbClr val="1B1F2A"/>
                </a:solidFill>
                <a:latin typeface="Arial"/>
              </a:defRPr>
            </a:pPr>
            <a:r>
              <a:rPr sz="1300" b="0" i="0" u="none" strike="noStrike">
                <a:solidFill>
                  <a:srgbClr val="1B1F2A"/>
                </a:solidFill>
                <a:latin typeface="Arial"/>
              </a:rPr>
              <a:t>Minimum guarantee schedule (EGP million)</a:t>
            </a:r>
          </a:p>
        </c:rich>
      </c:tx>
      <c:layout/>
      <c:overlay val="0"/>
    </c:title>
    <c:autoTitleDeleted val="0"/>
    <c:plotArea>
      <c:layout/>
      <c:barChart>
        <c:barDir val="col"/>
        <c:grouping val="clustered"/>
        <c:varyColors val="0"/>
        <c:ser>
          <c:idx val="0"/>
          <c:order val="0"/>
          <c:tx>
            <c:strRef>
              <c:f>Sheet1!$B$1</c:f>
              <c:strCache>
                <c:ptCount val="1"/>
                <c:pt idx="0">
                  <c:v>Guaranteed payment to landlord (EGP m)</c:v>
                </c:pt>
              </c:strCache>
            </c:strRef>
          </c:tx>
          <c:spPr>
            <a:solidFill>
              <a:srgbClr val="17324D"/>
            </a:solidFill>
            <a:effectLst/>
          </c:spPr>
          <c:invertIfNegative val="0"/>
          <c:dLbls>
            <c:numFmt formatCode="#,##0" sourceLinked="0"/>
            <c:txPr>
              <a:bodyPr/>
              <a:lstStyle/>
              <a:p>
                <a:pPr>
                  <a:defRPr b="0" i="0" strike="noStrike" sz="1100" u="none">
                    <a:solidFill>
                      <a:srgbClr val="1B1F2A"/>
                    </a:solidFill>
                    <a:latin typeface="Arial"/>
                  </a:defRPr>
                </a:pPr>
              </a:p>
            </c:txPr>
            <c:showLegendKey val="0"/>
            <c:showVal val="1"/>
            <c:showCatName val="0"/>
            <c:showSerName val="0"/>
            <c:showPercent val="0"/>
            <c:showBubbleSize val="0"/>
            <c:showLeaderLines val="0"/>
          </c:dLbls>
          <c:cat>
            <c:multiLvlStrRef>
              <c:f>Sheet1!$A$2:$A$8</c:f>
              <c:multiLvlStrCache>
                <c:ptCount val="7"/>
                <c:lvl>
                  <c:pt idx="0">
                    <c:v>Down payment</c:v>
                  </c:pt>
                  <c:pt idx="1">
                    <c:v>Year 1</c:v>
                  </c:pt>
                  <c:pt idx="2">
                    <c:v>Year 2</c:v>
                  </c:pt>
                  <c:pt idx="3">
                    <c:v>Year 3</c:v>
                  </c:pt>
                  <c:pt idx="4">
                    <c:v>Year 4</c:v>
                  </c:pt>
                  <c:pt idx="5">
                    <c:v>Year 5</c:v>
                  </c:pt>
                  <c:pt idx="6">
                    <c:v>Year 6</c:v>
                  </c:pt>
                </c:lvl>
              </c:multiLvlStrCache>
            </c:multiLvlStrRef>
          </c:cat>
          <c:val>
            <c:numRef>
              <c:f>Sheet1!$B$2:$B$8</c:f>
              <c:numCache>
                <c:formatCode>General</c:formatCode>
                <c:ptCount val="7"/>
                <c:pt idx="0">
                  <c:v>80</c:v>
                </c:pt>
                <c:pt idx="1">
                  <c:v>45</c:v>
                </c:pt>
                <c:pt idx="2">
                  <c:v>90</c:v>
                </c:pt>
                <c:pt idx="3">
                  <c:v>135</c:v>
                </c:pt>
                <c:pt idx="4">
                  <c:v>180</c:v>
                </c:pt>
                <c:pt idx="5">
                  <c:v>180</c:v>
                </c:pt>
                <c:pt idx="6">
                  <c:v>90</c:v>
                </c:pt>
              </c:numCache>
            </c:numRef>
          </c:val>
        </c:ser>
        <c:dLbls>
          <c:numFmt formatCode="#,##0" sourceLinked="0"/>
          <c:txPr>
            <a:bodyPr/>
            <a:lstStyle/>
            <a:p>
              <a:pPr>
                <a:defRPr b="0" i="0" strike="noStrike" sz="1100" u="none">
                  <a:solidFill>
                    <a:srgbClr val="1B1F2A"/>
                  </a:solidFill>
                  <a:latin typeface="Arial"/>
                </a:defRPr>
              </a:pPr>
            </a:p>
          </c:txPr>
          <c:showLegendKey val="0"/>
          <c:showVal val="1"/>
          <c:showCatName val="0"/>
          <c:showSerName val="0"/>
          <c:showPercent val="0"/>
          <c:showBubbleSize val="0"/>
          <c:showLeaderLines val="0"/>
        </c:dLbls>
        <c:gapWidth val="150"/>
        <c:overlap val="0"/>
        <c:axId val="2094734554"/>
        <c:axId val="2094734552"/>
        <c:axId val="2094734556"/>
      </c:barChart>
      <c:catAx>
        <c:axId val="2094734554"/>
        <c:scaling>
          <c:orientation val="minMax"/>
        </c:scaling>
        <c:delete val="0"/>
        <c:axPos val="b"/>
        <c:numFmt formatCode="General" sourceLinked="1"/>
        <c:majorTickMark val="out"/>
        <c:minorTickMark val="none"/>
        <c:tickLblPos val="low"/>
        <c:spPr>
          <a:ln w="12700" cap="flat">
            <a:solidFill>
              <a:srgbClr val="888888"/>
            </a:solidFill>
            <a:prstDash val="solid"/>
            <a:round/>
          </a:ln>
        </c:spPr>
        <c:txPr>
          <a:bodyPr/>
          <a:lstStyle/>
          <a:p>
            <a:pPr>
              <a:defRPr sz="11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scaling>
        <c:delete val="0"/>
        <c:axPos val="l"/>
        <c:majorGridlines>
          <c:spPr>
            <a:ln w="6350" cap="flat">
              <a:solidFill>
                <a:srgbClr val="D5DAE1"/>
              </a:solidFill>
              <a:prstDash val="solid"/>
              <a:round/>
            </a:ln>
          </c:spPr>
        </c:majorGridlines>
        <c:numFmt formatCode="General" sourceLinked="0"/>
        <c:majorTickMark val="out"/>
        <c:minorTickMark val="none"/>
        <c:tickLblPos val="nextTo"/>
        <c:spPr>
          <a:ln w="12700" cap="flat">
            <a:solidFill>
              <a:srgbClr val="888888"/>
            </a:solidFill>
            <a:prstDash val="solid"/>
            <a:round/>
          </a:ln>
        </c:spPr>
        <c:txPr>
          <a:bodyPr/>
          <a:lstStyle/>
          <a:p>
            <a:pPr>
              <a:defRPr sz="1100" b="0" i="0" u="none" strike="noStrike">
                <a:solidFill>
                  <a:srgbClr val="000000"/>
                </a:solidFill>
                <a:latin typeface="Arial"/>
              </a:defRPr>
            </a:pPr>
            <a:endParaRPr lang="en-US"/>
          </a:p>
        </c:txPr>
        <c:crossAx val="2094734554"/>
        <c:crosses val="autoZero"/>
        <c:crossBetween val="between"/>
      </c:valAx>
      <c:spPr>
        <a:noFill/>
        <a:ln>
          <a:noFill/>
        </a:ln>
        <a:effectLst/>
      </c:spPr>
    </c:plotArea>
    <c:plotVisOnly val="1"/>
    <c:dispBlanksAs val="span"/>
  </c:chart>
  <c:spPr>
    <a:noFill/>
    <a:ln>
      <a:noFill/>
    </a:ln>
    <a:effectLst/>
  </c:spPr>
  <c:externalData r:id="rId1">
    <c:autoUpdate val="0"/>
  </c:externalData>
</c:chartSpace>
</file>

<file path=ppt/charts/chart3.xml><?xml version="1.0" encoding="utf-8"?>
<c:chartSpace xmlns:c="http://schemas.openxmlformats.org/drawingml/2006/chart" xmlns:a="http://schemas.openxmlformats.org/drawingml/2006/main" xmlns:r="http://schemas.openxmlformats.org/officeDocument/2006/relationships">
  <c:date1904 val="0"/>
  <c:roundedCorners val="1"/>
  <c:chart>
    <c:title>
      <c:tx>
        <c:rich>
          <a:bodyPr/>
          <a:lstStyle/>
          <a:p>
            <a:pPr>
              <a:defRPr sz="1300" b="0" i="0" u="none" strike="noStrike">
                <a:solidFill>
                  <a:srgbClr val="1B1F2A"/>
                </a:solidFill>
                <a:latin typeface="Arial"/>
              </a:defRPr>
            </a:pPr>
            <a:r>
              <a:rPr sz="1300" b="0" i="0" u="none" strike="noStrike">
                <a:solidFill>
                  <a:srgbClr val="1B1F2A"/>
                </a:solidFill>
                <a:latin typeface="Arial"/>
              </a:rPr>
              <a:t>Sales value by quarter of sale (EGP million, 80% of units)</a:t>
            </a:r>
          </a:p>
        </c:rich>
      </c:tx>
      <c:layout/>
      <c:overlay val="0"/>
    </c:title>
    <c:autoTitleDeleted val="0"/>
    <c:plotArea>
      <c:layout/>
      <c:barChart>
        <c:barDir val="col"/>
        <c:grouping val="stacked"/>
        <c:varyColors val="0"/>
        <c:ser>
          <c:idx val="0"/>
          <c:order val="0"/>
          <c:tx>
            <c:strRef>
              <c:f>Sheet1!$B$1</c:f>
              <c:strCache>
                <c:ptCount val="1"/>
                <c:pt idx="0">
                  <c:v>Retail</c:v>
                </c:pt>
              </c:strCache>
            </c:strRef>
          </c:tx>
          <c:spPr>
            <a:solidFill>
              <a:srgbClr val="B8893B"/>
            </a:solidFill>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cat>
            <c:multiLvlStrRef>
              <c:f>Sheet1!$A$2:$A$11</c:f>
              <c:multiLvlStrCache>
                <c:ptCount val="10"/>
                <c:lvl>
                  <c:pt idx="0">
                    <c:v>M9</c:v>
                  </c:pt>
                  <c:pt idx="1">
                    <c:v>M12</c:v>
                  </c:pt>
                  <c:pt idx="2">
                    <c:v>M15</c:v>
                  </c:pt>
                  <c:pt idx="3">
                    <c:v>M18</c:v>
                  </c:pt>
                  <c:pt idx="4">
                    <c:v>M21</c:v>
                  </c:pt>
                  <c:pt idx="5">
                    <c:v>M24</c:v>
                  </c:pt>
                  <c:pt idx="6">
                    <c:v>M27</c:v>
                  </c:pt>
                  <c:pt idx="7">
                    <c:v>M30</c:v>
                  </c:pt>
                  <c:pt idx="8">
                    <c:v>M33</c:v>
                  </c:pt>
                  <c:pt idx="9">
                    <c:v>M36</c:v>
                  </c:pt>
                </c:lvl>
              </c:multiLvlStrCache>
            </c:multiLvlStrRef>
          </c:cat>
          <c:val>
            <c:numRef>
              <c:f>Sheet1!$B$2:$B$11</c:f>
              <c:numCache>
                <c:formatCode>General</c:formatCode>
                <c:ptCount val="10"/>
                <c:pt idx="0">
                  <c:v>97.6725</c:v>
                </c:pt>
                <c:pt idx="1">
                  <c:v>97.6725</c:v>
                </c:pt>
                <c:pt idx="2">
                  <c:v>75.9675</c:v>
                </c:pt>
                <c:pt idx="3">
                  <c:v>75.9675</c:v>
                </c:pt>
                <c:pt idx="4">
                  <c:v>83.56425000000002</c:v>
                </c:pt>
                <c:pt idx="5">
                  <c:v>83.56425000000002</c:v>
                </c:pt>
                <c:pt idx="6">
                  <c:v>91.16100000000002</c:v>
                </c:pt>
                <c:pt idx="7">
                  <c:v>130.23</c:v>
                </c:pt>
                <c:pt idx="8">
                  <c:v>130.23</c:v>
                </c:pt>
                <c:pt idx="9">
                  <c:v>65.115</c:v>
                </c:pt>
              </c:numCache>
            </c:numRef>
          </c:val>
        </c:ser>
        <c:ser>
          <c:idx val="1"/>
          <c:order val="1"/>
          <c:tx>
            <c:strRef>
              <c:f>Sheet1!$C$1</c:f>
              <c:strCache>
                <c:ptCount val="1"/>
                <c:pt idx="0">
                  <c:v>Offices</c:v>
                </c:pt>
              </c:strCache>
            </c:strRef>
          </c:tx>
          <c:spPr>
            <a:solidFill>
              <a:srgbClr val="17324D"/>
            </a:solidFill>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cat>
            <c:multiLvlStrRef>
              <c:f>Sheet1!$A$2:$A$11</c:f>
              <c:multiLvlStrCache>
                <c:ptCount val="10"/>
                <c:lvl>
                  <c:pt idx="0">
                    <c:v>M9</c:v>
                  </c:pt>
                  <c:pt idx="1">
                    <c:v>M12</c:v>
                  </c:pt>
                  <c:pt idx="2">
                    <c:v>M15</c:v>
                  </c:pt>
                  <c:pt idx="3">
                    <c:v>M18</c:v>
                  </c:pt>
                  <c:pt idx="4">
                    <c:v>M21</c:v>
                  </c:pt>
                  <c:pt idx="5">
                    <c:v>M24</c:v>
                  </c:pt>
                  <c:pt idx="6">
                    <c:v>M27</c:v>
                  </c:pt>
                  <c:pt idx="7">
                    <c:v>M30</c:v>
                  </c:pt>
                  <c:pt idx="8">
                    <c:v>M33</c:v>
                  </c:pt>
                  <c:pt idx="9">
                    <c:v>M36</c:v>
                  </c:pt>
                </c:lvl>
              </c:multiLvlStrCache>
            </c:multiLvlStrRef>
          </c:cat>
          <c:val>
            <c:numRef>
              <c:f>Sheet1!$C$2:$C$11</c:f>
              <c:numCache>
                <c:formatCode>General</c:formatCode>
                <c:ptCount val="10"/>
                <c:pt idx="0">
                  <c:v>205.11225</c:v>
                </c:pt>
                <c:pt idx="1">
                  <c:v>205.11225</c:v>
                </c:pt>
                <c:pt idx="2">
                  <c:v>162.064</c:v>
                </c:pt>
                <c:pt idx="3">
                  <c:v>162.064</c:v>
                </c:pt>
                <c:pt idx="4">
                  <c:v>91.161</c:v>
                </c:pt>
                <c:pt idx="5">
                  <c:v>91.161</c:v>
                </c:pt>
                <c:pt idx="6">
                  <c:v>101.29</c:v>
                </c:pt>
                <c:pt idx="7">
                  <c:v>101.29</c:v>
                </c:pt>
                <c:pt idx="8">
                  <c:v>101.29</c:v>
                </c:pt>
                <c:pt idx="9">
                  <c:v>101.29</c:v>
                </c:pt>
              </c:numCache>
            </c:numRef>
          </c:val>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gapWidth val="50"/>
        <c:overlap val="100"/>
        <c:axId val="2094734554"/>
        <c:axId val="2094734552"/>
        <c:axId val="2094734556"/>
      </c:barChart>
      <c:catAx>
        <c:axId val="2094734554"/>
        <c:scaling>
          <c:orientation val="minMax"/>
        </c:scaling>
        <c:delete val="0"/>
        <c:axPos val="b"/>
        <c:numFmt formatCode="General" sourceLinked="1"/>
        <c:majorTickMark val="out"/>
        <c:minorTickMark val="none"/>
        <c:tickLblPos val="low"/>
        <c:spPr>
          <a:ln w="12700" cap="flat">
            <a:solidFill>
              <a:srgbClr val="888888"/>
            </a:solidFill>
            <a:prstDash val="solid"/>
            <a:round/>
          </a:ln>
        </c:spPr>
        <c:txPr>
          <a:bodyPr/>
          <a:lstStyle/>
          <a:p>
            <a:pPr>
              <a:defRPr sz="11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scaling>
        <c:delete val="0"/>
        <c:axPos val="l"/>
        <c:majorGridlines>
          <c:spPr>
            <a:ln w="6350" cap="flat">
              <a:solidFill>
                <a:srgbClr val="D5DAE1"/>
              </a:solidFill>
              <a:prstDash val="solid"/>
              <a:round/>
            </a:ln>
          </c:spPr>
        </c:majorGridlines>
        <c:numFmt formatCode="General" sourceLinked="0"/>
        <c:majorTickMark val="out"/>
        <c:minorTickMark val="none"/>
        <c:tickLblPos val="nextTo"/>
        <c:spPr>
          <a:ln w="12700" cap="flat">
            <a:solidFill>
              <a:srgbClr val="888888"/>
            </a:solidFill>
            <a:prstDash val="solid"/>
            <a:round/>
          </a:ln>
        </c:spPr>
        <c:txPr>
          <a:bodyPr/>
          <a:lstStyle/>
          <a:p>
            <a:pPr>
              <a:defRPr sz="1100" b="0" i="0" u="none" strike="noStrike">
                <a:solidFill>
                  <a:srgbClr val="000000"/>
                </a:solidFill>
                <a:latin typeface="Arial"/>
              </a:defRPr>
            </a:pPr>
            <a:endParaRPr lang="en-US"/>
          </a:p>
        </c:txPr>
        <c:crossAx val="2094734554"/>
        <c:crosses val="autoZero"/>
        <c:crossBetween val="between"/>
      </c:valAx>
      <c:spPr>
        <a:noFill/>
        <a:ln>
          <a:noFill/>
        </a:ln>
        <a:effectLst/>
      </c:spPr>
    </c:plotArea>
    <c:legend>
      <c:legendPos val="b"/>
      <c:overlay val="0"/>
      <c:txPr>
        <a:bodyPr/>
        <a:lstStyle/>
        <a:p>
          <a:pPr>
            <a:defRPr sz="1100">      </a:defRPr>
          </a:pPr>
          <a:endParaRPr lang="en-US"/>
        </a:p>
      </c:txPr>
    </c:legend>
    <c:plotVisOnly val="1"/>
    <c:dispBlanksAs val="span"/>
  </c:chart>
  <c:spPr>
    <a:noFill/>
    <a:ln>
      <a:noFill/>
    </a:ln>
    <a:effectLst/>
  </c:spPr>
  <c:externalData r:id="rId1">
    <c:autoUpdate val="0"/>
  </c:externalData>
</c:chartSpace>
</file>

<file path=ppt/charts/chart4.xml><?xml version="1.0" encoding="utf-8"?>
<c:chartSpace xmlns:c="http://schemas.openxmlformats.org/drawingml/2006/chart" xmlns:a="http://schemas.openxmlformats.org/drawingml/2006/main" xmlns:r="http://schemas.openxmlformats.org/officeDocument/2006/relationships">
  <c:date1904 val="0"/>
  <c:roundedCorners val="1"/>
  <c:chart>
    <c:title>
      <c:tx>
        <c:rich>
          <a:bodyPr/>
          <a:lstStyle/>
          <a:p>
            <a:pPr>
              <a:defRPr sz="1300" b="0" i="0" u="none" strike="noStrike">
                <a:solidFill>
                  <a:srgbClr val="1B1F2A"/>
                </a:solidFill>
                <a:latin typeface="Arial"/>
              </a:defRPr>
            </a:pPr>
            <a:r>
              <a:rPr sz="1300" b="0" i="0" u="none" strike="noStrike">
                <a:solidFill>
                  <a:srgbClr val="1B1F2A"/>
                </a:solidFill>
                <a:latin typeface="Arial"/>
              </a:rPr>
              <a:t>Project cash flow by project year (EGP million)</a:t>
            </a:r>
          </a:p>
        </c:rich>
      </c:tx>
      <c:layout/>
      <c:overlay val="0"/>
    </c:title>
    <c:autoTitleDeleted val="0"/>
    <c:plotArea>
      <c:layout/>
      <c:barChart>
        <c:barDir val="col"/>
        <c:grouping val="clustered"/>
        <c:varyColors val="0"/>
        <c:ser>
          <c:idx val="0"/>
          <c:order val="0"/>
          <c:tx>
            <c:strRef>
              <c:f>Sheet1!$B$1</c:f>
              <c:strCache>
                <c:ptCount val="1"/>
                <c:pt idx="0">
                  <c:v>Collections</c:v>
                </c:pt>
              </c:strCache>
            </c:strRef>
          </c:tx>
          <c:spPr>
            <a:solidFill>
              <a:srgbClr val="17324D"/>
            </a:solidFill>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cat>
            <c:multiLvlStrRef>
              <c:f>Sheet1!$A$2:$A$11</c:f>
              <c:multiLvlStrCache>
                <c:ptCount val="10"/>
                <c:lvl>
                  <c:pt idx="0">
                    <c:v>Y1</c:v>
                  </c:pt>
                  <c:pt idx="1">
                    <c:v>Y2</c:v>
                  </c:pt>
                  <c:pt idx="2">
                    <c:v>Y3</c:v>
                  </c:pt>
                  <c:pt idx="3">
                    <c:v>Y4</c:v>
                  </c:pt>
                  <c:pt idx="4">
                    <c:v>Y5</c:v>
                  </c:pt>
                  <c:pt idx="5">
                    <c:v>Y6</c:v>
                  </c:pt>
                  <c:pt idx="6">
                    <c:v>Y7</c:v>
                  </c:pt>
                  <c:pt idx="7">
                    <c:v>Y8</c:v>
                  </c:pt>
                  <c:pt idx="8">
                    <c:v>Y9</c:v>
                  </c:pt>
                  <c:pt idx="9">
                    <c:v>Y10</c:v>
                  </c:pt>
                </c:lvl>
              </c:multiLvlStrCache>
            </c:multiLvlStrRef>
          </c:cat>
          <c:val>
            <c:numRef>
              <c:f>Sheet1!$B$2:$B$11</c:f>
              <c:numCache>
                <c:formatCode>General</c:formatCode>
                <c:ptCount val="10"/>
                <c:pt idx="0">
                  <c:v>45.4177125</c:v>
                </c:pt>
                <c:pt idx="1">
                  <c:v>235.096803125</c:v>
                </c:pt>
                <c:pt idx="2">
                  <c:v>937.6944359375001</c:v>
                </c:pt>
                <c:pt idx="3">
                  <c:v>307.96772312499996</c:v>
                </c:pt>
                <c:pt idx="4">
                  <c:v>224.046245</c:v>
                </c:pt>
                <c:pt idx="5">
                  <c:v>175.6911225</c:v>
                </c:pt>
                <c:pt idx="6">
                  <c:v>123.8726959375</c:v>
                </c:pt>
                <c:pt idx="7">
                  <c:v>100.356685</c:v>
                </c:pt>
                <c:pt idx="8">
                  <c:v>89.638936875</c:v>
                </c:pt>
                <c:pt idx="9">
                  <c:v>13.196639999999999</c:v>
                </c:pt>
              </c:numCache>
            </c:numRef>
          </c:val>
        </c:ser>
        <c:ser>
          <c:idx val="1"/>
          <c:order val="1"/>
          <c:tx>
            <c:strRef>
              <c:f>Sheet1!$C$1</c:f>
              <c:strCache>
                <c:ptCount val="1"/>
                <c:pt idx="0">
                  <c:v>Landlord payments</c:v>
                </c:pt>
              </c:strCache>
            </c:strRef>
          </c:tx>
          <c:spPr>
            <a:solidFill>
              <a:srgbClr val="B8893B"/>
            </a:solidFill>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cat>
            <c:multiLvlStrRef>
              <c:f>Sheet1!$A$2:$A$11</c:f>
              <c:multiLvlStrCache>
                <c:ptCount val="10"/>
                <c:lvl>
                  <c:pt idx="0">
                    <c:v>Y1</c:v>
                  </c:pt>
                  <c:pt idx="1">
                    <c:v>Y2</c:v>
                  </c:pt>
                  <c:pt idx="2">
                    <c:v>Y3</c:v>
                  </c:pt>
                  <c:pt idx="3">
                    <c:v>Y4</c:v>
                  </c:pt>
                  <c:pt idx="4">
                    <c:v>Y5</c:v>
                  </c:pt>
                  <c:pt idx="5">
                    <c:v>Y6</c:v>
                  </c:pt>
                  <c:pt idx="6">
                    <c:v>Y7</c:v>
                  </c:pt>
                  <c:pt idx="7">
                    <c:v>Y8</c:v>
                  </c:pt>
                  <c:pt idx="8">
                    <c:v>Y9</c:v>
                  </c:pt>
                  <c:pt idx="9">
                    <c:v>Y10</c:v>
                  </c:pt>
                </c:lvl>
              </c:multiLvlStrCache>
            </c:multiLvlStrRef>
          </c:cat>
          <c:val>
            <c:numRef>
              <c:f>Sheet1!$C$2:$C$11</c:f>
              <c:numCache>
                <c:formatCode>General</c:formatCode>
                <c:ptCount val="10"/>
                <c:pt idx="0">
                  <c:v>-125</c:v>
                </c:pt>
                <c:pt idx="1">
                  <c:v>-90</c:v>
                </c:pt>
                <c:pt idx="2">
                  <c:v>-135</c:v>
                </c:pt>
                <c:pt idx="3">
                  <c:v>-180</c:v>
                </c:pt>
                <c:pt idx="4">
                  <c:v>-180</c:v>
                </c:pt>
                <c:pt idx="5">
                  <c:v>-90</c:v>
                </c:pt>
                <c:pt idx="6">
                  <c:v>0</c:v>
                </c:pt>
                <c:pt idx="7">
                  <c:v>-140.68774761718748</c:v>
                </c:pt>
                <c:pt idx="8">
                  <c:v>-39.217034882812456</c:v>
                </c:pt>
                <c:pt idx="9">
                  <c:v>-5.773529999999993</c:v>
                </c:pt>
              </c:numCache>
            </c:numRef>
          </c:val>
        </c:ser>
        <c:ser>
          <c:idx val="2"/>
          <c:order val="2"/>
          <c:tx>
            <c:strRef>
              <c:f>Sheet1!$D$1</c:f>
              <c:strCache>
                <c:ptCount val="1"/>
                <c:pt idx="0">
                  <c:v>Construction, commission, SG&amp;A</c:v>
                </c:pt>
              </c:strCache>
            </c:strRef>
          </c:tx>
          <c:spPr>
            <a:solidFill>
              <a:srgbClr val="6B7280"/>
            </a:solidFill>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cat>
            <c:multiLvlStrRef>
              <c:f>Sheet1!$A$2:$A$11</c:f>
              <c:multiLvlStrCache>
                <c:ptCount val="10"/>
                <c:lvl>
                  <c:pt idx="0">
                    <c:v>Y1</c:v>
                  </c:pt>
                  <c:pt idx="1">
                    <c:v>Y2</c:v>
                  </c:pt>
                  <c:pt idx="2">
                    <c:v>Y3</c:v>
                  </c:pt>
                  <c:pt idx="3">
                    <c:v>Y4</c:v>
                  </c:pt>
                  <c:pt idx="4">
                    <c:v>Y5</c:v>
                  </c:pt>
                  <c:pt idx="5">
                    <c:v>Y6</c:v>
                  </c:pt>
                  <c:pt idx="6">
                    <c:v>Y7</c:v>
                  </c:pt>
                  <c:pt idx="7">
                    <c:v>Y8</c:v>
                  </c:pt>
                  <c:pt idx="8">
                    <c:v>Y9</c:v>
                  </c:pt>
                  <c:pt idx="9">
                    <c:v>Y10</c:v>
                  </c:pt>
                </c:lvl>
              </c:multiLvlStrCache>
            </c:multiLvlStrRef>
          </c:cat>
          <c:val>
            <c:numRef>
              <c:f>Sheet1!$D$2:$D$11</c:f>
              <c:numCache>
                <c:formatCode>General</c:formatCode>
                <c:ptCount val="10"/>
                <c:pt idx="0">
                  <c:v>0</c:v>
                </c:pt>
                <c:pt idx="1">
                  <c:v>-153.94278</c:v>
                </c:pt>
                <c:pt idx="2">
                  <c:v>-105.88453999999999</c:v>
                </c:pt>
                <c:pt idx="3">
                  <c:v>-632.02584</c:v>
                </c:pt>
                <c:pt idx="4">
                  <c:v>0</c:v>
                </c:pt>
                <c:pt idx="5">
                  <c:v>0</c:v>
                </c:pt>
                <c:pt idx="6">
                  <c:v>0</c:v>
                </c:pt>
                <c:pt idx="7">
                  <c:v>0</c:v>
                </c:pt>
                <c:pt idx="8">
                  <c:v>0</c:v>
                </c:pt>
                <c:pt idx="9">
                  <c:v>0</c:v>
                </c:pt>
              </c:numCache>
            </c:numRef>
          </c:val>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gapWidth val="150"/>
        <c:overlap val="0"/>
        <c:axId val="2094734554"/>
        <c:axId val="2094734552"/>
        <c:axId val="2094734556"/>
      </c:barChart>
      <c:lineChart>
        <c:varyColors val="0"/>
        <c:ser>
          <c:idx val="3"/>
          <c:order val="3"/>
          <c:tx>
            <c:strRef>
              <c:f>Sheet1!$E$1</c:f>
              <c:strCache>
                <c:ptCount val="1"/>
                <c:pt idx="0">
                  <c:v>Cumulative net cash flow</c:v>
                </c:pt>
              </c:strCache>
            </c:strRef>
          </c:tx>
          <c:spPr>
            <a:solidFill>
              <a:srgbClr val="A23B3B"/>
            </a:solidFill>
            <a:ln w="38100" cap="flat">
              <a:solidFill>
                <a:srgbClr val="A23B3B"/>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circle"/>
            <c:size val="7"/>
            <c:spPr>
              <a:solidFill>
                <a:srgbClr val="A23B3B"/>
              </a:solidFill>
              <a:ln w="9525" cap="flat">
                <a:solidFill>
                  <a:srgbClr val="A23B3B"/>
                </a:solidFill>
                <a:prstDash val="solid"/>
                <a:round/>
              </a:ln>
              <a:effectLst/>
            </c:spPr>
          </c:marker>
          <c:cat>
            <c:multiLvlStrRef>
              <c:f>Sheet1!$A$2:$A$11</c:f>
              <c:multiLvlStrCache>
                <c:ptCount val="10"/>
                <c:lvl>
                  <c:pt idx="0">
                    <c:v>Y1</c:v>
                  </c:pt>
                  <c:pt idx="1">
                    <c:v>Y2</c:v>
                  </c:pt>
                  <c:pt idx="2">
                    <c:v>Y3</c:v>
                  </c:pt>
                  <c:pt idx="3">
                    <c:v>Y4</c:v>
                  </c:pt>
                  <c:pt idx="4">
                    <c:v>Y5</c:v>
                  </c:pt>
                  <c:pt idx="5">
                    <c:v>Y6</c:v>
                  </c:pt>
                  <c:pt idx="6">
                    <c:v>Y7</c:v>
                  </c:pt>
                  <c:pt idx="7">
                    <c:v>Y8</c:v>
                  </c:pt>
                  <c:pt idx="8">
                    <c:v>Y9</c:v>
                  </c:pt>
                  <c:pt idx="9">
                    <c:v>Y10</c:v>
                  </c:pt>
                </c:lvl>
              </c:multiLvlStrCache>
            </c:multiLvlStrRef>
          </c:cat>
          <c:val>
            <c:numRef>
              <c:f>Sheet1!$E$2:$E$11</c:f>
              <c:numCache>
                <c:formatCode>General</c:formatCode>
                <c:ptCount val="10"/>
                <c:pt idx="0">
                  <c:v>-79.58228749999999</c:v>
                </c:pt>
                <c:pt idx="1">
                  <c:v>-88.42826437499998</c:v>
                </c:pt>
                <c:pt idx="2">
                  <c:v>608.3816315625002</c:v>
                </c:pt>
                <c:pt idx="3">
                  <c:v>104.32351468750014</c:v>
                </c:pt>
                <c:pt idx="4">
                  <c:v>148.3697596875001</c:v>
                </c:pt>
                <c:pt idx="5">
                  <c:v>234.0608821875001</c:v>
                </c:pt>
                <c:pt idx="6">
                  <c:v>357.9335781250001</c:v>
                </c:pt>
                <c:pt idx="7">
                  <c:v>317.6025155078126</c:v>
                </c:pt>
                <c:pt idx="8">
                  <c:v>368.02441750000014</c:v>
                </c:pt>
                <c:pt idx="9">
                  <c:v>375.44752750000015</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solidFill>
              <a:srgbClr val="888888"/>
            </a:solidFill>
            <a:prstDash val="solid"/>
            <a:round/>
          </a:ln>
        </c:spPr>
        <c:txPr>
          <a:bodyPr/>
          <a:lstStyle/>
          <a:p>
            <a:pPr>
              <a:defRPr sz="11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scaling>
        <c:delete val="0"/>
        <c:axPos val="l"/>
        <c:majorGridlines>
          <c:spPr>
            <a:ln w="6350" cap="flat">
              <a:solidFill>
                <a:srgbClr val="D5DAE1"/>
              </a:solidFill>
              <a:prstDash val="solid"/>
              <a:round/>
            </a:ln>
          </c:spPr>
        </c:majorGridlines>
        <c:numFmt formatCode="General" sourceLinked="0"/>
        <c:majorTickMark val="out"/>
        <c:minorTickMark val="none"/>
        <c:tickLblPos val="nextTo"/>
        <c:spPr>
          <a:ln w="12700" cap="flat">
            <a:solidFill>
              <a:srgbClr val="888888"/>
            </a:solidFill>
            <a:prstDash val="solid"/>
            <a:round/>
          </a:ln>
        </c:spPr>
        <c:txPr>
          <a:bodyPr/>
          <a:lstStyle/>
          <a:p>
            <a:pPr>
              <a:defRPr sz="1100" b="0" i="0" u="none" strike="noStrike">
                <a:solidFill>
                  <a:srgbClr val="000000"/>
                </a:solidFill>
                <a:latin typeface="Arial"/>
              </a:defRPr>
            </a:pPr>
            <a:endParaRPr lang="en-US"/>
          </a:p>
        </c:txPr>
        <c:crossAx val="2094734554"/>
        <c:crosses val="autoZero"/>
        <c:crossBetween val="between"/>
      </c:valAx>
      <c:spPr>
        <a:noFill/>
        <a:ln>
          <a:noFill/>
        </a:ln>
        <a:effectLst/>
      </c:spPr>
    </c:plotArea>
    <c:legend>
      <c:legendPos val="b"/>
      <c:overlay val="0"/>
      <c:txPr>
        <a:bodyPr/>
        <a:lstStyle/>
        <a:p>
          <a:pPr>
            <a:defRPr sz="1100">      </a:defRPr>
          </a:pPr>
          <a:endParaRPr lang="en-US"/>
        </a:p>
      </c:txPr>
    </c:legend>
    <c:plotVisOnly val="1"/>
    <c:dispBlanksAs val="span"/>
  </c:chart>
  <c:spPr>
    <a:noFill/>
    <a:ln>
      <a:noFill/>
    </a:ln>
    <a:effectLst/>
  </c:spPr>
  <c:externalData r:id="rId1">
    <c:autoUpdate val="0"/>
  </c:externalData>
</c:chartSpace>
</file>

<file path=ppt/charts/chart5.xml><?xml version="1.0" encoding="utf-8"?>
<c:chartSpace xmlns:c="http://schemas.openxmlformats.org/drawingml/2006/chart" xmlns:a="http://schemas.openxmlformats.org/drawingml/2006/main" xmlns:r="http://schemas.openxmlformats.org/officeDocument/2006/relationships">
  <c:date1904 val="0"/>
  <c:roundedCorners val="1"/>
  <c:chart>
    <c:title>
      <c:tx>
        <c:rich>
          <a:bodyPr/>
          <a:lstStyle/>
          <a:p>
            <a:pPr>
              <a:defRPr sz="1300" b="0" i="0" u="none" strike="noStrike">
                <a:solidFill>
                  <a:srgbClr val="1B1F2A"/>
                </a:solidFill>
                <a:latin typeface="Arial"/>
              </a:defRPr>
            </a:pPr>
            <a:r>
              <a:rPr sz="1300" b="0" i="0" u="none" strike="noStrike">
                <a:solidFill>
                  <a:srgbClr val="1B1F2A"/>
                </a:solidFill>
                <a:latin typeface="Arial"/>
              </a:rPr>
              <a:t>Projected investor IRR (%)</a:t>
            </a:r>
          </a:p>
        </c:rich>
      </c:tx>
      <c:layout/>
      <c:overlay val="0"/>
    </c:title>
    <c:autoTitleDeleted val="0"/>
    <c:plotArea>
      <c:layout/>
      <c:barChart>
        <c:barDir val="col"/>
        <c:grouping val="clustered"/>
        <c:varyColors val="0"/>
        <c:ser>
          <c:idx val="0"/>
          <c:order val="0"/>
          <c:tx>
            <c:strRef>
              <c:f>Sheet1!$B$1</c:f>
              <c:strCache>
                <c:ptCount val="1"/>
                <c:pt idx="0">
                  <c:v>Investor IRR</c:v>
                </c:pt>
              </c:strCache>
            </c:strRef>
          </c:tx>
          <c:spPr>
            <a:solidFill>
              <a:srgbClr val="17324D"/>
            </a:solidFill>
            <a:effectLst/>
          </c:spPr>
          <c:invertIfNegative val="0"/>
          <c:dLbls>
            <c:numFmt formatCode="0.0&quot;%&quot;" sourceLinked="0"/>
            <c:txPr>
              <a:bodyPr/>
              <a:lstStyle/>
              <a:p>
                <a:pPr>
                  <a:defRPr b="0" i="0" strike="noStrike" sz="1100" u="none">
                    <a:solidFill>
                      <a:srgbClr val="1B1F2A"/>
                    </a:solidFill>
                    <a:latin typeface="Arial"/>
                  </a:defRPr>
                </a:pPr>
              </a:p>
            </c:txPr>
            <c:showLegendKey val="0"/>
            <c:showVal val="1"/>
            <c:showCatName val="0"/>
            <c:showSerName val="0"/>
            <c:showPercent val="0"/>
            <c:showBubbleSize val="0"/>
            <c:showLeaderLines val="0"/>
          </c:dLbls>
          <c:cat>
            <c:multiLvlStrRef>
              <c:f>Sheet1!$A$2:$A$5</c:f>
              <c:multiLvlStrCache>
                <c:ptCount val="4"/>
                <c:lvl>
                  <c:pt idx="0">
                    <c:v>Option A base</c:v>
                  </c:pt>
                  <c:pt idx="1">
                    <c:v>Option A downside</c:v>
                  </c:pt>
                  <c:pt idx="2">
                    <c:v>Option A upside</c:v>
                  </c:pt>
                  <c:pt idx="3">
                    <c:v>Option B (contractual)</c:v>
                  </c:pt>
                </c:lvl>
              </c:multiLvlStrCache>
            </c:multiLvlStrRef>
          </c:cat>
          <c:val>
            <c:numRef>
              <c:f>Sheet1!$B$2:$B$5</c:f>
              <c:numCache>
                <c:formatCode>General</c:formatCode>
                <c:ptCount val="4"/>
                <c:pt idx="0">
                  <c:v>26.402990671961263</c:v>
                </c:pt>
                <c:pt idx="1">
                  <c:v>18.64016056724076</c:v>
                </c:pt>
                <c:pt idx="2">
                  <c:v>29.19928386686741</c:v>
                </c:pt>
                <c:pt idx="3">
                  <c:v>26.546399483999473</c:v>
                </c:pt>
              </c:numCache>
            </c:numRef>
          </c:val>
        </c:ser>
        <c:dLbls>
          <c:numFmt formatCode="0.0&quot;%&quot;" sourceLinked="0"/>
          <c:txPr>
            <a:bodyPr/>
            <a:lstStyle/>
            <a:p>
              <a:pPr>
                <a:defRPr b="0" i="0" strike="noStrike" sz="1100" u="none">
                  <a:solidFill>
                    <a:srgbClr val="1B1F2A"/>
                  </a:solidFill>
                  <a:latin typeface="Arial"/>
                </a:defRPr>
              </a:pPr>
            </a:p>
          </c:txPr>
          <c:showLegendKey val="0"/>
          <c:showVal val="1"/>
          <c:showCatName val="0"/>
          <c:showSerName val="0"/>
          <c:showPercent val="0"/>
          <c:showBubbleSize val="0"/>
          <c:showLeaderLines val="0"/>
        </c:dLbls>
        <c:gapWidth val="150"/>
        <c:overlap val="0"/>
        <c:axId val="2094734554"/>
        <c:axId val="2094734552"/>
        <c:axId val="2094734556"/>
      </c:barChart>
      <c:catAx>
        <c:axId val="2094734554"/>
        <c:scaling>
          <c:orientation val="minMax"/>
        </c:scaling>
        <c:delete val="0"/>
        <c:axPos val="b"/>
        <c:numFmt formatCode="General" sourceLinked="1"/>
        <c:majorTickMark val="out"/>
        <c:minorTickMark val="none"/>
        <c:tickLblPos val="low"/>
        <c:spPr>
          <a:ln w="12700" cap="flat">
            <a:solidFill>
              <a:srgbClr val="888888"/>
            </a:solidFill>
            <a:prstDash val="solid"/>
            <a:round/>
          </a:ln>
        </c:spPr>
        <c:txPr>
          <a:bodyPr/>
          <a:lstStyle/>
          <a:p>
            <a:pPr>
              <a:defRPr sz="10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scaling>
        <c:delete val="0"/>
        <c:axPos val="l"/>
        <c:majorGridlines>
          <c:spPr>
            <a:ln w="6350" cap="flat">
              <a:solidFill>
                <a:srgbClr val="D5DAE1"/>
              </a:solidFill>
              <a:prstDash val="solid"/>
              <a:round/>
            </a:ln>
          </c:spPr>
        </c:majorGridlines>
        <c:numFmt formatCode="General" sourceLinked="0"/>
        <c:majorTickMark val="out"/>
        <c:minorTickMark val="none"/>
        <c:tickLblPos val="nextTo"/>
        <c:spPr>
          <a:ln w="12700" cap="flat">
            <a:solidFill>
              <a:srgbClr val="888888"/>
            </a:solidFill>
            <a:prstDash val="solid"/>
            <a:round/>
          </a:ln>
        </c:spPr>
        <c:txPr>
          <a:bodyPr/>
          <a:lstStyle/>
          <a:p>
            <a:pPr>
              <a:defRPr sz="1100" b="0" i="0" u="none" strike="noStrike">
                <a:solidFill>
                  <a:srgbClr val="000000"/>
                </a:solidFill>
                <a:latin typeface="Arial"/>
              </a:defRPr>
            </a:pPr>
            <a:endParaRPr lang="en-US"/>
          </a:p>
        </c:txPr>
        <c:crossAx val="2094734554"/>
        <c:crosses val="autoZero"/>
        <c:crossBetween val="between"/>
      </c:valAx>
      <c:spPr>
        <a:noFill/>
        <a:ln>
          <a:noFill/>
        </a:ln>
        <a:effectLst/>
      </c:spPr>
    </c:plotArea>
    <c:plotVisOnly val="1"/>
    <c:dispBlanksAs val="span"/>
  </c:chart>
  <c:spPr>
    <a:noFill/>
    <a:ln>
      <a:noFill/>
    </a:ln>
    <a:effectLst/>
  </c:spPr>
  <c:externalData r:id="rId1">
    <c:autoUpdate val="0"/>
  </c:externalData>
</c:chartSpace>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_rels/notesSlide1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xml"/>
		</Relationships>
</file>

<file path=ppt/notesSlides/_rels/notesSlide1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5.xml"/>
		</Relationships>
</file>

<file path=ppt/notesSlides/_rels/notesSlide1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6.xml"/>
		</Relationships>
</file>

<file path=ppt/notesSlides/_rels/notesSlide1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7.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Cover. All figures are projections based on the Jalour financial model; see the Financial Annex.</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Figures are taken from the Financial Annex (Summary sheet). All returns are projections.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Figures are taken from the Financial Annex (Summary sheet). All returns are projections.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Figures are taken from the Financial Annex (Summary sheet). All returns are projections.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Figures are taken from the Financial Annex (Summary sheet). All returns are projections.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Figures are taken from the Financial Annex (Summary sheet). All returns are projections.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Figures are taken from the Financial Annex (Summary sheet). All returns are projections.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Figures are taken from the Financial Annex (Summary sheet). All returns are projections.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Figures are taken from the Financial Annex (Summary sheet). All returns are projections.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Figures are taken from the Financial Annex (Summary sheet). All returns are projections.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Figures are taken from the Financial Annex (Summary sheet). All returns are projections.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Figures are taken from the Financial Annex (Summary sheet). All returns are projections.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Figures are taken from the Financial Annex (Summary sheet). All returns are projections.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Figures are taken from the Financial Annex (Summary sheet). All returns are projections.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Figures are taken from the Financial Annex (Summary sheet). All returns are projections.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Figures are taken from the Financial Annex (Summary sheet). All returns are projections.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Next steps and contact details to be added by Jalour.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17</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preserve="1">
  <p:cSld name="CONTENT">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548640" y="6446520"/>
            <a:ext cx="9144000" cy="274320"/>
          </a:xfrm>
          <a:prstGeom prst="rect">
            <a:avLst/>
          </a:prstGeom>
          <a:noFill/>
          <a:ln/>
        </p:spPr>
        <p:txBody>
          <a:bodyPr wrap="square" lIns="0" tIns="0" rIns="0" bIns="0" rtlCol="0" anchor="ctr"/>
          <a:lstStyle/>
          <a:p>
            <a:pPr indent="0" marL="0">
              <a:buNone/>
            </a:pPr>
            <a:r>
              <a:rPr lang="en-US" sz="900" dirty="0">
                <a:solidFill>
                  <a:srgbClr val="6B7280"/>
                </a:solidFill>
              </a:rPr>
              <a:t>Jalour Developments  |  Green Square  |  Strictly private and confidential. Projections, not guarantees.</a:t>
            </a:r>
            <a:endParaRPr lang="en-US" sz="900" dirty="0"/>
          </a:p>
        </p:txBody>
      </p:sp>
      <p:sp>
        <p:nvSpPr>
          <p:cNvPr id="25" name="Slide Number Placeholder 0"/>
          <p:cNvSpPr>
            <a:spLocks noGrp="1"/>
          </p:cNvSpPr>
          <p:nvPr>
            <p:ph type="sldNum" sz="quarter" idx="4294967295"/>
          </p:nvPr>
        </p:nvSpPr>
        <p:spPr>
          <a:xfrm>
            <a:off x="11155680" y="6446520"/>
            <a:ext cx="548640" cy="274320"/>
          </a:xfrm>
          <a:prstGeom prst="rect">
            <a:avLst/>
          </a:prstGeom>
          <a:extLst>
            <a:ext uri="{C572A759-6A51-4108-AA02-DFA0A04FC94B}">
              <ma14:wrappingTextBoxFlag xmlns:ma14="http://schemas.microsoft.com/office/mac/drawingml/2011/main" val="0"/>
            </a:ext>
          </a:extLst>
        </p:spPr>
        <p:txBody>
          <a:bodyPr/>
          <a:lstStyle>
            <a:lvl1pPr>
              <a:defRPr sz="900">
                <a:solidFill>
                  <a:srgbClr val="6B7280"/>
                </a:solidFill>
              </a:defRPr>
            </a:lvl1pPr>
          </a:lstStyle>
          <a:p>
            <a:pPr algn="l"/>
            <a:fld id="{F7021451-1387-4CA6-816F-3879F97B5CBC}" type="slidenum">
              <a:rPr b="0" lang="en-US"/>
              <a:t>1002</a:t>
            </a:fld>
            <a:endParaRPr lang="en-US"/>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preserve="1">
  <p:cSld name="DARK">
    <p:bg>
      <p:bgPr>
        <a:solidFill>
          <a:srgbClr val="17324D"/>
        </a:solidFill>
      </p:bgPr>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5" name="Slide Number Placeholder 0"/>
          <p:cNvSpPr>
            <a:spLocks noGrp="1"/>
          </p:cNvSpPr>
          <p:nvPr>
            <p:ph type="sldNum" sz="quarter" idx="4294967295"/>
          </p:nvPr>
        </p:nvSpPr>
        <p:spPr>
          <a:xfrm>
            <a:off x="11155680" y="6446520"/>
            <a:ext cx="548640" cy="274320"/>
          </a:xfrm>
          <a:prstGeom prst="rect">
            <a:avLst/>
          </a:prstGeom>
          <a:extLst>
            <a:ext uri="{C572A759-6A51-4108-AA02-DFA0A04FC94B}">
              <ma14:wrappingTextBoxFlag xmlns:ma14="http://schemas.microsoft.com/office/mac/drawingml/2011/main" val="0"/>
            </a:ext>
          </a:extLst>
        </p:spPr>
        <p:txBody>
          <a:bodyPr/>
          <a:lstStyle>
            <a:lvl1pPr>
              <a:defRPr sz="900">
                <a:solidFill>
                  <a:srgbClr val="6B7280"/>
                </a:solidFill>
              </a:defRPr>
            </a:lvl1pPr>
          </a:lstStyle>
          <a:p>
            <a:pPr algn="l"/>
            <a:fld id="{F7021451-1387-4CA6-816F-3879F97B5CBC}" type="slidenum">
              <a:rPr b="0" lang="en-US"/>
              <a:t>null</a:t>
            </a:fld>
            <a:endParaRPr lang="en-US"/>
          </a:p>
        </p:txBody>
      </p:sp>
    </p:spTree>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chart" Target="/ppt/charts/chart1.xml"/><Relationship Id="rId2" Type="http://schemas.openxmlformats.org/officeDocument/2006/relationships/slideLayout" Target="../slideLayouts/slideLayout2.xml"/><Relationship Id="rId3"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chart" Target="/ppt/charts/chart2.xml"/><Relationship Id="rId2" Type="http://schemas.openxmlformats.org/officeDocument/2006/relationships/slideLayout" Target="../slideLayouts/slideLayout2.xml"/><Relationship Id="rId3"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chart" Target="/ppt/charts/chart3.xml"/><Relationship Id="rId2" Type="http://schemas.openxmlformats.org/officeDocument/2006/relationships/slideLayout" Target="../slideLayouts/slideLayout2.xml"/><Relationship Id="rId3"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chart" Target="/ppt/charts/chart4.xml"/><Relationship Id="rId2" Type="http://schemas.openxmlformats.org/officeDocument/2006/relationships/slideLayout" Target="../slideLayouts/slideLayout2.xml"/><Relationship Id="rId3"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chart" Target="/ppt/charts/chart5.xml"/><Relationship Id="rId2" Type="http://schemas.openxmlformats.org/officeDocument/2006/relationships/slideLayout" Target="../slideLayouts/slideLayout2.xml"/><Relationship Id="rId3"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7.xml"/></Relationships>
</file>

<file path=ppt/slides/slide1.xml><?xml version="1.0" encoding="utf-8"?>
<p:sld xmlns:a="http://schemas.openxmlformats.org/drawingml/2006/main" xmlns:r="http://schemas.openxmlformats.org/officeDocument/2006/relationships" xmlns:p="http://schemas.openxmlformats.org/presentationml/2006/main">
  <p:cSld name="Slide 1">
    <p:spTree>
      <p:nvGrpSpPr>
        <p:cNvPr id="1" name=""/>
        <p:cNvGrpSpPr/>
        <p:nvPr/>
      </p:nvGrpSpPr>
      <p:grpSpPr>
        <a:xfrm>
          <a:off x="0" y="0"/>
          <a:ext cx="0" cy="0"/>
          <a:chOff x="0" y="0"/>
          <a:chExt cx="0" cy="0"/>
        </a:xfrm>
      </p:grpSpPr>
      <p:sp>
        <p:nvSpPr>
          <p:cNvPr id="2" name="Text 0"/>
          <p:cNvSpPr txBox="1"/>
          <p:nvPr/>
        </p:nvSpPr>
        <p:spPr>
          <a:xfrm>
            <a:off x="731520" y="548640"/>
            <a:ext cx="7315200" cy="274320"/>
          </a:xfrm>
          <a:prstGeom prst="rect">
            <a:avLst/>
          </a:prstGeom>
          <a:noFill/>
          <a:ln/>
        </p:spPr>
        <p:txBody>
          <a:bodyPr wrap="square" lIns="0" tIns="0" rIns="0" bIns="0" rtlCol="0" anchor="ctr"/>
          <a:lstStyle/>
          <a:p>
            <a:pPr indent="0" marL="0">
              <a:buNone/>
            </a:pPr>
            <a:r>
              <a:rPr lang="en-US" sz="1100" b="1" spc="300" kern="0" dirty="0">
                <a:solidFill>
                  <a:srgbClr val="B8893B"/>
                </a:solidFill>
              </a:rPr>
              <a:t>STRICTLY PRIVATE AND CONFIDENTIAL</a:t>
            </a:r>
            <a:endParaRPr lang="en-US" sz="1100" dirty="0"/>
          </a:p>
        </p:txBody>
      </p:sp>
      <p:sp>
        <p:nvSpPr>
          <p:cNvPr id="3" name="Text 1"/>
          <p:cNvSpPr txBox="1"/>
          <p:nvPr/>
        </p:nvSpPr>
        <p:spPr>
          <a:xfrm>
            <a:off x="731520" y="1828800"/>
            <a:ext cx="10515600" cy="1097280"/>
          </a:xfrm>
          <a:prstGeom prst="rect">
            <a:avLst/>
          </a:prstGeom>
          <a:noFill/>
          <a:ln/>
        </p:spPr>
        <p:txBody>
          <a:bodyPr wrap="square" lIns="0" tIns="0" rIns="0" bIns="0" rtlCol="0" anchor="ctr"/>
          <a:lstStyle/>
          <a:p>
            <a:pPr indent="0" marL="0">
              <a:buNone/>
            </a:pPr>
            <a:r>
              <a:rPr lang="en-US" sz="5400" b="1" dirty="0">
                <a:solidFill>
                  <a:srgbClr val="FFFFFF"/>
                </a:solidFill>
                <a:latin typeface="Cambria" pitchFamily="34" charset="0"/>
                <a:ea typeface="Cambria" pitchFamily="34" charset="-122"/>
                <a:cs typeface="Cambria" pitchFamily="34" charset="-120"/>
              </a:rPr>
              <a:t>Green Square</a:t>
            </a:r>
            <a:endParaRPr lang="en-US" sz="5400" dirty="0"/>
          </a:p>
        </p:txBody>
      </p:sp>
      <p:sp>
        <p:nvSpPr>
          <p:cNvPr id="4" name="Text 2"/>
          <p:cNvSpPr txBox="1"/>
          <p:nvPr/>
        </p:nvSpPr>
        <p:spPr>
          <a:xfrm>
            <a:off x="731520" y="2926080"/>
            <a:ext cx="10515600" cy="457200"/>
          </a:xfrm>
          <a:prstGeom prst="rect">
            <a:avLst/>
          </a:prstGeom>
          <a:noFill/>
          <a:ln/>
        </p:spPr>
        <p:txBody>
          <a:bodyPr wrap="square" lIns="0" tIns="0" rIns="0" bIns="0" rtlCol="0" anchor="ctr"/>
          <a:lstStyle/>
          <a:p>
            <a:pPr indent="0" marL="0">
              <a:buNone/>
            </a:pPr>
            <a:r>
              <a:rPr lang="en-US" sz="2200" dirty="0">
                <a:solidFill>
                  <a:srgbClr val="D5DAE1"/>
                </a:solidFill>
              </a:rPr>
              <a:t>Commercial and office development, El Mostakbal City, Cairo</a:t>
            </a:r>
            <a:endParaRPr lang="en-US" sz="2200" dirty="0"/>
          </a:p>
        </p:txBody>
      </p:sp>
      <p:sp>
        <p:nvSpPr>
          <p:cNvPr id="5" name="Text 3"/>
          <p:cNvSpPr txBox="1"/>
          <p:nvPr/>
        </p:nvSpPr>
        <p:spPr>
          <a:xfrm>
            <a:off x="731520" y="3931920"/>
            <a:ext cx="10515600" cy="457200"/>
          </a:xfrm>
          <a:prstGeom prst="rect">
            <a:avLst/>
          </a:prstGeom>
          <a:noFill/>
          <a:ln/>
        </p:spPr>
        <p:txBody>
          <a:bodyPr wrap="square" lIns="0" tIns="0" rIns="0" bIns="0" rtlCol="0" anchor="ctr"/>
          <a:lstStyle/>
          <a:p>
            <a:pPr indent="0" marL="0">
              <a:buNone/>
            </a:pPr>
            <a:r>
              <a:rPr lang="en-US" sz="2000" b="1" dirty="0">
                <a:solidFill>
                  <a:srgbClr val="B8893B"/>
                </a:solidFill>
              </a:rPr>
              <a:t>Private placement: investor ticket of EGP 75 million</a:t>
            </a:r>
            <a:endParaRPr lang="en-US" sz="2000" dirty="0"/>
          </a:p>
        </p:txBody>
      </p:sp>
      <p:sp>
        <p:nvSpPr>
          <p:cNvPr id="6" name="Text 4"/>
          <p:cNvSpPr txBox="1"/>
          <p:nvPr/>
        </p:nvSpPr>
        <p:spPr>
          <a:xfrm>
            <a:off x="731520" y="5074920"/>
            <a:ext cx="10515600" cy="548640"/>
          </a:xfrm>
          <a:prstGeom prst="rect">
            <a:avLst/>
          </a:prstGeom>
          <a:noFill/>
          <a:ln/>
        </p:spPr>
        <p:txBody>
          <a:bodyPr wrap="square" lIns="0" tIns="0" rIns="0" bIns="0" rtlCol="0" anchor="ctr"/>
          <a:lstStyle/>
          <a:p>
            <a:pPr indent="0" marL="0">
              <a:buNone/>
            </a:pPr>
            <a:r>
              <a:rPr lang="en-US" sz="1300" b="1" dirty="0">
                <a:solidFill>
                  <a:srgbClr val="B8893B"/>
                </a:solidFill>
              </a:rPr>
              <a:t>ALL INFORMATION IN THIS PRESENTATION IS CONFIDENTIAL AND SUBJECT TO THE NON-DISCLOSURE AGREEMENT. Do not copy, forward or disclose it.</a:t>
            </a:r>
            <a:endParaRPr lang="en-US" sz="1300" dirty="0"/>
          </a:p>
        </p:txBody>
      </p:sp>
      <p:sp>
        <p:nvSpPr>
          <p:cNvPr id="7" name="Text 5"/>
          <p:cNvSpPr txBox="1"/>
          <p:nvPr/>
        </p:nvSpPr>
        <p:spPr>
          <a:xfrm>
            <a:off x="731520" y="5852160"/>
            <a:ext cx="10515600" cy="365760"/>
          </a:xfrm>
          <a:prstGeom prst="rect">
            <a:avLst/>
          </a:prstGeom>
          <a:noFill/>
          <a:ln/>
        </p:spPr>
        <p:txBody>
          <a:bodyPr wrap="square" lIns="0" tIns="0" rIns="0" bIns="0" rtlCol="0" anchor="ctr"/>
          <a:lstStyle/>
          <a:p>
            <a:pPr indent="0" marL="0">
              <a:buNone/>
            </a:pPr>
            <a:r>
              <a:rPr lang="en-US" sz="1300" dirty="0">
                <a:solidFill>
                  <a:srgbClr val="D5DAE1"/>
                </a:solidFill>
              </a:rPr>
              <a:t>Investment presentation  |  Jalour Developments, a subsidiary of Al Jalal Holding  |  October 2026</a:t>
            </a:r>
            <a:endParaRPr lang="en-US" sz="130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spTree>
      <p:nvGrpSpPr>
        <p:cNvPr id="1" name=""/>
        <p:cNvGrpSpPr/>
        <p:nvPr/>
      </p:nvGrpSpPr>
      <p:grpSpPr>
        <a:xfrm>
          <a:off x="0" y="0"/>
          <a:ext cx="0" cy="0"/>
          <a:chOff x="0" y="0"/>
          <a:chExt cx="0" cy="0"/>
        </a:xfrm>
      </p:grpSpPr>
      <p:sp>
        <p:nvSpPr>
          <p:cNvPr id="2" name="Text 0"/>
          <p:cNvSpPr txBox="1"/>
          <p:nvPr/>
        </p:nvSpPr>
        <p:spPr>
          <a:xfrm>
            <a:off x="548640" y="320040"/>
            <a:ext cx="11064240" cy="822960"/>
          </a:xfrm>
          <a:prstGeom prst="rect">
            <a:avLst/>
          </a:prstGeom>
          <a:noFill/>
          <a:ln/>
        </p:spPr>
        <p:txBody>
          <a:bodyPr wrap="square" lIns="0" tIns="0" rIns="0" bIns="0" rtlCol="0" anchor="ctr">
            <a:normAutofit/>
          </a:bodyPr>
          <a:lstStyle/>
          <a:p>
            <a:pPr indent="0" marL="0">
              <a:buNone/>
            </a:pPr>
            <a:r>
              <a:rPr lang="en-US" sz="2800" b="1" dirty="0">
                <a:solidFill>
                  <a:srgbClr val="17324D"/>
                </a:solidFill>
                <a:latin typeface="Cambria" pitchFamily="34" charset="0"/>
                <a:ea typeface="Cambria" pitchFamily="34" charset="-122"/>
                <a:cs typeface="Cambria" pitchFamily="34" charset="-120"/>
              </a:rPr>
              <a:t>Investment highlights</a:t>
            </a:r>
            <a:endParaRPr lang="en-US" sz="2800" dirty="0"/>
          </a:p>
        </p:txBody>
      </p:sp>
      <p:sp>
        <p:nvSpPr>
          <p:cNvPr id="4" name="Shape 1"/>
          <p:cNvSpPr/>
          <p:nvPr/>
        </p:nvSpPr>
        <p:spPr>
          <a:xfrm>
            <a:off x="548640" y="1371600"/>
            <a:ext cx="2651760" cy="1417320"/>
          </a:xfrm>
          <a:prstGeom prst="rect">
            <a:avLst/>
          </a:prstGeom>
          <a:solidFill>
            <a:srgbClr val="F2F4F7"/>
          </a:solidFill>
          <a:ln w="12700">
            <a:solidFill>
              <a:srgbClr val="F2F4F7"/>
            </a:solidFill>
            <a:prstDash val="solid"/>
          </a:ln>
        </p:spPr>
      </p:sp>
      <p:sp>
        <p:nvSpPr>
          <p:cNvPr id="5" name="Text 2"/>
          <p:cNvSpPr txBox="1"/>
          <p:nvPr/>
        </p:nvSpPr>
        <p:spPr>
          <a:xfrm>
            <a:off x="731520" y="1481328"/>
            <a:ext cx="2286000" cy="731520"/>
          </a:xfrm>
          <a:prstGeom prst="rect">
            <a:avLst/>
          </a:prstGeom>
          <a:noFill/>
          <a:ln/>
        </p:spPr>
        <p:txBody>
          <a:bodyPr wrap="square" lIns="0" tIns="0" rIns="0" bIns="0" rtlCol="0" anchor="ctr">
            <a:normAutofit/>
          </a:bodyPr>
          <a:lstStyle/>
          <a:p>
            <a:pPr indent="0" marL="0">
              <a:buNone/>
            </a:pPr>
            <a:r>
              <a:rPr lang="en-US" sz="3000" b="1" dirty="0">
                <a:solidFill>
                  <a:srgbClr val="17324D"/>
                </a:solidFill>
                <a:latin typeface="Cambria" pitchFamily="34" charset="0"/>
                <a:ea typeface="Cambria" pitchFamily="34" charset="-122"/>
                <a:cs typeface="Cambria" pitchFamily="34" charset="-120"/>
              </a:rPr>
              <a:t>13,023 m2</a:t>
            </a:r>
            <a:endParaRPr lang="en-US" sz="3000" dirty="0"/>
          </a:p>
        </p:txBody>
      </p:sp>
      <p:sp>
        <p:nvSpPr>
          <p:cNvPr id="6" name="Text 3"/>
          <p:cNvSpPr txBox="1"/>
          <p:nvPr/>
        </p:nvSpPr>
        <p:spPr>
          <a:xfrm>
            <a:off x="731520" y="2212848"/>
            <a:ext cx="2286000" cy="502920"/>
          </a:xfrm>
          <a:prstGeom prst="rect">
            <a:avLst/>
          </a:prstGeom>
          <a:noFill/>
          <a:ln/>
        </p:spPr>
        <p:txBody>
          <a:bodyPr wrap="square" lIns="0" tIns="0" rIns="0" bIns="0" rtlCol="0" anchor="t"/>
          <a:lstStyle/>
          <a:p>
            <a:pPr indent="0" marL="0">
              <a:buNone/>
            </a:pPr>
            <a:r>
              <a:rPr lang="en-US" sz="1200" dirty="0">
                <a:solidFill>
                  <a:srgbClr val="6B7280"/>
                </a:solidFill>
              </a:rPr>
              <a:t>Built-up area, G+2: 4,341 m2 retail and 8,682 m2 offices</a:t>
            </a:r>
            <a:endParaRPr lang="en-US" sz="1200" dirty="0"/>
          </a:p>
        </p:txBody>
      </p:sp>
      <p:sp>
        <p:nvSpPr>
          <p:cNvPr id="7" name="Shape 4"/>
          <p:cNvSpPr/>
          <p:nvPr/>
        </p:nvSpPr>
        <p:spPr>
          <a:xfrm>
            <a:off x="3355848" y="1371600"/>
            <a:ext cx="2651760" cy="1417320"/>
          </a:xfrm>
          <a:prstGeom prst="rect">
            <a:avLst/>
          </a:prstGeom>
          <a:solidFill>
            <a:srgbClr val="F2F4F7"/>
          </a:solidFill>
          <a:ln w="12700">
            <a:solidFill>
              <a:srgbClr val="F2F4F7"/>
            </a:solidFill>
            <a:prstDash val="solid"/>
          </a:ln>
        </p:spPr>
      </p:sp>
      <p:sp>
        <p:nvSpPr>
          <p:cNvPr id="8" name="Text 5"/>
          <p:cNvSpPr txBox="1"/>
          <p:nvPr/>
        </p:nvSpPr>
        <p:spPr>
          <a:xfrm>
            <a:off x="3538728" y="1481328"/>
            <a:ext cx="2286000" cy="731520"/>
          </a:xfrm>
          <a:prstGeom prst="rect">
            <a:avLst/>
          </a:prstGeom>
          <a:noFill/>
          <a:ln/>
        </p:spPr>
        <p:txBody>
          <a:bodyPr wrap="square" lIns="0" tIns="0" rIns="0" bIns="0" rtlCol="0" anchor="ctr">
            <a:normAutofit/>
          </a:bodyPr>
          <a:lstStyle/>
          <a:p>
            <a:pPr indent="0" marL="0">
              <a:buNone/>
            </a:pPr>
            <a:r>
              <a:rPr lang="en-US" sz="3000" b="1" dirty="0">
                <a:solidFill>
                  <a:srgbClr val="17324D"/>
                </a:solidFill>
                <a:latin typeface="Cambria" pitchFamily="34" charset="0"/>
                <a:ea typeface="Cambria" pitchFamily="34" charset="-122"/>
                <a:cs typeface="Cambria" pitchFamily="34" charset="-120"/>
              </a:rPr>
              <a:t>Month 48</a:t>
            </a:r>
            <a:endParaRPr lang="en-US" sz="3000" dirty="0"/>
          </a:p>
        </p:txBody>
      </p:sp>
      <p:sp>
        <p:nvSpPr>
          <p:cNvPr id="9" name="Text 6"/>
          <p:cNvSpPr txBox="1"/>
          <p:nvPr/>
        </p:nvSpPr>
        <p:spPr>
          <a:xfrm>
            <a:off x="3538728" y="2212848"/>
            <a:ext cx="2286000" cy="502920"/>
          </a:xfrm>
          <a:prstGeom prst="rect">
            <a:avLst/>
          </a:prstGeom>
          <a:noFill/>
          <a:ln/>
        </p:spPr>
        <p:txBody>
          <a:bodyPr wrap="square" lIns="0" tIns="0" rIns="0" bIns="0" rtlCol="0" anchor="t"/>
          <a:lstStyle/>
          <a:p>
            <a:pPr indent="0" marL="0">
              <a:buNone/>
            </a:pPr>
            <a:r>
              <a:rPr lang="en-US" sz="1200" dirty="0">
                <a:solidFill>
                  <a:srgbClr val="6B7280"/>
                </a:solidFill>
              </a:rPr>
              <a:t>Handover; sales from month 7, construction from month 13 for 36 months</a:t>
            </a:r>
            <a:endParaRPr lang="en-US" sz="1200" dirty="0"/>
          </a:p>
        </p:txBody>
      </p:sp>
      <p:sp>
        <p:nvSpPr>
          <p:cNvPr id="10" name="Shape 7"/>
          <p:cNvSpPr/>
          <p:nvPr/>
        </p:nvSpPr>
        <p:spPr>
          <a:xfrm>
            <a:off x="6163056" y="1371600"/>
            <a:ext cx="2651760" cy="1417320"/>
          </a:xfrm>
          <a:prstGeom prst="rect">
            <a:avLst/>
          </a:prstGeom>
          <a:solidFill>
            <a:srgbClr val="F2F4F7"/>
          </a:solidFill>
          <a:ln w="12700">
            <a:solidFill>
              <a:srgbClr val="F2F4F7"/>
            </a:solidFill>
            <a:prstDash val="solid"/>
          </a:ln>
        </p:spPr>
      </p:sp>
      <p:sp>
        <p:nvSpPr>
          <p:cNvPr id="11" name="Text 8"/>
          <p:cNvSpPr txBox="1"/>
          <p:nvPr/>
        </p:nvSpPr>
        <p:spPr>
          <a:xfrm>
            <a:off x="6345936" y="1481328"/>
            <a:ext cx="2286000" cy="731520"/>
          </a:xfrm>
          <a:prstGeom prst="rect">
            <a:avLst/>
          </a:prstGeom>
          <a:noFill/>
          <a:ln/>
        </p:spPr>
        <p:txBody>
          <a:bodyPr wrap="square" lIns="0" tIns="0" rIns="0" bIns="0" rtlCol="0" anchor="ctr">
            <a:normAutofit/>
          </a:bodyPr>
          <a:lstStyle/>
          <a:p>
            <a:pPr indent="0" marL="0">
              <a:buNone/>
            </a:pPr>
            <a:r>
              <a:rPr lang="en-US" sz="3000" b="1" dirty="0">
                <a:solidFill>
                  <a:srgbClr val="17324D"/>
                </a:solidFill>
                <a:latin typeface="Cambria" pitchFamily="34" charset="0"/>
                <a:ea typeface="Cambria" pitchFamily="34" charset="-122"/>
                <a:cs typeface="Cambria" pitchFamily="34" charset="-120"/>
              </a:rPr>
              <a:t>EGP 2.25 bn</a:t>
            </a:r>
            <a:endParaRPr lang="en-US" sz="3000" dirty="0"/>
          </a:p>
        </p:txBody>
      </p:sp>
      <p:sp>
        <p:nvSpPr>
          <p:cNvPr id="12" name="Text 9"/>
          <p:cNvSpPr txBox="1"/>
          <p:nvPr/>
        </p:nvSpPr>
        <p:spPr>
          <a:xfrm>
            <a:off x="6345936" y="2212848"/>
            <a:ext cx="2286000" cy="502920"/>
          </a:xfrm>
          <a:prstGeom prst="rect">
            <a:avLst/>
          </a:prstGeom>
          <a:noFill/>
          <a:ln/>
        </p:spPr>
        <p:txBody>
          <a:bodyPr wrap="square" lIns="0" tIns="0" rIns="0" bIns="0" rtlCol="0" anchor="t"/>
          <a:lstStyle/>
          <a:p>
            <a:pPr indent="0" marL="0">
              <a:buNone/>
            </a:pPr>
            <a:r>
              <a:rPr lang="en-US" sz="1200" dirty="0">
                <a:solidFill>
                  <a:srgbClr val="6B7280"/>
                </a:solidFill>
              </a:rPr>
              <a:t>Sales plan: 80% of units sold over the sales window, at modelled prices</a:t>
            </a:r>
            <a:endParaRPr lang="en-US" sz="1200" dirty="0"/>
          </a:p>
        </p:txBody>
      </p:sp>
      <p:sp>
        <p:nvSpPr>
          <p:cNvPr id="13" name="Shape 10"/>
          <p:cNvSpPr/>
          <p:nvPr/>
        </p:nvSpPr>
        <p:spPr>
          <a:xfrm>
            <a:off x="8970264" y="1371600"/>
            <a:ext cx="2651760" cy="1417320"/>
          </a:xfrm>
          <a:prstGeom prst="rect">
            <a:avLst/>
          </a:prstGeom>
          <a:solidFill>
            <a:srgbClr val="17324D"/>
          </a:solidFill>
          <a:ln w="12700">
            <a:solidFill>
              <a:srgbClr val="17324D"/>
            </a:solidFill>
            <a:prstDash val="solid"/>
          </a:ln>
        </p:spPr>
      </p:sp>
      <p:sp>
        <p:nvSpPr>
          <p:cNvPr id="14" name="Text 11"/>
          <p:cNvSpPr txBox="1"/>
          <p:nvPr/>
        </p:nvSpPr>
        <p:spPr>
          <a:xfrm>
            <a:off x="9153144" y="1481328"/>
            <a:ext cx="2286000" cy="731520"/>
          </a:xfrm>
          <a:prstGeom prst="rect">
            <a:avLst/>
          </a:prstGeom>
          <a:noFill/>
          <a:ln/>
        </p:spPr>
        <p:txBody>
          <a:bodyPr wrap="square" lIns="0" tIns="0" rIns="0" bIns="0" rtlCol="0" anchor="ctr">
            <a:normAutofit/>
          </a:bodyPr>
          <a:lstStyle/>
          <a:p>
            <a:pPr indent="0" marL="0">
              <a:buNone/>
            </a:pPr>
            <a:r>
              <a:rPr lang="en-US" sz="3000" b="1" dirty="0">
                <a:solidFill>
                  <a:srgbClr val="FFFFFF"/>
                </a:solidFill>
                <a:latin typeface="Cambria" pitchFamily="34" charset="0"/>
                <a:ea typeface="Cambria" pitchFamily="34" charset="-122"/>
                <a:cs typeface="Cambria" pitchFamily="34" charset="-120"/>
              </a:rPr>
              <a:t>35 / 65</a:t>
            </a:r>
            <a:endParaRPr lang="en-US" sz="3000" dirty="0"/>
          </a:p>
        </p:txBody>
      </p:sp>
      <p:sp>
        <p:nvSpPr>
          <p:cNvPr id="15" name="Text 12"/>
          <p:cNvSpPr txBox="1"/>
          <p:nvPr/>
        </p:nvSpPr>
        <p:spPr>
          <a:xfrm>
            <a:off x="9153144" y="2212848"/>
            <a:ext cx="2286000" cy="502920"/>
          </a:xfrm>
          <a:prstGeom prst="rect">
            <a:avLst/>
          </a:prstGeom>
          <a:noFill/>
          <a:ln/>
        </p:spPr>
        <p:txBody>
          <a:bodyPr wrap="square" lIns="0" tIns="0" rIns="0" bIns="0" rtlCol="0" anchor="t"/>
          <a:lstStyle/>
          <a:p>
            <a:pPr indent="0" marL="0">
              <a:buNone/>
            </a:pPr>
            <a:r>
              <a:rPr lang="en-US" sz="1200" dirty="0">
                <a:solidFill>
                  <a:srgbClr val="D5DAE1"/>
                </a:solidFill>
              </a:rPr>
              <a:t>Revenue split between the landowner (Al Ahly Sabbour) and Jalour</a:t>
            </a:r>
            <a:endParaRPr lang="en-US" sz="1200" dirty="0"/>
          </a:p>
        </p:txBody>
      </p:sp>
      <p:sp>
        <p:nvSpPr>
          <p:cNvPr id="16" name="Text 13"/>
          <p:cNvSpPr txBox="1"/>
          <p:nvPr/>
        </p:nvSpPr>
        <p:spPr>
          <a:xfrm>
            <a:off x="548640" y="3200400"/>
            <a:ext cx="11064240" cy="2743200"/>
          </a:xfrm>
          <a:prstGeom prst="rect">
            <a:avLst/>
          </a:prstGeom>
          <a:noFill/>
          <a:ln/>
        </p:spPr>
        <p:txBody>
          <a:bodyPr wrap="square" lIns="0" tIns="0" rIns="0" bIns="0" rtlCol="0" anchor="t"/>
          <a:lstStyle/>
          <a:p>
            <a:pPr marL="342900" indent="-342900">
              <a:spcAft>
                <a:spcPts val="600"/>
              </a:spcAft>
              <a:buSzPct val="100000"/>
              <a:buChar char="•"/>
            </a:pPr>
            <a:r>
              <a:rPr lang="en-US" sz="1700" dirty="0">
                <a:solidFill>
                  <a:srgbClr val="1B1F2A"/>
                </a:solidFill>
              </a:rPr>
              <a:t>Land owned by Al Ahly Sabbour; Jalour designs, permits, builds (core and shell), markets, sells, collects and operates.</a:t>
            </a:r>
            <a:endParaRPr lang="en-US" sz="1700" dirty="0"/>
          </a:p>
          <a:p>
            <a:pPr marL="342900" indent="-342900">
              <a:spcAft>
                <a:spcPts val="600"/>
              </a:spcAft>
              <a:buSzPct val="100000"/>
              <a:buChar char="•"/>
            </a:pPr>
            <a:r>
              <a:rPr lang="en-US" sz="1700" dirty="0">
                <a:solidFill>
                  <a:srgbClr val="1B1F2A"/>
                </a:solidFill>
              </a:rPr>
              <a:t>Landlord receives 35% of collections with a minimum guarantee of EGP 800 million over six years; Jalour keeps 65%.</a:t>
            </a:r>
            <a:endParaRPr lang="en-US" sz="1700" dirty="0"/>
          </a:p>
          <a:p>
            <a:pPr marL="342900" indent="-342900">
              <a:spcAft>
                <a:spcPts val="600"/>
              </a:spcAft>
              <a:buSzPct val="100000"/>
              <a:buChar char="•"/>
            </a:pPr>
            <a:r>
              <a:rPr lang="en-US" sz="1700" dirty="0">
                <a:solidFill>
                  <a:srgbClr val="1B1F2A"/>
                </a:solidFill>
              </a:rPr>
              <a:t>Option A: units with a face value of EGP 150 million (2.0x the ticket) at launch list prices. Projected investor IRR 26.4% (base).</a:t>
            </a:r>
            <a:endParaRPr lang="en-US" sz="1700" dirty="0"/>
          </a:p>
          <a:p>
            <a:pPr marL="342900" indent="-342900">
              <a:spcAft>
                <a:spcPts val="600"/>
              </a:spcAft>
              <a:buSzPct val="100000"/>
              <a:buChar char="•"/>
            </a:pPr>
            <a:r>
              <a:rPr lang="en-US" sz="1700" dirty="0">
                <a:solidFill>
                  <a:srgbClr val="1B1F2A"/>
                </a:solidFill>
              </a:rPr>
              <a:t>Option B: cash return of EGP 173 million (2.3x the ticket) in 12 quarterly instalments after a 24-month grace period. Projected investor IRR 26.5%.</a:t>
            </a:r>
            <a:endParaRPr lang="en-US" sz="1700" dirty="0"/>
          </a:p>
          <a:p>
            <a:pPr marL="342900" indent="-342900">
              <a:spcAft>
                <a:spcPts val="600"/>
              </a:spcAft>
              <a:buSzPct val="100000"/>
              <a:buChar char="•"/>
            </a:pPr>
            <a:r>
              <a:rPr lang="en-US" sz="1700" dirty="0">
                <a:solidFill>
                  <a:srgbClr val="1B1F2A"/>
                </a:solidFill>
              </a:rPr>
              <a:t>Project-level exposure only: the investment has no exposure to other Jalour projects.</a:t>
            </a:r>
            <a:endParaRPr lang="en-US" sz="1700" dirty="0"/>
          </a:p>
        </p:txBody>
      </p:sp>
      <p:sp>
        <p:nvSpPr>
          <p:cNvPr id="17" name="Text 14"/>
          <p:cNvSpPr txBox="1"/>
          <p:nvPr/>
        </p:nvSpPr>
        <p:spPr>
          <a:xfrm>
            <a:off x="548640" y="6144768"/>
            <a:ext cx="11064240" cy="274320"/>
          </a:xfrm>
          <a:prstGeom prst="rect">
            <a:avLst/>
          </a:prstGeom>
          <a:noFill/>
          <a:ln/>
        </p:spPr>
        <p:txBody>
          <a:bodyPr wrap="square" lIns="0" tIns="0" rIns="0" bIns="0" rtlCol="0" anchor="ctr"/>
          <a:lstStyle/>
          <a:p>
            <a:pPr indent="0" marL="0">
              <a:buNone/>
            </a:pPr>
            <a:r>
              <a:rPr lang="en-US" sz="900" i="1" dirty="0">
                <a:solidFill>
                  <a:srgbClr val="6B7280"/>
                </a:solidFill>
              </a:rPr>
              <a:t>Source: Jalour financial model; Financial Annex, Summary sheet. IRRs are projections, not guarantees.</a:t>
            </a:r>
            <a:endParaRPr lang="en-US" sz="900" dirty="0"/>
          </a:p>
        </p:txBody>
      </p:sp>
      <p:sp>
        <p:nvSpPr>
          <p:cNvPr id="25" name="Slide Number Placeholder 0"/>
          <p:cNvSpPr>
            <a:spLocks noGrp="1"/>
          </p:cNvSpPr>
          <p:nvPr>
            <p:ph type="sldNum" sz="quarter" idx="4294967295"/>
          </p:nvPr>
        </p:nvSpPr>
        <p:spPr>
          <a:xfrm>
            <a:off x="11155680" y="6446520"/>
            <a:ext cx="548640" cy="274320"/>
          </a:xfrm>
          <a:prstGeom prst="rect">
            <a:avLst/>
          </a:prstGeom>
          <a:extLst>
            <a:ext uri="{C572A759-6A51-4108-AA02-DFA0A04FC94B}">
              <ma14:wrappingTextBoxFlag xmlns:ma14="http://schemas.microsoft.com/office/mac/drawingml/2011/main" val="0"/>
            </a:ext>
          </a:extLst>
        </p:spPr>
        <p:txBody>
          <a:bodyPr/>
          <a:lstStyle>
            <a:lvl1pPr>
              <a:defRPr sz="900">
                <a:solidFill>
                  <a:srgbClr val="6B7280"/>
                </a:solidFill>
              </a:defRPr>
            </a:lvl1pPr>
          </a:lstStyle>
          <a:p>
            <a:pPr algn="l"/>
            <a:fld id="{F7021451-1387-4CA6-816F-3879F97B5CBC}" type="slidenum">
              <a:rPr b="0" lang="en-US"/>
              <a:t>2</a:t>
            </a:fld>
            <a:endParaRPr lang="en-US"/>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spTree>
      <p:nvGrpSpPr>
        <p:cNvPr id="1" name=""/>
        <p:cNvGrpSpPr/>
        <p:nvPr/>
      </p:nvGrpSpPr>
      <p:grpSpPr>
        <a:xfrm>
          <a:off x="0" y="0"/>
          <a:ext cx="0" cy="0"/>
          <a:chOff x="0" y="0"/>
          <a:chExt cx="0" cy="0"/>
        </a:xfrm>
      </p:grpSpPr>
      <p:sp>
        <p:nvSpPr>
          <p:cNvPr id="2" name="Text 0"/>
          <p:cNvSpPr txBox="1"/>
          <p:nvPr/>
        </p:nvSpPr>
        <p:spPr>
          <a:xfrm>
            <a:off x="548640" y="320040"/>
            <a:ext cx="11064240" cy="822960"/>
          </a:xfrm>
          <a:prstGeom prst="rect">
            <a:avLst/>
          </a:prstGeom>
          <a:noFill/>
          <a:ln/>
        </p:spPr>
        <p:txBody>
          <a:bodyPr wrap="square" lIns="0" tIns="0" rIns="0" bIns="0" rtlCol="0" anchor="ctr">
            <a:normAutofit/>
          </a:bodyPr>
          <a:lstStyle/>
          <a:p>
            <a:pPr indent="0" marL="0">
              <a:buNone/>
            </a:pPr>
            <a:r>
              <a:rPr lang="en-US" sz="2800" b="1" dirty="0">
                <a:solidFill>
                  <a:srgbClr val="17324D"/>
                </a:solidFill>
                <a:latin typeface="Cambria" pitchFamily="34" charset="0"/>
                <a:ea typeface="Cambria" pitchFamily="34" charset="-122"/>
                <a:cs typeface="Cambria" pitchFamily="34" charset="-120"/>
              </a:rPr>
              <a:t>Transaction overview</a:t>
            </a:r>
            <a:endParaRPr lang="en-US" sz="2800" dirty="0"/>
          </a:p>
        </p:txBody>
      </p:sp>
      <p:graphicFrame>
        <p:nvGraphicFramePr>
          <p:cNvPr id="4" name="Table 0"/>
          <p:cNvGraphicFramePr>
            <a:graphicFrameLocks noGrp="1"/>
          </p:cNvGraphicFramePr>
          <p:nvPr>
            <p:extLst>
              <p:ext uri="{D42A27DB-BD31-4B8C-83A1-F6EECF244321}">
                <p14:modId xmlns:p14="http://schemas.microsoft.com/office/powerpoint/2010/main" val="1579011935"/>
              </p:ext>
            </p:extLst>
          </p:nvPr>
        </p:nvGraphicFramePr>
        <p:xfrm>
          <a:off x="548640" y="1325880"/>
          <a:ext cx="11064240" cy="914400"/>
        </p:xfrm>
        <a:graphic>
          <a:graphicData uri="http://schemas.openxmlformats.org/drawingml/2006/table">
            <a:tbl>
              <a:tblPr/>
              <a:tblGrid>
                <a:gridCol w="2194560"/>
                <a:gridCol w="8869680"/>
              </a:tblGrid>
              <a:tr h="457200">
                <a:tc>
                  <a:txBody>
                    <a:bodyPr/>
                    <a:lstStyle/>
                    <a:p>
                      <a:pPr algn="l" indent="0" marL="0">
                        <a:buNone/>
                      </a:pPr>
                      <a:r>
                        <a:rPr lang="en-US" sz="1300" b="1" dirty="0">
                          <a:solidFill>
                            <a:srgbClr val="FFFFFF"/>
                          </a:solidFill>
                        </a:rPr>
                        <a:t>Term</a:t>
                      </a:r>
                      <a:endParaRPr lang="en-US" sz="1300" dirty="0"/>
                    </a:p>
                  </a:txBody>
                  <a:tcPr marL="73152" marR="73152" marT="36576" marB="36576" anchor="ctr">
                    <a:lnL w="6350" cap="flat" cmpd="sng" algn="ctr">
                      <a:solidFill>
                        <a:srgbClr val="D5DAE1"/>
                      </a:solidFill>
                      <a:prstDash val="solid"/>
                      <a:round/>
                      <a:headEnd type="none" w="med" len="med"/>
                      <a:tailEnd type="none" w="med" len="med"/>
                    </a:lnL>
                    <a:lnR w="6350" cap="flat" cmpd="sng" algn="ctr">
                      <a:solidFill>
                        <a:srgbClr val="D5DAE1"/>
                      </a:solidFill>
                      <a:prstDash val="solid"/>
                      <a:round/>
                      <a:headEnd type="none" w="med" len="med"/>
                      <a:tailEnd type="none" w="med" len="med"/>
                    </a:lnR>
                    <a:lnT w="6350" cap="flat" cmpd="sng" algn="ctr">
                      <a:solidFill>
                        <a:srgbClr val="D5DAE1"/>
                      </a:solidFill>
                      <a:prstDash val="solid"/>
                      <a:round/>
                      <a:headEnd type="none" w="med" len="med"/>
                      <a:tailEnd type="none" w="med" len="med"/>
                    </a:lnT>
                    <a:lnB w="6350" cap="flat" cmpd="sng" algn="ctr">
                      <a:solidFill>
                        <a:srgbClr val="D5DAE1"/>
                      </a:solidFill>
                      <a:prstDash val="solid"/>
                      <a:round/>
                      <a:headEnd type="none" w="med" len="med"/>
                      <a:tailEnd type="none" w="med" len="med"/>
                    </a:lnB>
                    <a:solidFill>
                      <a:srgbClr val="17324D"/>
                    </a:solidFill>
                  </a:tcPr>
                </a:tc>
                <a:tc>
                  <a:txBody>
                    <a:bodyPr/>
                    <a:lstStyle/>
                    <a:p>
                      <a:pPr algn="l" indent="0" marL="0">
                        <a:buNone/>
                      </a:pPr>
                      <a:r>
                        <a:rPr lang="en-US" sz="1300" b="1" dirty="0">
                          <a:solidFill>
                            <a:srgbClr val="FFFFFF"/>
                          </a:solidFill>
                        </a:rPr>
                        <a:t>Summary</a:t>
                      </a:r>
                      <a:endParaRPr lang="en-US" sz="1300" dirty="0"/>
                    </a:p>
                  </a:txBody>
                  <a:tcPr marL="73152" marR="73152" marT="36576" marB="36576" anchor="ctr">
                    <a:lnL w="6350" cap="flat" cmpd="sng" algn="ctr">
                      <a:solidFill>
                        <a:srgbClr val="D5DAE1"/>
                      </a:solidFill>
                      <a:prstDash val="solid"/>
                      <a:round/>
                      <a:headEnd type="none" w="med" len="med"/>
                      <a:tailEnd type="none" w="med" len="med"/>
                    </a:lnL>
                    <a:lnR w="6350" cap="flat" cmpd="sng" algn="ctr">
                      <a:solidFill>
                        <a:srgbClr val="D5DAE1"/>
                      </a:solidFill>
                      <a:prstDash val="solid"/>
                      <a:round/>
                      <a:headEnd type="none" w="med" len="med"/>
                      <a:tailEnd type="none" w="med" len="med"/>
                    </a:lnR>
                    <a:lnT w="6350" cap="flat" cmpd="sng" algn="ctr">
                      <a:solidFill>
                        <a:srgbClr val="D5DAE1"/>
                      </a:solidFill>
                      <a:prstDash val="solid"/>
                      <a:round/>
                      <a:headEnd type="none" w="med" len="med"/>
                      <a:tailEnd type="none" w="med" len="med"/>
                    </a:lnT>
                    <a:lnB w="6350" cap="flat" cmpd="sng" algn="ctr">
                      <a:solidFill>
                        <a:srgbClr val="D5DAE1"/>
                      </a:solidFill>
                      <a:prstDash val="solid"/>
                      <a:round/>
                      <a:headEnd type="none" w="med" len="med"/>
                      <a:tailEnd type="none" w="med" len="med"/>
                    </a:lnB>
                    <a:solidFill>
                      <a:srgbClr val="17324D"/>
                    </a:solidFill>
                  </a:tcPr>
                </a:tc>
              </a:tr>
              <a:tr h="457200">
                <a:tc>
                  <a:txBody>
                    <a:bodyPr/>
                    <a:lstStyle/>
                    <a:p>
                      <a:pPr algn="l" indent="0" marL="0">
                        <a:buNone/>
                      </a:pPr>
                      <a:r>
                        <a:rPr lang="en-US" sz="1300" b="1" dirty="0">
                          <a:solidFill>
                            <a:srgbClr val="1B1F2A"/>
                          </a:solidFill>
                        </a:rPr>
                        <a:t>Investor ticket</a:t>
                      </a:r>
                      <a:endParaRPr lang="en-US" sz="1300" dirty="0"/>
                    </a:p>
                  </a:txBody>
                  <a:tcPr marL="73152" marR="73152" marT="36576" marB="36576" anchor="ctr">
                    <a:lnL w="6350" cap="flat" cmpd="sng" algn="ctr">
                      <a:solidFill>
                        <a:srgbClr val="D5DAE1"/>
                      </a:solidFill>
                      <a:prstDash val="solid"/>
                      <a:round/>
                      <a:headEnd type="none" w="med" len="med"/>
                      <a:tailEnd type="none" w="med" len="med"/>
                    </a:lnL>
                    <a:lnR w="6350" cap="flat" cmpd="sng" algn="ctr">
                      <a:solidFill>
                        <a:srgbClr val="D5DAE1"/>
                      </a:solidFill>
                      <a:prstDash val="solid"/>
                      <a:round/>
                      <a:headEnd type="none" w="med" len="med"/>
                      <a:tailEnd type="none" w="med" len="med"/>
                    </a:lnR>
                    <a:lnT w="6350" cap="flat" cmpd="sng" algn="ctr">
                      <a:solidFill>
                        <a:srgbClr val="D5DAE1"/>
                      </a:solidFill>
                      <a:prstDash val="solid"/>
                      <a:round/>
                      <a:headEnd type="none" w="med" len="med"/>
                      <a:tailEnd type="none" w="med" len="med"/>
                    </a:lnT>
                    <a:lnB w="6350" cap="flat" cmpd="sng" algn="ctr">
                      <a:solidFill>
                        <a:srgbClr val="D5DAE1"/>
                      </a:solidFill>
                      <a:prstDash val="solid"/>
                      <a:round/>
                      <a:headEnd type="none" w="med" len="med"/>
                      <a:tailEnd type="none" w="med" len="med"/>
                    </a:lnB>
                    <a:solidFill>
                      <a:srgbClr val="FFFFFF"/>
                    </a:solidFill>
                  </a:tcPr>
                </a:tc>
                <a:tc>
                  <a:txBody>
                    <a:bodyPr/>
                    <a:lstStyle/>
                    <a:p>
                      <a:pPr algn="l" indent="0" marL="0">
                        <a:buNone/>
                      </a:pPr>
                      <a:r>
                        <a:rPr lang="en-US" sz="1300" dirty="0">
                          <a:solidFill>
                            <a:srgbClr val="1B1F2A"/>
                          </a:solidFill>
                        </a:rPr>
                        <a:t>EGP 75 million (USD 1.6 million at EGP 48 per USD)</a:t>
                      </a:r>
                      <a:endParaRPr lang="en-US" sz="1300" dirty="0"/>
                    </a:p>
                  </a:txBody>
                  <a:tcPr marL="73152" marR="73152" marT="36576" marB="36576" anchor="ctr">
                    <a:lnL w="6350" cap="flat" cmpd="sng" algn="ctr">
                      <a:solidFill>
                        <a:srgbClr val="D5DAE1"/>
                      </a:solidFill>
                      <a:prstDash val="solid"/>
                      <a:round/>
                      <a:headEnd type="none" w="med" len="med"/>
                      <a:tailEnd type="none" w="med" len="med"/>
                    </a:lnL>
                    <a:lnR w="6350" cap="flat" cmpd="sng" algn="ctr">
                      <a:solidFill>
                        <a:srgbClr val="D5DAE1"/>
                      </a:solidFill>
                      <a:prstDash val="solid"/>
                      <a:round/>
                      <a:headEnd type="none" w="med" len="med"/>
                      <a:tailEnd type="none" w="med" len="med"/>
                    </a:lnR>
                    <a:lnT w="6350" cap="flat" cmpd="sng" algn="ctr">
                      <a:solidFill>
                        <a:srgbClr val="D5DAE1"/>
                      </a:solidFill>
                      <a:prstDash val="solid"/>
                      <a:round/>
                      <a:headEnd type="none" w="med" len="med"/>
                      <a:tailEnd type="none" w="med" len="med"/>
                    </a:lnT>
                    <a:lnB w="6350" cap="flat" cmpd="sng" algn="ctr">
                      <a:solidFill>
                        <a:srgbClr val="D5DAE1"/>
                      </a:solidFill>
                      <a:prstDash val="solid"/>
                      <a:round/>
                      <a:headEnd type="none" w="med" len="med"/>
                      <a:tailEnd type="none" w="med" len="med"/>
                    </a:lnB>
                    <a:solidFill>
                      <a:srgbClr val="FFFFFF"/>
                    </a:solidFill>
                  </a:tcPr>
                </a:tc>
              </a:tr>
              <a:tr h="457200">
                <a:tc>
                  <a:txBody>
                    <a:bodyPr/>
                    <a:lstStyle/>
                    <a:p>
                      <a:pPr algn="l" indent="0" marL="0">
                        <a:buNone/>
                      </a:pPr>
                      <a:r>
                        <a:rPr lang="en-US" sz="1300" b="1" dirty="0">
                          <a:solidFill>
                            <a:srgbClr val="1B1F2A"/>
                          </a:solidFill>
                        </a:rPr>
                        <a:t>Issuer</a:t>
                      </a:r>
                      <a:endParaRPr lang="en-US" sz="1300" dirty="0"/>
                    </a:p>
                  </a:txBody>
                  <a:tcPr marL="73152" marR="73152" marT="36576" marB="36576" anchor="ctr">
                    <a:lnL w="6350" cap="flat" cmpd="sng" algn="ctr">
                      <a:solidFill>
                        <a:srgbClr val="D5DAE1"/>
                      </a:solidFill>
                      <a:prstDash val="solid"/>
                      <a:round/>
                      <a:headEnd type="none" w="med" len="med"/>
                      <a:tailEnd type="none" w="med" len="med"/>
                    </a:lnL>
                    <a:lnR w="6350" cap="flat" cmpd="sng" algn="ctr">
                      <a:solidFill>
                        <a:srgbClr val="D5DAE1"/>
                      </a:solidFill>
                      <a:prstDash val="solid"/>
                      <a:round/>
                      <a:headEnd type="none" w="med" len="med"/>
                      <a:tailEnd type="none" w="med" len="med"/>
                    </a:lnR>
                    <a:lnT w="6350" cap="flat" cmpd="sng" algn="ctr">
                      <a:solidFill>
                        <a:srgbClr val="D5DAE1"/>
                      </a:solidFill>
                      <a:prstDash val="solid"/>
                      <a:round/>
                      <a:headEnd type="none" w="med" len="med"/>
                      <a:tailEnd type="none" w="med" len="med"/>
                    </a:lnT>
                    <a:lnB w="6350" cap="flat" cmpd="sng" algn="ctr">
                      <a:solidFill>
                        <a:srgbClr val="D5DAE1"/>
                      </a:solidFill>
                      <a:prstDash val="solid"/>
                      <a:round/>
                      <a:headEnd type="none" w="med" len="med"/>
                      <a:tailEnd type="none" w="med" len="med"/>
                    </a:lnB>
                    <a:solidFill>
                      <a:srgbClr val="F2F4F7"/>
                    </a:solidFill>
                  </a:tcPr>
                </a:tc>
                <a:tc>
                  <a:txBody>
                    <a:bodyPr/>
                    <a:lstStyle/>
                    <a:p>
                      <a:pPr algn="l" indent="0" marL="0">
                        <a:buNone/>
                      </a:pPr>
                      <a:r>
                        <a:rPr lang="en-US" sz="1300" dirty="0">
                          <a:solidFill>
                            <a:srgbClr val="1B1F2A"/>
                          </a:solidFill>
                        </a:rPr>
                        <a:t>Project company for this development (name, jurisdiction and instrument to be confirmed by counsel)</a:t>
                      </a:r>
                      <a:endParaRPr lang="en-US" sz="1300" dirty="0"/>
                    </a:p>
                  </a:txBody>
                  <a:tcPr marL="73152" marR="73152" marT="36576" marB="36576" anchor="ctr">
                    <a:lnL w="6350" cap="flat" cmpd="sng" algn="ctr">
                      <a:solidFill>
                        <a:srgbClr val="D5DAE1"/>
                      </a:solidFill>
                      <a:prstDash val="solid"/>
                      <a:round/>
                      <a:headEnd type="none" w="med" len="med"/>
                      <a:tailEnd type="none" w="med" len="med"/>
                    </a:lnL>
                    <a:lnR w="6350" cap="flat" cmpd="sng" algn="ctr">
                      <a:solidFill>
                        <a:srgbClr val="D5DAE1"/>
                      </a:solidFill>
                      <a:prstDash val="solid"/>
                      <a:round/>
                      <a:headEnd type="none" w="med" len="med"/>
                      <a:tailEnd type="none" w="med" len="med"/>
                    </a:lnR>
                    <a:lnT w="6350" cap="flat" cmpd="sng" algn="ctr">
                      <a:solidFill>
                        <a:srgbClr val="D5DAE1"/>
                      </a:solidFill>
                      <a:prstDash val="solid"/>
                      <a:round/>
                      <a:headEnd type="none" w="med" len="med"/>
                      <a:tailEnd type="none" w="med" len="med"/>
                    </a:lnT>
                    <a:lnB w="6350" cap="flat" cmpd="sng" algn="ctr">
                      <a:solidFill>
                        <a:srgbClr val="D5DAE1"/>
                      </a:solidFill>
                      <a:prstDash val="solid"/>
                      <a:round/>
                      <a:headEnd type="none" w="med" len="med"/>
                      <a:tailEnd type="none" w="med" len="med"/>
                    </a:lnB>
                    <a:solidFill>
                      <a:srgbClr val="F2F4F7"/>
                    </a:solidFill>
                  </a:tcPr>
                </a:tc>
              </a:tr>
              <a:tr h="457200">
                <a:tc>
                  <a:txBody>
                    <a:bodyPr/>
                    <a:lstStyle/>
                    <a:p>
                      <a:pPr algn="l" indent="0" marL="0">
                        <a:buNone/>
                      </a:pPr>
                      <a:r>
                        <a:rPr lang="en-US" sz="1300" b="1" dirty="0">
                          <a:solidFill>
                            <a:srgbClr val="1B1F2A"/>
                          </a:solidFill>
                        </a:rPr>
                        <a:t>Use of proceeds</a:t>
                      </a:r>
                      <a:endParaRPr lang="en-US" sz="1300" dirty="0"/>
                    </a:p>
                  </a:txBody>
                  <a:tcPr marL="73152" marR="73152" marT="36576" marB="36576" anchor="ctr">
                    <a:lnL w="6350" cap="flat" cmpd="sng" algn="ctr">
                      <a:solidFill>
                        <a:srgbClr val="D5DAE1"/>
                      </a:solidFill>
                      <a:prstDash val="solid"/>
                      <a:round/>
                      <a:headEnd type="none" w="med" len="med"/>
                      <a:tailEnd type="none" w="med" len="med"/>
                    </a:lnL>
                    <a:lnR w="6350" cap="flat" cmpd="sng" algn="ctr">
                      <a:solidFill>
                        <a:srgbClr val="D5DAE1"/>
                      </a:solidFill>
                      <a:prstDash val="solid"/>
                      <a:round/>
                      <a:headEnd type="none" w="med" len="med"/>
                      <a:tailEnd type="none" w="med" len="med"/>
                    </a:lnR>
                    <a:lnT w="6350" cap="flat" cmpd="sng" algn="ctr">
                      <a:solidFill>
                        <a:srgbClr val="D5DAE1"/>
                      </a:solidFill>
                      <a:prstDash val="solid"/>
                      <a:round/>
                      <a:headEnd type="none" w="med" len="med"/>
                      <a:tailEnd type="none" w="med" len="med"/>
                    </a:lnT>
                    <a:lnB w="6350" cap="flat" cmpd="sng" algn="ctr">
                      <a:solidFill>
                        <a:srgbClr val="D5DAE1"/>
                      </a:solidFill>
                      <a:prstDash val="solid"/>
                      <a:round/>
                      <a:headEnd type="none" w="med" len="med"/>
                      <a:tailEnd type="none" w="med" len="med"/>
                    </a:lnB>
                    <a:solidFill>
                      <a:srgbClr val="FFFFFF"/>
                    </a:solidFill>
                  </a:tcPr>
                </a:tc>
                <a:tc>
                  <a:txBody>
                    <a:bodyPr/>
                    <a:lstStyle/>
                    <a:p>
                      <a:pPr algn="l" indent="0" marL="0">
                        <a:buNone/>
                      </a:pPr>
                      <a:r>
                        <a:rPr lang="en-US" sz="1300" dirty="0">
                          <a:solidFill>
                            <a:srgbClr val="1B1F2A"/>
                          </a:solidFill>
                        </a:rPr>
                        <a:t>Down payment to the landowner, guarantee instalments and working capital to the funding peak, and pre-construction costs (total modelled need EGP 113.0 million)</a:t>
                      </a:r>
                      <a:endParaRPr lang="en-US" sz="1300" dirty="0"/>
                    </a:p>
                  </a:txBody>
                  <a:tcPr marL="73152" marR="73152" marT="36576" marB="36576" anchor="ctr">
                    <a:lnL w="6350" cap="flat" cmpd="sng" algn="ctr">
                      <a:solidFill>
                        <a:srgbClr val="D5DAE1"/>
                      </a:solidFill>
                      <a:prstDash val="solid"/>
                      <a:round/>
                      <a:headEnd type="none" w="med" len="med"/>
                      <a:tailEnd type="none" w="med" len="med"/>
                    </a:lnL>
                    <a:lnR w="6350" cap="flat" cmpd="sng" algn="ctr">
                      <a:solidFill>
                        <a:srgbClr val="D5DAE1"/>
                      </a:solidFill>
                      <a:prstDash val="solid"/>
                      <a:round/>
                      <a:headEnd type="none" w="med" len="med"/>
                      <a:tailEnd type="none" w="med" len="med"/>
                    </a:lnR>
                    <a:lnT w="6350" cap="flat" cmpd="sng" algn="ctr">
                      <a:solidFill>
                        <a:srgbClr val="D5DAE1"/>
                      </a:solidFill>
                      <a:prstDash val="solid"/>
                      <a:round/>
                      <a:headEnd type="none" w="med" len="med"/>
                      <a:tailEnd type="none" w="med" len="med"/>
                    </a:lnT>
                    <a:lnB w="6350" cap="flat" cmpd="sng" algn="ctr">
                      <a:solidFill>
                        <a:srgbClr val="D5DAE1"/>
                      </a:solidFill>
                      <a:prstDash val="solid"/>
                      <a:round/>
                      <a:headEnd type="none" w="med" len="med"/>
                      <a:tailEnd type="none" w="med" len="med"/>
                    </a:lnB>
                    <a:solidFill>
                      <a:srgbClr val="FFFFFF"/>
                    </a:solidFill>
                  </a:tcPr>
                </a:tc>
              </a:tr>
              <a:tr h="457200">
                <a:tc>
                  <a:txBody>
                    <a:bodyPr/>
                    <a:lstStyle/>
                    <a:p>
                      <a:pPr algn="l" indent="0" marL="0">
                        <a:buNone/>
                      </a:pPr>
                      <a:r>
                        <a:rPr lang="en-US" sz="1300" b="1" dirty="0">
                          <a:solidFill>
                            <a:srgbClr val="1B1F2A"/>
                          </a:solidFill>
                        </a:rPr>
                        <a:t>Option A: units</a:t>
                      </a:r>
                      <a:endParaRPr lang="en-US" sz="1300" dirty="0"/>
                    </a:p>
                  </a:txBody>
                  <a:tcPr marL="73152" marR="73152" marT="36576" marB="36576" anchor="ctr">
                    <a:lnL w="6350" cap="flat" cmpd="sng" algn="ctr">
                      <a:solidFill>
                        <a:srgbClr val="D5DAE1"/>
                      </a:solidFill>
                      <a:prstDash val="solid"/>
                      <a:round/>
                      <a:headEnd type="none" w="med" len="med"/>
                      <a:tailEnd type="none" w="med" len="med"/>
                    </a:lnL>
                    <a:lnR w="6350" cap="flat" cmpd="sng" algn="ctr">
                      <a:solidFill>
                        <a:srgbClr val="D5DAE1"/>
                      </a:solidFill>
                      <a:prstDash val="solid"/>
                      <a:round/>
                      <a:headEnd type="none" w="med" len="med"/>
                      <a:tailEnd type="none" w="med" len="med"/>
                    </a:lnR>
                    <a:lnT w="6350" cap="flat" cmpd="sng" algn="ctr">
                      <a:solidFill>
                        <a:srgbClr val="D5DAE1"/>
                      </a:solidFill>
                      <a:prstDash val="solid"/>
                      <a:round/>
                      <a:headEnd type="none" w="med" len="med"/>
                      <a:tailEnd type="none" w="med" len="med"/>
                    </a:lnT>
                    <a:lnB w="6350" cap="flat" cmpd="sng" algn="ctr">
                      <a:solidFill>
                        <a:srgbClr val="D5DAE1"/>
                      </a:solidFill>
                      <a:prstDash val="solid"/>
                      <a:round/>
                      <a:headEnd type="none" w="med" len="med"/>
                      <a:tailEnd type="none" w="med" len="med"/>
                    </a:lnB>
                    <a:solidFill>
                      <a:srgbClr val="F2F4F7"/>
                    </a:solidFill>
                  </a:tcPr>
                </a:tc>
                <a:tc>
                  <a:txBody>
                    <a:bodyPr/>
                    <a:lstStyle/>
                    <a:p>
                      <a:pPr algn="l" indent="0" marL="0">
                        <a:buNone/>
                      </a:pPr>
                      <a:r>
                        <a:rPr lang="en-US" sz="1300" dirty="0">
                          <a:solidFill>
                            <a:srgbClr val="1B1F2A"/>
                          </a:solidFill>
                        </a:rPr>
                        <a:t>Units with a face value of EGP 150 million at launch list prices, allocated from the first two sales tranches; resale rights subject to consents</a:t>
                      </a:r>
                      <a:endParaRPr lang="en-US" sz="1300" dirty="0"/>
                    </a:p>
                  </a:txBody>
                  <a:tcPr marL="73152" marR="73152" marT="36576" marB="36576" anchor="ctr">
                    <a:lnL w="6350" cap="flat" cmpd="sng" algn="ctr">
                      <a:solidFill>
                        <a:srgbClr val="D5DAE1"/>
                      </a:solidFill>
                      <a:prstDash val="solid"/>
                      <a:round/>
                      <a:headEnd type="none" w="med" len="med"/>
                      <a:tailEnd type="none" w="med" len="med"/>
                    </a:lnL>
                    <a:lnR w="6350" cap="flat" cmpd="sng" algn="ctr">
                      <a:solidFill>
                        <a:srgbClr val="D5DAE1"/>
                      </a:solidFill>
                      <a:prstDash val="solid"/>
                      <a:round/>
                      <a:headEnd type="none" w="med" len="med"/>
                      <a:tailEnd type="none" w="med" len="med"/>
                    </a:lnR>
                    <a:lnT w="6350" cap="flat" cmpd="sng" algn="ctr">
                      <a:solidFill>
                        <a:srgbClr val="D5DAE1"/>
                      </a:solidFill>
                      <a:prstDash val="solid"/>
                      <a:round/>
                      <a:headEnd type="none" w="med" len="med"/>
                      <a:tailEnd type="none" w="med" len="med"/>
                    </a:lnT>
                    <a:lnB w="6350" cap="flat" cmpd="sng" algn="ctr">
                      <a:solidFill>
                        <a:srgbClr val="D5DAE1"/>
                      </a:solidFill>
                      <a:prstDash val="solid"/>
                      <a:round/>
                      <a:headEnd type="none" w="med" len="med"/>
                      <a:tailEnd type="none" w="med" len="med"/>
                    </a:lnB>
                    <a:solidFill>
                      <a:srgbClr val="F2F4F7"/>
                    </a:solidFill>
                  </a:tcPr>
                </a:tc>
              </a:tr>
              <a:tr h="457200">
                <a:tc>
                  <a:txBody>
                    <a:bodyPr/>
                    <a:lstStyle/>
                    <a:p>
                      <a:pPr algn="l" indent="0" marL="0">
                        <a:buNone/>
                      </a:pPr>
                      <a:r>
                        <a:rPr lang="en-US" sz="1300" b="1" dirty="0">
                          <a:solidFill>
                            <a:srgbClr val="1B1F2A"/>
                          </a:solidFill>
                        </a:rPr>
                        <a:t>Option B: cash</a:t>
                      </a:r>
                      <a:endParaRPr lang="en-US" sz="1300" dirty="0"/>
                    </a:p>
                  </a:txBody>
                  <a:tcPr marL="73152" marR="73152" marT="36576" marB="36576" anchor="ctr">
                    <a:lnL w="6350" cap="flat" cmpd="sng" algn="ctr">
                      <a:solidFill>
                        <a:srgbClr val="D5DAE1"/>
                      </a:solidFill>
                      <a:prstDash val="solid"/>
                      <a:round/>
                      <a:headEnd type="none" w="med" len="med"/>
                      <a:tailEnd type="none" w="med" len="med"/>
                    </a:lnL>
                    <a:lnR w="6350" cap="flat" cmpd="sng" algn="ctr">
                      <a:solidFill>
                        <a:srgbClr val="D5DAE1"/>
                      </a:solidFill>
                      <a:prstDash val="solid"/>
                      <a:round/>
                      <a:headEnd type="none" w="med" len="med"/>
                      <a:tailEnd type="none" w="med" len="med"/>
                    </a:lnR>
                    <a:lnT w="6350" cap="flat" cmpd="sng" algn="ctr">
                      <a:solidFill>
                        <a:srgbClr val="D5DAE1"/>
                      </a:solidFill>
                      <a:prstDash val="solid"/>
                      <a:round/>
                      <a:headEnd type="none" w="med" len="med"/>
                      <a:tailEnd type="none" w="med" len="med"/>
                    </a:lnT>
                    <a:lnB w="6350" cap="flat" cmpd="sng" algn="ctr">
                      <a:solidFill>
                        <a:srgbClr val="D5DAE1"/>
                      </a:solidFill>
                      <a:prstDash val="solid"/>
                      <a:round/>
                      <a:headEnd type="none" w="med" len="med"/>
                      <a:tailEnd type="none" w="med" len="med"/>
                    </a:lnB>
                    <a:solidFill>
                      <a:srgbClr val="FFFFFF"/>
                    </a:solidFill>
                  </a:tcPr>
                </a:tc>
                <a:tc>
                  <a:txBody>
                    <a:bodyPr/>
                    <a:lstStyle/>
                    <a:p>
                      <a:pPr algn="l" indent="0" marL="0">
                        <a:buNone/>
                      </a:pPr>
                      <a:r>
                        <a:rPr lang="en-US" sz="1300" dirty="0">
                          <a:solidFill>
                            <a:srgbClr val="1B1F2A"/>
                          </a:solidFill>
                        </a:rPr>
                        <a:t>EGP 173 million in 12 equal quarterly instalments of EGP 14.38 million; first payment month 30, last month 63</a:t>
                      </a:r>
                      <a:endParaRPr lang="en-US" sz="1300" dirty="0"/>
                    </a:p>
                  </a:txBody>
                  <a:tcPr marL="73152" marR="73152" marT="36576" marB="36576" anchor="ctr">
                    <a:lnL w="6350" cap="flat" cmpd="sng" algn="ctr">
                      <a:solidFill>
                        <a:srgbClr val="D5DAE1"/>
                      </a:solidFill>
                      <a:prstDash val="solid"/>
                      <a:round/>
                      <a:headEnd type="none" w="med" len="med"/>
                      <a:tailEnd type="none" w="med" len="med"/>
                    </a:lnL>
                    <a:lnR w="6350" cap="flat" cmpd="sng" algn="ctr">
                      <a:solidFill>
                        <a:srgbClr val="D5DAE1"/>
                      </a:solidFill>
                      <a:prstDash val="solid"/>
                      <a:round/>
                      <a:headEnd type="none" w="med" len="med"/>
                      <a:tailEnd type="none" w="med" len="med"/>
                    </a:lnR>
                    <a:lnT w="6350" cap="flat" cmpd="sng" algn="ctr">
                      <a:solidFill>
                        <a:srgbClr val="D5DAE1"/>
                      </a:solidFill>
                      <a:prstDash val="solid"/>
                      <a:round/>
                      <a:headEnd type="none" w="med" len="med"/>
                      <a:tailEnd type="none" w="med" len="med"/>
                    </a:lnT>
                    <a:lnB w="6350" cap="flat" cmpd="sng" algn="ctr">
                      <a:solidFill>
                        <a:srgbClr val="D5DAE1"/>
                      </a:solidFill>
                      <a:prstDash val="solid"/>
                      <a:round/>
                      <a:headEnd type="none" w="med" len="med"/>
                      <a:tailEnd type="none" w="med" len="med"/>
                    </a:lnB>
                    <a:solidFill>
                      <a:srgbClr val="FFFFFF"/>
                    </a:solidFill>
                  </a:tcPr>
                </a:tc>
              </a:tr>
              <a:tr h="457200">
                <a:tc>
                  <a:txBody>
                    <a:bodyPr/>
                    <a:lstStyle/>
                    <a:p>
                      <a:pPr algn="l" indent="0" marL="0">
                        <a:buNone/>
                      </a:pPr>
                      <a:r>
                        <a:rPr lang="en-US" sz="1300" b="1" dirty="0">
                          <a:solidFill>
                            <a:srgbClr val="1B1F2A"/>
                          </a:solidFill>
                        </a:rPr>
                        <a:t>Choice</a:t>
                      </a:r>
                      <a:endParaRPr lang="en-US" sz="1300" dirty="0"/>
                    </a:p>
                  </a:txBody>
                  <a:tcPr marL="73152" marR="73152" marT="36576" marB="36576" anchor="ctr">
                    <a:lnL w="6350" cap="flat" cmpd="sng" algn="ctr">
                      <a:solidFill>
                        <a:srgbClr val="D5DAE1"/>
                      </a:solidFill>
                      <a:prstDash val="solid"/>
                      <a:round/>
                      <a:headEnd type="none" w="med" len="med"/>
                      <a:tailEnd type="none" w="med" len="med"/>
                    </a:lnL>
                    <a:lnR w="6350" cap="flat" cmpd="sng" algn="ctr">
                      <a:solidFill>
                        <a:srgbClr val="D5DAE1"/>
                      </a:solidFill>
                      <a:prstDash val="solid"/>
                      <a:round/>
                      <a:headEnd type="none" w="med" len="med"/>
                      <a:tailEnd type="none" w="med" len="med"/>
                    </a:lnR>
                    <a:lnT w="6350" cap="flat" cmpd="sng" algn="ctr">
                      <a:solidFill>
                        <a:srgbClr val="D5DAE1"/>
                      </a:solidFill>
                      <a:prstDash val="solid"/>
                      <a:round/>
                      <a:headEnd type="none" w="med" len="med"/>
                      <a:tailEnd type="none" w="med" len="med"/>
                    </a:lnT>
                    <a:lnB w="6350" cap="flat" cmpd="sng" algn="ctr">
                      <a:solidFill>
                        <a:srgbClr val="D5DAE1"/>
                      </a:solidFill>
                      <a:prstDash val="solid"/>
                      <a:round/>
                      <a:headEnd type="none" w="med" len="med"/>
                      <a:tailEnd type="none" w="med" len="med"/>
                    </a:lnB>
                    <a:solidFill>
                      <a:srgbClr val="F2F4F7"/>
                    </a:solidFill>
                  </a:tcPr>
                </a:tc>
                <a:tc>
                  <a:txBody>
                    <a:bodyPr/>
                    <a:lstStyle/>
                    <a:p>
                      <a:pPr algn="l" indent="0" marL="0">
                        <a:buNone/>
                      </a:pPr>
                      <a:r>
                        <a:rPr lang="en-US" sz="1300" dirty="0">
                          <a:solidFill>
                            <a:srgbClr val="1B1F2A"/>
                          </a:solidFill>
                        </a:rPr>
                        <a:t>The investor chooses Option A or Option B at signing</a:t>
                      </a:r>
                      <a:endParaRPr lang="en-US" sz="1300" dirty="0"/>
                    </a:p>
                  </a:txBody>
                  <a:tcPr marL="73152" marR="73152" marT="36576" marB="36576" anchor="ctr">
                    <a:lnL w="6350" cap="flat" cmpd="sng" algn="ctr">
                      <a:solidFill>
                        <a:srgbClr val="D5DAE1"/>
                      </a:solidFill>
                      <a:prstDash val="solid"/>
                      <a:round/>
                      <a:headEnd type="none" w="med" len="med"/>
                      <a:tailEnd type="none" w="med" len="med"/>
                    </a:lnL>
                    <a:lnR w="6350" cap="flat" cmpd="sng" algn="ctr">
                      <a:solidFill>
                        <a:srgbClr val="D5DAE1"/>
                      </a:solidFill>
                      <a:prstDash val="solid"/>
                      <a:round/>
                      <a:headEnd type="none" w="med" len="med"/>
                      <a:tailEnd type="none" w="med" len="med"/>
                    </a:lnR>
                    <a:lnT w="6350" cap="flat" cmpd="sng" algn="ctr">
                      <a:solidFill>
                        <a:srgbClr val="D5DAE1"/>
                      </a:solidFill>
                      <a:prstDash val="solid"/>
                      <a:round/>
                      <a:headEnd type="none" w="med" len="med"/>
                      <a:tailEnd type="none" w="med" len="med"/>
                    </a:lnT>
                    <a:lnB w="6350" cap="flat" cmpd="sng" algn="ctr">
                      <a:solidFill>
                        <a:srgbClr val="D5DAE1"/>
                      </a:solidFill>
                      <a:prstDash val="solid"/>
                      <a:round/>
                      <a:headEnd type="none" w="med" len="med"/>
                      <a:tailEnd type="none" w="med" len="med"/>
                    </a:lnB>
                    <a:solidFill>
                      <a:srgbClr val="F2F4F7"/>
                    </a:solidFill>
                  </a:tcPr>
                </a:tc>
              </a:tr>
              <a:tr h="457200">
                <a:tc>
                  <a:txBody>
                    <a:bodyPr/>
                    <a:lstStyle/>
                    <a:p>
                      <a:pPr algn="l" indent="0" marL="0">
                        <a:buNone/>
                      </a:pPr>
                      <a:r>
                        <a:rPr lang="en-US" sz="1300" b="1" dirty="0">
                          <a:solidFill>
                            <a:srgbClr val="1B1F2A"/>
                          </a:solidFill>
                        </a:rPr>
                        <a:t>Balance of funding</a:t>
                      </a:r>
                      <a:endParaRPr lang="en-US" sz="1300" dirty="0"/>
                    </a:p>
                  </a:txBody>
                  <a:tcPr marL="73152" marR="73152" marT="36576" marB="36576" anchor="ctr">
                    <a:lnL w="6350" cap="flat" cmpd="sng" algn="ctr">
                      <a:solidFill>
                        <a:srgbClr val="D5DAE1"/>
                      </a:solidFill>
                      <a:prstDash val="solid"/>
                      <a:round/>
                      <a:headEnd type="none" w="med" len="med"/>
                      <a:tailEnd type="none" w="med" len="med"/>
                    </a:lnL>
                    <a:lnR w="6350" cap="flat" cmpd="sng" algn="ctr">
                      <a:solidFill>
                        <a:srgbClr val="D5DAE1"/>
                      </a:solidFill>
                      <a:prstDash val="solid"/>
                      <a:round/>
                      <a:headEnd type="none" w="med" len="med"/>
                      <a:tailEnd type="none" w="med" len="med"/>
                    </a:lnR>
                    <a:lnT w="6350" cap="flat" cmpd="sng" algn="ctr">
                      <a:solidFill>
                        <a:srgbClr val="D5DAE1"/>
                      </a:solidFill>
                      <a:prstDash val="solid"/>
                      <a:round/>
                      <a:headEnd type="none" w="med" len="med"/>
                      <a:tailEnd type="none" w="med" len="med"/>
                    </a:lnT>
                    <a:lnB w="6350" cap="flat" cmpd="sng" algn="ctr">
                      <a:solidFill>
                        <a:srgbClr val="D5DAE1"/>
                      </a:solidFill>
                      <a:prstDash val="solid"/>
                      <a:round/>
                      <a:headEnd type="none" w="med" len="med"/>
                      <a:tailEnd type="none" w="med" len="med"/>
                    </a:lnB>
                    <a:solidFill>
                      <a:srgbClr val="FFFFFF"/>
                    </a:solidFill>
                  </a:tcPr>
                </a:tc>
                <a:tc>
                  <a:txBody>
                    <a:bodyPr/>
                    <a:lstStyle/>
                    <a:p>
                      <a:pPr algn="l" indent="0" marL="0">
                        <a:buNone/>
                      </a:pPr>
                      <a:r>
                        <a:rPr lang="en-US" sz="1300" dirty="0">
                          <a:solidFill>
                            <a:srgbClr val="1B1F2A"/>
                          </a:solidFill>
                        </a:rPr>
                        <a:t>The balance of project funding is provided by Jalour sponsor equity, project collections and other capital sources.</a:t>
                      </a:r>
                      <a:endParaRPr lang="en-US" sz="1300" dirty="0"/>
                    </a:p>
                  </a:txBody>
                  <a:tcPr marL="73152" marR="73152" marT="36576" marB="36576" anchor="ctr">
                    <a:lnL w="6350" cap="flat" cmpd="sng" algn="ctr">
                      <a:solidFill>
                        <a:srgbClr val="D5DAE1"/>
                      </a:solidFill>
                      <a:prstDash val="solid"/>
                      <a:round/>
                      <a:headEnd type="none" w="med" len="med"/>
                      <a:tailEnd type="none" w="med" len="med"/>
                    </a:lnL>
                    <a:lnR w="6350" cap="flat" cmpd="sng" algn="ctr">
                      <a:solidFill>
                        <a:srgbClr val="D5DAE1"/>
                      </a:solidFill>
                      <a:prstDash val="solid"/>
                      <a:round/>
                      <a:headEnd type="none" w="med" len="med"/>
                      <a:tailEnd type="none" w="med" len="med"/>
                    </a:lnR>
                    <a:lnT w="6350" cap="flat" cmpd="sng" algn="ctr">
                      <a:solidFill>
                        <a:srgbClr val="D5DAE1"/>
                      </a:solidFill>
                      <a:prstDash val="solid"/>
                      <a:round/>
                      <a:headEnd type="none" w="med" len="med"/>
                      <a:tailEnd type="none" w="med" len="med"/>
                    </a:lnT>
                    <a:lnB w="6350" cap="flat" cmpd="sng" algn="ctr">
                      <a:solidFill>
                        <a:srgbClr val="D5DAE1"/>
                      </a:solidFill>
                      <a:prstDash val="solid"/>
                      <a:round/>
                      <a:headEnd type="none" w="med" len="med"/>
                      <a:tailEnd type="none" w="med" len="med"/>
                    </a:lnB>
                    <a:solidFill>
                      <a:srgbClr val="FFFFFF"/>
                    </a:solidFill>
                  </a:tcPr>
                </a:tc>
              </a:tr>
              <a:tr h="457200">
                <a:tc>
                  <a:txBody>
                    <a:bodyPr/>
                    <a:lstStyle/>
                    <a:p>
                      <a:pPr algn="l" indent="0" marL="0">
                        <a:buNone/>
                      </a:pPr>
                      <a:r>
                        <a:rPr lang="en-US" sz="1300" b="1" dirty="0">
                          <a:solidFill>
                            <a:srgbClr val="1B1F2A"/>
                          </a:solidFill>
                        </a:rPr>
                        <a:t>Further capital</a:t>
                      </a:r>
                      <a:endParaRPr lang="en-US" sz="1300" dirty="0"/>
                    </a:p>
                  </a:txBody>
                  <a:tcPr marL="73152" marR="73152" marT="36576" marB="36576" anchor="ctr">
                    <a:lnL w="6350" cap="flat" cmpd="sng" algn="ctr">
                      <a:solidFill>
                        <a:srgbClr val="D5DAE1"/>
                      </a:solidFill>
                      <a:prstDash val="solid"/>
                      <a:round/>
                      <a:headEnd type="none" w="med" len="med"/>
                      <a:tailEnd type="none" w="med" len="med"/>
                    </a:lnL>
                    <a:lnR w="6350" cap="flat" cmpd="sng" algn="ctr">
                      <a:solidFill>
                        <a:srgbClr val="D5DAE1"/>
                      </a:solidFill>
                      <a:prstDash val="solid"/>
                      <a:round/>
                      <a:headEnd type="none" w="med" len="med"/>
                      <a:tailEnd type="none" w="med" len="med"/>
                    </a:lnR>
                    <a:lnT w="6350" cap="flat" cmpd="sng" algn="ctr">
                      <a:solidFill>
                        <a:srgbClr val="D5DAE1"/>
                      </a:solidFill>
                      <a:prstDash val="solid"/>
                      <a:round/>
                      <a:headEnd type="none" w="med" len="med"/>
                      <a:tailEnd type="none" w="med" len="med"/>
                    </a:lnT>
                    <a:lnB w="6350" cap="flat" cmpd="sng" algn="ctr">
                      <a:solidFill>
                        <a:srgbClr val="D5DAE1"/>
                      </a:solidFill>
                      <a:prstDash val="solid"/>
                      <a:round/>
                      <a:headEnd type="none" w="med" len="med"/>
                      <a:tailEnd type="none" w="med" len="med"/>
                    </a:lnB>
                    <a:solidFill>
                      <a:srgbClr val="F2F4F7"/>
                    </a:solidFill>
                  </a:tcPr>
                </a:tc>
                <a:tc>
                  <a:txBody>
                    <a:bodyPr/>
                    <a:lstStyle/>
                    <a:p>
                      <a:pPr algn="l" indent="0" marL="0">
                        <a:buNone/>
                      </a:pPr>
                      <a:r>
                        <a:rPr lang="en-US" sz="1300" dirty="0">
                          <a:solidFill>
                            <a:srgbClr val="1B1F2A"/>
                          </a:solidFill>
                        </a:rPr>
                        <a:t>Jalour may raise further capital at project or holding level, subject to the investor's stated rights (ranking, collateral, information rights)</a:t>
                      </a:r>
                      <a:endParaRPr lang="en-US" sz="1300" dirty="0"/>
                    </a:p>
                  </a:txBody>
                  <a:tcPr marL="73152" marR="73152" marT="36576" marB="36576" anchor="ctr">
                    <a:lnL w="6350" cap="flat" cmpd="sng" algn="ctr">
                      <a:solidFill>
                        <a:srgbClr val="D5DAE1"/>
                      </a:solidFill>
                      <a:prstDash val="solid"/>
                      <a:round/>
                      <a:headEnd type="none" w="med" len="med"/>
                      <a:tailEnd type="none" w="med" len="med"/>
                    </a:lnL>
                    <a:lnR w="6350" cap="flat" cmpd="sng" algn="ctr">
                      <a:solidFill>
                        <a:srgbClr val="D5DAE1"/>
                      </a:solidFill>
                      <a:prstDash val="solid"/>
                      <a:round/>
                      <a:headEnd type="none" w="med" len="med"/>
                      <a:tailEnd type="none" w="med" len="med"/>
                    </a:lnR>
                    <a:lnT w="6350" cap="flat" cmpd="sng" algn="ctr">
                      <a:solidFill>
                        <a:srgbClr val="D5DAE1"/>
                      </a:solidFill>
                      <a:prstDash val="solid"/>
                      <a:round/>
                      <a:headEnd type="none" w="med" len="med"/>
                      <a:tailEnd type="none" w="med" len="med"/>
                    </a:lnT>
                    <a:lnB w="6350" cap="flat" cmpd="sng" algn="ctr">
                      <a:solidFill>
                        <a:srgbClr val="D5DAE1"/>
                      </a:solidFill>
                      <a:prstDash val="solid"/>
                      <a:round/>
                      <a:headEnd type="none" w="med" len="med"/>
                      <a:tailEnd type="none" w="med" len="med"/>
                    </a:lnB>
                    <a:solidFill>
                      <a:srgbClr val="F2F4F7"/>
                    </a:solidFill>
                  </a:tcPr>
                </a:tc>
              </a:tr>
            </a:tbl>
          </a:graphicData>
        </a:graphic>
      </p:graphicFrame>
      <p:sp>
        <p:nvSpPr>
          <p:cNvPr id="5" name="Text 1"/>
          <p:cNvSpPr txBox="1"/>
          <p:nvPr/>
        </p:nvSpPr>
        <p:spPr>
          <a:xfrm>
            <a:off x="548640" y="6144768"/>
            <a:ext cx="11064240" cy="274320"/>
          </a:xfrm>
          <a:prstGeom prst="rect">
            <a:avLst/>
          </a:prstGeom>
          <a:noFill/>
          <a:ln/>
        </p:spPr>
        <p:txBody>
          <a:bodyPr wrap="square" lIns="0" tIns="0" rIns="0" bIns="0" rtlCol="0" anchor="ctr"/>
          <a:lstStyle/>
          <a:p>
            <a:pPr indent="0" marL="0">
              <a:buNone/>
            </a:pPr>
            <a:r>
              <a:rPr lang="en-US" sz="900" i="1" dirty="0">
                <a:solidFill>
                  <a:srgbClr val="6B7280"/>
                </a:solidFill>
              </a:rPr>
              <a:t>Source: Term summary; final terms are set by the definitive agreements.</a:t>
            </a:r>
            <a:endParaRPr lang="en-US" sz="900" dirty="0"/>
          </a:p>
        </p:txBody>
      </p:sp>
      <p:sp>
        <p:nvSpPr>
          <p:cNvPr id="25" name="Slide Number Placeholder 0"/>
          <p:cNvSpPr>
            <a:spLocks noGrp="1"/>
          </p:cNvSpPr>
          <p:nvPr>
            <p:ph type="sldNum" sz="quarter" idx="4294967295"/>
          </p:nvPr>
        </p:nvSpPr>
        <p:spPr>
          <a:xfrm>
            <a:off x="11155680" y="6446520"/>
            <a:ext cx="548640" cy="274320"/>
          </a:xfrm>
          <a:prstGeom prst="rect">
            <a:avLst/>
          </a:prstGeom>
          <a:extLst>
            <a:ext uri="{C572A759-6A51-4108-AA02-DFA0A04FC94B}">
              <ma14:wrappingTextBoxFlag xmlns:ma14="http://schemas.microsoft.com/office/mac/drawingml/2011/main" val="0"/>
            </a:ext>
          </a:extLst>
        </p:spPr>
        <p:txBody>
          <a:bodyPr/>
          <a:lstStyle>
            <a:lvl1pPr>
              <a:defRPr sz="900">
                <a:solidFill>
                  <a:srgbClr val="6B7280"/>
                </a:solidFill>
              </a:defRPr>
            </a:lvl1pPr>
          </a:lstStyle>
          <a:p>
            <a:pPr algn="l"/>
            <a:fld id="{F7021451-1387-4CA6-816F-3879F97B5CBC}" type="slidenum">
              <a:rPr b="0" lang="en-US"/>
              <a:t>3</a:t>
            </a:fld>
            <a:endParaRPr lang="en-US"/>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spTree>
      <p:nvGrpSpPr>
        <p:cNvPr id="1" name=""/>
        <p:cNvGrpSpPr/>
        <p:nvPr/>
      </p:nvGrpSpPr>
      <p:grpSpPr>
        <a:xfrm>
          <a:off x="0" y="0"/>
          <a:ext cx="0" cy="0"/>
          <a:chOff x="0" y="0"/>
          <a:chExt cx="0" cy="0"/>
        </a:xfrm>
      </p:grpSpPr>
      <p:sp>
        <p:nvSpPr>
          <p:cNvPr id="2" name="Text 0"/>
          <p:cNvSpPr txBox="1"/>
          <p:nvPr/>
        </p:nvSpPr>
        <p:spPr>
          <a:xfrm>
            <a:off x="548640" y="320040"/>
            <a:ext cx="11064240" cy="822960"/>
          </a:xfrm>
          <a:prstGeom prst="rect">
            <a:avLst/>
          </a:prstGeom>
          <a:noFill/>
          <a:ln/>
        </p:spPr>
        <p:txBody>
          <a:bodyPr wrap="square" lIns="0" tIns="0" rIns="0" bIns="0" rtlCol="0" anchor="ctr">
            <a:normAutofit/>
          </a:bodyPr>
          <a:lstStyle/>
          <a:p>
            <a:pPr indent="0" marL="0">
              <a:buNone/>
            </a:pPr>
            <a:r>
              <a:rPr lang="en-US" sz="2800" b="1" dirty="0">
                <a:solidFill>
                  <a:srgbClr val="17324D"/>
                </a:solidFill>
                <a:latin typeface="Cambria" pitchFamily="34" charset="0"/>
                <a:ea typeface="Cambria" pitchFamily="34" charset="-122"/>
                <a:cs typeface="Cambria" pitchFamily="34" charset="-120"/>
              </a:rPr>
              <a:t>Market: Cairo office and commercial supply and demand</a:t>
            </a:r>
            <a:endParaRPr lang="en-US" sz="2800" dirty="0"/>
          </a:p>
        </p:txBody>
      </p:sp>
      <p:sp>
        <p:nvSpPr>
          <p:cNvPr id="4" name="Shape 1"/>
          <p:cNvSpPr/>
          <p:nvPr/>
        </p:nvSpPr>
        <p:spPr>
          <a:xfrm>
            <a:off x="548640" y="1371600"/>
            <a:ext cx="2651760" cy="1417320"/>
          </a:xfrm>
          <a:prstGeom prst="rect">
            <a:avLst/>
          </a:prstGeom>
          <a:solidFill>
            <a:srgbClr val="F2F4F7"/>
          </a:solidFill>
          <a:ln w="12700">
            <a:solidFill>
              <a:srgbClr val="F2F4F7"/>
            </a:solidFill>
            <a:prstDash val="solid"/>
          </a:ln>
        </p:spPr>
      </p:sp>
      <p:sp>
        <p:nvSpPr>
          <p:cNvPr id="5" name="Text 2"/>
          <p:cNvSpPr txBox="1"/>
          <p:nvPr/>
        </p:nvSpPr>
        <p:spPr>
          <a:xfrm>
            <a:off x="731520" y="1481328"/>
            <a:ext cx="2286000" cy="731520"/>
          </a:xfrm>
          <a:prstGeom prst="rect">
            <a:avLst/>
          </a:prstGeom>
          <a:noFill/>
          <a:ln/>
        </p:spPr>
        <p:txBody>
          <a:bodyPr wrap="square" lIns="0" tIns="0" rIns="0" bIns="0" rtlCol="0" anchor="ctr">
            <a:normAutofit/>
          </a:bodyPr>
          <a:lstStyle/>
          <a:p>
            <a:pPr indent="0" marL="0">
              <a:buNone/>
            </a:pPr>
            <a:r>
              <a:rPr lang="en-US" sz="3000" b="1" dirty="0">
                <a:solidFill>
                  <a:srgbClr val="17324D"/>
                </a:solidFill>
                <a:latin typeface="Cambria" pitchFamily="34" charset="0"/>
                <a:ea typeface="Cambria" pitchFamily="34" charset="-122"/>
                <a:cs typeface="Cambria" pitchFamily="34" charset="-120"/>
              </a:rPr>
              <a:t>73%</a:t>
            </a:r>
            <a:endParaRPr lang="en-US" sz="3000" dirty="0"/>
          </a:p>
        </p:txBody>
      </p:sp>
      <p:sp>
        <p:nvSpPr>
          <p:cNvPr id="6" name="Text 3"/>
          <p:cNvSpPr txBox="1"/>
          <p:nvPr/>
        </p:nvSpPr>
        <p:spPr>
          <a:xfrm>
            <a:off x="731520" y="2212848"/>
            <a:ext cx="2286000" cy="502920"/>
          </a:xfrm>
          <a:prstGeom prst="rect">
            <a:avLst/>
          </a:prstGeom>
          <a:noFill/>
          <a:ln/>
        </p:spPr>
        <p:txBody>
          <a:bodyPr wrap="square" lIns="0" tIns="0" rIns="0" bIns="0" rtlCol="0" anchor="t"/>
          <a:lstStyle/>
          <a:p>
            <a:pPr indent="0" marL="0">
              <a:buNone/>
            </a:pPr>
            <a:r>
              <a:rPr lang="en-US" sz="1200" dirty="0">
                <a:solidFill>
                  <a:srgbClr val="6B7280"/>
                </a:solidFill>
              </a:rPr>
              <a:t>of Cairo office stock, current and future, is in New Cairo</a:t>
            </a:r>
            <a:endParaRPr lang="en-US" sz="1200" dirty="0"/>
          </a:p>
        </p:txBody>
      </p:sp>
      <p:sp>
        <p:nvSpPr>
          <p:cNvPr id="7" name="Shape 4"/>
          <p:cNvSpPr/>
          <p:nvPr/>
        </p:nvSpPr>
        <p:spPr>
          <a:xfrm>
            <a:off x="3355848" y="1371600"/>
            <a:ext cx="2651760" cy="1417320"/>
          </a:xfrm>
          <a:prstGeom prst="rect">
            <a:avLst/>
          </a:prstGeom>
          <a:solidFill>
            <a:srgbClr val="F2F4F7"/>
          </a:solidFill>
          <a:ln w="12700">
            <a:solidFill>
              <a:srgbClr val="F2F4F7"/>
            </a:solidFill>
            <a:prstDash val="solid"/>
          </a:ln>
        </p:spPr>
      </p:sp>
      <p:sp>
        <p:nvSpPr>
          <p:cNvPr id="8" name="Text 5"/>
          <p:cNvSpPr txBox="1"/>
          <p:nvPr/>
        </p:nvSpPr>
        <p:spPr>
          <a:xfrm>
            <a:off x="3538728" y="1481328"/>
            <a:ext cx="2286000" cy="731520"/>
          </a:xfrm>
          <a:prstGeom prst="rect">
            <a:avLst/>
          </a:prstGeom>
          <a:noFill/>
          <a:ln/>
        </p:spPr>
        <p:txBody>
          <a:bodyPr wrap="square" lIns="0" tIns="0" rIns="0" bIns="0" rtlCol="0" anchor="ctr">
            <a:normAutofit/>
          </a:bodyPr>
          <a:lstStyle/>
          <a:p>
            <a:pPr indent="0" marL="0">
              <a:buNone/>
            </a:pPr>
            <a:r>
              <a:rPr lang="en-US" sz="3000" b="1" dirty="0">
                <a:solidFill>
                  <a:srgbClr val="17324D"/>
                </a:solidFill>
                <a:latin typeface="Cambria" pitchFamily="34" charset="0"/>
                <a:ea typeface="Cambria" pitchFamily="34" charset="-122"/>
                <a:cs typeface="Cambria" pitchFamily="34" charset="-120"/>
              </a:rPr>
              <a:t>~9%</a:t>
            </a:r>
            <a:endParaRPr lang="en-US" sz="3000" dirty="0"/>
          </a:p>
        </p:txBody>
      </p:sp>
      <p:sp>
        <p:nvSpPr>
          <p:cNvPr id="9" name="Text 6"/>
          <p:cNvSpPr txBox="1"/>
          <p:nvPr/>
        </p:nvSpPr>
        <p:spPr>
          <a:xfrm>
            <a:off x="3538728" y="2212848"/>
            <a:ext cx="2286000" cy="502920"/>
          </a:xfrm>
          <a:prstGeom prst="rect">
            <a:avLst/>
          </a:prstGeom>
          <a:noFill/>
          <a:ln/>
        </p:spPr>
        <p:txBody>
          <a:bodyPr wrap="square" lIns="0" tIns="0" rIns="0" bIns="0" rtlCol="0" anchor="t"/>
          <a:lstStyle/>
          <a:p>
            <a:pPr indent="0" marL="0">
              <a:buNone/>
            </a:pPr>
            <a:r>
              <a:rPr lang="en-US" sz="1200" dirty="0">
                <a:solidFill>
                  <a:srgbClr val="6B7280"/>
                </a:solidFill>
              </a:rPr>
              <a:t>office vacancy, stable (Q1 2026); Grade A occupancy about 90%</a:t>
            </a:r>
            <a:endParaRPr lang="en-US" sz="1200" dirty="0"/>
          </a:p>
        </p:txBody>
      </p:sp>
      <p:sp>
        <p:nvSpPr>
          <p:cNvPr id="10" name="Shape 7"/>
          <p:cNvSpPr/>
          <p:nvPr/>
        </p:nvSpPr>
        <p:spPr>
          <a:xfrm>
            <a:off x="6163056" y="1371600"/>
            <a:ext cx="2651760" cy="1417320"/>
          </a:xfrm>
          <a:prstGeom prst="rect">
            <a:avLst/>
          </a:prstGeom>
          <a:solidFill>
            <a:srgbClr val="F2F4F7"/>
          </a:solidFill>
          <a:ln w="12700">
            <a:solidFill>
              <a:srgbClr val="F2F4F7"/>
            </a:solidFill>
            <a:prstDash val="solid"/>
          </a:ln>
        </p:spPr>
      </p:sp>
      <p:sp>
        <p:nvSpPr>
          <p:cNvPr id="11" name="Text 8"/>
          <p:cNvSpPr txBox="1"/>
          <p:nvPr/>
        </p:nvSpPr>
        <p:spPr>
          <a:xfrm>
            <a:off x="6345936" y="1481328"/>
            <a:ext cx="2286000" cy="731520"/>
          </a:xfrm>
          <a:prstGeom prst="rect">
            <a:avLst/>
          </a:prstGeom>
          <a:noFill/>
          <a:ln/>
        </p:spPr>
        <p:txBody>
          <a:bodyPr wrap="square" lIns="0" tIns="0" rIns="0" bIns="0" rtlCol="0" anchor="ctr">
            <a:normAutofit/>
          </a:bodyPr>
          <a:lstStyle/>
          <a:p>
            <a:pPr indent="0" marL="0">
              <a:buNone/>
            </a:pPr>
            <a:r>
              <a:rPr lang="en-US" sz="3000" b="1" dirty="0">
                <a:solidFill>
                  <a:srgbClr val="17324D"/>
                </a:solidFill>
                <a:latin typeface="Cambria" pitchFamily="34" charset="0"/>
                <a:ea typeface="Cambria" pitchFamily="34" charset="-122"/>
                <a:cs typeface="Cambria" pitchFamily="34" charset="-120"/>
              </a:rPr>
              <a:t>+82%</a:t>
            </a:r>
            <a:endParaRPr lang="en-US" sz="3000" dirty="0"/>
          </a:p>
        </p:txBody>
      </p:sp>
      <p:sp>
        <p:nvSpPr>
          <p:cNvPr id="12" name="Text 9"/>
          <p:cNvSpPr txBox="1"/>
          <p:nvPr/>
        </p:nvSpPr>
        <p:spPr>
          <a:xfrm>
            <a:off x="6345936" y="2212848"/>
            <a:ext cx="2286000" cy="502920"/>
          </a:xfrm>
          <a:prstGeom prst="rect">
            <a:avLst/>
          </a:prstGeom>
          <a:noFill/>
          <a:ln/>
        </p:spPr>
        <p:txBody>
          <a:bodyPr wrap="square" lIns="0" tIns="0" rIns="0" bIns="0" rtlCol="0" anchor="t"/>
          <a:lstStyle/>
          <a:p>
            <a:pPr indent="0" marL="0">
              <a:buNone/>
            </a:pPr>
            <a:r>
              <a:rPr lang="en-US" sz="1200" dirty="0">
                <a:solidFill>
                  <a:srgbClr val="6B7280"/>
                </a:solidFill>
              </a:rPr>
              <a:t>office pipeline to 2029 relative to current stock: supply is the main risk</a:t>
            </a:r>
            <a:endParaRPr lang="en-US" sz="1200" dirty="0"/>
          </a:p>
        </p:txBody>
      </p:sp>
      <p:sp>
        <p:nvSpPr>
          <p:cNvPr id="13" name="Shape 10"/>
          <p:cNvSpPr/>
          <p:nvPr/>
        </p:nvSpPr>
        <p:spPr>
          <a:xfrm>
            <a:off x="8970264" y="1371600"/>
            <a:ext cx="2651760" cy="1417320"/>
          </a:xfrm>
          <a:prstGeom prst="rect">
            <a:avLst/>
          </a:prstGeom>
          <a:solidFill>
            <a:srgbClr val="F2F4F7"/>
          </a:solidFill>
          <a:ln w="12700">
            <a:solidFill>
              <a:srgbClr val="F2F4F7"/>
            </a:solidFill>
            <a:prstDash val="solid"/>
          </a:ln>
        </p:spPr>
      </p:sp>
      <p:sp>
        <p:nvSpPr>
          <p:cNvPr id="14" name="Text 11"/>
          <p:cNvSpPr txBox="1"/>
          <p:nvPr/>
        </p:nvSpPr>
        <p:spPr>
          <a:xfrm>
            <a:off x="9153144" y="1481328"/>
            <a:ext cx="2286000" cy="731520"/>
          </a:xfrm>
          <a:prstGeom prst="rect">
            <a:avLst/>
          </a:prstGeom>
          <a:noFill/>
          <a:ln/>
        </p:spPr>
        <p:txBody>
          <a:bodyPr wrap="square" lIns="0" tIns="0" rIns="0" bIns="0" rtlCol="0" anchor="ctr">
            <a:normAutofit/>
          </a:bodyPr>
          <a:lstStyle/>
          <a:p>
            <a:pPr indent="0" marL="0">
              <a:buNone/>
            </a:pPr>
            <a:r>
              <a:rPr lang="en-US" sz="3000" b="1" dirty="0">
                <a:solidFill>
                  <a:srgbClr val="17324D"/>
                </a:solidFill>
                <a:latin typeface="Cambria" pitchFamily="34" charset="0"/>
                <a:ea typeface="Cambria" pitchFamily="34" charset="-122"/>
                <a:cs typeface="Cambria" pitchFamily="34" charset="-120"/>
              </a:rPr>
              <a:t>USD 348</a:t>
            </a:r>
            <a:endParaRPr lang="en-US" sz="3000" dirty="0"/>
          </a:p>
        </p:txBody>
      </p:sp>
      <p:sp>
        <p:nvSpPr>
          <p:cNvPr id="15" name="Text 12"/>
          <p:cNvSpPr txBox="1"/>
          <p:nvPr/>
        </p:nvSpPr>
        <p:spPr>
          <a:xfrm>
            <a:off x="9153144" y="2212848"/>
            <a:ext cx="2286000" cy="502920"/>
          </a:xfrm>
          <a:prstGeom prst="rect">
            <a:avLst/>
          </a:prstGeom>
          <a:noFill/>
          <a:ln/>
        </p:spPr>
        <p:txBody>
          <a:bodyPr wrap="square" lIns="0" tIns="0" rIns="0" bIns="0" rtlCol="0" anchor="t"/>
          <a:lstStyle/>
          <a:p>
            <a:pPr indent="0" marL="0">
              <a:buNone/>
            </a:pPr>
            <a:r>
              <a:rPr lang="en-US" sz="1200" dirty="0">
                <a:solidFill>
                  <a:srgbClr val="6B7280"/>
                </a:solidFill>
              </a:rPr>
              <a:t>Grade A rent per m2 per year in New Cairo business parks (Q2 2026)</a:t>
            </a:r>
            <a:endParaRPr lang="en-US" sz="1200" dirty="0"/>
          </a:p>
        </p:txBody>
      </p:sp>
      <p:sp>
        <p:nvSpPr>
          <p:cNvPr id="16" name="Text 13"/>
          <p:cNvSpPr txBox="1"/>
          <p:nvPr/>
        </p:nvSpPr>
        <p:spPr>
          <a:xfrm>
            <a:off x="548640" y="3063240"/>
            <a:ext cx="11064240" cy="2926080"/>
          </a:xfrm>
          <a:prstGeom prst="rect">
            <a:avLst/>
          </a:prstGeom>
          <a:noFill/>
          <a:ln/>
        </p:spPr>
        <p:txBody>
          <a:bodyPr wrap="square" lIns="0" tIns="0" rIns="0" bIns="0" rtlCol="0" anchor="t"/>
          <a:lstStyle/>
          <a:p>
            <a:pPr marL="342900" indent="-342900">
              <a:spcAft>
                <a:spcPts val="600"/>
              </a:spcAft>
              <a:buSzPct val="100000"/>
              <a:buChar char="•"/>
            </a:pPr>
            <a:r>
              <a:rPr lang="en-US" sz="1600" dirty="0">
                <a:solidFill>
                  <a:srgbClr val="1B1F2A"/>
                </a:solidFill>
              </a:rPr>
              <a:t>Mostakbal City covers about 11,000 feddans, with a planned population of about 1 million; master developer is the state-linked Mostakbal for Urban Development (MIDAR).</a:t>
            </a:r>
            <a:endParaRPr lang="en-US" sz="1600" dirty="0"/>
          </a:p>
          <a:p>
            <a:pPr marL="342900" indent="-342900">
              <a:spcAft>
                <a:spcPts val="600"/>
              </a:spcAft>
              <a:buSzPct val="100000"/>
              <a:buChar char="•"/>
            </a:pPr>
            <a:r>
              <a:rPr lang="en-US" sz="1600" dirty="0">
                <a:solidFill>
                  <a:srgbClr val="1B1F2A"/>
                </a:solidFill>
              </a:rPr>
              <a:t>Connected by the Regional (Middle) Ring Road and the East Cairo monorail corridor to Shorouk, Obour, Badr and the New Administrative Capital.</a:t>
            </a:r>
            <a:endParaRPr lang="en-US" sz="1600" dirty="0"/>
          </a:p>
          <a:p>
            <a:pPr marL="342900" indent="-342900">
              <a:spcAft>
                <a:spcPts val="600"/>
              </a:spcAft>
              <a:buSzPct val="100000"/>
              <a:buChar char="•"/>
            </a:pPr>
            <a:r>
              <a:rPr lang="en-US" sz="1600" dirty="0">
                <a:solidFill>
                  <a:srgbClr val="1B1F2A"/>
                </a:solidFill>
              </a:rPr>
              <a:t>Cairo retail stock above 3.3 million m2 after about 89,000 m2 delivered in Q1 2026, mostly small malls in New Cairo and Giza; about 331,300 m2 more due by end 2026.</a:t>
            </a:r>
            <a:endParaRPr lang="en-US" sz="1600" dirty="0"/>
          </a:p>
          <a:p>
            <a:pPr marL="342900" indent="-342900">
              <a:spcAft>
                <a:spcPts val="600"/>
              </a:spcAft>
              <a:buSzPct val="100000"/>
              <a:buChar char="•"/>
            </a:pPr>
            <a:r>
              <a:rPr lang="en-US" sz="1600" dirty="0">
                <a:solidFill>
                  <a:srgbClr val="1B1F2A"/>
                </a:solidFill>
              </a:rPr>
              <a:t>Comparable commercial schemes are under way: Hassan Allam's HAPTOWN (offices G+1 to G+4, retail, healthcare) in Mostakbal City.</a:t>
            </a:r>
            <a:endParaRPr lang="en-US" sz="1600" dirty="0"/>
          </a:p>
        </p:txBody>
      </p:sp>
      <p:sp>
        <p:nvSpPr>
          <p:cNvPr id="17" name="Text 14"/>
          <p:cNvSpPr txBox="1"/>
          <p:nvPr/>
        </p:nvSpPr>
        <p:spPr>
          <a:xfrm>
            <a:off x="548640" y="6035040"/>
            <a:ext cx="11064240" cy="274320"/>
          </a:xfrm>
          <a:prstGeom prst="rect">
            <a:avLst/>
          </a:prstGeom>
          <a:noFill/>
          <a:ln/>
        </p:spPr>
        <p:txBody>
          <a:bodyPr wrap="square" lIns="0" tIns="0" rIns="0" bIns="0" rtlCol="0" anchor="ctr"/>
          <a:lstStyle/>
          <a:p>
            <a:pPr indent="0" marL="0">
              <a:buNone/>
            </a:pPr>
            <a:r>
              <a:rPr lang="en-US" sz="900" i="1" dirty="0">
                <a:solidFill>
                  <a:srgbClr val="6B7280"/>
                </a:solidFill>
              </a:rPr>
              <a:t>Source: Knight Frank (via Arabian Business, Jul 2026; Enterprise, Jul 2026); JLL Q1 2026 (via Invest-Gate); MIDAR; Nawy; Bayut; Invest-Gate. Knight Frank and JLL use different office-stock definitions.</a:t>
            </a:r>
            <a:endParaRPr lang="en-US" sz="900" dirty="0"/>
          </a:p>
        </p:txBody>
      </p:sp>
      <p:sp>
        <p:nvSpPr>
          <p:cNvPr id="25" name="Slide Number Placeholder 0"/>
          <p:cNvSpPr>
            <a:spLocks noGrp="1"/>
          </p:cNvSpPr>
          <p:nvPr>
            <p:ph type="sldNum" sz="quarter" idx="4294967295"/>
          </p:nvPr>
        </p:nvSpPr>
        <p:spPr>
          <a:xfrm>
            <a:off x="11155680" y="6446520"/>
            <a:ext cx="548640" cy="274320"/>
          </a:xfrm>
          <a:prstGeom prst="rect">
            <a:avLst/>
          </a:prstGeom>
          <a:extLst>
            <a:ext uri="{C572A759-6A51-4108-AA02-DFA0A04FC94B}">
              <ma14:wrappingTextBoxFlag xmlns:ma14="http://schemas.microsoft.com/office/mac/drawingml/2011/main" val="0"/>
            </a:ext>
          </a:extLst>
        </p:spPr>
        <p:txBody>
          <a:bodyPr/>
          <a:lstStyle>
            <a:lvl1pPr>
              <a:defRPr sz="900">
                <a:solidFill>
                  <a:srgbClr val="6B7280"/>
                </a:solidFill>
              </a:defRPr>
            </a:lvl1pPr>
          </a:lstStyle>
          <a:p>
            <a:pPr algn="l"/>
            <a:fld id="{F7021451-1387-4CA6-816F-3879F97B5CBC}" type="slidenum">
              <a:rPr b="0" lang="en-US"/>
              <a:t>4</a:t>
            </a:fld>
            <a:endParaRPr lang="en-US"/>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spTree>
      <p:nvGrpSpPr>
        <p:cNvPr id="1" name=""/>
        <p:cNvGrpSpPr/>
        <p:nvPr/>
      </p:nvGrpSpPr>
      <p:grpSpPr>
        <a:xfrm>
          <a:off x="0" y="0"/>
          <a:ext cx="0" cy="0"/>
          <a:chOff x="0" y="0"/>
          <a:chExt cx="0" cy="0"/>
        </a:xfrm>
      </p:grpSpPr>
      <p:sp>
        <p:nvSpPr>
          <p:cNvPr id="2" name="Text 0"/>
          <p:cNvSpPr txBox="1"/>
          <p:nvPr/>
        </p:nvSpPr>
        <p:spPr>
          <a:xfrm>
            <a:off x="548640" y="320040"/>
            <a:ext cx="11064240" cy="822960"/>
          </a:xfrm>
          <a:prstGeom prst="rect">
            <a:avLst/>
          </a:prstGeom>
          <a:noFill/>
          <a:ln/>
        </p:spPr>
        <p:txBody>
          <a:bodyPr wrap="square" lIns="0" tIns="0" rIns="0" bIns="0" rtlCol="0" anchor="ctr">
            <a:normAutofit/>
          </a:bodyPr>
          <a:lstStyle/>
          <a:p>
            <a:pPr indent="0" marL="0">
              <a:buNone/>
            </a:pPr>
            <a:r>
              <a:rPr lang="en-US" sz="2800" b="1" dirty="0">
                <a:solidFill>
                  <a:srgbClr val="17324D"/>
                </a:solidFill>
                <a:latin typeface="Cambria" pitchFamily="34" charset="0"/>
                <a:ea typeface="Cambria" pitchFamily="34" charset="-122"/>
                <a:cs typeface="Cambria" pitchFamily="34" charset="-120"/>
              </a:rPr>
              <a:t>Market: pricing evidence and demand drivers</a:t>
            </a:r>
            <a:endParaRPr lang="en-US" sz="2800" dirty="0"/>
          </a:p>
        </p:txBody>
      </p:sp>
      <p:graphicFrame>
        <p:nvGraphicFramePr>
          <p:cNvPr id="6" name="Table 0"/>
          <p:cNvGraphicFramePr>
            <a:graphicFrameLocks noGrp="1"/>
          </p:cNvGraphicFramePr>
          <p:nvPr>
            <p:extLst>
              <p:ext uri="{D42A27DB-BD31-4B8C-83A1-F6EECF244321}">
                <p14:modId xmlns:p14="http://schemas.microsoft.com/office/powerpoint/2010/main" val="1579011935"/>
              </p:ext>
            </p:extLst>
          </p:nvPr>
        </p:nvGraphicFramePr>
        <p:xfrm>
          <a:off x="548640" y="1371600"/>
          <a:ext cx="11064240" cy="914400"/>
        </p:xfrm>
        <a:graphic>
          <a:graphicData uri="http://schemas.openxmlformats.org/drawingml/2006/table">
            <a:tbl>
              <a:tblPr/>
              <a:tblGrid>
                <a:gridCol w="1737360"/>
                <a:gridCol w="5120640"/>
                <a:gridCol w="4206240"/>
              </a:tblGrid>
              <a:tr h="548640">
                <a:tc>
                  <a:txBody>
                    <a:bodyPr/>
                    <a:lstStyle/>
                    <a:p>
                      <a:pPr algn="l" indent="0" marL="0">
                        <a:buNone/>
                      </a:pPr>
                      <a:r>
                        <a:rPr lang="en-US" sz="1200" b="1" dirty="0">
                          <a:solidFill>
                            <a:srgbClr val="FFFFFF"/>
                          </a:solidFill>
                        </a:rPr>
                        <a:t>Indicator</a:t>
                      </a:r>
                      <a:endParaRPr lang="en-US" sz="1200" dirty="0"/>
                    </a:p>
                  </a:txBody>
                  <a:tcPr marL="73152" marR="73152" marT="36576" marB="36576" anchor="ctr">
                    <a:lnL w="6350" cap="flat" cmpd="sng" algn="ctr">
                      <a:solidFill>
                        <a:srgbClr val="D5DAE1"/>
                      </a:solidFill>
                      <a:prstDash val="solid"/>
                      <a:round/>
                      <a:headEnd type="none" w="med" len="med"/>
                      <a:tailEnd type="none" w="med" len="med"/>
                    </a:lnL>
                    <a:lnR w="6350" cap="flat" cmpd="sng" algn="ctr">
                      <a:solidFill>
                        <a:srgbClr val="D5DAE1"/>
                      </a:solidFill>
                      <a:prstDash val="solid"/>
                      <a:round/>
                      <a:headEnd type="none" w="med" len="med"/>
                      <a:tailEnd type="none" w="med" len="med"/>
                    </a:lnR>
                    <a:lnT w="6350" cap="flat" cmpd="sng" algn="ctr">
                      <a:solidFill>
                        <a:srgbClr val="D5DAE1"/>
                      </a:solidFill>
                      <a:prstDash val="solid"/>
                      <a:round/>
                      <a:headEnd type="none" w="med" len="med"/>
                      <a:tailEnd type="none" w="med" len="med"/>
                    </a:lnT>
                    <a:lnB w="6350" cap="flat" cmpd="sng" algn="ctr">
                      <a:solidFill>
                        <a:srgbClr val="D5DAE1"/>
                      </a:solidFill>
                      <a:prstDash val="solid"/>
                      <a:round/>
                      <a:headEnd type="none" w="med" len="med"/>
                      <a:tailEnd type="none" w="med" len="med"/>
                    </a:lnB>
                    <a:solidFill>
                      <a:srgbClr val="17324D"/>
                    </a:solidFill>
                  </a:tcPr>
                </a:tc>
                <a:tc>
                  <a:txBody>
                    <a:bodyPr/>
                    <a:lstStyle/>
                    <a:p>
                      <a:pPr algn="l" indent="0" marL="0">
                        <a:buNone/>
                      </a:pPr>
                      <a:r>
                        <a:rPr lang="en-US" sz="1200" b="1" dirty="0">
                          <a:solidFill>
                            <a:srgbClr val="FFFFFF"/>
                          </a:solidFill>
                        </a:rPr>
                        <a:t>Evidence</a:t>
                      </a:r>
                      <a:endParaRPr lang="en-US" sz="1200" dirty="0"/>
                    </a:p>
                  </a:txBody>
                  <a:tcPr marL="73152" marR="73152" marT="36576" marB="36576" anchor="ctr">
                    <a:lnL w="6350" cap="flat" cmpd="sng" algn="ctr">
                      <a:solidFill>
                        <a:srgbClr val="D5DAE1"/>
                      </a:solidFill>
                      <a:prstDash val="solid"/>
                      <a:round/>
                      <a:headEnd type="none" w="med" len="med"/>
                      <a:tailEnd type="none" w="med" len="med"/>
                    </a:lnL>
                    <a:lnR w="6350" cap="flat" cmpd="sng" algn="ctr">
                      <a:solidFill>
                        <a:srgbClr val="D5DAE1"/>
                      </a:solidFill>
                      <a:prstDash val="solid"/>
                      <a:round/>
                      <a:headEnd type="none" w="med" len="med"/>
                      <a:tailEnd type="none" w="med" len="med"/>
                    </a:lnR>
                    <a:lnT w="6350" cap="flat" cmpd="sng" algn="ctr">
                      <a:solidFill>
                        <a:srgbClr val="D5DAE1"/>
                      </a:solidFill>
                      <a:prstDash val="solid"/>
                      <a:round/>
                      <a:headEnd type="none" w="med" len="med"/>
                      <a:tailEnd type="none" w="med" len="med"/>
                    </a:lnT>
                    <a:lnB w="6350" cap="flat" cmpd="sng" algn="ctr">
                      <a:solidFill>
                        <a:srgbClr val="D5DAE1"/>
                      </a:solidFill>
                      <a:prstDash val="solid"/>
                      <a:round/>
                      <a:headEnd type="none" w="med" len="med"/>
                      <a:tailEnd type="none" w="med" len="med"/>
                    </a:lnB>
                    <a:solidFill>
                      <a:srgbClr val="17324D"/>
                    </a:solidFill>
                  </a:tcPr>
                </a:tc>
                <a:tc>
                  <a:txBody>
                    <a:bodyPr/>
                    <a:lstStyle/>
                    <a:p>
                      <a:pPr algn="l" indent="0" marL="0">
                        <a:buNone/>
                      </a:pPr>
                      <a:r>
                        <a:rPr lang="en-US" sz="1200" b="1" dirty="0">
                          <a:solidFill>
                            <a:srgbClr val="FFFFFF"/>
                          </a:solidFill>
                        </a:rPr>
                        <a:t>Model assumption</a:t>
                      </a:r>
                      <a:endParaRPr lang="en-US" sz="1200" dirty="0"/>
                    </a:p>
                  </a:txBody>
                  <a:tcPr marL="73152" marR="73152" marT="36576" marB="36576" anchor="ctr">
                    <a:lnL w="6350" cap="flat" cmpd="sng" algn="ctr">
                      <a:solidFill>
                        <a:srgbClr val="D5DAE1"/>
                      </a:solidFill>
                      <a:prstDash val="solid"/>
                      <a:round/>
                      <a:headEnd type="none" w="med" len="med"/>
                      <a:tailEnd type="none" w="med" len="med"/>
                    </a:lnL>
                    <a:lnR w="6350" cap="flat" cmpd="sng" algn="ctr">
                      <a:solidFill>
                        <a:srgbClr val="D5DAE1"/>
                      </a:solidFill>
                      <a:prstDash val="solid"/>
                      <a:round/>
                      <a:headEnd type="none" w="med" len="med"/>
                      <a:tailEnd type="none" w="med" len="med"/>
                    </a:lnR>
                    <a:lnT w="6350" cap="flat" cmpd="sng" algn="ctr">
                      <a:solidFill>
                        <a:srgbClr val="D5DAE1"/>
                      </a:solidFill>
                      <a:prstDash val="solid"/>
                      <a:round/>
                      <a:headEnd type="none" w="med" len="med"/>
                      <a:tailEnd type="none" w="med" len="med"/>
                    </a:lnT>
                    <a:lnB w="6350" cap="flat" cmpd="sng" algn="ctr">
                      <a:solidFill>
                        <a:srgbClr val="D5DAE1"/>
                      </a:solidFill>
                      <a:prstDash val="solid"/>
                      <a:round/>
                      <a:headEnd type="none" w="med" len="med"/>
                      <a:tailEnd type="none" w="med" len="med"/>
                    </a:lnB>
                    <a:solidFill>
                      <a:srgbClr val="17324D"/>
                    </a:solidFill>
                  </a:tcPr>
                </a:tc>
              </a:tr>
              <a:tr h="548640">
                <a:tc>
                  <a:txBody>
                    <a:bodyPr/>
                    <a:lstStyle/>
                    <a:p>
                      <a:pPr algn="l" indent="0" marL="0">
                        <a:buNone/>
                      </a:pPr>
                      <a:r>
                        <a:rPr lang="en-US" sz="1200" b="1" dirty="0">
                          <a:solidFill>
                            <a:srgbClr val="1B1F2A"/>
                          </a:solidFill>
                        </a:rPr>
                        <a:t>Office prices</a:t>
                      </a:r>
                      <a:endParaRPr lang="en-US" sz="1200" dirty="0"/>
                    </a:p>
                  </a:txBody>
                  <a:tcPr marL="73152" marR="73152" marT="36576" marB="36576" anchor="ctr">
                    <a:lnL w="6350" cap="flat" cmpd="sng" algn="ctr">
                      <a:solidFill>
                        <a:srgbClr val="D5DAE1"/>
                      </a:solidFill>
                      <a:prstDash val="solid"/>
                      <a:round/>
                      <a:headEnd type="none" w="med" len="med"/>
                      <a:tailEnd type="none" w="med" len="med"/>
                    </a:lnL>
                    <a:lnR w="6350" cap="flat" cmpd="sng" algn="ctr">
                      <a:solidFill>
                        <a:srgbClr val="D5DAE1"/>
                      </a:solidFill>
                      <a:prstDash val="solid"/>
                      <a:round/>
                      <a:headEnd type="none" w="med" len="med"/>
                      <a:tailEnd type="none" w="med" len="med"/>
                    </a:lnR>
                    <a:lnT w="6350" cap="flat" cmpd="sng" algn="ctr">
                      <a:solidFill>
                        <a:srgbClr val="D5DAE1"/>
                      </a:solidFill>
                      <a:prstDash val="solid"/>
                      <a:round/>
                      <a:headEnd type="none" w="med" len="med"/>
                      <a:tailEnd type="none" w="med" len="med"/>
                    </a:lnT>
                    <a:lnB w="6350" cap="flat" cmpd="sng" algn="ctr">
                      <a:solidFill>
                        <a:srgbClr val="D5DAE1"/>
                      </a:solidFill>
                      <a:prstDash val="solid"/>
                      <a:round/>
                      <a:headEnd type="none" w="med" len="med"/>
                      <a:tailEnd type="none" w="med" len="med"/>
                    </a:lnB>
                    <a:solidFill>
                      <a:srgbClr val="FFFFFF"/>
                    </a:solidFill>
                  </a:tcPr>
                </a:tc>
                <a:tc>
                  <a:txBody>
                    <a:bodyPr/>
                    <a:lstStyle/>
                    <a:p>
                      <a:pPr algn="l" indent="0" marL="0">
                        <a:buNone/>
                      </a:pPr>
                      <a:r>
                        <a:rPr lang="en-US" sz="1200" dirty="0">
                          <a:solidFill>
                            <a:srgbClr val="1B1F2A"/>
                          </a:solidFill>
                        </a:rPr>
                        <a:t>Mostakbal City listings: EGP 106,000 to 120,000 per m2 (asking)</a:t>
                      </a:r>
                      <a:endParaRPr lang="en-US" sz="1200" dirty="0"/>
                    </a:p>
                  </a:txBody>
                  <a:tcPr marL="73152" marR="73152" marT="36576" marB="36576" anchor="ctr">
                    <a:lnL w="6350" cap="flat" cmpd="sng" algn="ctr">
                      <a:solidFill>
                        <a:srgbClr val="D5DAE1"/>
                      </a:solidFill>
                      <a:prstDash val="solid"/>
                      <a:round/>
                      <a:headEnd type="none" w="med" len="med"/>
                      <a:tailEnd type="none" w="med" len="med"/>
                    </a:lnL>
                    <a:lnR w="6350" cap="flat" cmpd="sng" algn="ctr">
                      <a:solidFill>
                        <a:srgbClr val="D5DAE1"/>
                      </a:solidFill>
                      <a:prstDash val="solid"/>
                      <a:round/>
                      <a:headEnd type="none" w="med" len="med"/>
                      <a:tailEnd type="none" w="med" len="med"/>
                    </a:lnR>
                    <a:lnT w="6350" cap="flat" cmpd="sng" algn="ctr">
                      <a:solidFill>
                        <a:srgbClr val="D5DAE1"/>
                      </a:solidFill>
                      <a:prstDash val="solid"/>
                      <a:round/>
                      <a:headEnd type="none" w="med" len="med"/>
                      <a:tailEnd type="none" w="med" len="med"/>
                    </a:lnT>
                    <a:lnB w="6350" cap="flat" cmpd="sng" algn="ctr">
                      <a:solidFill>
                        <a:srgbClr val="D5DAE1"/>
                      </a:solidFill>
                      <a:prstDash val="solid"/>
                      <a:round/>
                      <a:headEnd type="none" w="med" len="med"/>
                      <a:tailEnd type="none" w="med" len="med"/>
                    </a:lnB>
                    <a:solidFill>
                      <a:srgbClr val="FFFFFF"/>
                    </a:solidFill>
                  </a:tcPr>
                </a:tc>
                <a:tc>
                  <a:txBody>
                    <a:bodyPr/>
                    <a:lstStyle/>
                    <a:p>
                      <a:pPr algn="l" indent="0" marL="0">
                        <a:buNone/>
                      </a:pPr>
                      <a:r>
                        <a:rPr lang="en-US" sz="1200" dirty="0">
                          <a:solidFill>
                            <a:srgbClr val="1B1F2A"/>
                          </a:solidFill>
                        </a:rPr>
                        <a:t>Launch EGP 135,000 per m2, rising to 200,000 at the delivery list</a:t>
                      </a:r>
                      <a:endParaRPr lang="en-US" sz="1200" dirty="0"/>
                    </a:p>
                  </a:txBody>
                  <a:tcPr marL="73152" marR="73152" marT="36576" marB="36576" anchor="ctr">
                    <a:lnL w="6350" cap="flat" cmpd="sng" algn="ctr">
                      <a:solidFill>
                        <a:srgbClr val="D5DAE1"/>
                      </a:solidFill>
                      <a:prstDash val="solid"/>
                      <a:round/>
                      <a:headEnd type="none" w="med" len="med"/>
                      <a:tailEnd type="none" w="med" len="med"/>
                    </a:lnL>
                    <a:lnR w="6350" cap="flat" cmpd="sng" algn="ctr">
                      <a:solidFill>
                        <a:srgbClr val="D5DAE1"/>
                      </a:solidFill>
                      <a:prstDash val="solid"/>
                      <a:round/>
                      <a:headEnd type="none" w="med" len="med"/>
                      <a:tailEnd type="none" w="med" len="med"/>
                    </a:lnR>
                    <a:lnT w="6350" cap="flat" cmpd="sng" algn="ctr">
                      <a:solidFill>
                        <a:srgbClr val="D5DAE1"/>
                      </a:solidFill>
                      <a:prstDash val="solid"/>
                      <a:round/>
                      <a:headEnd type="none" w="med" len="med"/>
                      <a:tailEnd type="none" w="med" len="med"/>
                    </a:lnT>
                    <a:lnB w="6350" cap="flat" cmpd="sng" algn="ctr">
                      <a:solidFill>
                        <a:srgbClr val="D5DAE1"/>
                      </a:solidFill>
                      <a:prstDash val="solid"/>
                      <a:round/>
                      <a:headEnd type="none" w="med" len="med"/>
                      <a:tailEnd type="none" w="med" len="med"/>
                    </a:lnB>
                    <a:solidFill>
                      <a:srgbClr val="FFFFFF"/>
                    </a:solidFill>
                  </a:tcPr>
                </a:tc>
              </a:tr>
              <a:tr h="548640">
                <a:tc>
                  <a:txBody>
                    <a:bodyPr/>
                    <a:lstStyle/>
                    <a:p>
                      <a:pPr algn="l" indent="0" marL="0">
                        <a:buNone/>
                      </a:pPr>
                      <a:r>
                        <a:rPr lang="en-US" sz="1200" b="1" dirty="0">
                          <a:solidFill>
                            <a:srgbClr val="1B1F2A"/>
                          </a:solidFill>
                        </a:rPr>
                        <a:t>Retail prices</a:t>
                      </a:r>
                      <a:endParaRPr lang="en-US" sz="1200" dirty="0"/>
                    </a:p>
                  </a:txBody>
                  <a:tcPr marL="73152" marR="73152" marT="36576" marB="36576" anchor="ctr">
                    <a:lnL w="6350" cap="flat" cmpd="sng" algn="ctr">
                      <a:solidFill>
                        <a:srgbClr val="D5DAE1"/>
                      </a:solidFill>
                      <a:prstDash val="solid"/>
                      <a:round/>
                      <a:headEnd type="none" w="med" len="med"/>
                      <a:tailEnd type="none" w="med" len="med"/>
                    </a:lnL>
                    <a:lnR w="6350" cap="flat" cmpd="sng" algn="ctr">
                      <a:solidFill>
                        <a:srgbClr val="D5DAE1"/>
                      </a:solidFill>
                      <a:prstDash val="solid"/>
                      <a:round/>
                      <a:headEnd type="none" w="med" len="med"/>
                      <a:tailEnd type="none" w="med" len="med"/>
                    </a:lnR>
                    <a:lnT w="6350" cap="flat" cmpd="sng" algn="ctr">
                      <a:solidFill>
                        <a:srgbClr val="D5DAE1"/>
                      </a:solidFill>
                      <a:prstDash val="solid"/>
                      <a:round/>
                      <a:headEnd type="none" w="med" len="med"/>
                      <a:tailEnd type="none" w="med" len="med"/>
                    </a:lnT>
                    <a:lnB w="6350" cap="flat" cmpd="sng" algn="ctr">
                      <a:solidFill>
                        <a:srgbClr val="D5DAE1"/>
                      </a:solidFill>
                      <a:prstDash val="solid"/>
                      <a:round/>
                      <a:headEnd type="none" w="med" len="med"/>
                      <a:tailEnd type="none" w="med" len="med"/>
                    </a:lnB>
                    <a:solidFill>
                      <a:srgbClr val="F2F4F7"/>
                    </a:solidFill>
                  </a:tcPr>
                </a:tc>
                <a:tc>
                  <a:txBody>
                    <a:bodyPr/>
                    <a:lstStyle/>
                    <a:p>
                      <a:pPr algn="l" indent="0" marL="0">
                        <a:buNone/>
                      </a:pPr>
                      <a:r>
                        <a:rPr lang="en-US" sz="1200" dirty="0">
                          <a:solidFill>
                            <a:srgbClr val="1B1F2A"/>
                          </a:solidFill>
                        </a:rPr>
                        <a:t>New Cairo listings: EGP 139,000 to 325,000 per m2 (asking, individual listings)</a:t>
                      </a:r>
                      <a:endParaRPr lang="en-US" sz="1200" dirty="0"/>
                    </a:p>
                  </a:txBody>
                  <a:tcPr marL="73152" marR="73152" marT="36576" marB="36576" anchor="ctr">
                    <a:lnL w="6350" cap="flat" cmpd="sng" algn="ctr">
                      <a:solidFill>
                        <a:srgbClr val="D5DAE1"/>
                      </a:solidFill>
                      <a:prstDash val="solid"/>
                      <a:round/>
                      <a:headEnd type="none" w="med" len="med"/>
                      <a:tailEnd type="none" w="med" len="med"/>
                    </a:lnL>
                    <a:lnR w="6350" cap="flat" cmpd="sng" algn="ctr">
                      <a:solidFill>
                        <a:srgbClr val="D5DAE1"/>
                      </a:solidFill>
                      <a:prstDash val="solid"/>
                      <a:round/>
                      <a:headEnd type="none" w="med" len="med"/>
                      <a:tailEnd type="none" w="med" len="med"/>
                    </a:lnR>
                    <a:lnT w="6350" cap="flat" cmpd="sng" algn="ctr">
                      <a:solidFill>
                        <a:srgbClr val="D5DAE1"/>
                      </a:solidFill>
                      <a:prstDash val="solid"/>
                      <a:round/>
                      <a:headEnd type="none" w="med" len="med"/>
                      <a:tailEnd type="none" w="med" len="med"/>
                    </a:lnT>
                    <a:lnB w="6350" cap="flat" cmpd="sng" algn="ctr">
                      <a:solidFill>
                        <a:srgbClr val="D5DAE1"/>
                      </a:solidFill>
                      <a:prstDash val="solid"/>
                      <a:round/>
                      <a:headEnd type="none" w="med" len="med"/>
                      <a:tailEnd type="none" w="med" len="med"/>
                    </a:lnB>
                    <a:solidFill>
                      <a:srgbClr val="F2F4F7"/>
                    </a:solidFill>
                  </a:tcPr>
                </a:tc>
                <a:tc>
                  <a:txBody>
                    <a:bodyPr/>
                    <a:lstStyle/>
                    <a:p>
                      <a:pPr algn="l" indent="0" marL="0">
                        <a:buNone/>
                      </a:pPr>
                      <a:r>
                        <a:rPr lang="en-US" sz="1200" dirty="0">
                          <a:solidFill>
                            <a:srgbClr val="1B1F2A"/>
                          </a:solidFill>
                        </a:rPr>
                        <a:t>Launch EGP 225,000 per m2, rising to 300,000</a:t>
                      </a:r>
                      <a:endParaRPr lang="en-US" sz="1200" dirty="0"/>
                    </a:p>
                  </a:txBody>
                  <a:tcPr marL="73152" marR="73152" marT="36576" marB="36576" anchor="ctr">
                    <a:lnL w="6350" cap="flat" cmpd="sng" algn="ctr">
                      <a:solidFill>
                        <a:srgbClr val="D5DAE1"/>
                      </a:solidFill>
                      <a:prstDash val="solid"/>
                      <a:round/>
                      <a:headEnd type="none" w="med" len="med"/>
                      <a:tailEnd type="none" w="med" len="med"/>
                    </a:lnL>
                    <a:lnR w="6350" cap="flat" cmpd="sng" algn="ctr">
                      <a:solidFill>
                        <a:srgbClr val="D5DAE1"/>
                      </a:solidFill>
                      <a:prstDash val="solid"/>
                      <a:round/>
                      <a:headEnd type="none" w="med" len="med"/>
                      <a:tailEnd type="none" w="med" len="med"/>
                    </a:lnR>
                    <a:lnT w="6350" cap="flat" cmpd="sng" algn="ctr">
                      <a:solidFill>
                        <a:srgbClr val="D5DAE1"/>
                      </a:solidFill>
                      <a:prstDash val="solid"/>
                      <a:round/>
                      <a:headEnd type="none" w="med" len="med"/>
                      <a:tailEnd type="none" w="med" len="med"/>
                    </a:lnT>
                    <a:lnB w="6350" cap="flat" cmpd="sng" algn="ctr">
                      <a:solidFill>
                        <a:srgbClr val="D5DAE1"/>
                      </a:solidFill>
                      <a:prstDash val="solid"/>
                      <a:round/>
                      <a:headEnd type="none" w="med" len="med"/>
                      <a:tailEnd type="none" w="med" len="med"/>
                    </a:lnB>
                    <a:solidFill>
                      <a:srgbClr val="F2F4F7"/>
                    </a:solidFill>
                  </a:tcPr>
                </a:tc>
              </a:tr>
              <a:tr h="548640">
                <a:tc>
                  <a:txBody>
                    <a:bodyPr/>
                    <a:lstStyle/>
                    <a:p>
                      <a:pPr algn="l" indent="0" marL="0">
                        <a:buNone/>
                      </a:pPr>
                      <a:r>
                        <a:rPr lang="en-US" sz="1200" b="1" dirty="0">
                          <a:solidFill>
                            <a:srgbClr val="1B1F2A"/>
                          </a:solidFill>
                        </a:rPr>
                        <a:t>Price growth</a:t>
                      </a:r>
                      <a:endParaRPr lang="en-US" sz="1200" dirty="0"/>
                    </a:p>
                  </a:txBody>
                  <a:tcPr marL="73152" marR="73152" marT="36576" marB="36576" anchor="ctr">
                    <a:lnL w="6350" cap="flat" cmpd="sng" algn="ctr">
                      <a:solidFill>
                        <a:srgbClr val="D5DAE1"/>
                      </a:solidFill>
                      <a:prstDash val="solid"/>
                      <a:round/>
                      <a:headEnd type="none" w="med" len="med"/>
                      <a:tailEnd type="none" w="med" len="med"/>
                    </a:lnL>
                    <a:lnR w="6350" cap="flat" cmpd="sng" algn="ctr">
                      <a:solidFill>
                        <a:srgbClr val="D5DAE1"/>
                      </a:solidFill>
                      <a:prstDash val="solid"/>
                      <a:round/>
                      <a:headEnd type="none" w="med" len="med"/>
                      <a:tailEnd type="none" w="med" len="med"/>
                    </a:lnR>
                    <a:lnT w="6350" cap="flat" cmpd="sng" algn="ctr">
                      <a:solidFill>
                        <a:srgbClr val="D5DAE1"/>
                      </a:solidFill>
                      <a:prstDash val="solid"/>
                      <a:round/>
                      <a:headEnd type="none" w="med" len="med"/>
                      <a:tailEnd type="none" w="med" len="med"/>
                    </a:lnT>
                    <a:lnB w="6350" cap="flat" cmpd="sng" algn="ctr">
                      <a:solidFill>
                        <a:srgbClr val="D5DAE1"/>
                      </a:solidFill>
                      <a:prstDash val="solid"/>
                      <a:round/>
                      <a:headEnd type="none" w="med" len="med"/>
                      <a:tailEnd type="none" w="med" len="med"/>
                    </a:lnB>
                    <a:solidFill>
                      <a:srgbClr val="FFFFFF"/>
                    </a:solidFill>
                  </a:tcPr>
                </a:tc>
                <a:tc>
                  <a:txBody>
                    <a:bodyPr/>
                    <a:lstStyle/>
                    <a:p>
                      <a:pPr algn="l" indent="0" marL="0">
                        <a:buNone/>
                      </a:pPr>
                      <a:r>
                        <a:rPr lang="en-US" sz="1200" dirty="0">
                          <a:solidFill>
                            <a:srgbClr val="1B1F2A"/>
                          </a:solidFill>
                        </a:rPr>
                        <a:t>New Cairo secondary prices +3.1% y/y (Q1 2026); broker estimates 10 to 16% a year for 2026</a:t>
                      </a:r>
                      <a:endParaRPr lang="en-US" sz="1200" dirty="0"/>
                    </a:p>
                  </a:txBody>
                  <a:tcPr marL="73152" marR="73152" marT="36576" marB="36576" anchor="ctr">
                    <a:lnL w="6350" cap="flat" cmpd="sng" algn="ctr">
                      <a:solidFill>
                        <a:srgbClr val="D5DAE1"/>
                      </a:solidFill>
                      <a:prstDash val="solid"/>
                      <a:round/>
                      <a:headEnd type="none" w="med" len="med"/>
                      <a:tailEnd type="none" w="med" len="med"/>
                    </a:lnL>
                    <a:lnR w="6350" cap="flat" cmpd="sng" algn="ctr">
                      <a:solidFill>
                        <a:srgbClr val="D5DAE1"/>
                      </a:solidFill>
                      <a:prstDash val="solid"/>
                      <a:round/>
                      <a:headEnd type="none" w="med" len="med"/>
                      <a:tailEnd type="none" w="med" len="med"/>
                    </a:lnR>
                    <a:lnT w="6350" cap="flat" cmpd="sng" algn="ctr">
                      <a:solidFill>
                        <a:srgbClr val="D5DAE1"/>
                      </a:solidFill>
                      <a:prstDash val="solid"/>
                      <a:round/>
                      <a:headEnd type="none" w="med" len="med"/>
                      <a:tailEnd type="none" w="med" len="med"/>
                    </a:lnT>
                    <a:lnB w="6350" cap="flat" cmpd="sng" algn="ctr">
                      <a:solidFill>
                        <a:srgbClr val="D5DAE1"/>
                      </a:solidFill>
                      <a:prstDash val="solid"/>
                      <a:round/>
                      <a:headEnd type="none" w="med" len="med"/>
                      <a:tailEnd type="none" w="med" len="med"/>
                    </a:lnB>
                    <a:solidFill>
                      <a:srgbClr val="FFFFFF"/>
                    </a:solidFill>
                  </a:tcPr>
                </a:tc>
                <a:tc>
                  <a:txBody>
                    <a:bodyPr/>
                    <a:lstStyle/>
                    <a:p>
                      <a:pPr algn="l" indent="0" marL="0">
                        <a:buNone/>
                      </a:pPr>
                      <a:r>
                        <a:rPr lang="en-US" sz="1200" dirty="0">
                          <a:solidFill>
                            <a:srgbClr val="1B1F2A"/>
                          </a:solidFill>
                        </a:rPr>
                        <a:t>Launch to delivery list: +33% retail, +48% offices; offices +77% on today's asking, about 15% a year</a:t>
                      </a:r>
                      <a:endParaRPr lang="en-US" sz="1200" dirty="0"/>
                    </a:p>
                  </a:txBody>
                  <a:tcPr marL="73152" marR="73152" marT="36576" marB="36576" anchor="ctr">
                    <a:lnL w="6350" cap="flat" cmpd="sng" algn="ctr">
                      <a:solidFill>
                        <a:srgbClr val="D5DAE1"/>
                      </a:solidFill>
                      <a:prstDash val="solid"/>
                      <a:round/>
                      <a:headEnd type="none" w="med" len="med"/>
                      <a:tailEnd type="none" w="med" len="med"/>
                    </a:lnL>
                    <a:lnR w="6350" cap="flat" cmpd="sng" algn="ctr">
                      <a:solidFill>
                        <a:srgbClr val="D5DAE1"/>
                      </a:solidFill>
                      <a:prstDash val="solid"/>
                      <a:round/>
                      <a:headEnd type="none" w="med" len="med"/>
                      <a:tailEnd type="none" w="med" len="med"/>
                    </a:lnR>
                    <a:lnT w="6350" cap="flat" cmpd="sng" algn="ctr">
                      <a:solidFill>
                        <a:srgbClr val="D5DAE1"/>
                      </a:solidFill>
                      <a:prstDash val="solid"/>
                      <a:round/>
                      <a:headEnd type="none" w="med" len="med"/>
                      <a:tailEnd type="none" w="med" len="med"/>
                    </a:lnT>
                    <a:lnB w="6350" cap="flat" cmpd="sng" algn="ctr">
                      <a:solidFill>
                        <a:srgbClr val="D5DAE1"/>
                      </a:solidFill>
                      <a:prstDash val="solid"/>
                      <a:round/>
                      <a:headEnd type="none" w="med" len="med"/>
                      <a:tailEnd type="none" w="med" len="med"/>
                    </a:lnB>
                    <a:solidFill>
                      <a:srgbClr val="FFFFFF"/>
                    </a:solidFill>
                  </a:tcPr>
                </a:tc>
              </a:tr>
              <a:tr h="548640">
                <a:tc>
                  <a:txBody>
                    <a:bodyPr/>
                    <a:lstStyle/>
                    <a:p>
                      <a:pPr algn="l" indent="0" marL="0">
                        <a:buNone/>
                      </a:pPr>
                      <a:r>
                        <a:rPr lang="en-US" sz="1200" b="1" dirty="0">
                          <a:solidFill>
                            <a:srgbClr val="1B1F2A"/>
                          </a:solidFill>
                        </a:rPr>
                        <a:t>Interest rates</a:t>
                      </a:r>
                      <a:endParaRPr lang="en-US" sz="1200" dirty="0"/>
                    </a:p>
                  </a:txBody>
                  <a:tcPr marL="73152" marR="73152" marT="36576" marB="36576" anchor="ctr">
                    <a:lnL w="6350" cap="flat" cmpd="sng" algn="ctr">
                      <a:solidFill>
                        <a:srgbClr val="D5DAE1"/>
                      </a:solidFill>
                      <a:prstDash val="solid"/>
                      <a:round/>
                      <a:headEnd type="none" w="med" len="med"/>
                      <a:tailEnd type="none" w="med" len="med"/>
                    </a:lnL>
                    <a:lnR w="6350" cap="flat" cmpd="sng" algn="ctr">
                      <a:solidFill>
                        <a:srgbClr val="D5DAE1"/>
                      </a:solidFill>
                      <a:prstDash val="solid"/>
                      <a:round/>
                      <a:headEnd type="none" w="med" len="med"/>
                      <a:tailEnd type="none" w="med" len="med"/>
                    </a:lnR>
                    <a:lnT w="6350" cap="flat" cmpd="sng" algn="ctr">
                      <a:solidFill>
                        <a:srgbClr val="D5DAE1"/>
                      </a:solidFill>
                      <a:prstDash val="solid"/>
                      <a:round/>
                      <a:headEnd type="none" w="med" len="med"/>
                      <a:tailEnd type="none" w="med" len="med"/>
                    </a:lnT>
                    <a:lnB w="6350" cap="flat" cmpd="sng" algn="ctr">
                      <a:solidFill>
                        <a:srgbClr val="D5DAE1"/>
                      </a:solidFill>
                      <a:prstDash val="solid"/>
                      <a:round/>
                      <a:headEnd type="none" w="med" len="med"/>
                      <a:tailEnd type="none" w="med" len="med"/>
                    </a:lnB>
                    <a:solidFill>
                      <a:srgbClr val="F2F4F7"/>
                    </a:solidFill>
                  </a:tcPr>
                </a:tc>
                <a:tc>
                  <a:txBody>
                    <a:bodyPr/>
                    <a:lstStyle/>
                    <a:p>
                      <a:pPr algn="l" indent="0" marL="0">
                        <a:buNone/>
                      </a:pPr>
                      <a:r>
                        <a:rPr lang="en-US" sz="1200" dirty="0">
                          <a:solidFill>
                            <a:srgbClr val="1B1F2A"/>
                          </a:solidFill>
                        </a:rPr>
                        <a:t>CBE overnight deposit rate 19.00% (Sep 2026); urban inflation 14.5% (Aug 2026)</a:t>
                      </a:r>
                      <a:endParaRPr lang="en-US" sz="1200" dirty="0"/>
                    </a:p>
                  </a:txBody>
                  <a:tcPr marL="73152" marR="73152" marT="36576" marB="36576" anchor="ctr">
                    <a:lnL w="6350" cap="flat" cmpd="sng" algn="ctr">
                      <a:solidFill>
                        <a:srgbClr val="D5DAE1"/>
                      </a:solidFill>
                      <a:prstDash val="solid"/>
                      <a:round/>
                      <a:headEnd type="none" w="med" len="med"/>
                      <a:tailEnd type="none" w="med" len="med"/>
                    </a:lnL>
                    <a:lnR w="6350" cap="flat" cmpd="sng" algn="ctr">
                      <a:solidFill>
                        <a:srgbClr val="D5DAE1"/>
                      </a:solidFill>
                      <a:prstDash val="solid"/>
                      <a:round/>
                      <a:headEnd type="none" w="med" len="med"/>
                      <a:tailEnd type="none" w="med" len="med"/>
                    </a:lnR>
                    <a:lnT w="6350" cap="flat" cmpd="sng" algn="ctr">
                      <a:solidFill>
                        <a:srgbClr val="D5DAE1"/>
                      </a:solidFill>
                      <a:prstDash val="solid"/>
                      <a:round/>
                      <a:headEnd type="none" w="med" len="med"/>
                      <a:tailEnd type="none" w="med" len="med"/>
                    </a:lnT>
                    <a:lnB w="6350" cap="flat" cmpd="sng" algn="ctr">
                      <a:solidFill>
                        <a:srgbClr val="D5DAE1"/>
                      </a:solidFill>
                      <a:prstDash val="solid"/>
                      <a:round/>
                      <a:headEnd type="none" w="med" len="med"/>
                      <a:tailEnd type="none" w="med" len="med"/>
                    </a:lnB>
                    <a:solidFill>
                      <a:srgbClr val="F2F4F7"/>
                    </a:solidFill>
                  </a:tcPr>
                </a:tc>
                <a:tc>
                  <a:txBody>
                    <a:bodyPr/>
                    <a:lstStyle/>
                    <a:p>
                      <a:pPr algn="l" indent="0" marL="0">
                        <a:buNone/>
                      </a:pPr>
                      <a:r>
                        <a:rPr lang="en-US" sz="1200" dirty="0">
                          <a:solidFill>
                            <a:srgbClr val="1B1F2A"/>
                          </a:solidFill>
                        </a:rPr>
                        <a:t>Discount rate 14% in the model</a:t>
                      </a:r>
                      <a:endParaRPr lang="en-US" sz="1200" dirty="0"/>
                    </a:p>
                  </a:txBody>
                  <a:tcPr marL="73152" marR="73152" marT="36576" marB="36576" anchor="ctr">
                    <a:lnL w="6350" cap="flat" cmpd="sng" algn="ctr">
                      <a:solidFill>
                        <a:srgbClr val="D5DAE1"/>
                      </a:solidFill>
                      <a:prstDash val="solid"/>
                      <a:round/>
                      <a:headEnd type="none" w="med" len="med"/>
                      <a:tailEnd type="none" w="med" len="med"/>
                    </a:lnL>
                    <a:lnR w="6350" cap="flat" cmpd="sng" algn="ctr">
                      <a:solidFill>
                        <a:srgbClr val="D5DAE1"/>
                      </a:solidFill>
                      <a:prstDash val="solid"/>
                      <a:round/>
                      <a:headEnd type="none" w="med" len="med"/>
                      <a:tailEnd type="none" w="med" len="med"/>
                    </a:lnR>
                    <a:lnT w="6350" cap="flat" cmpd="sng" algn="ctr">
                      <a:solidFill>
                        <a:srgbClr val="D5DAE1"/>
                      </a:solidFill>
                      <a:prstDash val="solid"/>
                      <a:round/>
                      <a:headEnd type="none" w="med" len="med"/>
                      <a:tailEnd type="none" w="med" len="med"/>
                    </a:lnT>
                    <a:lnB w="6350" cap="flat" cmpd="sng" algn="ctr">
                      <a:solidFill>
                        <a:srgbClr val="D5DAE1"/>
                      </a:solidFill>
                      <a:prstDash val="solid"/>
                      <a:round/>
                      <a:headEnd type="none" w="med" len="med"/>
                      <a:tailEnd type="none" w="med" len="med"/>
                    </a:lnB>
                    <a:solidFill>
                      <a:srgbClr val="F2F4F7"/>
                    </a:solidFill>
                  </a:tcPr>
                </a:tc>
              </a:tr>
              <a:tr h="548640">
                <a:tc>
                  <a:txBody>
                    <a:bodyPr/>
                    <a:lstStyle/>
                    <a:p>
                      <a:pPr algn="l" indent="0" marL="0">
                        <a:buNone/>
                      </a:pPr>
                      <a:r>
                        <a:rPr lang="en-US" sz="1200" b="1" dirty="0">
                          <a:solidFill>
                            <a:srgbClr val="1B1F2A"/>
                          </a:solidFill>
                        </a:rPr>
                        <a:t>Developer sales</a:t>
                      </a:r>
                      <a:endParaRPr lang="en-US" sz="1200" dirty="0"/>
                    </a:p>
                  </a:txBody>
                  <a:tcPr marL="73152" marR="73152" marT="36576" marB="36576" anchor="ctr">
                    <a:lnL w="6350" cap="flat" cmpd="sng" algn="ctr">
                      <a:solidFill>
                        <a:srgbClr val="D5DAE1"/>
                      </a:solidFill>
                      <a:prstDash val="solid"/>
                      <a:round/>
                      <a:headEnd type="none" w="med" len="med"/>
                      <a:tailEnd type="none" w="med" len="med"/>
                    </a:lnL>
                    <a:lnR w="6350" cap="flat" cmpd="sng" algn="ctr">
                      <a:solidFill>
                        <a:srgbClr val="D5DAE1"/>
                      </a:solidFill>
                      <a:prstDash val="solid"/>
                      <a:round/>
                      <a:headEnd type="none" w="med" len="med"/>
                      <a:tailEnd type="none" w="med" len="med"/>
                    </a:lnR>
                    <a:lnT w="6350" cap="flat" cmpd="sng" algn="ctr">
                      <a:solidFill>
                        <a:srgbClr val="D5DAE1"/>
                      </a:solidFill>
                      <a:prstDash val="solid"/>
                      <a:round/>
                      <a:headEnd type="none" w="med" len="med"/>
                      <a:tailEnd type="none" w="med" len="med"/>
                    </a:lnT>
                    <a:lnB w="6350" cap="flat" cmpd="sng" algn="ctr">
                      <a:solidFill>
                        <a:srgbClr val="D5DAE1"/>
                      </a:solidFill>
                      <a:prstDash val="solid"/>
                      <a:round/>
                      <a:headEnd type="none" w="med" len="med"/>
                      <a:tailEnd type="none" w="med" len="med"/>
                    </a:lnB>
                    <a:solidFill>
                      <a:srgbClr val="FFFFFF"/>
                    </a:solidFill>
                  </a:tcPr>
                </a:tc>
                <a:tc>
                  <a:txBody>
                    <a:bodyPr/>
                    <a:lstStyle/>
                    <a:p>
                      <a:pPr algn="l" indent="0" marL="0">
                        <a:buNone/>
                      </a:pPr>
                      <a:r>
                        <a:rPr lang="en-US" sz="1200" dirty="0">
                          <a:solidFill>
                            <a:srgbClr val="1B1F2A"/>
                          </a:solidFill>
                        </a:rPr>
                        <a:t>Top 10 developers EGP 670 bn in H1 2026, +2.9% y/y; units sold -5%</a:t>
                      </a:r>
                      <a:endParaRPr lang="en-US" sz="1200" dirty="0"/>
                    </a:p>
                  </a:txBody>
                  <a:tcPr marL="73152" marR="73152" marT="36576" marB="36576" anchor="ctr">
                    <a:lnL w="6350" cap="flat" cmpd="sng" algn="ctr">
                      <a:solidFill>
                        <a:srgbClr val="D5DAE1"/>
                      </a:solidFill>
                      <a:prstDash val="solid"/>
                      <a:round/>
                      <a:headEnd type="none" w="med" len="med"/>
                      <a:tailEnd type="none" w="med" len="med"/>
                    </a:lnL>
                    <a:lnR w="6350" cap="flat" cmpd="sng" algn="ctr">
                      <a:solidFill>
                        <a:srgbClr val="D5DAE1"/>
                      </a:solidFill>
                      <a:prstDash val="solid"/>
                      <a:round/>
                      <a:headEnd type="none" w="med" len="med"/>
                      <a:tailEnd type="none" w="med" len="med"/>
                    </a:lnR>
                    <a:lnT w="6350" cap="flat" cmpd="sng" algn="ctr">
                      <a:solidFill>
                        <a:srgbClr val="D5DAE1"/>
                      </a:solidFill>
                      <a:prstDash val="solid"/>
                      <a:round/>
                      <a:headEnd type="none" w="med" len="med"/>
                      <a:tailEnd type="none" w="med" len="med"/>
                    </a:lnT>
                    <a:lnB w="6350" cap="flat" cmpd="sng" algn="ctr">
                      <a:solidFill>
                        <a:srgbClr val="D5DAE1"/>
                      </a:solidFill>
                      <a:prstDash val="solid"/>
                      <a:round/>
                      <a:headEnd type="none" w="med" len="med"/>
                      <a:tailEnd type="none" w="med" len="med"/>
                    </a:lnB>
                    <a:solidFill>
                      <a:srgbClr val="FFFFFF"/>
                    </a:solidFill>
                  </a:tcPr>
                </a:tc>
                <a:tc>
                  <a:txBody>
                    <a:bodyPr/>
                    <a:lstStyle/>
                    <a:p>
                      <a:pPr algn="l" indent="0" marL="0">
                        <a:buNone/>
                      </a:pPr>
                      <a:r>
                        <a:rPr lang="en-US" sz="1200" dirty="0">
                          <a:solidFill>
                            <a:srgbClr val="1B1F2A"/>
                          </a:solidFill>
                        </a:rPr>
                        <a:t>Sales over about 3 years from launch</a:t>
                      </a:r>
                      <a:endParaRPr lang="en-US" sz="1200" dirty="0"/>
                    </a:p>
                  </a:txBody>
                  <a:tcPr marL="73152" marR="73152" marT="36576" marB="36576" anchor="ctr">
                    <a:lnL w="6350" cap="flat" cmpd="sng" algn="ctr">
                      <a:solidFill>
                        <a:srgbClr val="D5DAE1"/>
                      </a:solidFill>
                      <a:prstDash val="solid"/>
                      <a:round/>
                      <a:headEnd type="none" w="med" len="med"/>
                      <a:tailEnd type="none" w="med" len="med"/>
                    </a:lnL>
                    <a:lnR w="6350" cap="flat" cmpd="sng" algn="ctr">
                      <a:solidFill>
                        <a:srgbClr val="D5DAE1"/>
                      </a:solidFill>
                      <a:prstDash val="solid"/>
                      <a:round/>
                      <a:headEnd type="none" w="med" len="med"/>
                      <a:tailEnd type="none" w="med" len="med"/>
                    </a:lnR>
                    <a:lnT w="6350" cap="flat" cmpd="sng" algn="ctr">
                      <a:solidFill>
                        <a:srgbClr val="D5DAE1"/>
                      </a:solidFill>
                      <a:prstDash val="solid"/>
                      <a:round/>
                      <a:headEnd type="none" w="med" len="med"/>
                      <a:tailEnd type="none" w="med" len="med"/>
                    </a:lnT>
                    <a:lnB w="6350" cap="flat" cmpd="sng" algn="ctr">
                      <a:solidFill>
                        <a:srgbClr val="D5DAE1"/>
                      </a:solidFill>
                      <a:prstDash val="solid"/>
                      <a:round/>
                      <a:headEnd type="none" w="med" len="med"/>
                      <a:tailEnd type="none" w="med" len="med"/>
                    </a:lnB>
                    <a:solidFill>
                      <a:srgbClr val="FFFFFF"/>
                    </a:solidFill>
                  </a:tcPr>
                </a:tc>
              </a:tr>
              <a:tr h="548640">
                <a:tc>
                  <a:txBody>
                    <a:bodyPr/>
                    <a:lstStyle/>
                    <a:p>
                      <a:pPr algn="l" indent="0" marL="0">
                        <a:buNone/>
                      </a:pPr>
                      <a:r>
                        <a:rPr lang="en-US" sz="1200" b="1" dirty="0">
                          <a:solidFill>
                            <a:srgbClr val="1B1F2A"/>
                          </a:solidFill>
                        </a:rPr>
                        <a:t>Payment plans</a:t>
                      </a:r>
                      <a:endParaRPr lang="en-US" sz="1200" dirty="0"/>
                    </a:p>
                  </a:txBody>
                  <a:tcPr marL="73152" marR="73152" marT="36576" marB="36576" anchor="ctr">
                    <a:lnL w="6350" cap="flat" cmpd="sng" algn="ctr">
                      <a:solidFill>
                        <a:srgbClr val="D5DAE1"/>
                      </a:solidFill>
                      <a:prstDash val="solid"/>
                      <a:round/>
                      <a:headEnd type="none" w="med" len="med"/>
                      <a:tailEnd type="none" w="med" len="med"/>
                    </a:lnL>
                    <a:lnR w="6350" cap="flat" cmpd="sng" algn="ctr">
                      <a:solidFill>
                        <a:srgbClr val="D5DAE1"/>
                      </a:solidFill>
                      <a:prstDash val="solid"/>
                      <a:round/>
                      <a:headEnd type="none" w="med" len="med"/>
                      <a:tailEnd type="none" w="med" len="med"/>
                    </a:lnR>
                    <a:lnT w="6350" cap="flat" cmpd="sng" algn="ctr">
                      <a:solidFill>
                        <a:srgbClr val="D5DAE1"/>
                      </a:solidFill>
                      <a:prstDash val="solid"/>
                      <a:round/>
                      <a:headEnd type="none" w="med" len="med"/>
                      <a:tailEnd type="none" w="med" len="med"/>
                    </a:lnT>
                    <a:lnB w="6350" cap="flat" cmpd="sng" algn="ctr">
                      <a:solidFill>
                        <a:srgbClr val="D5DAE1"/>
                      </a:solidFill>
                      <a:prstDash val="solid"/>
                      <a:round/>
                      <a:headEnd type="none" w="med" len="med"/>
                      <a:tailEnd type="none" w="med" len="med"/>
                    </a:lnB>
                    <a:solidFill>
                      <a:srgbClr val="F2F4F7"/>
                    </a:solidFill>
                  </a:tcPr>
                </a:tc>
                <a:tc>
                  <a:txBody>
                    <a:bodyPr/>
                    <a:lstStyle/>
                    <a:p>
                      <a:pPr algn="l" indent="0" marL="0">
                        <a:buNone/>
                      </a:pPr>
                      <a:r>
                        <a:rPr lang="en-US" sz="1200" dirty="0">
                          <a:solidFill>
                            <a:srgbClr val="1B1F2A"/>
                          </a:solidFill>
                        </a:rPr>
                        <a:t>Typically 8 to 12 years with 1.5% to 10% down payment</a:t>
                      </a:r>
                      <a:endParaRPr lang="en-US" sz="1200" dirty="0"/>
                    </a:p>
                  </a:txBody>
                  <a:tcPr marL="73152" marR="73152" marT="36576" marB="36576" anchor="ctr">
                    <a:lnL w="6350" cap="flat" cmpd="sng" algn="ctr">
                      <a:solidFill>
                        <a:srgbClr val="D5DAE1"/>
                      </a:solidFill>
                      <a:prstDash val="solid"/>
                      <a:round/>
                      <a:headEnd type="none" w="med" len="med"/>
                      <a:tailEnd type="none" w="med" len="med"/>
                    </a:lnL>
                    <a:lnR w="6350" cap="flat" cmpd="sng" algn="ctr">
                      <a:solidFill>
                        <a:srgbClr val="D5DAE1"/>
                      </a:solidFill>
                      <a:prstDash val="solid"/>
                      <a:round/>
                      <a:headEnd type="none" w="med" len="med"/>
                      <a:tailEnd type="none" w="med" len="med"/>
                    </a:lnR>
                    <a:lnT w="6350" cap="flat" cmpd="sng" algn="ctr">
                      <a:solidFill>
                        <a:srgbClr val="D5DAE1"/>
                      </a:solidFill>
                      <a:prstDash val="solid"/>
                      <a:round/>
                      <a:headEnd type="none" w="med" len="med"/>
                      <a:tailEnd type="none" w="med" len="med"/>
                    </a:lnT>
                    <a:lnB w="6350" cap="flat" cmpd="sng" algn="ctr">
                      <a:solidFill>
                        <a:srgbClr val="D5DAE1"/>
                      </a:solidFill>
                      <a:prstDash val="solid"/>
                      <a:round/>
                      <a:headEnd type="none" w="med" len="med"/>
                      <a:tailEnd type="none" w="med" len="med"/>
                    </a:lnB>
                    <a:solidFill>
                      <a:srgbClr val="F2F4F7"/>
                    </a:solidFill>
                  </a:tcPr>
                </a:tc>
                <a:tc>
                  <a:txBody>
                    <a:bodyPr/>
                    <a:lstStyle/>
                    <a:p>
                      <a:pPr algn="l" indent="0" marL="0">
                        <a:buNone/>
                      </a:pPr>
                      <a:r>
                        <a:rPr lang="en-US" sz="1200" dirty="0">
                          <a:solidFill>
                            <a:srgbClr val="1B1F2A"/>
                          </a:solidFill>
                        </a:rPr>
                        <a:t>Down payments 5% to 20%; instalments 2 to 8 years</a:t>
                      </a:r>
                      <a:endParaRPr lang="en-US" sz="1200" dirty="0"/>
                    </a:p>
                  </a:txBody>
                  <a:tcPr marL="73152" marR="73152" marT="36576" marB="36576" anchor="ctr">
                    <a:lnL w="6350" cap="flat" cmpd="sng" algn="ctr">
                      <a:solidFill>
                        <a:srgbClr val="D5DAE1"/>
                      </a:solidFill>
                      <a:prstDash val="solid"/>
                      <a:round/>
                      <a:headEnd type="none" w="med" len="med"/>
                      <a:tailEnd type="none" w="med" len="med"/>
                    </a:lnL>
                    <a:lnR w="6350" cap="flat" cmpd="sng" algn="ctr">
                      <a:solidFill>
                        <a:srgbClr val="D5DAE1"/>
                      </a:solidFill>
                      <a:prstDash val="solid"/>
                      <a:round/>
                      <a:headEnd type="none" w="med" len="med"/>
                      <a:tailEnd type="none" w="med" len="med"/>
                    </a:lnR>
                    <a:lnT w="6350" cap="flat" cmpd="sng" algn="ctr">
                      <a:solidFill>
                        <a:srgbClr val="D5DAE1"/>
                      </a:solidFill>
                      <a:prstDash val="solid"/>
                      <a:round/>
                      <a:headEnd type="none" w="med" len="med"/>
                      <a:tailEnd type="none" w="med" len="med"/>
                    </a:lnT>
                    <a:lnB w="6350" cap="flat" cmpd="sng" algn="ctr">
                      <a:solidFill>
                        <a:srgbClr val="D5DAE1"/>
                      </a:solidFill>
                      <a:prstDash val="solid"/>
                      <a:round/>
                      <a:headEnd type="none" w="med" len="med"/>
                      <a:tailEnd type="none" w="med" len="med"/>
                    </a:lnB>
                    <a:solidFill>
                      <a:srgbClr val="F2F4F7"/>
                    </a:solidFill>
                  </a:tcPr>
                </a:tc>
              </a:tr>
            </a:tbl>
          </a:graphicData>
        </a:graphic>
      </p:graphicFrame>
      <p:sp>
        <p:nvSpPr>
          <p:cNvPr id="5" name="Text 1"/>
          <p:cNvSpPr txBox="1"/>
          <p:nvPr/>
        </p:nvSpPr>
        <p:spPr>
          <a:xfrm>
            <a:off x="548640" y="5166360"/>
            <a:ext cx="11064240" cy="640080"/>
          </a:xfrm>
          <a:prstGeom prst="rect">
            <a:avLst/>
          </a:prstGeom>
          <a:noFill/>
          <a:ln/>
        </p:spPr>
        <p:txBody>
          <a:bodyPr wrap="square" lIns="0" tIns="0" rIns="0" bIns="0" rtlCol="0" anchor="ctr"/>
          <a:lstStyle/>
          <a:p>
            <a:pPr indent="0" marL="0">
              <a:buNone/>
            </a:pPr>
            <a:r>
              <a:rPr lang="en-US" sz="1300" dirty="0">
                <a:solidFill>
                  <a:srgbClr val="1B1F2A"/>
                </a:solidFill>
              </a:rPr>
              <a:t>Reading across: the sales plan needs price growth that sits at the upper end of recent evidence. The downside case on slide 14 tests lower prices and later sales.</a:t>
            </a:r>
            <a:endParaRPr lang="en-US" sz="1300" dirty="0"/>
          </a:p>
        </p:txBody>
      </p:sp>
      <p:sp>
        <p:nvSpPr>
          <p:cNvPr id="6" name="Text 2"/>
          <p:cNvSpPr txBox="1"/>
          <p:nvPr/>
        </p:nvSpPr>
        <p:spPr>
          <a:xfrm>
            <a:off x="548640" y="5989320"/>
            <a:ext cx="11064240" cy="274320"/>
          </a:xfrm>
          <a:prstGeom prst="rect">
            <a:avLst/>
          </a:prstGeom>
          <a:noFill/>
          <a:ln/>
        </p:spPr>
        <p:txBody>
          <a:bodyPr wrap="square" lIns="0" tIns="0" rIns="0" bIns="0" rtlCol="0" anchor="ctr"/>
          <a:lstStyle/>
          <a:p>
            <a:pPr indent="0" marL="0">
              <a:buNone/>
            </a:pPr>
            <a:r>
              <a:rPr lang="en-US" sz="900" i="1" dirty="0">
                <a:solidFill>
                  <a:srgbClr val="6B7280"/>
                </a:solidFill>
              </a:rPr>
              <a:t>Source: Property Finder listings (2026); JLL via Enterprise (2026); Sands of Wealth (2026); CBE via Bnok24; CAPMAS via Ahram Online; Daily News Egypt; Bayut. Listings are asking prices, not transactions.</a:t>
            </a:r>
            <a:endParaRPr lang="en-US" sz="900" dirty="0"/>
          </a:p>
        </p:txBody>
      </p:sp>
      <p:sp>
        <p:nvSpPr>
          <p:cNvPr id="25" name="Slide Number Placeholder 0"/>
          <p:cNvSpPr>
            <a:spLocks noGrp="1"/>
          </p:cNvSpPr>
          <p:nvPr>
            <p:ph type="sldNum" sz="quarter" idx="4294967295"/>
          </p:nvPr>
        </p:nvSpPr>
        <p:spPr>
          <a:xfrm>
            <a:off x="11155680" y="6446520"/>
            <a:ext cx="548640" cy="274320"/>
          </a:xfrm>
          <a:prstGeom prst="rect">
            <a:avLst/>
          </a:prstGeom>
          <a:extLst>
            <a:ext uri="{C572A759-6A51-4108-AA02-DFA0A04FC94B}">
              <ma14:wrappingTextBoxFlag xmlns:ma14="http://schemas.microsoft.com/office/mac/drawingml/2011/main" val="0"/>
            </a:ext>
          </a:extLst>
        </p:spPr>
        <p:txBody>
          <a:bodyPr/>
          <a:lstStyle>
            <a:lvl1pPr>
              <a:defRPr sz="900">
                <a:solidFill>
                  <a:srgbClr val="6B7280"/>
                </a:solidFill>
              </a:defRPr>
            </a:lvl1pPr>
          </a:lstStyle>
          <a:p>
            <a:pPr algn="l"/>
            <a:fld id="{F7021451-1387-4CA6-816F-3879F97B5CBC}" type="slidenum">
              <a:rPr b="0" lang="en-US"/>
              <a:t>5</a:t>
            </a:fld>
            <a:endParaRPr lang="en-US"/>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spTree>
      <p:nvGrpSpPr>
        <p:cNvPr id="1" name=""/>
        <p:cNvGrpSpPr/>
        <p:nvPr/>
      </p:nvGrpSpPr>
      <p:grpSpPr>
        <a:xfrm>
          <a:off x="0" y="0"/>
          <a:ext cx="0" cy="0"/>
          <a:chOff x="0" y="0"/>
          <a:chExt cx="0" cy="0"/>
        </a:xfrm>
      </p:grpSpPr>
      <p:sp>
        <p:nvSpPr>
          <p:cNvPr id="2" name="Text 0"/>
          <p:cNvSpPr txBox="1"/>
          <p:nvPr/>
        </p:nvSpPr>
        <p:spPr>
          <a:xfrm>
            <a:off x="548640" y="320040"/>
            <a:ext cx="11064240" cy="822960"/>
          </a:xfrm>
          <a:prstGeom prst="rect">
            <a:avLst/>
          </a:prstGeom>
          <a:noFill/>
          <a:ln/>
        </p:spPr>
        <p:txBody>
          <a:bodyPr wrap="square" lIns="0" tIns="0" rIns="0" bIns="0" rtlCol="0" anchor="ctr">
            <a:normAutofit/>
          </a:bodyPr>
          <a:lstStyle/>
          <a:p>
            <a:pPr indent="0" marL="0">
              <a:buNone/>
            </a:pPr>
            <a:r>
              <a:rPr lang="en-US" sz="2800" b="1" dirty="0">
                <a:solidFill>
                  <a:srgbClr val="17324D"/>
                </a:solidFill>
                <a:latin typeface="Cambria" pitchFamily="34" charset="0"/>
                <a:ea typeface="Cambria" pitchFamily="34" charset="-122"/>
                <a:cs typeface="Cambria" pitchFamily="34" charset="-120"/>
              </a:rPr>
              <a:t>The project</a:t>
            </a:r>
            <a:endParaRPr lang="en-US" sz="2800" dirty="0"/>
          </a:p>
        </p:txBody>
      </p:sp>
      <p:graphicFrame>
        <p:nvGraphicFramePr>
          <p:cNvPr id="7" name="Table 0"/>
          <p:cNvGraphicFramePr>
            <a:graphicFrameLocks noGrp="1"/>
          </p:cNvGraphicFramePr>
          <p:nvPr>
            <p:extLst>
              <p:ext uri="{D42A27DB-BD31-4B8C-83A1-F6EECF244321}">
                <p14:modId xmlns:p14="http://schemas.microsoft.com/office/powerpoint/2010/main" val="1579011935"/>
              </p:ext>
            </p:extLst>
          </p:nvPr>
        </p:nvGraphicFramePr>
        <p:xfrm>
          <a:off x="548640" y="1371600"/>
          <a:ext cx="6035040" cy="914400"/>
        </p:xfrm>
        <a:graphic>
          <a:graphicData uri="http://schemas.openxmlformats.org/drawingml/2006/table">
            <a:tbl>
              <a:tblPr/>
              <a:tblGrid>
                <a:gridCol w="2651760"/>
                <a:gridCol w="3383280"/>
              </a:tblGrid>
              <a:tr h="411480">
                <a:tc>
                  <a:txBody>
                    <a:bodyPr/>
                    <a:lstStyle/>
                    <a:p>
                      <a:pPr algn="l" indent="0" marL="0">
                        <a:buNone/>
                      </a:pPr>
                      <a:r>
                        <a:rPr lang="en-US" sz="1400" b="1" dirty="0">
                          <a:solidFill>
                            <a:srgbClr val="FFFFFF"/>
                          </a:solidFill>
                        </a:rPr>
                        <a:t>Item</a:t>
                      </a:r>
                      <a:endParaRPr lang="en-US" sz="1400" dirty="0"/>
                    </a:p>
                  </a:txBody>
                  <a:tcPr marL="73152" marR="73152" marT="36576" marB="36576" anchor="ctr">
                    <a:lnL w="6350" cap="flat" cmpd="sng" algn="ctr">
                      <a:solidFill>
                        <a:srgbClr val="D5DAE1"/>
                      </a:solidFill>
                      <a:prstDash val="solid"/>
                      <a:round/>
                      <a:headEnd type="none" w="med" len="med"/>
                      <a:tailEnd type="none" w="med" len="med"/>
                    </a:lnL>
                    <a:lnR w="6350" cap="flat" cmpd="sng" algn="ctr">
                      <a:solidFill>
                        <a:srgbClr val="D5DAE1"/>
                      </a:solidFill>
                      <a:prstDash val="solid"/>
                      <a:round/>
                      <a:headEnd type="none" w="med" len="med"/>
                      <a:tailEnd type="none" w="med" len="med"/>
                    </a:lnR>
                    <a:lnT w="6350" cap="flat" cmpd="sng" algn="ctr">
                      <a:solidFill>
                        <a:srgbClr val="D5DAE1"/>
                      </a:solidFill>
                      <a:prstDash val="solid"/>
                      <a:round/>
                      <a:headEnd type="none" w="med" len="med"/>
                      <a:tailEnd type="none" w="med" len="med"/>
                    </a:lnT>
                    <a:lnB w="6350" cap="flat" cmpd="sng" algn="ctr">
                      <a:solidFill>
                        <a:srgbClr val="D5DAE1"/>
                      </a:solidFill>
                      <a:prstDash val="solid"/>
                      <a:round/>
                      <a:headEnd type="none" w="med" len="med"/>
                      <a:tailEnd type="none" w="med" len="med"/>
                    </a:lnB>
                    <a:solidFill>
                      <a:srgbClr val="17324D"/>
                    </a:solidFill>
                  </a:tcPr>
                </a:tc>
                <a:tc>
                  <a:txBody>
                    <a:bodyPr/>
                    <a:lstStyle/>
                    <a:p>
                      <a:pPr algn="l" indent="0" marL="0">
                        <a:buNone/>
                      </a:pPr>
                      <a:r>
                        <a:rPr lang="en-US" sz="1400" b="1" dirty="0">
                          <a:solidFill>
                            <a:srgbClr val="FFFFFF"/>
                          </a:solidFill>
                        </a:rPr>
                        <a:t>Detail</a:t>
                      </a:r>
                      <a:endParaRPr lang="en-US" sz="1400" dirty="0"/>
                    </a:p>
                  </a:txBody>
                  <a:tcPr marL="73152" marR="73152" marT="36576" marB="36576" anchor="ctr">
                    <a:lnL w="6350" cap="flat" cmpd="sng" algn="ctr">
                      <a:solidFill>
                        <a:srgbClr val="D5DAE1"/>
                      </a:solidFill>
                      <a:prstDash val="solid"/>
                      <a:round/>
                      <a:headEnd type="none" w="med" len="med"/>
                      <a:tailEnd type="none" w="med" len="med"/>
                    </a:lnL>
                    <a:lnR w="6350" cap="flat" cmpd="sng" algn="ctr">
                      <a:solidFill>
                        <a:srgbClr val="D5DAE1"/>
                      </a:solidFill>
                      <a:prstDash val="solid"/>
                      <a:round/>
                      <a:headEnd type="none" w="med" len="med"/>
                      <a:tailEnd type="none" w="med" len="med"/>
                    </a:lnR>
                    <a:lnT w="6350" cap="flat" cmpd="sng" algn="ctr">
                      <a:solidFill>
                        <a:srgbClr val="D5DAE1"/>
                      </a:solidFill>
                      <a:prstDash val="solid"/>
                      <a:round/>
                      <a:headEnd type="none" w="med" len="med"/>
                      <a:tailEnd type="none" w="med" len="med"/>
                    </a:lnT>
                    <a:lnB w="6350" cap="flat" cmpd="sng" algn="ctr">
                      <a:solidFill>
                        <a:srgbClr val="D5DAE1"/>
                      </a:solidFill>
                      <a:prstDash val="solid"/>
                      <a:round/>
                      <a:headEnd type="none" w="med" len="med"/>
                      <a:tailEnd type="none" w="med" len="med"/>
                    </a:lnB>
                    <a:solidFill>
                      <a:srgbClr val="17324D"/>
                    </a:solidFill>
                  </a:tcPr>
                </a:tc>
              </a:tr>
              <a:tr h="411480">
                <a:tc>
                  <a:txBody>
                    <a:bodyPr/>
                    <a:lstStyle/>
                    <a:p>
                      <a:pPr algn="l" indent="0" marL="0">
                        <a:buNone/>
                      </a:pPr>
                      <a:r>
                        <a:rPr lang="en-US" sz="1400" b="1" dirty="0">
                          <a:solidFill>
                            <a:srgbClr val="1B1F2A"/>
                          </a:solidFill>
                        </a:rPr>
                        <a:t>Land area</a:t>
                      </a:r>
                      <a:endParaRPr lang="en-US" sz="1400" dirty="0"/>
                    </a:p>
                  </a:txBody>
                  <a:tcPr marL="73152" marR="73152" marT="36576" marB="36576" anchor="ctr">
                    <a:lnL w="6350" cap="flat" cmpd="sng" algn="ctr">
                      <a:solidFill>
                        <a:srgbClr val="D5DAE1"/>
                      </a:solidFill>
                      <a:prstDash val="solid"/>
                      <a:round/>
                      <a:headEnd type="none" w="med" len="med"/>
                      <a:tailEnd type="none" w="med" len="med"/>
                    </a:lnL>
                    <a:lnR w="6350" cap="flat" cmpd="sng" algn="ctr">
                      <a:solidFill>
                        <a:srgbClr val="D5DAE1"/>
                      </a:solidFill>
                      <a:prstDash val="solid"/>
                      <a:round/>
                      <a:headEnd type="none" w="med" len="med"/>
                      <a:tailEnd type="none" w="med" len="med"/>
                    </a:lnR>
                    <a:lnT w="6350" cap="flat" cmpd="sng" algn="ctr">
                      <a:solidFill>
                        <a:srgbClr val="D5DAE1"/>
                      </a:solidFill>
                      <a:prstDash val="solid"/>
                      <a:round/>
                      <a:headEnd type="none" w="med" len="med"/>
                      <a:tailEnd type="none" w="med" len="med"/>
                    </a:lnT>
                    <a:lnB w="6350" cap="flat" cmpd="sng" algn="ctr">
                      <a:solidFill>
                        <a:srgbClr val="D5DAE1"/>
                      </a:solidFill>
                      <a:prstDash val="solid"/>
                      <a:round/>
                      <a:headEnd type="none" w="med" len="med"/>
                      <a:tailEnd type="none" w="med" len="med"/>
                    </a:lnB>
                    <a:solidFill>
                      <a:srgbClr val="FFFFFF"/>
                    </a:solidFill>
                  </a:tcPr>
                </a:tc>
                <a:tc>
                  <a:txBody>
                    <a:bodyPr/>
                    <a:lstStyle/>
                    <a:p>
                      <a:pPr algn="l" indent="0" marL="0">
                        <a:buNone/>
                      </a:pPr>
                      <a:r>
                        <a:rPr lang="en-US" sz="1400" dirty="0">
                          <a:solidFill>
                            <a:srgbClr val="1B1F2A"/>
                          </a:solidFill>
                        </a:rPr>
                        <a:t>14,470 m2</a:t>
                      </a:r>
                      <a:endParaRPr lang="en-US" sz="1400" dirty="0"/>
                    </a:p>
                  </a:txBody>
                  <a:tcPr marL="73152" marR="73152" marT="36576" marB="36576" anchor="ctr">
                    <a:lnL w="6350" cap="flat" cmpd="sng" algn="ctr">
                      <a:solidFill>
                        <a:srgbClr val="D5DAE1"/>
                      </a:solidFill>
                      <a:prstDash val="solid"/>
                      <a:round/>
                      <a:headEnd type="none" w="med" len="med"/>
                      <a:tailEnd type="none" w="med" len="med"/>
                    </a:lnL>
                    <a:lnR w="6350" cap="flat" cmpd="sng" algn="ctr">
                      <a:solidFill>
                        <a:srgbClr val="D5DAE1"/>
                      </a:solidFill>
                      <a:prstDash val="solid"/>
                      <a:round/>
                      <a:headEnd type="none" w="med" len="med"/>
                      <a:tailEnd type="none" w="med" len="med"/>
                    </a:lnR>
                    <a:lnT w="6350" cap="flat" cmpd="sng" algn="ctr">
                      <a:solidFill>
                        <a:srgbClr val="D5DAE1"/>
                      </a:solidFill>
                      <a:prstDash val="solid"/>
                      <a:round/>
                      <a:headEnd type="none" w="med" len="med"/>
                      <a:tailEnd type="none" w="med" len="med"/>
                    </a:lnT>
                    <a:lnB w="6350" cap="flat" cmpd="sng" algn="ctr">
                      <a:solidFill>
                        <a:srgbClr val="D5DAE1"/>
                      </a:solidFill>
                      <a:prstDash val="solid"/>
                      <a:round/>
                      <a:headEnd type="none" w="med" len="med"/>
                      <a:tailEnd type="none" w="med" len="med"/>
                    </a:lnB>
                    <a:solidFill>
                      <a:srgbClr val="FFFFFF"/>
                    </a:solidFill>
                  </a:tcPr>
                </a:tc>
              </a:tr>
              <a:tr h="411480">
                <a:tc>
                  <a:txBody>
                    <a:bodyPr/>
                    <a:lstStyle/>
                    <a:p>
                      <a:pPr algn="l" indent="0" marL="0">
                        <a:buNone/>
                      </a:pPr>
                      <a:r>
                        <a:rPr lang="en-US" sz="1400" b="1" dirty="0">
                          <a:solidFill>
                            <a:srgbClr val="1B1F2A"/>
                          </a:solidFill>
                        </a:rPr>
                        <a:t>Footprint (30%)</a:t>
                      </a:r>
                      <a:endParaRPr lang="en-US" sz="1400" dirty="0"/>
                    </a:p>
                  </a:txBody>
                  <a:tcPr marL="73152" marR="73152" marT="36576" marB="36576" anchor="ctr">
                    <a:lnL w="6350" cap="flat" cmpd="sng" algn="ctr">
                      <a:solidFill>
                        <a:srgbClr val="D5DAE1"/>
                      </a:solidFill>
                      <a:prstDash val="solid"/>
                      <a:round/>
                      <a:headEnd type="none" w="med" len="med"/>
                      <a:tailEnd type="none" w="med" len="med"/>
                    </a:lnL>
                    <a:lnR w="6350" cap="flat" cmpd="sng" algn="ctr">
                      <a:solidFill>
                        <a:srgbClr val="D5DAE1"/>
                      </a:solidFill>
                      <a:prstDash val="solid"/>
                      <a:round/>
                      <a:headEnd type="none" w="med" len="med"/>
                      <a:tailEnd type="none" w="med" len="med"/>
                    </a:lnR>
                    <a:lnT w="6350" cap="flat" cmpd="sng" algn="ctr">
                      <a:solidFill>
                        <a:srgbClr val="D5DAE1"/>
                      </a:solidFill>
                      <a:prstDash val="solid"/>
                      <a:round/>
                      <a:headEnd type="none" w="med" len="med"/>
                      <a:tailEnd type="none" w="med" len="med"/>
                    </a:lnT>
                    <a:lnB w="6350" cap="flat" cmpd="sng" algn="ctr">
                      <a:solidFill>
                        <a:srgbClr val="D5DAE1"/>
                      </a:solidFill>
                      <a:prstDash val="solid"/>
                      <a:round/>
                      <a:headEnd type="none" w="med" len="med"/>
                      <a:tailEnd type="none" w="med" len="med"/>
                    </a:lnB>
                    <a:solidFill>
                      <a:srgbClr val="F2F4F7"/>
                    </a:solidFill>
                  </a:tcPr>
                </a:tc>
                <a:tc>
                  <a:txBody>
                    <a:bodyPr/>
                    <a:lstStyle/>
                    <a:p>
                      <a:pPr algn="l" indent="0" marL="0">
                        <a:buNone/>
                      </a:pPr>
                      <a:r>
                        <a:rPr lang="en-US" sz="1400" dirty="0">
                          <a:solidFill>
                            <a:srgbClr val="1B1F2A"/>
                          </a:solidFill>
                        </a:rPr>
                        <a:t>4,341 m2</a:t>
                      </a:r>
                      <a:endParaRPr lang="en-US" sz="1400" dirty="0"/>
                    </a:p>
                  </a:txBody>
                  <a:tcPr marL="73152" marR="73152" marT="36576" marB="36576" anchor="ctr">
                    <a:lnL w="6350" cap="flat" cmpd="sng" algn="ctr">
                      <a:solidFill>
                        <a:srgbClr val="D5DAE1"/>
                      </a:solidFill>
                      <a:prstDash val="solid"/>
                      <a:round/>
                      <a:headEnd type="none" w="med" len="med"/>
                      <a:tailEnd type="none" w="med" len="med"/>
                    </a:lnL>
                    <a:lnR w="6350" cap="flat" cmpd="sng" algn="ctr">
                      <a:solidFill>
                        <a:srgbClr val="D5DAE1"/>
                      </a:solidFill>
                      <a:prstDash val="solid"/>
                      <a:round/>
                      <a:headEnd type="none" w="med" len="med"/>
                      <a:tailEnd type="none" w="med" len="med"/>
                    </a:lnR>
                    <a:lnT w="6350" cap="flat" cmpd="sng" algn="ctr">
                      <a:solidFill>
                        <a:srgbClr val="D5DAE1"/>
                      </a:solidFill>
                      <a:prstDash val="solid"/>
                      <a:round/>
                      <a:headEnd type="none" w="med" len="med"/>
                      <a:tailEnd type="none" w="med" len="med"/>
                    </a:lnT>
                    <a:lnB w="6350" cap="flat" cmpd="sng" algn="ctr">
                      <a:solidFill>
                        <a:srgbClr val="D5DAE1"/>
                      </a:solidFill>
                      <a:prstDash val="solid"/>
                      <a:round/>
                      <a:headEnd type="none" w="med" len="med"/>
                      <a:tailEnd type="none" w="med" len="med"/>
                    </a:lnB>
                    <a:solidFill>
                      <a:srgbClr val="F2F4F7"/>
                    </a:solidFill>
                  </a:tcPr>
                </a:tc>
              </a:tr>
              <a:tr h="411480">
                <a:tc>
                  <a:txBody>
                    <a:bodyPr/>
                    <a:lstStyle/>
                    <a:p>
                      <a:pPr algn="l" indent="0" marL="0">
                        <a:buNone/>
                      </a:pPr>
                      <a:r>
                        <a:rPr lang="en-US" sz="1400" b="1" dirty="0">
                          <a:solidFill>
                            <a:srgbClr val="1B1F2A"/>
                          </a:solidFill>
                        </a:rPr>
                        <a:t>Height</a:t>
                      </a:r>
                      <a:endParaRPr lang="en-US" sz="1400" dirty="0"/>
                    </a:p>
                  </a:txBody>
                  <a:tcPr marL="73152" marR="73152" marT="36576" marB="36576" anchor="ctr">
                    <a:lnL w="6350" cap="flat" cmpd="sng" algn="ctr">
                      <a:solidFill>
                        <a:srgbClr val="D5DAE1"/>
                      </a:solidFill>
                      <a:prstDash val="solid"/>
                      <a:round/>
                      <a:headEnd type="none" w="med" len="med"/>
                      <a:tailEnd type="none" w="med" len="med"/>
                    </a:lnL>
                    <a:lnR w="6350" cap="flat" cmpd="sng" algn="ctr">
                      <a:solidFill>
                        <a:srgbClr val="D5DAE1"/>
                      </a:solidFill>
                      <a:prstDash val="solid"/>
                      <a:round/>
                      <a:headEnd type="none" w="med" len="med"/>
                      <a:tailEnd type="none" w="med" len="med"/>
                    </a:lnR>
                    <a:lnT w="6350" cap="flat" cmpd="sng" algn="ctr">
                      <a:solidFill>
                        <a:srgbClr val="D5DAE1"/>
                      </a:solidFill>
                      <a:prstDash val="solid"/>
                      <a:round/>
                      <a:headEnd type="none" w="med" len="med"/>
                      <a:tailEnd type="none" w="med" len="med"/>
                    </a:lnT>
                    <a:lnB w="6350" cap="flat" cmpd="sng" algn="ctr">
                      <a:solidFill>
                        <a:srgbClr val="D5DAE1"/>
                      </a:solidFill>
                      <a:prstDash val="solid"/>
                      <a:round/>
                      <a:headEnd type="none" w="med" len="med"/>
                      <a:tailEnd type="none" w="med" len="med"/>
                    </a:lnB>
                    <a:solidFill>
                      <a:srgbClr val="FFFFFF"/>
                    </a:solidFill>
                  </a:tcPr>
                </a:tc>
                <a:tc>
                  <a:txBody>
                    <a:bodyPr/>
                    <a:lstStyle/>
                    <a:p>
                      <a:pPr algn="l" indent="0" marL="0">
                        <a:buNone/>
                      </a:pPr>
                      <a:r>
                        <a:rPr lang="en-US" sz="1400" dirty="0">
                          <a:solidFill>
                            <a:srgbClr val="1B1F2A"/>
                          </a:solidFill>
                        </a:rPr>
                        <a:t>G+2</a:t>
                      </a:r>
                      <a:endParaRPr lang="en-US" sz="1400" dirty="0"/>
                    </a:p>
                  </a:txBody>
                  <a:tcPr marL="73152" marR="73152" marT="36576" marB="36576" anchor="ctr">
                    <a:lnL w="6350" cap="flat" cmpd="sng" algn="ctr">
                      <a:solidFill>
                        <a:srgbClr val="D5DAE1"/>
                      </a:solidFill>
                      <a:prstDash val="solid"/>
                      <a:round/>
                      <a:headEnd type="none" w="med" len="med"/>
                      <a:tailEnd type="none" w="med" len="med"/>
                    </a:lnL>
                    <a:lnR w="6350" cap="flat" cmpd="sng" algn="ctr">
                      <a:solidFill>
                        <a:srgbClr val="D5DAE1"/>
                      </a:solidFill>
                      <a:prstDash val="solid"/>
                      <a:round/>
                      <a:headEnd type="none" w="med" len="med"/>
                      <a:tailEnd type="none" w="med" len="med"/>
                    </a:lnR>
                    <a:lnT w="6350" cap="flat" cmpd="sng" algn="ctr">
                      <a:solidFill>
                        <a:srgbClr val="D5DAE1"/>
                      </a:solidFill>
                      <a:prstDash val="solid"/>
                      <a:round/>
                      <a:headEnd type="none" w="med" len="med"/>
                      <a:tailEnd type="none" w="med" len="med"/>
                    </a:lnT>
                    <a:lnB w="6350" cap="flat" cmpd="sng" algn="ctr">
                      <a:solidFill>
                        <a:srgbClr val="D5DAE1"/>
                      </a:solidFill>
                      <a:prstDash val="solid"/>
                      <a:round/>
                      <a:headEnd type="none" w="med" len="med"/>
                      <a:tailEnd type="none" w="med" len="med"/>
                    </a:lnB>
                    <a:solidFill>
                      <a:srgbClr val="FFFFFF"/>
                    </a:solidFill>
                  </a:tcPr>
                </a:tc>
              </a:tr>
              <a:tr h="411480">
                <a:tc>
                  <a:txBody>
                    <a:bodyPr/>
                    <a:lstStyle/>
                    <a:p>
                      <a:pPr algn="l" indent="0" marL="0">
                        <a:buNone/>
                      </a:pPr>
                      <a:r>
                        <a:rPr lang="en-US" sz="1400" b="1" dirty="0">
                          <a:solidFill>
                            <a:srgbClr val="1B1F2A"/>
                          </a:solidFill>
                        </a:rPr>
                        <a:t>Retail built-up area</a:t>
                      </a:r>
                      <a:endParaRPr lang="en-US" sz="1400" dirty="0"/>
                    </a:p>
                  </a:txBody>
                  <a:tcPr marL="73152" marR="73152" marT="36576" marB="36576" anchor="ctr">
                    <a:lnL w="6350" cap="flat" cmpd="sng" algn="ctr">
                      <a:solidFill>
                        <a:srgbClr val="D5DAE1"/>
                      </a:solidFill>
                      <a:prstDash val="solid"/>
                      <a:round/>
                      <a:headEnd type="none" w="med" len="med"/>
                      <a:tailEnd type="none" w="med" len="med"/>
                    </a:lnL>
                    <a:lnR w="6350" cap="flat" cmpd="sng" algn="ctr">
                      <a:solidFill>
                        <a:srgbClr val="D5DAE1"/>
                      </a:solidFill>
                      <a:prstDash val="solid"/>
                      <a:round/>
                      <a:headEnd type="none" w="med" len="med"/>
                      <a:tailEnd type="none" w="med" len="med"/>
                    </a:lnR>
                    <a:lnT w="6350" cap="flat" cmpd="sng" algn="ctr">
                      <a:solidFill>
                        <a:srgbClr val="D5DAE1"/>
                      </a:solidFill>
                      <a:prstDash val="solid"/>
                      <a:round/>
                      <a:headEnd type="none" w="med" len="med"/>
                      <a:tailEnd type="none" w="med" len="med"/>
                    </a:lnT>
                    <a:lnB w="6350" cap="flat" cmpd="sng" algn="ctr">
                      <a:solidFill>
                        <a:srgbClr val="D5DAE1"/>
                      </a:solidFill>
                      <a:prstDash val="solid"/>
                      <a:round/>
                      <a:headEnd type="none" w="med" len="med"/>
                      <a:tailEnd type="none" w="med" len="med"/>
                    </a:lnB>
                    <a:solidFill>
                      <a:srgbClr val="F2F4F7"/>
                    </a:solidFill>
                  </a:tcPr>
                </a:tc>
                <a:tc>
                  <a:txBody>
                    <a:bodyPr/>
                    <a:lstStyle/>
                    <a:p>
                      <a:pPr algn="l" indent="0" marL="0">
                        <a:buNone/>
                      </a:pPr>
                      <a:r>
                        <a:rPr lang="en-US" sz="1400" dirty="0">
                          <a:solidFill>
                            <a:srgbClr val="1B1F2A"/>
                          </a:solidFill>
                        </a:rPr>
                        <a:t>4,341 m2</a:t>
                      </a:r>
                      <a:endParaRPr lang="en-US" sz="1400" dirty="0"/>
                    </a:p>
                  </a:txBody>
                  <a:tcPr marL="73152" marR="73152" marT="36576" marB="36576" anchor="ctr">
                    <a:lnL w="6350" cap="flat" cmpd="sng" algn="ctr">
                      <a:solidFill>
                        <a:srgbClr val="D5DAE1"/>
                      </a:solidFill>
                      <a:prstDash val="solid"/>
                      <a:round/>
                      <a:headEnd type="none" w="med" len="med"/>
                      <a:tailEnd type="none" w="med" len="med"/>
                    </a:lnL>
                    <a:lnR w="6350" cap="flat" cmpd="sng" algn="ctr">
                      <a:solidFill>
                        <a:srgbClr val="D5DAE1"/>
                      </a:solidFill>
                      <a:prstDash val="solid"/>
                      <a:round/>
                      <a:headEnd type="none" w="med" len="med"/>
                      <a:tailEnd type="none" w="med" len="med"/>
                    </a:lnR>
                    <a:lnT w="6350" cap="flat" cmpd="sng" algn="ctr">
                      <a:solidFill>
                        <a:srgbClr val="D5DAE1"/>
                      </a:solidFill>
                      <a:prstDash val="solid"/>
                      <a:round/>
                      <a:headEnd type="none" w="med" len="med"/>
                      <a:tailEnd type="none" w="med" len="med"/>
                    </a:lnT>
                    <a:lnB w="6350" cap="flat" cmpd="sng" algn="ctr">
                      <a:solidFill>
                        <a:srgbClr val="D5DAE1"/>
                      </a:solidFill>
                      <a:prstDash val="solid"/>
                      <a:round/>
                      <a:headEnd type="none" w="med" len="med"/>
                      <a:tailEnd type="none" w="med" len="med"/>
                    </a:lnB>
                    <a:solidFill>
                      <a:srgbClr val="F2F4F7"/>
                    </a:solidFill>
                  </a:tcPr>
                </a:tc>
              </a:tr>
              <a:tr h="411480">
                <a:tc>
                  <a:txBody>
                    <a:bodyPr/>
                    <a:lstStyle/>
                    <a:p>
                      <a:pPr algn="l" indent="0" marL="0">
                        <a:buNone/>
                      </a:pPr>
                      <a:r>
                        <a:rPr lang="en-US" sz="1400" b="1" dirty="0">
                          <a:solidFill>
                            <a:srgbClr val="1B1F2A"/>
                          </a:solidFill>
                        </a:rPr>
                        <a:t>Office built-up area</a:t>
                      </a:r>
                      <a:endParaRPr lang="en-US" sz="1400" dirty="0"/>
                    </a:p>
                  </a:txBody>
                  <a:tcPr marL="73152" marR="73152" marT="36576" marB="36576" anchor="ctr">
                    <a:lnL w="6350" cap="flat" cmpd="sng" algn="ctr">
                      <a:solidFill>
                        <a:srgbClr val="D5DAE1"/>
                      </a:solidFill>
                      <a:prstDash val="solid"/>
                      <a:round/>
                      <a:headEnd type="none" w="med" len="med"/>
                      <a:tailEnd type="none" w="med" len="med"/>
                    </a:lnL>
                    <a:lnR w="6350" cap="flat" cmpd="sng" algn="ctr">
                      <a:solidFill>
                        <a:srgbClr val="D5DAE1"/>
                      </a:solidFill>
                      <a:prstDash val="solid"/>
                      <a:round/>
                      <a:headEnd type="none" w="med" len="med"/>
                      <a:tailEnd type="none" w="med" len="med"/>
                    </a:lnR>
                    <a:lnT w="6350" cap="flat" cmpd="sng" algn="ctr">
                      <a:solidFill>
                        <a:srgbClr val="D5DAE1"/>
                      </a:solidFill>
                      <a:prstDash val="solid"/>
                      <a:round/>
                      <a:headEnd type="none" w="med" len="med"/>
                      <a:tailEnd type="none" w="med" len="med"/>
                    </a:lnT>
                    <a:lnB w="6350" cap="flat" cmpd="sng" algn="ctr">
                      <a:solidFill>
                        <a:srgbClr val="D5DAE1"/>
                      </a:solidFill>
                      <a:prstDash val="solid"/>
                      <a:round/>
                      <a:headEnd type="none" w="med" len="med"/>
                      <a:tailEnd type="none" w="med" len="med"/>
                    </a:lnB>
                    <a:solidFill>
                      <a:srgbClr val="FFFFFF"/>
                    </a:solidFill>
                  </a:tcPr>
                </a:tc>
                <a:tc>
                  <a:txBody>
                    <a:bodyPr/>
                    <a:lstStyle/>
                    <a:p>
                      <a:pPr algn="l" indent="0" marL="0">
                        <a:buNone/>
                      </a:pPr>
                      <a:r>
                        <a:rPr lang="en-US" sz="1400" dirty="0">
                          <a:solidFill>
                            <a:srgbClr val="1B1F2A"/>
                          </a:solidFill>
                        </a:rPr>
                        <a:t>8,682 m2</a:t>
                      </a:r>
                      <a:endParaRPr lang="en-US" sz="1400" dirty="0"/>
                    </a:p>
                  </a:txBody>
                  <a:tcPr marL="73152" marR="73152" marT="36576" marB="36576" anchor="ctr">
                    <a:lnL w="6350" cap="flat" cmpd="sng" algn="ctr">
                      <a:solidFill>
                        <a:srgbClr val="D5DAE1"/>
                      </a:solidFill>
                      <a:prstDash val="solid"/>
                      <a:round/>
                      <a:headEnd type="none" w="med" len="med"/>
                      <a:tailEnd type="none" w="med" len="med"/>
                    </a:lnL>
                    <a:lnR w="6350" cap="flat" cmpd="sng" algn="ctr">
                      <a:solidFill>
                        <a:srgbClr val="D5DAE1"/>
                      </a:solidFill>
                      <a:prstDash val="solid"/>
                      <a:round/>
                      <a:headEnd type="none" w="med" len="med"/>
                      <a:tailEnd type="none" w="med" len="med"/>
                    </a:lnR>
                    <a:lnT w="6350" cap="flat" cmpd="sng" algn="ctr">
                      <a:solidFill>
                        <a:srgbClr val="D5DAE1"/>
                      </a:solidFill>
                      <a:prstDash val="solid"/>
                      <a:round/>
                      <a:headEnd type="none" w="med" len="med"/>
                      <a:tailEnd type="none" w="med" len="med"/>
                    </a:lnT>
                    <a:lnB w="6350" cap="flat" cmpd="sng" algn="ctr">
                      <a:solidFill>
                        <a:srgbClr val="D5DAE1"/>
                      </a:solidFill>
                      <a:prstDash val="solid"/>
                      <a:round/>
                      <a:headEnd type="none" w="med" len="med"/>
                      <a:tailEnd type="none" w="med" len="med"/>
                    </a:lnB>
                    <a:solidFill>
                      <a:srgbClr val="FFFFFF"/>
                    </a:solidFill>
                  </a:tcPr>
                </a:tc>
              </a:tr>
              <a:tr h="411480">
                <a:tc>
                  <a:txBody>
                    <a:bodyPr/>
                    <a:lstStyle/>
                    <a:p>
                      <a:pPr algn="l" indent="0" marL="0">
                        <a:buNone/>
                      </a:pPr>
                      <a:r>
                        <a:rPr lang="en-US" sz="1400" b="1" dirty="0">
                          <a:solidFill>
                            <a:srgbClr val="1B1F2A"/>
                          </a:solidFill>
                        </a:rPr>
                        <a:t>Total built-up area</a:t>
                      </a:r>
                      <a:endParaRPr lang="en-US" sz="1400" dirty="0"/>
                    </a:p>
                  </a:txBody>
                  <a:tcPr marL="73152" marR="73152" marT="36576" marB="36576" anchor="ctr">
                    <a:lnL w="6350" cap="flat" cmpd="sng" algn="ctr">
                      <a:solidFill>
                        <a:srgbClr val="D5DAE1"/>
                      </a:solidFill>
                      <a:prstDash val="solid"/>
                      <a:round/>
                      <a:headEnd type="none" w="med" len="med"/>
                      <a:tailEnd type="none" w="med" len="med"/>
                    </a:lnL>
                    <a:lnR w="6350" cap="flat" cmpd="sng" algn="ctr">
                      <a:solidFill>
                        <a:srgbClr val="D5DAE1"/>
                      </a:solidFill>
                      <a:prstDash val="solid"/>
                      <a:round/>
                      <a:headEnd type="none" w="med" len="med"/>
                      <a:tailEnd type="none" w="med" len="med"/>
                    </a:lnR>
                    <a:lnT w="6350" cap="flat" cmpd="sng" algn="ctr">
                      <a:solidFill>
                        <a:srgbClr val="D5DAE1"/>
                      </a:solidFill>
                      <a:prstDash val="solid"/>
                      <a:round/>
                      <a:headEnd type="none" w="med" len="med"/>
                      <a:tailEnd type="none" w="med" len="med"/>
                    </a:lnT>
                    <a:lnB w="6350" cap="flat" cmpd="sng" algn="ctr">
                      <a:solidFill>
                        <a:srgbClr val="D5DAE1"/>
                      </a:solidFill>
                      <a:prstDash val="solid"/>
                      <a:round/>
                      <a:headEnd type="none" w="med" len="med"/>
                      <a:tailEnd type="none" w="med" len="med"/>
                    </a:lnB>
                    <a:solidFill>
                      <a:srgbClr val="F2F4F7"/>
                    </a:solidFill>
                  </a:tcPr>
                </a:tc>
                <a:tc>
                  <a:txBody>
                    <a:bodyPr/>
                    <a:lstStyle/>
                    <a:p>
                      <a:pPr algn="l" indent="0" marL="0">
                        <a:buNone/>
                      </a:pPr>
                      <a:r>
                        <a:rPr lang="en-US" sz="1400" dirty="0">
                          <a:solidFill>
                            <a:srgbClr val="1B1F2A"/>
                          </a:solidFill>
                        </a:rPr>
                        <a:t>13,023 m2</a:t>
                      </a:r>
                      <a:endParaRPr lang="en-US" sz="1400" dirty="0"/>
                    </a:p>
                  </a:txBody>
                  <a:tcPr marL="73152" marR="73152" marT="36576" marB="36576" anchor="ctr">
                    <a:lnL w="6350" cap="flat" cmpd="sng" algn="ctr">
                      <a:solidFill>
                        <a:srgbClr val="D5DAE1"/>
                      </a:solidFill>
                      <a:prstDash val="solid"/>
                      <a:round/>
                      <a:headEnd type="none" w="med" len="med"/>
                      <a:tailEnd type="none" w="med" len="med"/>
                    </a:lnL>
                    <a:lnR w="6350" cap="flat" cmpd="sng" algn="ctr">
                      <a:solidFill>
                        <a:srgbClr val="D5DAE1"/>
                      </a:solidFill>
                      <a:prstDash val="solid"/>
                      <a:round/>
                      <a:headEnd type="none" w="med" len="med"/>
                      <a:tailEnd type="none" w="med" len="med"/>
                    </a:lnR>
                    <a:lnT w="6350" cap="flat" cmpd="sng" algn="ctr">
                      <a:solidFill>
                        <a:srgbClr val="D5DAE1"/>
                      </a:solidFill>
                      <a:prstDash val="solid"/>
                      <a:round/>
                      <a:headEnd type="none" w="med" len="med"/>
                      <a:tailEnd type="none" w="med" len="med"/>
                    </a:lnT>
                    <a:lnB w="6350" cap="flat" cmpd="sng" algn="ctr">
                      <a:solidFill>
                        <a:srgbClr val="D5DAE1"/>
                      </a:solidFill>
                      <a:prstDash val="solid"/>
                      <a:round/>
                      <a:headEnd type="none" w="med" len="med"/>
                      <a:tailEnd type="none" w="med" len="med"/>
                    </a:lnB>
                    <a:solidFill>
                      <a:srgbClr val="F2F4F7"/>
                    </a:solidFill>
                  </a:tcPr>
                </a:tc>
              </a:tr>
              <a:tr h="411480">
                <a:tc>
                  <a:txBody>
                    <a:bodyPr/>
                    <a:lstStyle/>
                    <a:p>
                      <a:pPr algn="l" indent="0" marL="0">
                        <a:buNone/>
                      </a:pPr>
                      <a:r>
                        <a:rPr lang="en-US" sz="1400" b="1" dirty="0">
                          <a:solidFill>
                            <a:srgbClr val="1B1F2A"/>
                          </a:solidFill>
                        </a:rPr>
                        <a:t>Finishing standard</a:t>
                      </a:r>
                      <a:endParaRPr lang="en-US" sz="1400" dirty="0"/>
                    </a:p>
                  </a:txBody>
                  <a:tcPr marL="73152" marR="73152" marT="36576" marB="36576" anchor="ctr">
                    <a:lnL w="6350" cap="flat" cmpd="sng" algn="ctr">
                      <a:solidFill>
                        <a:srgbClr val="D5DAE1"/>
                      </a:solidFill>
                      <a:prstDash val="solid"/>
                      <a:round/>
                      <a:headEnd type="none" w="med" len="med"/>
                      <a:tailEnd type="none" w="med" len="med"/>
                    </a:lnL>
                    <a:lnR w="6350" cap="flat" cmpd="sng" algn="ctr">
                      <a:solidFill>
                        <a:srgbClr val="D5DAE1"/>
                      </a:solidFill>
                      <a:prstDash val="solid"/>
                      <a:round/>
                      <a:headEnd type="none" w="med" len="med"/>
                      <a:tailEnd type="none" w="med" len="med"/>
                    </a:lnR>
                    <a:lnT w="6350" cap="flat" cmpd="sng" algn="ctr">
                      <a:solidFill>
                        <a:srgbClr val="D5DAE1"/>
                      </a:solidFill>
                      <a:prstDash val="solid"/>
                      <a:round/>
                      <a:headEnd type="none" w="med" len="med"/>
                      <a:tailEnd type="none" w="med" len="med"/>
                    </a:lnT>
                    <a:lnB w="6350" cap="flat" cmpd="sng" algn="ctr">
                      <a:solidFill>
                        <a:srgbClr val="D5DAE1"/>
                      </a:solidFill>
                      <a:prstDash val="solid"/>
                      <a:round/>
                      <a:headEnd type="none" w="med" len="med"/>
                      <a:tailEnd type="none" w="med" len="med"/>
                    </a:lnB>
                    <a:solidFill>
                      <a:srgbClr val="FFFFFF"/>
                    </a:solidFill>
                  </a:tcPr>
                </a:tc>
                <a:tc>
                  <a:txBody>
                    <a:bodyPr/>
                    <a:lstStyle/>
                    <a:p>
                      <a:pPr algn="l" indent="0" marL="0">
                        <a:buNone/>
                      </a:pPr>
                      <a:r>
                        <a:rPr lang="en-US" sz="1400" dirty="0">
                          <a:solidFill>
                            <a:srgbClr val="1B1F2A"/>
                          </a:solidFill>
                        </a:rPr>
                        <a:t>Core and shell</a:t>
                      </a:r>
                      <a:endParaRPr lang="en-US" sz="1400" dirty="0"/>
                    </a:p>
                  </a:txBody>
                  <a:tcPr marL="73152" marR="73152" marT="36576" marB="36576" anchor="ctr">
                    <a:lnL w="6350" cap="flat" cmpd="sng" algn="ctr">
                      <a:solidFill>
                        <a:srgbClr val="D5DAE1"/>
                      </a:solidFill>
                      <a:prstDash val="solid"/>
                      <a:round/>
                      <a:headEnd type="none" w="med" len="med"/>
                      <a:tailEnd type="none" w="med" len="med"/>
                    </a:lnL>
                    <a:lnR w="6350" cap="flat" cmpd="sng" algn="ctr">
                      <a:solidFill>
                        <a:srgbClr val="D5DAE1"/>
                      </a:solidFill>
                      <a:prstDash val="solid"/>
                      <a:round/>
                      <a:headEnd type="none" w="med" len="med"/>
                      <a:tailEnd type="none" w="med" len="med"/>
                    </a:lnR>
                    <a:lnT w="6350" cap="flat" cmpd="sng" algn="ctr">
                      <a:solidFill>
                        <a:srgbClr val="D5DAE1"/>
                      </a:solidFill>
                      <a:prstDash val="solid"/>
                      <a:round/>
                      <a:headEnd type="none" w="med" len="med"/>
                      <a:tailEnd type="none" w="med" len="med"/>
                    </a:lnT>
                    <a:lnB w="6350" cap="flat" cmpd="sng" algn="ctr">
                      <a:solidFill>
                        <a:srgbClr val="D5DAE1"/>
                      </a:solidFill>
                      <a:prstDash val="solid"/>
                      <a:round/>
                      <a:headEnd type="none" w="med" len="med"/>
                      <a:tailEnd type="none" w="med" len="med"/>
                    </a:lnB>
                    <a:solidFill>
                      <a:srgbClr val="FFFFFF"/>
                    </a:solidFill>
                  </a:tcPr>
                </a:tc>
              </a:tr>
              <a:tr h="411480">
                <a:tc>
                  <a:txBody>
                    <a:bodyPr/>
                    <a:lstStyle/>
                    <a:p>
                      <a:pPr algn="l" indent="0" marL="0">
                        <a:buNone/>
                      </a:pPr>
                      <a:r>
                        <a:rPr lang="en-US" sz="1400" b="1" dirty="0">
                          <a:solidFill>
                            <a:srgbClr val="1B1F2A"/>
                          </a:solidFill>
                        </a:rPr>
                        <a:t>Sales start</a:t>
                      </a:r>
                      <a:endParaRPr lang="en-US" sz="1400" dirty="0"/>
                    </a:p>
                  </a:txBody>
                  <a:tcPr marL="73152" marR="73152" marT="36576" marB="36576" anchor="ctr">
                    <a:lnL w="6350" cap="flat" cmpd="sng" algn="ctr">
                      <a:solidFill>
                        <a:srgbClr val="D5DAE1"/>
                      </a:solidFill>
                      <a:prstDash val="solid"/>
                      <a:round/>
                      <a:headEnd type="none" w="med" len="med"/>
                      <a:tailEnd type="none" w="med" len="med"/>
                    </a:lnL>
                    <a:lnR w="6350" cap="flat" cmpd="sng" algn="ctr">
                      <a:solidFill>
                        <a:srgbClr val="D5DAE1"/>
                      </a:solidFill>
                      <a:prstDash val="solid"/>
                      <a:round/>
                      <a:headEnd type="none" w="med" len="med"/>
                      <a:tailEnd type="none" w="med" len="med"/>
                    </a:lnR>
                    <a:lnT w="6350" cap="flat" cmpd="sng" algn="ctr">
                      <a:solidFill>
                        <a:srgbClr val="D5DAE1"/>
                      </a:solidFill>
                      <a:prstDash val="solid"/>
                      <a:round/>
                      <a:headEnd type="none" w="med" len="med"/>
                      <a:tailEnd type="none" w="med" len="med"/>
                    </a:lnT>
                    <a:lnB w="6350" cap="flat" cmpd="sng" algn="ctr">
                      <a:solidFill>
                        <a:srgbClr val="D5DAE1"/>
                      </a:solidFill>
                      <a:prstDash val="solid"/>
                      <a:round/>
                      <a:headEnd type="none" w="med" len="med"/>
                      <a:tailEnd type="none" w="med" len="med"/>
                    </a:lnB>
                    <a:solidFill>
                      <a:srgbClr val="F2F4F7"/>
                    </a:solidFill>
                  </a:tcPr>
                </a:tc>
                <a:tc>
                  <a:txBody>
                    <a:bodyPr/>
                    <a:lstStyle/>
                    <a:p>
                      <a:pPr algn="l" indent="0" marL="0">
                        <a:buNone/>
                      </a:pPr>
                      <a:r>
                        <a:rPr lang="en-US" sz="1400" dirty="0">
                          <a:solidFill>
                            <a:srgbClr val="1B1F2A"/>
                          </a:solidFill>
                        </a:rPr>
                        <a:t>Month 7</a:t>
                      </a:r>
                      <a:endParaRPr lang="en-US" sz="1400" dirty="0"/>
                    </a:p>
                  </a:txBody>
                  <a:tcPr marL="73152" marR="73152" marT="36576" marB="36576" anchor="ctr">
                    <a:lnL w="6350" cap="flat" cmpd="sng" algn="ctr">
                      <a:solidFill>
                        <a:srgbClr val="D5DAE1"/>
                      </a:solidFill>
                      <a:prstDash val="solid"/>
                      <a:round/>
                      <a:headEnd type="none" w="med" len="med"/>
                      <a:tailEnd type="none" w="med" len="med"/>
                    </a:lnL>
                    <a:lnR w="6350" cap="flat" cmpd="sng" algn="ctr">
                      <a:solidFill>
                        <a:srgbClr val="D5DAE1"/>
                      </a:solidFill>
                      <a:prstDash val="solid"/>
                      <a:round/>
                      <a:headEnd type="none" w="med" len="med"/>
                      <a:tailEnd type="none" w="med" len="med"/>
                    </a:lnR>
                    <a:lnT w="6350" cap="flat" cmpd="sng" algn="ctr">
                      <a:solidFill>
                        <a:srgbClr val="D5DAE1"/>
                      </a:solidFill>
                      <a:prstDash val="solid"/>
                      <a:round/>
                      <a:headEnd type="none" w="med" len="med"/>
                      <a:tailEnd type="none" w="med" len="med"/>
                    </a:lnT>
                    <a:lnB w="6350" cap="flat" cmpd="sng" algn="ctr">
                      <a:solidFill>
                        <a:srgbClr val="D5DAE1"/>
                      </a:solidFill>
                      <a:prstDash val="solid"/>
                      <a:round/>
                      <a:headEnd type="none" w="med" len="med"/>
                      <a:tailEnd type="none" w="med" len="med"/>
                    </a:lnB>
                    <a:solidFill>
                      <a:srgbClr val="F2F4F7"/>
                    </a:solidFill>
                  </a:tcPr>
                </a:tc>
              </a:tr>
              <a:tr h="411480">
                <a:tc>
                  <a:txBody>
                    <a:bodyPr/>
                    <a:lstStyle/>
                    <a:p>
                      <a:pPr algn="l" indent="0" marL="0">
                        <a:buNone/>
                      </a:pPr>
                      <a:r>
                        <a:rPr lang="en-US" sz="1400" b="1" dirty="0">
                          <a:solidFill>
                            <a:srgbClr val="1B1F2A"/>
                          </a:solidFill>
                        </a:rPr>
                        <a:t>Construction</a:t>
                      </a:r>
                      <a:endParaRPr lang="en-US" sz="1400" dirty="0"/>
                    </a:p>
                  </a:txBody>
                  <a:tcPr marL="73152" marR="73152" marT="36576" marB="36576" anchor="ctr">
                    <a:lnL w="6350" cap="flat" cmpd="sng" algn="ctr">
                      <a:solidFill>
                        <a:srgbClr val="D5DAE1"/>
                      </a:solidFill>
                      <a:prstDash val="solid"/>
                      <a:round/>
                      <a:headEnd type="none" w="med" len="med"/>
                      <a:tailEnd type="none" w="med" len="med"/>
                    </a:lnL>
                    <a:lnR w="6350" cap="flat" cmpd="sng" algn="ctr">
                      <a:solidFill>
                        <a:srgbClr val="D5DAE1"/>
                      </a:solidFill>
                      <a:prstDash val="solid"/>
                      <a:round/>
                      <a:headEnd type="none" w="med" len="med"/>
                      <a:tailEnd type="none" w="med" len="med"/>
                    </a:lnR>
                    <a:lnT w="6350" cap="flat" cmpd="sng" algn="ctr">
                      <a:solidFill>
                        <a:srgbClr val="D5DAE1"/>
                      </a:solidFill>
                      <a:prstDash val="solid"/>
                      <a:round/>
                      <a:headEnd type="none" w="med" len="med"/>
                      <a:tailEnd type="none" w="med" len="med"/>
                    </a:lnT>
                    <a:lnB w="6350" cap="flat" cmpd="sng" algn="ctr">
                      <a:solidFill>
                        <a:srgbClr val="D5DAE1"/>
                      </a:solidFill>
                      <a:prstDash val="solid"/>
                      <a:round/>
                      <a:headEnd type="none" w="med" len="med"/>
                      <a:tailEnd type="none" w="med" len="med"/>
                    </a:lnB>
                    <a:solidFill>
                      <a:srgbClr val="FFFFFF"/>
                    </a:solidFill>
                  </a:tcPr>
                </a:tc>
                <a:tc>
                  <a:txBody>
                    <a:bodyPr/>
                    <a:lstStyle/>
                    <a:p>
                      <a:pPr algn="l" indent="0" marL="0">
                        <a:buNone/>
                      </a:pPr>
                      <a:r>
                        <a:rPr lang="en-US" sz="1400" dirty="0">
                          <a:solidFill>
                            <a:srgbClr val="1B1F2A"/>
                          </a:solidFill>
                        </a:rPr>
                        <a:t>Month 13 to 48 (36 months)</a:t>
                      </a:r>
                      <a:endParaRPr lang="en-US" sz="1400" dirty="0"/>
                    </a:p>
                  </a:txBody>
                  <a:tcPr marL="73152" marR="73152" marT="36576" marB="36576" anchor="ctr">
                    <a:lnL w="6350" cap="flat" cmpd="sng" algn="ctr">
                      <a:solidFill>
                        <a:srgbClr val="D5DAE1"/>
                      </a:solidFill>
                      <a:prstDash val="solid"/>
                      <a:round/>
                      <a:headEnd type="none" w="med" len="med"/>
                      <a:tailEnd type="none" w="med" len="med"/>
                    </a:lnL>
                    <a:lnR w="6350" cap="flat" cmpd="sng" algn="ctr">
                      <a:solidFill>
                        <a:srgbClr val="D5DAE1"/>
                      </a:solidFill>
                      <a:prstDash val="solid"/>
                      <a:round/>
                      <a:headEnd type="none" w="med" len="med"/>
                      <a:tailEnd type="none" w="med" len="med"/>
                    </a:lnR>
                    <a:lnT w="6350" cap="flat" cmpd="sng" algn="ctr">
                      <a:solidFill>
                        <a:srgbClr val="D5DAE1"/>
                      </a:solidFill>
                      <a:prstDash val="solid"/>
                      <a:round/>
                      <a:headEnd type="none" w="med" len="med"/>
                      <a:tailEnd type="none" w="med" len="med"/>
                    </a:lnT>
                    <a:lnB w="6350" cap="flat" cmpd="sng" algn="ctr">
                      <a:solidFill>
                        <a:srgbClr val="D5DAE1"/>
                      </a:solidFill>
                      <a:prstDash val="solid"/>
                      <a:round/>
                      <a:headEnd type="none" w="med" len="med"/>
                      <a:tailEnd type="none" w="med" len="med"/>
                    </a:lnB>
                    <a:solidFill>
                      <a:srgbClr val="FFFFFF"/>
                    </a:solidFill>
                  </a:tcPr>
                </a:tc>
              </a:tr>
              <a:tr h="411480">
                <a:tc>
                  <a:txBody>
                    <a:bodyPr/>
                    <a:lstStyle/>
                    <a:p>
                      <a:pPr algn="l" indent="0" marL="0">
                        <a:buNone/>
                      </a:pPr>
                      <a:r>
                        <a:rPr lang="en-US" sz="1400" b="1" dirty="0">
                          <a:solidFill>
                            <a:srgbClr val="1B1F2A"/>
                          </a:solidFill>
                        </a:rPr>
                        <a:t>Handover</a:t>
                      </a:r>
                      <a:endParaRPr lang="en-US" sz="1400" dirty="0"/>
                    </a:p>
                  </a:txBody>
                  <a:tcPr marL="73152" marR="73152" marT="36576" marB="36576" anchor="ctr">
                    <a:lnL w="6350" cap="flat" cmpd="sng" algn="ctr">
                      <a:solidFill>
                        <a:srgbClr val="D5DAE1"/>
                      </a:solidFill>
                      <a:prstDash val="solid"/>
                      <a:round/>
                      <a:headEnd type="none" w="med" len="med"/>
                      <a:tailEnd type="none" w="med" len="med"/>
                    </a:lnL>
                    <a:lnR w="6350" cap="flat" cmpd="sng" algn="ctr">
                      <a:solidFill>
                        <a:srgbClr val="D5DAE1"/>
                      </a:solidFill>
                      <a:prstDash val="solid"/>
                      <a:round/>
                      <a:headEnd type="none" w="med" len="med"/>
                      <a:tailEnd type="none" w="med" len="med"/>
                    </a:lnR>
                    <a:lnT w="6350" cap="flat" cmpd="sng" algn="ctr">
                      <a:solidFill>
                        <a:srgbClr val="D5DAE1"/>
                      </a:solidFill>
                      <a:prstDash val="solid"/>
                      <a:round/>
                      <a:headEnd type="none" w="med" len="med"/>
                      <a:tailEnd type="none" w="med" len="med"/>
                    </a:lnT>
                    <a:lnB w="6350" cap="flat" cmpd="sng" algn="ctr">
                      <a:solidFill>
                        <a:srgbClr val="D5DAE1"/>
                      </a:solidFill>
                      <a:prstDash val="solid"/>
                      <a:round/>
                      <a:headEnd type="none" w="med" len="med"/>
                      <a:tailEnd type="none" w="med" len="med"/>
                    </a:lnB>
                    <a:solidFill>
                      <a:srgbClr val="F2F4F7"/>
                    </a:solidFill>
                  </a:tcPr>
                </a:tc>
                <a:tc>
                  <a:txBody>
                    <a:bodyPr/>
                    <a:lstStyle/>
                    <a:p>
                      <a:pPr algn="l" indent="0" marL="0">
                        <a:buNone/>
                      </a:pPr>
                      <a:r>
                        <a:rPr lang="en-US" sz="1400" dirty="0">
                          <a:solidFill>
                            <a:srgbClr val="1B1F2A"/>
                          </a:solidFill>
                        </a:rPr>
                        <a:t>Month 48</a:t>
                      </a:r>
                      <a:endParaRPr lang="en-US" sz="1400" dirty="0"/>
                    </a:p>
                  </a:txBody>
                  <a:tcPr marL="73152" marR="73152" marT="36576" marB="36576" anchor="ctr">
                    <a:lnL w="6350" cap="flat" cmpd="sng" algn="ctr">
                      <a:solidFill>
                        <a:srgbClr val="D5DAE1"/>
                      </a:solidFill>
                      <a:prstDash val="solid"/>
                      <a:round/>
                      <a:headEnd type="none" w="med" len="med"/>
                      <a:tailEnd type="none" w="med" len="med"/>
                    </a:lnL>
                    <a:lnR w="6350" cap="flat" cmpd="sng" algn="ctr">
                      <a:solidFill>
                        <a:srgbClr val="D5DAE1"/>
                      </a:solidFill>
                      <a:prstDash val="solid"/>
                      <a:round/>
                      <a:headEnd type="none" w="med" len="med"/>
                      <a:tailEnd type="none" w="med" len="med"/>
                    </a:lnR>
                    <a:lnT w="6350" cap="flat" cmpd="sng" algn="ctr">
                      <a:solidFill>
                        <a:srgbClr val="D5DAE1"/>
                      </a:solidFill>
                      <a:prstDash val="solid"/>
                      <a:round/>
                      <a:headEnd type="none" w="med" len="med"/>
                      <a:tailEnd type="none" w="med" len="med"/>
                    </a:lnT>
                    <a:lnB w="6350" cap="flat" cmpd="sng" algn="ctr">
                      <a:solidFill>
                        <a:srgbClr val="D5DAE1"/>
                      </a:solidFill>
                      <a:prstDash val="solid"/>
                      <a:round/>
                      <a:headEnd type="none" w="med" len="med"/>
                      <a:tailEnd type="none" w="med" len="med"/>
                    </a:lnB>
                    <a:solidFill>
                      <a:srgbClr val="F2F4F7"/>
                    </a:solidFill>
                  </a:tcPr>
                </a:tc>
              </a:tr>
            </a:tbl>
          </a:graphicData>
        </a:graphic>
      </p:graphicFrame>
      <p:graphicFrame>
        <p:nvGraphicFramePr>
          <p:cNvPr id="5" name="Chart 0" descr=""/>
          <p:cNvGraphicFramePr/>
          <p:nvPr/>
        </p:nvGraphicFramePr>
        <p:xfrm>
          <a:off x="6949440" y="1371600"/>
          <a:ext cx="4663440" cy="3840480"/>
        </p:xfrm>
        <a:graphic xmlns:a="http://schemas.openxmlformats.org/drawingml/2006/main">
          <a:graphicData uri="http://schemas.openxmlformats.org/drawingml/2006/chart">
            <c:chart xmlns:c="http://schemas.openxmlformats.org/drawingml/2006/chart" r:id="rId1"/>
          </a:graphicData>
        </a:graphic>
      </p:graphicFrame>
      <p:sp>
        <p:nvSpPr>
          <p:cNvPr id="6" name="Text 1"/>
          <p:cNvSpPr txBox="1"/>
          <p:nvPr/>
        </p:nvSpPr>
        <p:spPr>
          <a:xfrm>
            <a:off x="548640" y="6035040"/>
            <a:ext cx="11064240" cy="274320"/>
          </a:xfrm>
          <a:prstGeom prst="rect">
            <a:avLst/>
          </a:prstGeom>
          <a:noFill/>
          <a:ln/>
        </p:spPr>
        <p:txBody>
          <a:bodyPr wrap="square" lIns="0" tIns="0" rIns="0" bIns="0" rtlCol="0" anchor="ctr"/>
          <a:lstStyle/>
          <a:p>
            <a:pPr indent="0" marL="0">
              <a:buNone/>
            </a:pPr>
            <a:r>
              <a:rPr lang="en-US" sz="900" i="1" dirty="0">
                <a:solidFill>
                  <a:srgbClr val="6B7280"/>
                </a:solidFill>
              </a:rPr>
              <a:t>Source: Jalour financial model (project summary). Jalour retains 20% of units, outside the sales plan and outside this offering.</a:t>
            </a:r>
            <a:endParaRPr lang="en-US" sz="900" dirty="0"/>
          </a:p>
        </p:txBody>
      </p:sp>
      <p:sp>
        <p:nvSpPr>
          <p:cNvPr id="25" name="Slide Number Placeholder 0"/>
          <p:cNvSpPr>
            <a:spLocks noGrp="1"/>
          </p:cNvSpPr>
          <p:nvPr>
            <p:ph type="sldNum" sz="quarter" idx="4294967295"/>
          </p:nvPr>
        </p:nvSpPr>
        <p:spPr>
          <a:xfrm>
            <a:off x="11155680" y="6446520"/>
            <a:ext cx="548640" cy="274320"/>
          </a:xfrm>
          <a:prstGeom prst="rect">
            <a:avLst/>
          </a:prstGeom>
          <a:extLst>
            <a:ext uri="{C572A759-6A51-4108-AA02-DFA0A04FC94B}">
              <ma14:wrappingTextBoxFlag xmlns:ma14="http://schemas.microsoft.com/office/mac/drawingml/2011/main" val="0"/>
            </a:ext>
          </a:extLst>
        </p:spPr>
        <p:txBody>
          <a:bodyPr/>
          <a:lstStyle>
            <a:lvl1pPr>
              <a:defRPr sz="900">
                <a:solidFill>
                  <a:srgbClr val="6B7280"/>
                </a:solidFill>
              </a:defRPr>
            </a:lvl1pPr>
          </a:lstStyle>
          <a:p>
            <a:pPr algn="l"/>
            <a:fld id="{F7021451-1387-4CA6-816F-3879F97B5CBC}" type="slidenum">
              <a:rPr b="0" lang="en-US"/>
              <a:t>6</a:t>
            </a:fld>
            <a:endParaRPr lang="en-US"/>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spTree>
      <p:nvGrpSpPr>
        <p:cNvPr id="1" name=""/>
        <p:cNvGrpSpPr/>
        <p:nvPr/>
      </p:nvGrpSpPr>
      <p:grpSpPr>
        <a:xfrm>
          <a:off x="0" y="0"/>
          <a:ext cx="0" cy="0"/>
          <a:chOff x="0" y="0"/>
          <a:chExt cx="0" cy="0"/>
        </a:xfrm>
      </p:grpSpPr>
      <p:sp>
        <p:nvSpPr>
          <p:cNvPr id="2" name="Text 0"/>
          <p:cNvSpPr txBox="1"/>
          <p:nvPr/>
        </p:nvSpPr>
        <p:spPr>
          <a:xfrm>
            <a:off x="548640" y="320040"/>
            <a:ext cx="11064240" cy="822960"/>
          </a:xfrm>
          <a:prstGeom prst="rect">
            <a:avLst/>
          </a:prstGeom>
          <a:noFill/>
          <a:ln/>
        </p:spPr>
        <p:txBody>
          <a:bodyPr wrap="square" lIns="0" tIns="0" rIns="0" bIns="0" rtlCol="0" anchor="ctr">
            <a:normAutofit/>
          </a:bodyPr>
          <a:lstStyle/>
          <a:p>
            <a:pPr indent="0" marL="0">
              <a:buNone/>
            </a:pPr>
            <a:r>
              <a:rPr lang="en-US" sz="2800" b="1" dirty="0">
                <a:solidFill>
                  <a:srgbClr val="17324D"/>
                </a:solidFill>
                <a:latin typeface="Cambria" pitchFamily="34" charset="0"/>
                <a:ea typeface="Cambria" pitchFamily="34" charset="-122"/>
                <a:cs typeface="Cambria" pitchFamily="34" charset="-120"/>
              </a:rPr>
              <a:t>Partnership with Al Ahly Sabbour and the revenue share</a:t>
            </a:r>
            <a:endParaRPr lang="en-US" sz="2800" dirty="0"/>
          </a:p>
        </p:txBody>
      </p:sp>
      <p:sp>
        <p:nvSpPr>
          <p:cNvPr id="4" name="Shape 1"/>
          <p:cNvSpPr/>
          <p:nvPr/>
        </p:nvSpPr>
        <p:spPr>
          <a:xfrm>
            <a:off x="548640" y="1371600"/>
            <a:ext cx="2743200" cy="1188720"/>
          </a:xfrm>
          <a:prstGeom prst="rect">
            <a:avLst/>
          </a:prstGeom>
          <a:solidFill>
            <a:srgbClr val="F2F4F7"/>
          </a:solidFill>
          <a:ln w="12700">
            <a:solidFill>
              <a:srgbClr val="F2F4F7"/>
            </a:solidFill>
            <a:prstDash val="solid"/>
          </a:ln>
        </p:spPr>
      </p:sp>
      <p:sp>
        <p:nvSpPr>
          <p:cNvPr id="5" name="Text 2"/>
          <p:cNvSpPr txBox="1"/>
          <p:nvPr/>
        </p:nvSpPr>
        <p:spPr>
          <a:xfrm>
            <a:off x="685800" y="1417320"/>
            <a:ext cx="2468880" cy="1097280"/>
          </a:xfrm>
          <a:prstGeom prst="rect">
            <a:avLst/>
          </a:prstGeom>
          <a:noFill/>
          <a:ln/>
        </p:spPr>
        <p:txBody>
          <a:bodyPr wrap="square" lIns="0" tIns="0" rIns="0" bIns="0" rtlCol="0" anchor="t"/>
          <a:lstStyle/>
          <a:p>
            <a:pPr indent="0" marL="0">
              <a:buNone/>
            </a:pPr>
            <a:r>
              <a:rPr lang="en-US" sz="1200" b="1" dirty="0">
                <a:solidFill>
                  <a:srgbClr val="1B1F2A"/>
                </a:solidFill>
              </a:rPr>
              <a:t>Al Ahly Sabbour</a:t>
            </a:r>
            <a:endParaRPr lang="en-US" sz="1200" dirty="0"/>
          </a:p>
          <a:p>
            <a:pPr indent="0" marL="0">
              <a:buNone/>
            </a:pPr>
            <a:r>
              <a:rPr lang="en-US" sz="1200" dirty="0">
                <a:solidFill>
                  <a:srgbClr val="1B1F2A"/>
                </a:solidFill>
              </a:rPr>
              <a:t>Landowner. Receives 35% of collections, subject to a minimum guarantee.</a:t>
            </a:r>
            <a:endParaRPr lang="en-US" sz="1200" dirty="0"/>
          </a:p>
        </p:txBody>
      </p:sp>
      <p:sp>
        <p:nvSpPr>
          <p:cNvPr id="6" name="Shape 3"/>
          <p:cNvSpPr/>
          <p:nvPr/>
        </p:nvSpPr>
        <p:spPr>
          <a:xfrm>
            <a:off x="548640" y="2743200"/>
            <a:ext cx="2743200" cy="1554480"/>
          </a:xfrm>
          <a:prstGeom prst="rect">
            <a:avLst/>
          </a:prstGeom>
          <a:solidFill>
            <a:srgbClr val="F2F4F7"/>
          </a:solidFill>
          <a:ln w="12700">
            <a:solidFill>
              <a:srgbClr val="F2F4F7"/>
            </a:solidFill>
            <a:prstDash val="solid"/>
          </a:ln>
        </p:spPr>
      </p:sp>
      <p:sp>
        <p:nvSpPr>
          <p:cNvPr id="7" name="Text 4"/>
          <p:cNvSpPr txBox="1"/>
          <p:nvPr/>
        </p:nvSpPr>
        <p:spPr>
          <a:xfrm>
            <a:off x="685800" y="2788920"/>
            <a:ext cx="2468880" cy="1463040"/>
          </a:xfrm>
          <a:prstGeom prst="rect">
            <a:avLst/>
          </a:prstGeom>
          <a:noFill/>
          <a:ln/>
        </p:spPr>
        <p:txBody>
          <a:bodyPr wrap="square" lIns="0" tIns="0" rIns="0" bIns="0" rtlCol="0" anchor="t"/>
          <a:lstStyle/>
          <a:p>
            <a:pPr indent="0" marL="0">
              <a:buNone/>
            </a:pPr>
            <a:r>
              <a:rPr lang="en-US" sz="1200" b="1" dirty="0">
                <a:solidFill>
                  <a:srgbClr val="1B1F2A"/>
                </a:solidFill>
              </a:rPr>
              <a:t>Jalour</a:t>
            </a:r>
            <a:endParaRPr lang="en-US" sz="1200" dirty="0"/>
          </a:p>
          <a:p>
            <a:pPr indent="0" marL="0">
              <a:buNone/>
            </a:pPr>
            <a:r>
              <a:rPr lang="en-US" sz="1200" dirty="0">
                <a:solidFill>
                  <a:srgbClr val="1B1F2A"/>
                </a:solidFill>
              </a:rPr>
              <a:t>Developer and operator. Keeps 65% of collections. Carries design, permits, core-and-shell construction, marketing, sales, collection and operation costs.</a:t>
            </a:r>
            <a:endParaRPr lang="en-US" sz="1200" dirty="0"/>
          </a:p>
        </p:txBody>
      </p:sp>
      <p:sp>
        <p:nvSpPr>
          <p:cNvPr id="8" name="Text 5"/>
          <p:cNvSpPr txBox="1"/>
          <p:nvPr/>
        </p:nvSpPr>
        <p:spPr>
          <a:xfrm>
            <a:off x="548640" y="4434840"/>
            <a:ext cx="11064240" cy="1645920"/>
          </a:xfrm>
          <a:prstGeom prst="rect">
            <a:avLst/>
          </a:prstGeom>
          <a:noFill/>
          <a:ln/>
        </p:spPr>
        <p:txBody>
          <a:bodyPr wrap="square" lIns="0" tIns="0" rIns="0" bIns="0" rtlCol="0" anchor="t"/>
          <a:lstStyle/>
          <a:p>
            <a:pPr marL="342900" indent="-342900">
              <a:spcAft>
                <a:spcPts val="600"/>
              </a:spcAft>
              <a:buSzPct val="100000"/>
              <a:buChar char="•"/>
            </a:pPr>
            <a:r>
              <a:rPr lang="en-US" sz="1300" dirty="0">
                <a:solidFill>
                  <a:srgbClr val="1B1F2A"/>
                </a:solidFill>
              </a:rPr>
              <a:t>Minimum guarantee EGP 800 million over six years; down payment EGP 80 million (10%) paid up front.</a:t>
            </a:r>
            <a:endParaRPr lang="en-US" sz="1300" dirty="0"/>
          </a:p>
          <a:p>
            <a:pPr marL="342900" indent="-342900">
              <a:spcAft>
                <a:spcPts val="600"/>
              </a:spcAft>
              <a:buSzPct val="100000"/>
              <a:buChar char="•"/>
            </a:pPr>
            <a:r>
              <a:rPr lang="en-US" sz="1300" dirty="0">
                <a:solidFill>
                  <a:srgbClr val="1B1F2A"/>
                </a:solidFill>
              </a:rPr>
              <a:t>Landlord share is 35% of collections or the guaranteed instalment, whichever is higher.</a:t>
            </a:r>
            <a:endParaRPr lang="en-US" sz="1300" dirty="0"/>
          </a:p>
          <a:p>
            <a:pPr marL="342900" indent="-342900">
              <a:spcAft>
                <a:spcPts val="600"/>
              </a:spcAft>
              <a:buSzPct val="100000"/>
              <a:buChar char="•"/>
            </a:pPr>
            <a:r>
              <a:rPr lang="en-US" sz="1300" dirty="0">
                <a:solidFill>
                  <a:srgbClr val="1B1F2A"/>
                </a:solidFill>
              </a:rPr>
              <a:t>Any excess of 35% over the guarantee is settled from year 8.</a:t>
            </a:r>
            <a:endParaRPr lang="en-US" sz="1300" dirty="0"/>
          </a:p>
          <a:p>
            <a:pPr marL="342900" indent="-342900">
              <a:spcAft>
                <a:spcPts val="600"/>
              </a:spcAft>
              <a:buSzPct val="100000"/>
              <a:buChar char="•"/>
            </a:pPr>
            <a:r>
              <a:rPr lang="en-US" sz="1300" dirty="0">
                <a:solidFill>
                  <a:srgbClr val="1B1F2A"/>
                </a:solidFill>
              </a:rPr>
              <a:t>Allocation of units, assignment of collections or any encumbrance affecting the landlord share requires the landlord's written consent.</a:t>
            </a:r>
            <a:endParaRPr lang="en-US" sz="1300" dirty="0"/>
          </a:p>
        </p:txBody>
      </p:sp>
      <p:graphicFrame>
        <p:nvGraphicFramePr>
          <p:cNvPr id="9" name="Chart 0" descr=""/>
          <p:cNvGraphicFramePr/>
          <p:nvPr/>
        </p:nvGraphicFramePr>
        <p:xfrm>
          <a:off x="3657600" y="1280160"/>
          <a:ext cx="7955280" cy="3108960"/>
        </p:xfrm>
        <a:graphic xmlns:a="http://schemas.openxmlformats.org/drawingml/2006/main">
          <a:graphicData uri="http://schemas.openxmlformats.org/drawingml/2006/chart">
            <c:chart xmlns:c="http://schemas.openxmlformats.org/drawingml/2006/chart" r:id="rId1"/>
          </a:graphicData>
        </a:graphic>
      </p:graphicFrame>
      <p:sp>
        <p:nvSpPr>
          <p:cNvPr id="10" name="Text 6"/>
          <p:cNvSpPr txBox="1"/>
          <p:nvPr/>
        </p:nvSpPr>
        <p:spPr>
          <a:xfrm>
            <a:off x="548640" y="6080760"/>
            <a:ext cx="11064240" cy="274320"/>
          </a:xfrm>
          <a:prstGeom prst="rect">
            <a:avLst/>
          </a:prstGeom>
          <a:noFill/>
          <a:ln/>
        </p:spPr>
        <p:txBody>
          <a:bodyPr wrap="square" lIns="0" tIns="0" rIns="0" bIns="0" rtlCol="0" anchor="ctr"/>
          <a:lstStyle/>
          <a:p>
            <a:pPr indent="0" marL="0">
              <a:buNone/>
            </a:pPr>
            <a:r>
              <a:rPr lang="en-US" sz="900" i="1" dirty="0">
                <a:solidFill>
                  <a:srgbClr val="6B7280"/>
                </a:solidFill>
              </a:rPr>
              <a:t>Source: Jalour financial model (landlord terms); agreement terms to be confirmed in the data room.</a:t>
            </a:r>
            <a:endParaRPr lang="en-US" sz="900" dirty="0"/>
          </a:p>
        </p:txBody>
      </p:sp>
      <p:sp>
        <p:nvSpPr>
          <p:cNvPr id="25" name="Slide Number Placeholder 0"/>
          <p:cNvSpPr>
            <a:spLocks noGrp="1"/>
          </p:cNvSpPr>
          <p:nvPr>
            <p:ph type="sldNum" sz="quarter" idx="4294967295"/>
          </p:nvPr>
        </p:nvSpPr>
        <p:spPr>
          <a:xfrm>
            <a:off x="11155680" y="6446520"/>
            <a:ext cx="548640" cy="274320"/>
          </a:xfrm>
          <a:prstGeom prst="rect">
            <a:avLst/>
          </a:prstGeom>
          <a:extLst>
            <a:ext uri="{C572A759-6A51-4108-AA02-DFA0A04FC94B}">
              <ma14:wrappingTextBoxFlag xmlns:ma14="http://schemas.microsoft.com/office/mac/drawingml/2011/main" val="0"/>
            </a:ext>
          </a:extLst>
        </p:spPr>
        <p:txBody>
          <a:bodyPr/>
          <a:lstStyle>
            <a:lvl1pPr>
              <a:defRPr sz="900">
                <a:solidFill>
                  <a:srgbClr val="6B7280"/>
                </a:solidFill>
              </a:defRPr>
            </a:lvl1pPr>
          </a:lstStyle>
          <a:p>
            <a:pPr algn="l"/>
            <a:fld id="{F7021451-1387-4CA6-816F-3879F97B5CBC}" type="slidenum">
              <a:rPr b="0" lang="en-US"/>
              <a:t>7</a:t>
            </a:fld>
            <a:endParaRPr lang="en-US"/>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spTree>
      <p:nvGrpSpPr>
        <p:cNvPr id="1" name=""/>
        <p:cNvGrpSpPr/>
        <p:nvPr/>
      </p:nvGrpSpPr>
      <p:grpSpPr>
        <a:xfrm>
          <a:off x="0" y="0"/>
          <a:ext cx="0" cy="0"/>
          <a:chOff x="0" y="0"/>
          <a:chExt cx="0" cy="0"/>
        </a:xfrm>
      </p:grpSpPr>
      <p:sp>
        <p:nvSpPr>
          <p:cNvPr id="2" name="Text 0"/>
          <p:cNvSpPr txBox="1"/>
          <p:nvPr/>
        </p:nvSpPr>
        <p:spPr>
          <a:xfrm>
            <a:off x="548640" y="320040"/>
            <a:ext cx="11064240" cy="822960"/>
          </a:xfrm>
          <a:prstGeom prst="rect">
            <a:avLst/>
          </a:prstGeom>
          <a:noFill/>
          <a:ln/>
        </p:spPr>
        <p:txBody>
          <a:bodyPr wrap="square" lIns="0" tIns="0" rIns="0" bIns="0" rtlCol="0" anchor="ctr">
            <a:normAutofit/>
          </a:bodyPr>
          <a:lstStyle/>
          <a:p>
            <a:pPr indent="0" marL="0">
              <a:buNone/>
            </a:pPr>
            <a:r>
              <a:rPr lang="en-US" sz="2800" b="1" dirty="0">
                <a:solidFill>
                  <a:srgbClr val="17324D"/>
                </a:solidFill>
                <a:latin typeface="Cambria" pitchFamily="34" charset="0"/>
                <a:ea typeface="Cambria" pitchFamily="34" charset="-122"/>
                <a:cs typeface="Cambria" pitchFamily="34" charset="-120"/>
              </a:rPr>
              <a:t>Jalour Developments: role and track record</a:t>
            </a:r>
            <a:endParaRPr lang="en-US" sz="2800" dirty="0"/>
          </a:p>
        </p:txBody>
      </p:sp>
      <p:sp>
        <p:nvSpPr>
          <p:cNvPr id="4" name="Shape 1"/>
          <p:cNvSpPr/>
          <p:nvPr/>
        </p:nvSpPr>
        <p:spPr>
          <a:xfrm>
            <a:off x="548640" y="1371600"/>
            <a:ext cx="5394960" cy="4480560"/>
          </a:xfrm>
          <a:prstGeom prst="rect">
            <a:avLst/>
          </a:prstGeom>
          <a:solidFill>
            <a:srgbClr val="F2F4F7"/>
          </a:solidFill>
          <a:ln w="12700">
            <a:solidFill>
              <a:srgbClr val="F2F4F7"/>
            </a:solidFill>
            <a:prstDash val="solid"/>
          </a:ln>
        </p:spPr>
      </p:sp>
      <p:sp>
        <p:nvSpPr>
          <p:cNvPr id="5" name="Text 2"/>
          <p:cNvSpPr txBox="1"/>
          <p:nvPr/>
        </p:nvSpPr>
        <p:spPr>
          <a:xfrm>
            <a:off x="731520" y="1463040"/>
            <a:ext cx="5029200" cy="365760"/>
          </a:xfrm>
          <a:prstGeom prst="rect">
            <a:avLst/>
          </a:prstGeom>
          <a:noFill/>
          <a:ln/>
        </p:spPr>
        <p:txBody>
          <a:bodyPr wrap="square" lIns="0" tIns="0" rIns="0" bIns="0" rtlCol="0" anchor="ctr"/>
          <a:lstStyle/>
          <a:p>
            <a:pPr indent="0" marL="0">
              <a:buNone/>
            </a:pPr>
            <a:r>
              <a:rPr lang="en-US" sz="1600" b="1" dirty="0">
                <a:solidFill>
                  <a:srgbClr val="17324D"/>
                </a:solidFill>
              </a:rPr>
              <a:t>Role in this project</a:t>
            </a:r>
            <a:endParaRPr lang="en-US" sz="1600" dirty="0"/>
          </a:p>
        </p:txBody>
      </p:sp>
      <p:sp>
        <p:nvSpPr>
          <p:cNvPr id="6" name="Text 3"/>
          <p:cNvSpPr txBox="1"/>
          <p:nvPr/>
        </p:nvSpPr>
        <p:spPr>
          <a:xfrm>
            <a:off x="731520" y="1920240"/>
            <a:ext cx="5029200" cy="3840480"/>
          </a:xfrm>
          <a:prstGeom prst="rect">
            <a:avLst/>
          </a:prstGeom>
          <a:noFill/>
          <a:ln/>
        </p:spPr>
        <p:txBody>
          <a:bodyPr wrap="square" lIns="0" tIns="0" rIns="0" bIns="0" rtlCol="0" anchor="t"/>
          <a:lstStyle/>
          <a:p>
            <a:pPr marL="342900" indent="-342900">
              <a:spcAft>
                <a:spcPts val="600"/>
              </a:spcAft>
              <a:buSzPct val="100000"/>
              <a:buChar char="•"/>
            </a:pPr>
            <a:r>
              <a:rPr lang="en-US" sz="1400" dirty="0">
                <a:solidFill>
                  <a:srgbClr val="1B1F2A"/>
                </a:solidFill>
              </a:rPr>
              <a:t>Design and permits</a:t>
            </a:r>
            <a:endParaRPr lang="en-US" sz="1400" dirty="0"/>
          </a:p>
          <a:p>
            <a:pPr marL="342900" indent="-342900">
              <a:spcAft>
                <a:spcPts val="600"/>
              </a:spcAft>
              <a:buSzPct val="100000"/>
              <a:buChar char="•"/>
            </a:pPr>
            <a:r>
              <a:rPr lang="en-US" sz="1400" dirty="0">
                <a:solidFill>
                  <a:srgbClr val="1B1F2A"/>
                </a:solidFill>
              </a:rPr>
              <a:t>Construction to core-and-shell standard</a:t>
            </a:r>
            <a:endParaRPr lang="en-US" sz="1400" dirty="0"/>
          </a:p>
          <a:p>
            <a:pPr marL="342900" indent="-342900">
              <a:spcAft>
                <a:spcPts val="600"/>
              </a:spcAft>
              <a:buSzPct val="100000"/>
              <a:buChar char="•"/>
            </a:pPr>
            <a:r>
              <a:rPr lang="en-US" sz="1400" dirty="0">
                <a:solidFill>
                  <a:srgbClr val="1B1F2A"/>
                </a:solidFill>
              </a:rPr>
              <a:t>Marketing, branding and sales</a:t>
            </a:r>
            <a:endParaRPr lang="en-US" sz="1400" dirty="0"/>
          </a:p>
          <a:p>
            <a:pPr marL="342900" indent="-342900">
              <a:spcAft>
                <a:spcPts val="600"/>
              </a:spcAft>
              <a:buSzPct val="100000"/>
              <a:buChar char="•"/>
            </a:pPr>
            <a:r>
              <a:rPr lang="en-US" sz="1400" dirty="0">
                <a:solidFill>
                  <a:srgbClr val="1B1F2A"/>
                </a:solidFill>
              </a:rPr>
              <a:t>Collection of instalments</a:t>
            </a:r>
            <a:endParaRPr lang="en-US" sz="1400" dirty="0"/>
          </a:p>
          <a:p>
            <a:pPr marL="342900" indent="-342900">
              <a:spcAft>
                <a:spcPts val="600"/>
              </a:spcAft>
              <a:buSzPct val="100000"/>
              <a:buChar char="•"/>
            </a:pPr>
            <a:r>
              <a:rPr lang="en-US" sz="1400" dirty="0">
                <a:solidFill>
                  <a:srgbClr val="1B1F2A"/>
                </a:solidFill>
              </a:rPr>
              <a:t>Operation, management and maintenance, directly or through a facility management company</a:t>
            </a:r>
            <a:endParaRPr lang="en-US" sz="1400" dirty="0"/>
          </a:p>
          <a:p>
            <a:pPr marL="342900" indent="-342900">
              <a:spcAft>
                <a:spcPts val="600"/>
              </a:spcAft>
              <a:buSzPct val="100000"/>
              <a:buChar char="•"/>
            </a:pPr>
            <a:r>
              <a:rPr lang="en-US" sz="1400" dirty="0">
                <a:solidFill>
                  <a:srgbClr val="1B1F2A"/>
                </a:solidFill>
              </a:rPr>
              <a:t>Covers project funding gaps from its cash reserves and cash from other projects it is constructing (to be documented)</a:t>
            </a:r>
            <a:endParaRPr lang="en-US" sz="1400" dirty="0"/>
          </a:p>
        </p:txBody>
      </p:sp>
      <p:sp>
        <p:nvSpPr>
          <p:cNvPr id="7" name="Shape 4"/>
          <p:cNvSpPr/>
          <p:nvPr/>
        </p:nvSpPr>
        <p:spPr>
          <a:xfrm>
            <a:off x="6217920" y="1371600"/>
            <a:ext cx="5394960" cy="4480560"/>
          </a:xfrm>
          <a:prstGeom prst="rect">
            <a:avLst/>
          </a:prstGeom>
          <a:solidFill>
            <a:srgbClr val="FBF3E4"/>
          </a:solidFill>
          <a:ln w="12700">
            <a:solidFill>
              <a:srgbClr val="FBF3E4"/>
            </a:solidFill>
            <a:prstDash val="solid"/>
          </a:ln>
        </p:spPr>
      </p:sp>
      <p:sp>
        <p:nvSpPr>
          <p:cNvPr id="8" name="Text 5"/>
          <p:cNvSpPr txBox="1"/>
          <p:nvPr/>
        </p:nvSpPr>
        <p:spPr>
          <a:xfrm>
            <a:off x="6400800" y="1463040"/>
            <a:ext cx="5029200" cy="365760"/>
          </a:xfrm>
          <a:prstGeom prst="rect">
            <a:avLst/>
          </a:prstGeom>
          <a:noFill/>
          <a:ln/>
        </p:spPr>
        <p:txBody>
          <a:bodyPr wrap="square" lIns="0" tIns="0" rIns="0" bIns="0" rtlCol="0" anchor="ctr"/>
          <a:lstStyle/>
          <a:p>
            <a:pPr indent="0" marL="0">
              <a:buNone/>
            </a:pPr>
            <a:r>
              <a:rPr lang="en-US" sz="1600" b="1" dirty="0">
                <a:solidFill>
                  <a:srgbClr val="B8893B"/>
                </a:solidFill>
              </a:rPr>
              <a:t>Track record and team</a:t>
            </a:r>
            <a:endParaRPr lang="en-US" sz="1600" dirty="0"/>
          </a:p>
        </p:txBody>
      </p:sp>
      <p:sp>
        <p:nvSpPr>
          <p:cNvPr id="9" name="Text 6"/>
          <p:cNvSpPr txBox="1"/>
          <p:nvPr/>
        </p:nvSpPr>
        <p:spPr>
          <a:xfrm>
            <a:off x="6400800" y="1920240"/>
            <a:ext cx="5029200" cy="3840480"/>
          </a:xfrm>
          <a:prstGeom prst="rect">
            <a:avLst/>
          </a:prstGeom>
          <a:noFill/>
          <a:ln/>
        </p:spPr>
        <p:txBody>
          <a:bodyPr wrap="square" lIns="0" tIns="0" rIns="0" bIns="0" rtlCol="0" anchor="t"/>
          <a:lstStyle/>
          <a:p>
            <a:pPr marL="342900" indent="-342900">
              <a:spcAft>
                <a:spcPts val="600"/>
              </a:spcAft>
              <a:buSzPct val="100000"/>
              <a:buChar char="•"/>
            </a:pPr>
            <a:r>
              <a:rPr lang="en-US" sz="1400" dirty="0">
                <a:solidFill>
                  <a:srgbClr val="1B1F2A"/>
                </a:solidFill>
              </a:rPr>
              <a:t>Completed projects, area delivered and units handed over</a:t>
            </a:r>
            <a:endParaRPr lang="en-US" sz="1400" dirty="0"/>
          </a:p>
          <a:p>
            <a:pPr marL="342900" indent="-342900">
              <a:spcAft>
                <a:spcPts val="600"/>
              </a:spcAft>
              <a:buSzPct val="100000"/>
              <a:buChar char="•"/>
            </a:pPr>
            <a:r>
              <a:rPr lang="en-US" sz="1400" dirty="0">
                <a:solidFill>
                  <a:srgbClr val="1B1F2A"/>
                </a:solidFill>
              </a:rPr>
              <a:t>Management team biographies</a:t>
            </a:r>
            <a:endParaRPr lang="en-US" sz="1400" dirty="0"/>
          </a:p>
          <a:p>
            <a:pPr marL="342900" indent="-342900">
              <a:spcAft>
                <a:spcPts val="600"/>
              </a:spcAft>
              <a:buSzPct val="100000"/>
              <a:buChar char="•"/>
            </a:pPr>
            <a:r>
              <a:rPr lang="en-US" sz="1400" dirty="0">
                <a:solidFill>
                  <a:srgbClr val="1B1F2A"/>
                </a:solidFill>
              </a:rPr>
              <a:t>Audited financial statements of Jalour and Al Jalal Holding</a:t>
            </a:r>
            <a:endParaRPr lang="en-US" sz="1400" dirty="0"/>
          </a:p>
          <a:p>
            <a:pPr marL="342900" indent="-342900">
              <a:spcAft>
                <a:spcPts val="600"/>
              </a:spcAft>
              <a:buSzPct val="100000"/>
              <a:buChar char="•"/>
            </a:pPr>
            <a:r>
              <a:rPr lang="en-US" sz="1400" dirty="0">
                <a:solidFill>
                  <a:srgbClr val="1B1F2A"/>
                </a:solidFill>
              </a:rPr>
              <a:t>References from landlords, contractors and buyers</a:t>
            </a:r>
            <a:endParaRPr lang="en-US" sz="1400" dirty="0"/>
          </a:p>
          <a:p>
            <a:pPr marL="342900" indent="-342900">
              <a:spcAft>
                <a:spcPts val="600"/>
              </a:spcAft>
              <a:buSzPct val="100000"/>
              <a:buChar char="•"/>
            </a:pPr>
            <a:r>
              <a:rPr lang="en-US" sz="1400" dirty="0">
                <a:solidFill>
                  <a:srgbClr val="1B1F2A"/>
                </a:solidFill>
              </a:rPr>
              <a:t>All provided after the investor signs a non-disclosure agreement</a:t>
            </a:r>
            <a:endParaRPr lang="en-US" sz="1400" dirty="0"/>
          </a:p>
        </p:txBody>
      </p:sp>
      <p:sp>
        <p:nvSpPr>
          <p:cNvPr id="10" name="Text 7"/>
          <p:cNvSpPr txBox="1"/>
          <p:nvPr/>
        </p:nvSpPr>
        <p:spPr>
          <a:xfrm>
            <a:off x="548640" y="6035040"/>
            <a:ext cx="11064240" cy="274320"/>
          </a:xfrm>
          <a:prstGeom prst="rect">
            <a:avLst/>
          </a:prstGeom>
          <a:noFill/>
          <a:ln/>
        </p:spPr>
        <p:txBody>
          <a:bodyPr wrap="square" lIns="0" tIns="0" rIns="0" bIns="0" rtlCol="0" anchor="ctr"/>
          <a:lstStyle/>
          <a:p>
            <a:pPr indent="0" marL="0">
              <a:buNone/>
            </a:pPr>
            <a:r>
              <a:rPr lang="en-US" sz="900" i="1" dirty="0">
                <a:solidFill>
                  <a:srgbClr val="6B7280"/>
                </a:solidFill>
              </a:rPr>
              <a:t>Source: Jalour Developments is the real estate arm of Al Jalal Holding, Cairo. Sponsor materials are provided after the investor signs a non-disclosure agreement.</a:t>
            </a:r>
            <a:endParaRPr lang="en-US" sz="900" dirty="0"/>
          </a:p>
        </p:txBody>
      </p:sp>
      <p:sp>
        <p:nvSpPr>
          <p:cNvPr id="25" name="Slide Number Placeholder 0"/>
          <p:cNvSpPr>
            <a:spLocks noGrp="1"/>
          </p:cNvSpPr>
          <p:nvPr>
            <p:ph type="sldNum" sz="quarter" idx="4294967295"/>
          </p:nvPr>
        </p:nvSpPr>
        <p:spPr>
          <a:xfrm>
            <a:off x="11155680" y="6446520"/>
            <a:ext cx="548640" cy="274320"/>
          </a:xfrm>
          <a:prstGeom prst="rect">
            <a:avLst/>
          </a:prstGeom>
          <a:extLst>
            <a:ext uri="{C572A759-6A51-4108-AA02-DFA0A04FC94B}">
              <ma14:wrappingTextBoxFlag xmlns:ma14="http://schemas.microsoft.com/office/mac/drawingml/2011/main" val="0"/>
            </a:ext>
          </a:extLst>
        </p:spPr>
        <p:txBody>
          <a:bodyPr/>
          <a:lstStyle>
            <a:lvl1pPr>
              <a:defRPr sz="900">
                <a:solidFill>
                  <a:srgbClr val="6B7280"/>
                </a:solidFill>
              </a:defRPr>
            </a:lvl1pPr>
          </a:lstStyle>
          <a:p>
            <a:pPr algn="l"/>
            <a:fld id="{F7021451-1387-4CA6-816F-3879F97B5CBC}" type="slidenum">
              <a:rPr b="0" lang="en-US"/>
              <a:t>8</a:t>
            </a:fld>
            <a:endParaRPr lang="en-US"/>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spTree>
      <p:nvGrpSpPr>
        <p:cNvPr id="1" name=""/>
        <p:cNvGrpSpPr/>
        <p:nvPr/>
      </p:nvGrpSpPr>
      <p:grpSpPr>
        <a:xfrm>
          <a:off x="0" y="0"/>
          <a:ext cx="0" cy="0"/>
          <a:chOff x="0" y="0"/>
          <a:chExt cx="0" cy="0"/>
        </a:xfrm>
      </p:grpSpPr>
      <p:sp>
        <p:nvSpPr>
          <p:cNvPr id="2" name="Text 0"/>
          <p:cNvSpPr txBox="1"/>
          <p:nvPr/>
        </p:nvSpPr>
        <p:spPr>
          <a:xfrm>
            <a:off x="548640" y="320040"/>
            <a:ext cx="11064240" cy="822960"/>
          </a:xfrm>
          <a:prstGeom prst="rect">
            <a:avLst/>
          </a:prstGeom>
          <a:noFill/>
          <a:ln/>
        </p:spPr>
        <p:txBody>
          <a:bodyPr wrap="square" lIns="0" tIns="0" rIns="0" bIns="0" rtlCol="0" anchor="ctr">
            <a:normAutofit/>
          </a:bodyPr>
          <a:lstStyle/>
          <a:p>
            <a:pPr indent="0" marL="0">
              <a:buNone/>
            </a:pPr>
            <a:r>
              <a:rPr lang="en-US" sz="2800" b="1" dirty="0">
                <a:solidFill>
                  <a:srgbClr val="17324D"/>
                </a:solidFill>
                <a:latin typeface="Cambria" pitchFamily="34" charset="0"/>
                <a:ea typeface="Cambria" pitchFamily="34" charset="-122"/>
                <a:cs typeface="Cambria" pitchFamily="34" charset="-120"/>
              </a:rPr>
              <a:t>Sales plan and pricing</a:t>
            </a:r>
            <a:endParaRPr lang="en-US" sz="2800" dirty="0"/>
          </a:p>
        </p:txBody>
      </p:sp>
      <p:graphicFrame>
        <p:nvGraphicFramePr>
          <p:cNvPr id="4" name="Chart 0" descr=""/>
          <p:cNvGraphicFramePr/>
          <p:nvPr/>
        </p:nvGraphicFramePr>
        <p:xfrm>
          <a:off x="548640" y="1280160"/>
          <a:ext cx="6766560" cy="4023360"/>
        </p:xfrm>
        <a:graphic xmlns:a="http://schemas.openxmlformats.org/drawingml/2006/main">
          <a:graphicData uri="http://schemas.openxmlformats.org/drawingml/2006/chart">
            <c:chart xmlns:c="http://schemas.openxmlformats.org/drawingml/2006/chart" r:id="rId1"/>
          </a:graphicData>
        </a:graphic>
      </p:graphicFrame>
      <p:graphicFrame>
        <p:nvGraphicFramePr>
          <p:cNvPr id="10" name="Table 0"/>
          <p:cNvGraphicFramePr>
            <a:graphicFrameLocks noGrp="1"/>
          </p:cNvGraphicFramePr>
          <p:nvPr>
            <p:extLst>
              <p:ext uri="{D42A27DB-BD31-4B8C-83A1-F6EECF244321}">
                <p14:modId xmlns:p14="http://schemas.microsoft.com/office/powerpoint/2010/main" val="1579011935"/>
              </p:ext>
            </p:extLst>
          </p:nvPr>
        </p:nvGraphicFramePr>
        <p:xfrm>
          <a:off x="7589520" y="1463040"/>
          <a:ext cx="4023360" cy="914400"/>
        </p:xfrm>
        <a:graphic>
          <a:graphicData uri="http://schemas.openxmlformats.org/drawingml/2006/table">
            <a:tbl>
              <a:tblPr/>
              <a:tblGrid>
                <a:gridCol w="1645920"/>
                <a:gridCol w="777240"/>
                <a:gridCol w="777240"/>
                <a:gridCol w="822960"/>
              </a:tblGrid>
              <a:tr h="411480">
                <a:tc>
                  <a:txBody>
                    <a:bodyPr/>
                    <a:lstStyle/>
                    <a:p>
                      <a:pPr algn="l" indent="0" marL="0">
                        <a:buNone/>
                      </a:pPr>
                      <a:r>
                        <a:rPr lang="en-US" sz="1200" b="1" dirty="0">
                          <a:solidFill>
                            <a:srgbClr val="FFFFFF"/>
                          </a:solidFill>
                        </a:rPr>
                        <a:t>EGP thousand per m2</a:t>
                      </a:r>
                      <a:endParaRPr lang="en-US" sz="1200" dirty="0"/>
                    </a:p>
                  </a:txBody>
                  <a:tcPr marL="73152" marR="73152" marT="36576" marB="36576" anchor="ctr">
                    <a:lnL w="6350" cap="flat" cmpd="sng" algn="ctr">
                      <a:solidFill>
                        <a:srgbClr val="D5DAE1"/>
                      </a:solidFill>
                      <a:prstDash val="solid"/>
                      <a:round/>
                      <a:headEnd type="none" w="med" len="med"/>
                      <a:tailEnd type="none" w="med" len="med"/>
                    </a:lnL>
                    <a:lnR w="6350" cap="flat" cmpd="sng" algn="ctr">
                      <a:solidFill>
                        <a:srgbClr val="D5DAE1"/>
                      </a:solidFill>
                      <a:prstDash val="solid"/>
                      <a:round/>
                      <a:headEnd type="none" w="med" len="med"/>
                      <a:tailEnd type="none" w="med" len="med"/>
                    </a:lnR>
                    <a:lnT w="6350" cap="flat" cmpd="sng" algn="ctr">
                      <a:solidFill>
                        <a:srgbClr val="D5DAE1"/>
                      </a:solidFill>
                      <a:prstDash val="solid"/>
                      <a:round/>
                      <a:headEnd type="none" w="med" len="med"/>
                      <a:tailEnd type="none" w="med" len="med"/>
                    </a:lnT>
                    <a:lnB w="6350" cap="flat" cmpd="sng" algn="ctr">
                      <a:solidFill>
                        <a:srgbClr val="D5DAE1"/>
                      </a:solidFill>
                      <a:prstDash val="solid"/>
                      <a:round/>
                      <a:headEnd type="none" w="med" len="med"/>
                      <a:tailEnd type="none" w="med" len="med"/>
                    </a:lnB>
                    <a:solidFill>
                      <a:srgbClr val="17324D"/>
                    </a:solidFill>
                  </a:tcPr>
                </a:tc>
                <a:tc>
                  <a:txBody>
                    <a:bodyPr/>
                    <a:lstStyle/>
                    <a:p>
                      <a:pPr algn="r" indent="0" marL="0">
                        <a:buNone/>
                      </a:pPr>
                      <a:r>
                        <a:rPr lang="en-US" sz="1200" b="1" dirty="0">
                          <a:solidFill>
                            <a:srgbClr val="FFFFFF"/>
                          </a:solidFill>
                        </a:rPr>
                        <a:t>Launch</a:t>
                      </a:r>
                      <a:endParaRPr lang="en-US" sz="1200" dirty="0"/>
                    </a:p>
                  </a:txBody>
                  <a:tcPr marL="73152" marR="73152" marT="36576" marB="36576" anchor="ctr">
                    <a:lnL w="6350" cap="flat" cmpd="sng" algn="ctr">
                      <a:solidFill>
                        <a:srgbClr val="D5DAE1"/>
                      </a:solidFill>
                      <a:prstDash val="solid"/>
                      <a:round/>
                      <a:headEnd type="none" w="med" len="med"/>
                      <a:tailEnd type="none" w="med" len="med"/>
                    </a:lnL>
                    <a:lnR w="6350" cap="flat" cmpd="sng" algn="ctr">
                      <a:solidFill>
                        <a:srgbClr val="D5DAE1"/>
                      </a:solidFill>
                      <a:prstDash val="solid"/>
                      <a:round/>
                      <a:headEnd type="none" w="med" len="med"/>
                      <a:tailEnd type="none" w="med" len="med"/>
                    </a:lnR>
                    <a:lnT w="6350" cap="flat" cmpd="sng" algn="ctr">
                      <a:solidFill>
                        <a:srgbClr val="D5DAE1"/>
                      </a:solidFill>
                      <a:prstDash val="solid"/>
                      <a:round/>
                      <a:headEnd type="none" w="med" len="med"/>
                      <a:tailEnd type="none" w="med" len="med"/>
                    </a:lnT>
                    <a:lnB w="6350" cap="flat" cmpd="sng" algn="ctr">
                      <a:solidFill>
                        <a:srgbClr val="D5DAE1"/>
                      </a:solidFill>
                      <a:prstDash val="solid"/>
                      <a:round/>
                      <a:headEnd type="none" w="med" len="med"/>
                      <a:tailEnd type="none" w="med" len="med"/>
                    </a:lnB>
                    <a:solidFill>
                      <a:srgbClr val="17324D"/>
                    </a:solidFill>
                  </a:tcPr>
                </a:tc>
                <a:tc>
                  <a:txBody>
                    <a:bodyPr/>
                    <a:lstStyle/>
                    <a:p>
                      <a:pPr algn="r" indent="0" marL="0">
                        <a:buNone/>
                      </a:pPr>
                      <a:r>
                        <a:rPr lang="en-US" sz="1200" b="1" dirty="0">
                          <a:solidFill>
                            <a:srgbClr val="FFFFFF"/>
                          </a:solidFill>
                        </a:rPr>
                        <a:t>Delivery list</a:t>
                      </a:r>
                      <a:endParaRPr lang="en-US" sz="1200" dirty="0"/>
                    </a:p>
                  </a:txBody>
                  <a:tcPr marL="73152" marR="73152" marT="36576" marB="36576" anchor="ctr">
                    <a:lnL w="6350" cap="flat" cmpd="sng" algn="ctr">
                      <a:solidFill>
                        <a:srgbClr val="D5DAE1"/>
                      </a:solidFill>
                      <a:prstDash val="solid"/>
                      <a:round/>
                      <a:headEnd type="none" w="med" len="med"/>
                      <a:tailEnd type="none" w="med" len="med"/>
                    </a:lnL>
                    <a:lnR w="6350" cap="flat" cmpd="sng" algn="ctr">
                      <a:solidFill>
                        <a:srgbClr val="D5DAE1"/>
                      </a:solidFill>
                      <a:prstDash val="solid"/>
                      <a:round/>
                      <a:headEnd type="none" w="med" len="med"/>
                      <a:tailEnd type="none" w="med" len="med"/>
                    </a:lnR>
                    <a:lnT w="6350" cap="flat" cmpd="sng" algn="ctr">
                      <a:solidFill>
                        <a:srgbClr val="D5DAE1"/>
                      </a:solidFill>
                      <a:prstDash val="solid"/>
                      <a:round/>
                      <a:headEnd type="none" w="med" len="med"/>
                      <a:tailEnd type="none" w="med" len="med"/>
                    </a:lnT>
                    <a:lnB w="6350" cap="flat" cmpd="sng" algn="ctr">
                      <a:solidFill>
                        <a:srgbClr val="D5DAE1"/>
                      </a:solidFill>
                      <a:prstDash val="solid"/>
                      <a:round/>
                      <a:headEnd type="none" w="med" len="med"/>
                      <a:tailEnd type="none" w="med" len="med"/>
                    </a:lnB>
                    <a:solidFill>
                      <a:srgbClr val="17324D"/>
                    </a:solidFill>
                  </a:tcPr>
                </a:tc>
                <a:tc>
                  <a:txBody>
                    <a:bodyPr/>
                    <a:lstStyle/>
                    <a:p>
                      <a:pPr algn="r" indent="0" marL="0">
                        <a:buNone/>
                      </a:pPr>
                      <a:r>
                        <a:rPr lang="en-US" sz="1200" b="1" dirty="0">
                          <a:solidFill>
                            <a:srgbClr val="FFFFFF"/>
                          </a:solidFill>
                        </a:rPr>
                        <a:t>Average</a:t>
                      </a:r>
                      <a:endParaRPr lang="en-US" sz="1200" dirty="0"/>
                    </a:p>
                  </a:txBody>
                  <a:tcPr marL="73152" marR="73152" marT="36576" marB="36576" anchor="ctr">
                    <a:lnL w="6350" cap="flat" cmpd="sng" algn="ctr">
                      <a:solidFill>
                        <a:srgbClr val="D5DAE1"/>
                      </a:solidFill>
                      <a:prstDash val="solid"/>
                      <a:round/>
                      <a:headEnd type="none" w="med" len="med"/>
                      <a:tailEnd type="none" w="med" len="med"/>
                    </a:lnL>
                    <a:lnR w="6350" cap="flat" cmpd="sng" algn="ctr">
                      <a:solidFill>
                        <a:srgbClr val="D5DAE1"/>
                      </a:solidFill>
                      <a:prstDash val="solid"/>
                      <a:round/>
                      <a:headEnd type="none" w="med" len="med"/>
                      <a:tailEnd type="none" w="med" len="med"/>
                    </a:lnR>
                    <a:lnT w="6350" cap="flat" cmpd="sng" algn="ctr">
                      <a:solidFill>
                        <a:srgbClr val="D5DAE1"/>
                      </a:solidFill>
                      <a:prstDash val="solid"/>
                      <a:round/>
                      <a:headEnd type="none" w="med" len="med"/>
                      <a:tailEnd type="none" w="med" len="med"/>
                    </a:lnT>
                    <a:lnB w="6350" cap="flat" cmpd="sng" algn="ctr">
                      <a:solidFill>
                        <a:srgbClr val="D5DAE1"/>
                      </a:solidFill>
                      <a:prstDash val="solid"/>
                      <a:round/>
                      <a:headEnd type="none" w="med" len="med"/>
                      <a:tailEnd type="none" w="med" len="med"/>
                    </a:lnB>
                    <a:solidFill>
                      <a:srgbClr val="17324D"/>
                    </a:solidFill>
                  </a:tcPr>
                </a:tc>
              </a:tr>
              <a:tr h="411480">
                <a:tc>
                  <a:txBody>
                    <a:bodyPr/>
                    <a:lstStyle/>
                    <a:p>
                      <a:pPr algn="l" indent="0" marL="0">
                        <a:buNone/>
                      </a:pPr>
                      <a:r>
                        <a:rPr lang="en-US" sz="1200" dirty="0">
                          <a:solidFill>
                            <a:srgbClr val="1B1F2A"/>
                          </a:solidFill>
                        </a:rPr>
                        <a:t>Retail</a:t>
                      </a:r>
                      <a:endParaRPr lang="en-US" sz="1200" dirty="0"/>
                    </a:p>
                  </a:txBody>
                  <a:tcPr marL="73152" marR="73152" marT="36576" marB="36576" anchor="ctr">
                    <a:lnL w="6350" cap="flat" cmpd="sng" algn="ctr">
                      <a:solidFill>
                        <a:srgbClr val="D5DAE1"/>
                      </a:solidFill>
                      <a:prstDash val="solid"/>
                      <a:round/>
                      <a:headEnd type="none" w="med" len="med"/>
                      <a:tailEnd type="none" w="med" len="med"/>
                    </a:lnL>
                    <a:lnR w="6350" cap="flat" cmpd="sng" algn="ctr">
                      <a:solidFill>
                        <a:srgbClr val="D5DAE1"/>
                      </a:solidFill>
                      <a:prstDash val="solid"/>
                      <a:round/>
                      <a:headEnd type="none" w="med" len="med"/>
                      <a:tailEnd type="none" w="med" len="med"/>
                    </a:lnR>
                    <a:lnT w="6350" cap="flat" cmpd="sng" algn="ctr">
                      <a:solidFill>
                        <a:srgbClr val="D5DAE1"/>
                      </a:solidFill>
                      <a:prstDash val="solid"/>
                      <a:round/>
                      <a:headEnd type="none" w="med" len="med"/>
                      <a:tailEnd type="none" w="med" len="med"/>
                    </a:lnT>
                    <a:lnB w="6350" cap="flat" cmpd="sng" algn="ctr">
                      <a:solidFill>
                        <a:srgbClr val="D5DAE1"/>
                      </a:solidFill>
                      <a:prstDash val="solid"/>
                      <a:round/>
                      <a:headEnd type="none" w="med" len="med"/>
                      <a:tailEnd type="none" w="med" len="med"/>
                    </a:lnB>
                    <a:solidFill>
                      <a:srgbClr val="FFFFFF"/>
                    </a:solidFill>
                  </a:tcPr>
                </a:tc>
                <a:tc>
                  <a:txBody>
                    <a:bodyPr/>
                    <a:lstStyle/>
                    <a:p>
                      <a:pPr algn="r" indent="0" marL="0">
                        <a:buNone/>
                      </a:pPr>
                      <a:r>
                        <a:rPr lang="en-US" sz="1200" dirty="0">
                          <a:solidFill>
                            <a:srgbClr val="1B1F2A"/>
                          </a:solidFill>
                        </a:rPr>
                        <a:t>225</a:t>
                      </a:r>
                      <a:endParaRPr lang="en-US" sz="1200" dirty="0"/>
                    </a:p>
                  </a:txBody>
                  <a:tcPr marL="73152" marR="73152" marT="36576" marB="36576" anchor="ctr">
                    <a:lnL w="6350" cap="flat" cmpd="sng" algn="ctr">
                      <a:solidFill>
                        <a:srgbClr val="D5DAE1"/>
                      </a:solidFill>
                      <a:prstDash val="solid"/>
                      <a:round/>
                      <a:headEnd type="none" w="med" len="med"/>
                      <a:tailEnd type="none" w="med" len="med"/>
                    </a:lnL>
                    <a:lnR w="6350" cap="flat" cmpd="sng" algn="ctr">
                      <a:solidFill>
                        <a:srgbClr val="D5DAE1"/>
                      </a:solidFill>
                      <a:prstDash val="solid"/>
                      <a:round/>
                      <a:headEnd type="none" w="med" len="med"/>
                      <a:tailEnd type="none" w="med" len="med"/>
                    </a:lnR>
                    <a:lnT w="6350" cap="flat" cmpd="sng" algn="ctr">
                      <a:solidFill>
                        <a:srgbClr val="D5DAE1"/>
                      </a:solidFill>
                      <a:prstDash val="solid"/>
                      <a:round/>
                      <a:headEnd type="none" w="med" len="med"/>
                      <a:tailEnd type="none" w="med" len="med"/>
                    </a:lnT>
                    <a:lnB w="6350" cap="flat" cmpd="sng" algn="ctr">
                      <a:solidFill>
                        <a:srgbClr val="D5DAE1"/>
                      </a:solidFill>
                      <a:prstDash val="solid"/>
                      <a:round/>
                      <a:headEnd type="none" w="med" len="med"/>
                      <a:tailEnd type="none" w="med" len="med"/>
                    </a:lnB>
                    <a:solidFill>
                      <a:srgbClr val="FFFFFF"/>
                    </a:solidFill>
                  </a:tcPr>
                </a:tc>
                <a:tc>
                  <a:txBody>
                    <a:bodyPr/>
                    <a:lstStyle/>
                    <a:p>
                      <a:pPr algn="r" indent="0" marL="0">
                        <a:buNone/>
                      </a:pPr>
                      <a:r>
                        <a:rPr lang="en-US" sz="1200" dirty="0">
                          <a:solidFill>
                            <a:srgbClr val="1B1F2A"/>
                          </a:solidFill>
                        </a:rPr>
                        <a:t>300</a:t>
                      </a:r>
                      <a:endParaRPr lang="en-US" sz="1200" dirty="0"/>
                    </a:p>
                  </a:txBody>
                  <a:tcPr marL="73152" marR="73152" marT="36576" marB="36576" anchor="ctr">
                    <a:lnL w="6350" cap="flat" cmpd="sng" algn="ctr">
                      <a:solidFill>
                        <a:srgbClr val="D5DAE1"/>
                      </a:solidFill>
                      <a:prstDash val="solid"/>
                      <a:round/>
                      <a:headEnd type="none" w="med" len="med"/>
                      <a:tailEnd type="none" w="med" len="med"/>
                    </a:lnL>
                    <a:lnR w="6350" cap="flat" cmpd="sng" algn="ctr">
                      <a:solidFill>
                        <a:srgbClr val="D5DAE1"/>
                      </a:solidFill>
                      <a:prstDash val="solid"/>
                      <a:round/>
                      <a:headEnd type="none" w="med" len="med"/>
                      <a:tailEnd type="none" w="med" len="med"/>
                    </a:lnR>
                    <a:lnT w="6350" cap="flat" cmpd="sng" algn="ctr">
                      <a:solidFill>
                        <a:srgbClr val="D5DAE1"/>
                      </a:solidFill>
                      <a:prstDash val="solid"/>
                      <a:round/>
                      <a:headEnd type="none" w="med" len="med"/>
                      <a:tailEnd type="none" w="med" len="med"/>
                    </a:lnT>
                    <a:lnB w="6350" cap="flat" cmpd="sng" algn="ctr">
                      <a:solidFill>
                        <a:srgbClr val="D5DAE1"/>
                      </a:solidFill>
                      <a:prstDash val="solid"/>
                      <a:round/>
                      <a:headEnd type="none" w="med" len="med"/>
                      <a:tailEnd type="none" w="med" len="med"/>
                    </a:lnB>
                    <a:solidFill>
                      <a:srgbClr val="FFFFFF"/>
                    </a:solidFill>
                  </a:tcPr>
                </a:tc>
                <a:tc>
                  <a:txBody>
                    <a:bodyPr/>
                    <a:lstStyle/>
                    <a:p>
                      <a:pPr algn="r" indent="0" marL="0">
                        <a:buNone/>
                      </a:pPr>
                      <a:r>
                        <a:rPr lang="en-US" sz="1200" dirty="0">
                          <a:solidFill>
                            <a:srgbClr val="1B1F2A"/>
                          </a:solidFill>
                        </a:rPr>
                        <a:t>268</a:t>
                      </a:r>
                      <a:endParaRPr lang="en-US" sz="1200" dirty="0"/>
                    </a:p>
                  </a:txBody>
                  <a:tcPr marL="73152" marR="73152" marT="36576" marB="36576" anchor="ctr">
                    <a:lnL w="6350" cap="flat" cmpd="sng" algn="ctr">
                      <a:solidFill>
                        <a:srgbClr val="D5DAE1"/>
                      </a:solidFill>
                      <a:prstDash val="solid"/>
                      <a:round/>
                      <a:headEnd type="none" w="med" len="med"/>
                      <a:tailEnd type="none" w="med" len="med"/>
                    </a:lnL>
                    <a:lnR w="6350" cap="flat" cmpd="sng" algn="ctr">
                      <a:solidFill>
                        <a:srgbClr val="D5DAE1"/>
                      </a:solidFill>
                      <a:prstDash val="solid"/>
                      <a:round/>
                      <a:headEnd type="none" w="med" len="med"/>
                      <a:tailEnd type="none" w="med" len="med"/>
                    </a:lnR>
                    <a:lnT w="6350" cap="flat" cmpd="sng" algn="ctr">
                      <a:solidFill>
                        <a:srgbClr val="D5DAE1"/>
                      </a:solidFill>
                      <a:prstDash val="solid"/>
                      <a:round/>
                      <a:headEnd type="none" w="med" len="med"/>
                      <a:tailEnd type="none" w="med" len="med"/>
                    </a:lnT>
                    <a:lnB w="6350" cap="flat" cmpd="sng" algn="ctr">
                      <a:solidFill>
                        <a:srgbClr val="D5DAE1"/>
                      </a:solidFill>
                      <a:prstDash val="solid"/>
                      <a:round/>
                      <a:headEnd type="none" w="med" len="med"/>
                      <a:tailEnd type="none" w="med" len="med"/>
                    </a:lnB>
                    <a:solidFill>
                      <a:srgbClr val="FFFFFF"/>
                    </a:solidFill>
                  </a:tcPr>
                </a:tc>
              </a:tr>
              <a:tr h="411480">
                <a:tc>
                  <a:txBody>
                    <a:bodyPr/>
                    <a:lstStyle/>
                    <a:p>
                      <a:pPr algn="l" indent="0" marL="0">
                        <a:buNone/>
                      </a:pPr>
                      <a:r>
                        <a:rPr lang="en-US" sz="1200" dirty="0">
                          <a:solidFill>
                            <a:srgbClr val="1B1F2A"/>
                          </a:solidFill>
                        </a:rPr>
                        <a:t>Offices</a:t>
                      </a:r>
                      <a:endParaRPr lang="en-US" sz="1200" dirty="0"/>
                    </a:p>
                  </a:txBody>
                  <a:tcPr marL="73152" marR="73152" marT="36576" marB="36576" anchor="ctr">
                    <a:lnL w="6350" cap="flat" cmpd="sng" algn="ctr">
                      <a:solidFill>
                        <a:srgbClr val="D5DAE1"/>
                      </a:solidFill>
                      <a:prstDash val="solid"/>
                      <a:round/>
                      <a:headEnd type="none" w="med" len="med"/>
                      <a:tailEnd type="none" w="med" len="med"/>
                    </a:lnL>
                    <a:lnR w="6350" cap="flat" cmpd="sng" algn="ctr">
                      <a:solidFill>
                        <a:srgbClr val="D5DAE1"/>
                      </a:solidFill>
                      <a:prstDash val="solid"/>
                      <a:round/>
                      <a:headEnd type="none" w="med" len="med"/>
                      <a:tailEnd type="none" w="med" len="med"/>
                    </a:lnR>
                    <a:lnT w="6350" cap="flat" cmpd="sng" algn="ctr">
                      <a:solidFill>
                        <a:srgbClr val="D5DAE1"/>
                      </a:solidFill>
                      <a:prstDash val="solid"/>
                      <a:round/>
                      <a:headEnd type="none" w="med" len="med"/>
                      <a:tailEnd type="none" w="med" len="med"/>
                    </a:lnT>
                    <a:lnB w="6350" cap="flat" cmpd="sng" algn="ctr">
                      <a:solidFill>
                        <a:srgbClr val="D5DAE1"/>
                      </a:solidFill>
                      <a:prstDash val="solid"/>
                      <a:round/>
                      <a:headEnd type="none" w="med" len="med"/>
                      <a:tailEnd type="none" w="med" len="med"/>
                    </a:lnB>
                    <a:solidFill>
                      <a:srgbClr val="F2F4F7"/>
                    </a:solidFill>
                  </a:tcPr>
                </a:tc>
                <a:tc>
                  <a:txBody>
                    <a:bodyPr/>
                    <a:lstStyle/>
                    <a:p>
                      <a:pPr algn="r" indent="0" marL="0">
                        <a:buNone/>
                      </a:pPr>
                      <a:r>
                        <a:rPr lang="en-US" sz="1200" dirty="0">
                          <a:solidFill>
                            <a:srgbClr val="1B1F2A"/>
                          </a:solidFill>
                        </a:rPr>
                        <a:t>135</a:t>
                      </a:r>
                      <a:endParaRPr lang="en-US" sz="1200" dirty="0"/>
                    </a:p>
                  </a:txBody>
                  <a:tcPr marL="73152" marR="73152" marT="36576" marB="36576" anchor="ctr">
                    <a:lnL w="6350" cap="flat" cmpd="sng" algn="ctr">
                      <a:solidFill>
                        <a:srgbClr val="D5DAE1"/>
                      </a:solidFill>
                      <a:prstDash val="solid"/>
                      <a:round/>
                      <a:headEnd type="none" w="med" len="med"/>
                      <a:tailEnd type="none" w="med" len="med"/>
                    </a:lnL>
                    <a:lnR w="6350" cap="flat" cmpd="sng" algn="ctr">
                      <a:solidFill>
                        <a:srgbClr val="D5DAE1"/>
                      </a:solidFill>
                      <a:prstDash val="solid"/>
                      <a:round/>
                      <a:headEnd type="none" w="med" len="med"/>
                      <a:tailEnd type="none" w="med" len="med"/>
                    </a:lnR>
                    <a:lnT w="6350" cap="flat" cmpd="sng" algn="ctr">
                      <a:solidFill>
                        <a:srgbClr val="D5DAE1"/>
                      </a:solidFill>
                      <a:prstDash val="solid"/>
                      <a:round/>
                      <a:headEnd type="none" w="med" len="med"/>
                      <a:tailEnd type="none" w="med" len="med"/>
                    </a:lnT>
                    <a:lnB w="6350" cap="flat" cmpd="sng" algn="ctr">
                      <a:solidFill>
                        <a:srgbClr val="D5DAE1"/>
                      </a:solidFill>
                      <a:prstDash val="solid"/>
                      <a:round/>
                      <a:headEnd type="none" w="med" len="med"/>
                      <a:tailEnd type="none" w="med" len="med"/>
                    </a:lnB>
                    <a:solidFill>
                      <a:srgbClr val="F2F4F7"/>
                    </a:solidFill>
                  </a:tcPr>
                </a:tc>
                <a:tc>
                  <a:txBody>
                    <a:bodyPr/>
                    <a:lstStyle/>
                    <a:p>
                      <a:pPr algn="r" indent="0" marL="0">
                        <a:buNone/>
                      </a:pPr>
                      <a:r>
                        <a:rPr lang="en-US" sz="1200" dirty="0">
                          <a:solidFill>
                            <a:srgbClr val="1B1F2A"/>
                          </a:solidFill>
                        </a:rPr>
                        <a:t>200</a:t>
                      </a:r>
                      <a:endParaRPr lang="en-US" sz="1200" dirty="0"/>
                    </a:p>
                  </a:txBody>
                  <a:tcPr marL="73152" marR="73152" marT="36576" marB="36576" anchor="ctr">
                    <a:lnL w="6350" cap="flat" cmpd="sng" algn="ctr">
                      <a:solidFill>
                        <a:srgbClr val="D5DAE1"/>
                      </a:solidFill>
                      <a:prstDash val="solid"/>
                      <a:round/>
                      <a:headEnd type="none" w="med" len="med"/>
                      <a:tailEnd type="none" w="med" len="med"/>
                    </a:lnL>
                    <a:lnR w="6350" cap="flat" cmpd="sng" algn="ctr">
                      <a:solidFill>
                        <a:srgbClr val="D5DAE1"/>
                      </a:solidFill>
                      <a:prstDash val="solid"/>
                      <a:round/>
                      <a:headEnd type="none" w="med" len="med"/>
                      <a:tailEnd type="none" w="med" len="med"/>
                    </a:lnR>
                    <a:lnT w="6350" cap="flat" cmpd="sng" algn="ctr">
                      <a:solidFill>
                        <a:srgbClr val="D5DAE1"/>
                      </a:solidFill>
                      <a:prstDash val="solid"/>
                      <a:round/>
                      <a:headEnd type="none" w="med" len="med"/>
                      <a:tailEnd type="none" w="med" len="med"/>
                    </a:lnT>
                    <a:lnB w="6350" cap="flat" cmpd="sng" algn="ctr">
                      <a:solidFill>
                        <a:srgbClr val="D5DAE1"/>
                      </a:solidFill>
                      <a:prstDash val="solid"/>
                      <a:round/>
                      <a:headEnd type="none" w="med" len="med"/>
                      <a:tailEnd type="none" w="med" len="med"/>
                    </a:lnB>
                    <a:solidFill>
                      <a:srgbClr val="F2F4F7"/>
                    </a:solidFill>
                  </a:tcPr>
                </a:tc>
                <a:tc>
                  <a:txBody>
                    <a:bodyPr/>
                    <a:lstStyle/>
                    <a:p>
                      <a:pPr algn="r" indent="0" marL="0">
                        <a:buNone/>
                      </a:pPr>
                      <a:r>
                        <a:rPr lang="en-US" sz="1200" dirty="0">
                          <a:solidFill>
                            <a:srgbClr val="1B1F2A"/>
                          </a:solidFill>
                        </a:rPr>
                        <a:t>163</a:t>
                      </a:r>
                      <a:endParaRPr lang="en-US" sz="1200" dirty="0"/>
                    </a:p>
                  </a:txBody>
                  <a:tcPr marL="73152" marR="73152" marT="36576" marB="36576" anchor="ctr">
                    <a:lnL w="6350" cap="flat" cmpd="sng" algn="ctr">
                      <a:solidFill>
                        <a:srgbClr val="D5DAE1"/>
                      </a:solidFill>
                      <a:prstDash val="solid"/>
                      <a:round/>
                      <a:headEnd type="none" w="med" len="med"/>
                      <a:tailEnd type="none" w="med" len="med"/>
                    </a:lnL>
                    <a:lnR w="6350" cap="flat" cmpd="sng" algn="ctr">
                      <a:solidFill>
                        <a:srgbClr val="D5DAE1"/>
                      </a:solidFill>
                      <a:prstDash val="solid"/>
                      <a:round/>
                      <a:headEnd type="none" w="med" len="med"/>
                      <a:tailEnd type="none" w="med" len="med"/>
                    </a:lnR>
                    <a:lnT w="6350" cap="flat" cmpd="sng" algn="ctr">
                      <a:solidFill>
                        <a:srgbClr val="D5DAE1"/>
                      </a:solidFill>
                      <a:prstDash val="solid"/>
                      <a:round/>
                      <a:headEnd type="none" w="med" len="med"/>
                      <a:tailEnd type="none" w="med" len="med"/>
                    </a:lnT>
                    <a:lnB w="6350" cap="flat" cmpd="sng" algn="ctr">
                      <a:solidFill>
                        <a:srgbClr val="D5DAE1"/>
                      </a:solidFill>
                      <a:prstDash val="solid"/>
                      <a:round/>
                      <a:headEnd type="none" w="med" len="med"/>
                      <a:tailEnd type="none" w="med" len="med"/>
                    </a:lnB>
                    <a:solidFill>
                      <a:srgbClr val="F2F4F7"/>
                    </a:solidFill>
                  </a:tcPr>
                </a:tc>
              </a:tr>
            </a:tbl>
          </a:graphicData>
        </a:graphic>
      </p:graphicFrame>
      <p:sp>
        <p:nvSpPr>
          <p:cNvPr id="6" name="Text 1"/>
          <p:cNvSpPr txBox="1"/>
          <p:nvPr/>
        </p:nvSpPr>
        <p:spPr>
          <a:xfrm>
            <a:off x="7589520" y="2926080"/>
            <a:ext cx="4023360" cy="3108960"/>
          </a:xfrm>
          <a:prstGeom prst="rect">
            <a:avLst/>
          </a:prstGeom>
          <a:noFill/>
          <a:ln/>
        </p:spPr>
        <p:txBody>
          <a:bodyPr wrap="square" lIns="0" tIns="0" rIns="0" bIns="0" rtlCol="0" anchor="t"/>
          <a:lstStyle/>
          <a:p>
            <a:pPr marL="342900" indent="-342900">
              <a:spcAft>
                <a:spcPts val="600"/>
              </a:spcAft>
              <a:buSzPct val="100000"/>
              <a:buChar char="•"/>
            </a:pPr>
            <a:r>
              <a:rPr lang="en-US" sz="1200" dirty="0">
                <a:solidFill>
                  <a:srgbClr val="1B1F2A"/>
                </a:solidFill>
              </a:rPr>
              <a:t>Total sales at 100% of units: EGP 2,816 million; plan sells 80%: EGP 2,253 million.</a:t>
            </a:r>
            <a:endParaRPr lang="en-US" sz="1200" dirty="0"/>
          </a:p>
          <a:p>
            <a:pPr marL="342900" indent="-342900">
              <a:spcAft>
                <a:spcPts val="600"/>
              </a:spcAft>
              <a:buSzPct val="100000"/>
              <a:buChar char="•"/>
            </a:pPr>
            <a:r>
              <a:rPr lang="en-US" sz="1200" dirty="0">
                <a:solidFill>
                  <a:srgbClr val="1B1F2A"/>
                </a:solidFill>
              </a:rPr>
              <a:t>Payment plans: down payment 5% to 20%, a second equal payment three months later, instalments of 2 to 8 years and a delivery payment of 20% to 25%.</a:t>
            </a:r>
            <a:endParaRPr lang="en-US" sz="1200" dirty="0"/>
          </a:p>
          <a:p>
            <a:pPr marL="342900" indent="-342900">
              <a:spcAft>
                <a:spcPts val="600"/>
              </a:spcAft>
              <a:buSzPct val="100000"/>
              <a:buChar char="•"/>
            </a:pPr>
            <a:r>
              <a:rPr lang="en-US" sz="1200" dirty="0">
                <a:solidFill>
                  <a:srgbClr val="1B1F2A"/>
                </a:solidFill>
              </a:rPr>
              <a:t>Delivery payments are collected on a contractual milestone ahead of handover (see risks).</a:t>
            </a:r>
            <a:endParaRPr lang="en-US" sz="1200" dirty="0"/>
          </a:p>
        </p:txBody>
      </p:sp>
      <p:sp>
        <p:nvSpPr>
          <p:cNvPr id="7" name="Text 2"/>
          <p:cNvSpPr txBox="1"/>
          <p:nvPr/>
        </p:nvSpPr>
        <p:spPr>
          <a:xfrm>
            <a:off x="548640" y="6035040"/>
            <a:ext cx="11064240" cy="274320"/>
          </a:xfrm>
          <a:prstGeom prst="rect">
            <a:avLst/>
          </a:prstGeom>
          <a:noFill/>
          <a:ln/>
        </p:spPr>
        <p:txBody>
          <a:bodyPr wrap="square" lIns="0" tIns="0" rIns="0" bIns="0" rtlCol="0" anchor="ctr"/>
          <a:lstStyle/>
          <a:p>
            <a:pPr indent="0" marL="0">
              <a:buNone/>
            </a:pPr>
            <a:r>
              <a:rPr lang="en-US" sz="900" i="1" dirty="0">
                <a:solidFill>
                  <a:srgbClr val="6B7280"/>
                </a:solidFill>
              </a:rPr>
              <a:t>Source: Jalour financial model (sales sheet). Prices are model assumptions; see slide 5 for market evidence.</a:t>
            </a:r>
            <a:endParaRPr lang="en-US" sz="900" dirty="0"/>
          </a:p>
        </p:txBody>
      </p:sp>
      <p:sp>
        <p:nvSpPr>
          <p:cNvPr id="25" name="Slide Number Placeholder 0"/>
          <p:cNvSpPr>
            <a:spLocks noGrp="1"/>
          </p:cNvSpPr>
          <p:nvPr>
            <p:ph type="sldNum" sz="quarter" idx="4294967295"/>
          </p:nvPr>
        </p:nvSpPr>
        <p:spPr>
          <a:xfrm>
            <a:off x="11155680" y="6446520"/>
            <a:ext cx="548640" cy="274320"/>
          </a:xfrm>
          <a:prstGeom prst="rect">
            <a:avLst/>
          </a:prstGeom>
          <a:extLst>
            <a:ext uri="{C572A759-6A51-4108-AA02-DFA0A04FC94B}">
              <ma14:wrappingTextBoxFlag xmlns:ma14="http://schemas.microsoft.com/office/mac/drawingml/2011/main" val="0"/>
            </a:ext>
          </a:extLst>
        </p:spPr>
        <p:txBody>
          <a:bodyPr/>
          <a:lstStyle>
            <a:lvl1pPr>
              <a:defRPr sz="900">
                <a:solidFill>
                  <a:srgbClr val="6B7280"/>
                </a:solidFill>
              </a:defRPr>
            </a:lvl1pPr>
          </a:lstStyle>
          <a:p>
            <a:pPr algn="l"/>
            <a:fld id="{F7021451-1387-4CA6-816F-3879F97B5CBC}" type="slidenum">
              <a:rPr b="0" lang="en-US"/>
              <a:t>9</a:t>
            </a:fld>
            <a:endParaRPr lang="en-US"/>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spTree>
      <p:nvGrpSpPr>
        <p:cNvPr id="1" name=""/>
        <p:cNvGrpSpPr/>
        <p:nvPr/>
      </p:nvGrpSpPr>
      <p:grpSpPr>
        <a:xfrm>
          <a:off x="0" y="0"/>
          <a:ext cx="0" cy="0"/>
          <a:chOff x="0" y="0"/>
          <a:chExt cx="0" cy="0"/>
        </a:xfrm>
      </p:grpSpPr>
      <p:sp>
        <p:nvSpPr>
          <p:cNvPr id="2" name="Text 0"/>
          <p:cNvSpPr txBox="1"/>
          <p:nvPr/>
        </p:nvSpPr>
        <p:spPr>
          <a:xfrm>
            <a:off x="548640" y="320040"/>
            <a:ext cx="11064240" cy="822960"/>
          </a:xfrm>
          <a:prstGeom prst="rect">
            <a:avLst/>
          </a:prstGeom>
          <a:noFill/>
          <a:ln/>
        </p:spPr>
        <p:txBody>
          <a:bodyPr wrap="square" lIns="0" tIns="0" rIns="0" bIns="0" rtlCol="0" anchor="ctr">
            <a:normAutofit/>
          </a:bodyPr>
          <a:lstStyle/>
          <a:p>
            <a:pPr indent="0" marL="0">
              <a:buNone/>
            </a:pPr>
            <a:r>
              <a:rPr lang="en-US" sz="2800" b="1" dirty="0">
                <a:solidFill>
                  <a:srgbClr val="17324D"/>
                </a:solidFill>
                <a:latin typeface="Cambria" pitchFamily="34" charset="0"/>
                <a:ea typeface="Cambria" pitchFamily="34" charset="-122"/>
                <a:cs typeface="Cambria" pitchFamily="34" charset="-120"/>
              </a:rPr>
              <a:t>Collections, costs and cash flow</a:t>
            </a:r>
            <a:endParaRPr lang="en-US" sz="2800" dirty="0"/>
          </a:p>
        </p:txBody>
      </p:sp>
      <p:graphicFrame>
        <p:nvGraphicFramePr>
          <p:cNvPr id="4" name="Chart 0" descr=""/>
          <p:cNvGraphicFramePr/>
          <p:nvPr/>
        </p:nvGraphicFramePr>
        <p:xfrm>
          <a:off x="548640" y="1280160"/>
          <a:ext cx="7498080" cy="4572000"/>
        </p:xfrm>
        <a:graphic xmlns:a="http://schemas.openxmlformats.org/drawingml/2006/main">
          <a:graphicData uri="http://schemas.openxmlformats.org/drawingml/2006/chart">
            <c:chart xmlns:c="http://schemas.openxmlformats.org/drawingml/2006/chart" r:id="rId1"/>
          </a:graphicData>
        </a:graphic>
      </p:graphicFrame>
      <p:sp>
        <p:nvSpPr>
          <p:cNvPr id="5" name="Shape 1"/>
          <p:cNvSpPr/>
          <p:nvPr/>
        </p:nvSpPr>
        <p:spPr>
          <a:xfrm>
            <a:off x="8321040" y="1371600"/>
            <a:ext cx="3291840" cy="1417320"/>
          </a:xfrm>
          <a:prstGeom prst="rect">
            <a:avLst/>
          </a:prstGeom>
          <a:solidFill>
            <a:srgbClr val="F2F4F7"/>
          </a:solidFill>
          <a:ln w="12700">
            <a:solidFill>
              <a:srgbClr val="F2F4F7"/>
            </a:solidFill>
            <a:prstDash val="solid"/>
          </a:ln>
        </p:spPr>
      </p:sp>
      <p:sp>
        <p:nvSpPr>
          <p:cNvPr id="6" name="Text 2"/>
          <p:cNvSpPr txBox="1"/>
          <p:nvPr/>
        </p:nvSpPr>
        <p:spPr>
          <a:xfrm>
            <a:off x="8503920" y="1481328"/>
            <a:ext cx="2926080" cy="731520"/>
          </a:xfrm>
          <a:prstGeom prst="rect">
            <a:avLst/>
          </a:prstGeom>
          <a:noFill/>
          <a:ln/>
        </p:spPr>
        <p:txBody>
          <a:bodyPr wrap="square" lIns="0" tIns="0" rIns="0" bIns="0" rtlCol="0" anchor="ctr">
            <a:normAutofit/>
          </a:bodyPr>
          <a:lstStyle/>
          <a:p>
            <a:pPr indent="0" marL="0">
              <a:buNone/>
            </a:pPr>
            <a:r>
              <a:rPr lang="en-US" sz="3000" b="1" dirty="0">
                <a:solidFill>
                  <a:srgbClr val="17324D"/>
                </a:solidFill>
                <a:latin typeface="Cambria" pitchFamily="34" charset="0"/>
                <a:ea typeface="Cambria" pitchFamily="34" charset="-122"/>
                <a:cs typeface="Cambria" pitchFamily="34" charset="-120"/>
              </a:rPr>
              <a:t>375</a:t>
            </a:r>
            <a:endParaRPr lang="en-US" sz="3000" dirty="0"/>
          </a:p>
        </p:txBody>
      </p:sp>
      <p:sp>
        <p:nvSpPr>
          <p:cNvPr id="7" name="Text 3"/>
          <p:cNvSpPr txBox="1"/>
          <p:nvPr/>
        </p:nvSpPr>
        <p:spPr>
          <a:xfrm>
            <a:off x="8503920" y="2212848"/>
            <a:ext cx="2926080" cy="502920"/>
          </a:xfrm>
          <a:prstGeom prst="rect">
            <a:avLst/>
          </a:prstGeom>
          <a:noFill/>
          <a:ln/>
        </p:spPr>
        <p:txBody>
          <a:bodyPr wrap="square" lIns="0" tIns="0" rIns="0" bIns="0" rtlCol="0" anchor="t"/>
          <a:lstStyle/>
          <a:p>
            <a:pPr indent="0" marL="0">
              <a:buNone/>
            </a:pPr>
            <a:r>
              <a:rPr lang="en-US" sz="1200" dirty="0">
                <a:solidFill>
                  <a:srgbClr val="6B7280"/>
                </a:solidFill>
              </a:rPr>
              <a:t>Jalour net cash flow, nominal, EGP million</a:t>
            </a:r>
            <a:endParaRPr lang="en-US" sz="1200" dirty="0"/>
          </a:p>
        </p:txBody>
      </p:sp>
      <p:sp>
        <p:nvSpPr>
          <p:cNvPr id="8" name="Shape 4"/>
          <p:cNvSpPr/>
          <p:nvPr/>
        </p:nvSpPr>
        <p:spPr>
          <a:xfrm>
            <a:off x="8321040" y="2926080"/>
            <a:ext cx="3291840" cy="1417320"/>
          </a:xfrm>
          <a:prstGeom prst="rect">
            <a:avLst/>
          </a:prstGeom>
          <a:solidFill>
            <a:srgbClr val="F2F4F7"/>
          </a:solidFill>
          <a:ln w="12700">
            <a:solidFill>
              <a:srgbClr val="F2F4F7"/>
            </a:solidFill>
            <a:prstDash val="solid"/>
          </a:ln>
        </p:spPr>
      </p:sp>
      <p:sp>
        <p:nvSpPr>
          <p:cNvPr id="9" name="Text 5"/>
          <p:cNvSpPr txBox="1"/>
          <p:nvPr/>
        </p:nvSpPr>
        <p:spPr>
          <a:xfrm>
            <a:off x="8503920" y="3035808"/>
            <a:ext cx="2926080" cy="731520"/>
          </a:xfrm>
          <a:prstGeom prst="rect">
            <a:avLst/>
          </a:prstGeom>
          <a:noFill/>
          <a:ln/>
        </p:spPr>
        <p:txBody>
          <a:bodyPr wrap="square" lIns="0" tIns="0" rIns="0" bIns="0" rtlCol="0" anchor="ctr">
            <a:normAutofit/>
          </a:bodyPr>
          <a:lstStyle/>
          <a:p>
            <a:pPr indent="0" marL="0">
              <a:buNone/>
            </a:pPr>
            <a:r>
              <a:rPr lang="en-US" sz="3000" b="1" dirty="0">
                <a:solidFill>
                  <a:srgbClr val="17324D"/>
                </a:solidFill>
                <a:latin typeface="Cambria" pitchFamily="34" charset="0"/>
                <a:ea typeface="Cambria" pitchFamily="34" charset="-122"/>
                <a:cs typeface="Cambria" pitchFamily="34" charset="-120"/>
              </a:rPr>
              <a:t>215</a:t>
            </a:r>
            <a:endParaRPr lang="en-US" sz="3000" dirty="0"/>
          </a:p>
        </p:txBody>
      </p:sp>
      <p:sp>
        <p:nvSpPr>
          <p:cNvPr id="10" name="Text 6"/>
          <p:cNvSpPr txBox="1"/>
          <p:nvPr/>
        </p:nvSpPr>
        <p:spPr>
          <a:xfrm>
            <a:off x="8503920" y="3767328"/>
            <a:ext cx="2926080" cy="502920"/>
          </a:xfrm>
          <a:prstGeom prst="rect">
            <a:avLst/>
          </a:prstGeom>
          <a:noFill/>
          <a:ln/>
        </p:spPr>
        <p:txBody>
          <a:bodyPr wrap="square" lIns="0" tIns="0" rIns="0" bIns="0" rtlCol="0" anchor="t"/>
          <a:lstStyle/>
          <a:p>
            <a:pPr indent="0" marL="0">
              <a:buNone/>
            </a:pPr>
            <a:r>
              <a:rPr lang="en-US" sz="1200" dirty="0">
                <a:solidFill>
                  <a:srgbClr val="6B7280"/>
                </a:solidFill>
              </a:rPr>
              <a:t>NPV at 14%, EGP million</a:t>
            </a:r>
            <a:endParaRPr lang="en-US" sz="1200" dirty="0"/>
          </a:p>
        </p:txBody>
      </p:sp>
      <p:sp>
        <p:nvSpPr>
          <p:cNvPr id="11" name="Shape 7"/>
          <p:cNvSpPr/>
          <p:nvPr/>
        </p:nvSpPr>
        <p:spPr>
          <a:xfrm>
            <a:off x="8321040" y="4480560"/>
            <a:ext cx="3291840" cy="1417320"/>
          </a:xfrm>
          <a:prstGeom prst="rect">
            <a:avLst/>
          </a:prstGeom>
          <a:solidFill>
            <a:srgbClr val="F2F4F7"/>
          </a:solidFill>
          <a:ln w="12700">
            <a:solidFill>
              <a:srgbClr val="F2F4F7"/>
            </a:solidFill>
            <a:prstDash val="solid"/>
          </a:ln>
        </p:spPr>
      </p:sp>
      <p:sp>
        <p:nvSpPr>
          <p:cNvPr id="12" name="Text 8"/>
          <p:cNvSpPr txBox="1"/>
          <p:nvPr/>
        </p:nvSpPr>
        <p:spPr>
          <a:xfrm>
            <a:off x="8503920" y="4590288"/>
            <a:ext cx="2926080" cy="731520"/>
          </a:xfrm>
          <a:prstGeom prst="rect">
            <a:avLst/>
          </a:prstGeom>
          <a:noFill/>
          <a:ln/>
        </p:spPr>
        <p:txBody>
          <a:bodyPr wrap="square" lIns="0" tIns="0" rIns="0" bIns="0" rtlCol="0" anchor="ctr">
            <a:normAutofit/>
          </a:bodyPr>
          <a:lstStyle/>
          <a:p>
            <a:pPr indent="0" marL="0">
              <a:buNone/>
            </a:pPr>
            <a:r>
              <a:rPr lang="en-US" sz="3000" b="1" dirty="0">
                <a:solidFill>
                  <a:srgbClr val="17324D"/>
                </a:solidFill>
                <a:latin typeface="Cambria" pitchFamily="34" charset="0"/>
                <a:ea typeface="Cambria" pitchFamily="34" charset="-122"/>
                <a:cs typeface="Cambria" pitchFamily="34" charset="-120"/>
              </a:rPr>
              <a:t>102.5</a:t>
            </a:r>
            <a:endParaRPr lang="en-US" sz="3000" dirty="0"/>
          </a:p>
        </p:txBody>
      </p:sp>
      <p:sp>
        <p:nvSpPr>
          <p:cNvPr id="13" name="Text 9"/>
          <p:cNvSpPr txBox="1"/>
          <p:nvPr/>
        </p:nvSpPr>
        <p:spPr>
          <a:xfrm>
            <a:off x="8503920" y="5321808"/>
            <a:ext cx="2926080" cy="502920"/>
          </a:xfrm>
          <a:prstGeom prst="rect">
            <a:avLst/>
          </a:prstGeom>
          <a:noFill/>
          <a:ln/>
        </p:spPr>
        <p:txBody>
          <a:bodyPr wrap="square" lIns="0" tIns="0" rIns="0" bIns="0" rtlCol="0" anchor="t"/>
          <a:lstStyle/>
          <a:p>
            <a:pPr indent="0" marL="0">
              <a:buNone/>
            </a:pPr>
            <a:r>
              <a:rPr lang="en-US" sz="1200" dirty="0">
                <a:solidFill>
                  <a:srgbClr val="6B7280"/>
                </a:solidFill>
              </a:rPr>
              <a:t>Peak cumulative shortage, EGP million (month 6)</a:t>
            </a:r>
            <a:endParaRPr lang="en-US" sz="1200" dirty="0"/>
          </a:p>
        </p:txBody>
      </p:sp>
      <p:sp>
        <p:nvSpPr>
          <p:cNvPr id="14" name="Text 10"/>
          <p:cNvSpPr txBox="1"/>
          <p:nvPr/>
        </p:nvSpPr>
        <p:spPr>
          <a:xfrm>
            <a:off x="548640" y="6035040"/>
            <a:ext cx="11064240" cy="274320"/>
          </a:xfrm>
          <a:prstGeom prst="rect">
            <a:avLst/>
          </a:prstGeom>
          <a:noFill/>
          <a:ln/>
        </p:spPr>
        <p:txBody>
          <a:bodyPr wrap="square" lIns="0" tIns="0" rIns="0" bIns="0" rtlCol="0" anchor="ctr"/>
          <a:lstStyle/>
          <a:p>
            <a:pPr indent="0" marL="0">
              <a:buNone/>
            </a:pPr>
            <a:r>
              <a:rPr lang="en-US" sz="900" i="1" dirty="0">
                <a:solidFill>
                  <a:srgbClr val="6B7280"/>
                </a:solidFill>
              </a:rPr>
              <a:t>Source: Jalour financial model; Financial Annex, Project_CF sheet. Project years: Y1 = months 1 to 12. Excludes the 20% of units retained by Jalour.</a:t>
            </a:r>
            <a:endParaRPr lang="en-US" sz="900" dirty="0"/>
          </a:p>
        </p:txBody>
      </p:sp>
      <p:sp>
        <p:nvSpPr>
          <p:cNvPr id="25" name="Slide Number Placeholder 0"/>
          <p:cNvSpPr>
            <a:spLocks noGrp="1"/>
          </p:cNvSpPr>
          <p:nvPr>
            <p:ph type="sldNum" sz="quarter" idx="4294967295"/>
          </p:nvPr>
        </p:nvSpPr>
        <p:spPr>
          <a:xfrm>
            <a:off x="11155680" y="6446520"/>
            <a:ext cx="548640" cy="274320"/>
          </a:xfrm>
          <a:prstGeom prst="rect">
            <a:avLst/>
          </a:prstGeom>
          <a:extLst>
            <a:ext uri="{C572A759-6A51-4108-AA02-DFA0A04FC94B}">
              <ma14:wrappingTextBoxFlag xmlns:ma14="http://schemas.microsoft.com/office/mac/drawingml/2011/main" val="0"/>
            </a:ext>
          </a:extLst>
        </p:spPr>
        <p:txBody>
          <a:bodyPr/>
          <a:lstStyle>
            <a:lvl1pPr>
              <a:defRPr sz="900">
                <a:solidFill>
                  <a:srgbClr val="6B7280"/>
                </a:solidFill>
              </a:defRPr>
            </a:lvl1pPr>
          </a:lstStyle>
          <a:p>
            <a:pPr algn="l"/>
            <a:fld id="{F7021451-1387-4CA6-816F-3879F97B5CBC}" type="slidenum">
              <a:rPr b="0" lang="en-US"/>
              <a:t>10</a:t>
            </a:fld>
            <a:endParaRPr lang="en-US"/>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spTree>
      <p:nvGrpSpPr>
        <p:cNvPr id="1" name=""/>
        <p:cNvGrpSpPr/>
        <p:nvPr/>
      </p:nvGrpSpPr>
      <p:grpSpPr>
        <a:xfrm>
          <a:off x="0" y="0"/>
          <a:ext cx="0" cy="0"/>
          <a:chOff x="0" y="0"/>
          <a:chExt cx="0" cy="0"/>
        </a:xfrm>
      </p:grpSpPr>
      <p:sp>
        <p:nvSpPr>
          <p:cNvPr id="2" name="Text 0"/>
          <p:cNvSpPr txBox="1"/>
          <p:nvPr/>
        </p:nvSpPr>
        <p:spPr>
          <a:xfrm>
            <a:off x="548640" y="320040"/>
            <a:ext cx="11064240" cy="822960"/>
          </a:xfrm>
          <a:prstGeom prst="rect">
            <a:avLst/>
          </a:prstGeom>
          <a:noFill/>
          <a:ln/>
        </p:spPr>
        <p:txBody>
          <a:bodyPr wrap="square" lIns="0" tIns="0" rIns="0" bIns="0" rtlCol="0" anchor="ctr">
            <a:normAutofit/>
          </a:bodyPr>
          <a:lstStyle/>
          <a:p>
            <a:pPr indent="0" marL="0">
              <a:buNone/>
            </a:pPr>
            <a:r>
              <a:rPr lang="en-US" sz="2800" b="1" dirty="0">
                <a:solidFill>
                  <a:srgbClr val="17324D"/>
                </a:solidFill>
                <a:latin typeface="Cambria" pitchFamily="34" charset="0"/>
                <a:ea typeface="Cambria" pitchFamily="34" charset="-122"/>
                <a:cs typeface="Cambria" pitchFamily="34" charset="-120"/>
              </a:rPr>
              <a:t>Sources and uses of funds</a:t>
            </a:r>
            <a:endParaRPr lang="en-US" sz="2800" dirty="0"/>
          </a:p>
        </p:txBody>
      </p:sp>
      <p:graphicFrame>
        <p:nvGraphicFramePr>
          <p:cNvPr id="12" name="Table 0"/>
          <p:cNvGraphicFramePr>
            <a:graphicFrameLocks noGrp="1"/>
          </p:cNvGraphicFramePr>
          <p:nvPr>
            <p:extLst>
              <p:ext uri="{D42A27DB-BD31-4B8C-83A1-F6EECF244321}">
                <p14:modId xmlns:p14="http://schemas.microsoft.com/office/powerpoint/2010/main" val="1579011935"/>
              </p:ext>
            </p:extLst>
          </p:nvPr>
        </p:nvGraphicFramePr>
        <p:xfrm>
          <a:off x="548640" y="1371600"/>
          <a:ext cx="5486400" cy="914400"/>
        </p:xfrm>
        <a:graphic>
          <a:graphicData uri="http://schemas.openxmlformats.org/drawingml/2006/table">
            <a:tbl>
              <a:tblPr/>
              <a:tblGrid>
                <a:gridCol w="3931920"/>
                <a:gridCol w="1554480"/>
              </a:tblGrid>
              <a:tr h="502920">
                <a:tc>
                  <a:txBody>
                    <a:bodyPr/>
                    <a:lstStyle/>
                    <a:p>
                      <a:pPr algn="l" indent="0" marL="0">
                        <a:buNone/>
                      </a:pPr>
                      <a:r>
                        <a:rPr lang="en-US" sz="1300" b="1" dirty="0">
                          <a:solidFill>
                            <a:srgbClr val="FFFFFF"/>
                          </a:solidFill>
                        </a:rPr>
                        <a:t>Uses</a:t>
                      </a:r>
                      <a:endParaRPr lang="en-US" sz="1300" dirty="0"/>
                    </a:p>
                  </a:txBody>
                  <a:tcPr marL="73152" marR="73152" marT="36576" marB="36576" anchor="ctr">
                    <a:lnL w="6350" cap="flat" cmpd="sng" algn="ctr">
                      <a:solidFill>
                        <a:srgbClr val="D5DAE1"/>
                      </a:solidFill>
                      <a:prstDash val="solid"/>
                      <a:round/>
                      <a:headEnd type="none" w="med" len="med"/>
                      <a:tailEnd type="none" w="med" len="med"/>
                    </a:lnL>
                    <a:lnR w="6350" cap="flat" cmpd="sng" algn="ctr">
                      <a:solidFill>
                        <a:srgbClr val="D5DAE1"/>
                      </a:solidFill>
                      <a:prstDash val="solid"/>
                      <a:round/>
                      <a:headEnd type="none" w="med" len="med"/>
                      <a:tailEnd type="none" w="med" len="med"/>
                    </a:lnR>
                    <a:lnT w="6350" cap="flat" cmpd="sng" algn="ctr">
                      <a:solidFill>
                        <a:srgbClr val="D5DAE1"/>
                      </a:solidFill>
                      <a:prstDash val="solid"/>
                      <a:round/>
                      <a:headEnd type="none" w="med" len="med"/>
                      <a:tailEnd type="none" w="med" len="med"/>
                    </a:lnT>
                    <a:lnB w="6350" cap="flat" cmpd="sng" algn="ctr">
                      <a:solidFill>
                        <a:srgbClr val="D5DAE1"/>
                      </a:solidFill>
                      <a:prstDash val="solid"/>
                      <a:round/>
                      <a:headEnd type="none" w="med" len="med"/>
                      <a:tailEnd type="none" w="med" len="med"/>
                    </a:lnB>
                    <a:solidFill>
                      <a:srgbClr val="17324D"/>
                    </a:solidFill>
                  </a:tcPr>
                </a:tc>
                <a:tc>
                  <a:txBody>
                    <a:bodyPr/>
                    <a:lstStyle/>
                    <a:p>
                      <a:pPr algn="r" indent="0" marL="0">
                        <a:buNone/>
                      </a:pPr>
                      <a:r>
                        <a:rPr lang="en-US" sz="1300" b="1" dirty="0">
                          <a:solidFill>
                            <a:srgbClr val="FFFFFF"/>
                          </a:solidFill>
                        </a:rPr>
                        <a:t>EGP million</a:t>
                      </a:r>
                      <a:endParaRPr lang="en-US" sz="1300" dirty="0"/>
                    </a:p>
                  </a:txBody>
                  <a:tcPr marL="73152" marR="73152" marT="36576" marB="36576" anchor="ctr">
                    <a:lnL w="6350" cap="flat" cmpd="sng" algn="ctr">
                      <a:solidFill>
                        <a:srgbClr val="D5DAE1"/>
                      </a:solidFill>
                      <a:prstDash val="solid"/>
                      <a:round/>
                      <a:headEnd type="none" w="med" len="med"/>
                      <a:tailEnd type="none" w="med" len="med"/>
                    </a:lnL>
                    <a:lnR w="6350" cap="flat" cmpd="sng" algn="ctr">
                      <a:solidFill>
                        <a:srgbClr val="D5DAE1"/>
                      </a:solidFill>
                      <a:prstDash val="solid"/>
                      <a:round/>
                      <a:headEnd type="none" w="med" len="med"/>
                      <a:tailEnd type="none" w="med" len="med"/>
                    </a:lnR>
                    <a:lnT w="6350" cap="flat" cmpd="sng" algn="ctr">
                      <a:solidFill>
                        <a:srgbClr val="D5DAE1"/>
                      </a:solidFill>
                      <a:prstDash val="solid"/>
                      <a:round/>
                      <a:headEnd type="none" w="med" len="med"/>
                      <a:tailEnd type="none" w="med" len="med"/>
                    </a:lnT>
                    <a:lnB w="6350" cap="flat" cmpd="sng" algn="ctr">
                      <a:solidFill>
                        <a:srgbClr val="D5DAE1"/>
                      </a:solidFill>
                      <a:prstDash val="solid"/>
                      <a:round/>
                      <a:headEnd type="none" w="med" len="med"/>
                      <a:tailEnd type="none" w="med" len="med"/>
                    </a:lnB>
                    <a:solidFill>
                      <a:srgbClr val="17324D"/>
                    </a:solidFill>
                  </a:tcPr>
                </a:tc>
              </a:tr>
              <a:tr h="502920">
                <a:tc>
                  <a:txBody>
                    <a:bodyPr/>
                    <a:lstStyle/>
                    <a:p>
                      <a:pPr algn="l" indent="0" marL="0">
                        <a:buNone/>
                      </a:pPr>
                      <a:r>
                        <a:rPr lang="en-US" sz="1300" dirty="0">
                          <a:solidFill>
                            <a:srgbClr val="1B1F2A"/>
                          </a:solidFill>
                        </a:rPr>
                        <a:t>Down payment to landowner</a:t>
                      </a:r>
                      <a:endParaRPr lang="en-US" sz="1300" dirty="0"/>
                    </a:p>
                  </a:txBody>
                  <a:tcPr marL="73152" marR="73152" marT="36576" marB="36576" anchor="ctr">
                    <a:lnL w="6350" cap="flat" cmpd="sng" algn="ctr">
                      <a:solidFill>
                        <a:srgbClr val="D5DAE1"/>
                      </a:solidFill>
                      <a:prstDash val="solid"/>
                      <a:round/>
                      <a:headEnd type="none" w="med" len="med"/>
                      <a:tailEnd type="none" w="med" len="med"/>
                    </a:lnL>
                    <a:lnR w="6350" cap="flat" cmpd="sng" algn="ctr">
                      <a:solidFill>
                        <a:srgbClr val="D5DAE1"/>
                      </a:solidFill>
                      <a:prstDash val="solid"/>
                      <a:round/>
                      <a:headEnd type="none" w="med" len="med"/>
                      <a:tailEnd type="none" w="med" len="med"/>
                    </a:lnR>
                    <a:lnT w="6350" cap="flat" cmpd="sng" algn="ctr">
                      <a:solidFill>
                        <a:srgbClr val="D5DAE1"/>
                      </a:solidFill>
                      <a:prstDash val="solid"/>
                      <a:round/>
                      <a:headEnd type="none" w="med" len="med"/>
                      <a:tailEnd type="none" w="med" len="med"/>
                    </a:lnT>
                    <a:lnB w="6350" cap="flat" cmpd="sng" algn="ctr">
                      <a:solidFill>
                        <a:srgbClr val="D5DAE1"/>
                      </a:solidFill>
                      <a:prstDash val="solid"/>
                      <a:round/>
                      <a:headEnd type="none" w="med" len="med"/>
                      <a:tailEnd type="none" w="med" len="med"/>
                    </a:lnB>
                    <a:solidFill>
                      <a:srgbClr val="FFFFFF"/>
                    </a:solidFill>
                  </a:tcPr>
                </a:tc>
                <a:tc>
                  <a:txBody>
                    <a:bodyPr/>
                    <a:lstStyle/>
                    <a:p>
                      <a:pPr algn="r" indent="0" marL="0">
                        <a:buNone/>
                      </a:pPr>
                      <a:r>
                        <a:rPr lang="en-US" sz="1300" dirty="0">
                          <a:solidFill>
                            <a:srgbClr val="1B1F2A"/>
                          </a:solidFill>
                        </a:rPr>
                        <a:t>80.0</a:t>
                      </a:r>
                      <a:endParaRPr lang="en-US" sz="1300" dirty="0"/>
                    </a:p>
                  </a:txBody>
                  <a:tcPr marL="73152" marR="73152" marT="36576" marB="36576" anchor="ctr">
                    <a:lnL w="6350" cap="flat" cmpd="sng" algn="ctr">
                      <a:solidFill>
                        <a:srgbClr val="D5DAE1"/>
                      </a:solidFill>
                      <a:prstDash val="solid"/>
                      <a:round/>
                      <a:headEnd type="none" w="med" len="med"/>
                      <a:tailEnd type="none" w="med" len="med"/>
                    </a:lnL>
                    <a:lnR w="6350" cap="flat" cmpd="sng" algn="ctr">
                      <a:solidFill>
                        <a:srgbClr val="D5DAE1"/>
                      </a:solidFill>
                      <a:prstDash val="solid"/>
                      <a:round/>
                      <a:headEnd type="none" w="med" len="med"/>
                      <a:tailEnd type="none" w="med" len="med"/>
                    </a:lnR>
                    <a:lnT w="6350" cap="flat" cmpd="sng" algn="ctr">
                      <a:solidFill>
                        <a:srgbClr val="D5DAE1"/>
                      </a:solidFill>
                      <a:prstDash val="solid"/>
                      <a:round/>
                      <a:headEnd type="none" w="med" len="med"/>
                      <a:tailEnd type="none" w="med" len="med"/>
                    </a:lnT>
                    <a:lnB w="6350" cap="flat" cmpd="sng" algn="ctr">
                      <a:solidFill>
                        <a:srgbClr val="D5DAE1"/>
                      </a:solidFill>
                      <a:prstDash val="solid"/>
                      <a:round/>
                      <a:headEnd type="none" w="med" len="med"/>
                      <a:tailEnd type="none" w="med" len="med"/>
                    </a:lnB>
                    <a:solidFill>
                      <a:srgbClr val="FFFFFF"/>
                    </a:solidFill>
                  </a:tcPr>
                </a:tc>
              </a:tr>
              <a:tr h="502920">
                <a:tc>
                  <a:txBody>
                    <a:bodyPr/>
                    <a:lstStyle/>
                    <a:p>
                      <a:pPr algn="l" indent="0" marL="0">
                        <a:buNone/>
                      </a:pPr>
                      <a:r>
                        <a:rPr lang="en-US" sz="1300" dirty="0">
                          <a:solidFill>
                            <a:srgbClr val="1B1F2A"/>
                          </a:solidFill>
                        </a:rPr>
                        <a:t>Guarantee instalments and working capital to the funding peak</a:t>
                      </a:r>
                      <a:endParaRPr lang="en-US" sz="1300" dirty="0"/>
                    </a:p>
                  </a:txBody>
                  <a:tcPr marL="73152" marR="73152" marT="36576" marB="36576" anchor="ctr">
                    <a:lnL w="6350" cap="flat" cmpd="sng" algn="ctr">
                      <a:solidFill>
                        <a:srgbClr val="D5DAE1"/>
                      </a:solidFill>
                      <a:prstDash val="solid"/>
                      <a:round/>
                      <a:headEnd type="none" w="med" len="med"/>
                      <a:tailEnd type="none" w="med" len="med"/>
                    </a:lnL>
                    <a:lnR w="6350" cap="flat" cmpd="sng" algn="ctr">
                      <a:solidFill>
                        <a:srgbClr val="D5DAE1"/>
                      </a:solidFill>
                      <a:prstDash val="solid"/>
                      <a:round/>
                      <a:headEnd type="none" w="med" len="med"/>
                      <a:tailEnd type="none" w="med" len="med"/>
                    </a:lnR>
                    <a:lnT w="6350" cap="flat" cmpd="sng" algn="ctr">
                      <a:solidFill>
                        <a:srgbClr val="D5DAE1"/>
                      </a:solidFill>
                      <a:prstDash val="solid"/>
                      <a:round/>
                      <a:headEnd type="none" w="med" len="med"/>
                      <a:tailEnd type="none" w="med" len="med"/>
                    </a:lnT>
                    <a:lnB w="6350" cap="flat" cmpd="sng" algn="ctr">
                      <a:solidFill>
                        <a:srgbClr val="D5DAE1"/>
                      </a:solidFill>
                      <a:prstDash val="solid"/>
                      <a:round/>
                      <a:headEnd type="none" w="med" len="med"/>
                      <a:tailEnd type="none" w="med" len="med"/>
                    </a:lnB>
                    <a:solidFill>
                      <a:srgbClr val="F2F4F7"/>
                    </a:solidFill>
                  </a:tcPr>
                </a:tc>
                <a:tc>
                  <a:txBody>
                    <a:bodyPr/>
                    <a:lstStyle/>
                    <a:p>
                      <a:pPr algn="r" indent="0" marL="0">
                        <a:buNone/>
                      </a:pPr>
                      <a:r>
                        <a:rPr lang="en-US" sz="1300" dirty="0">
                          <a:solidFill>
                            <a:srgbClr val="1B1F2A"/>
                          </a:solidFill>
                        </a:rPr>
                        <a:t>22.5</a:t>
                      </a:r>
                      <a:endParaRPr lang="en-US" sz="1300" dirty="0"/>
                    </a:p>
                  </a:txBody>
                  <a:tcPr marL="73152" marR="73152" marT="36576" marB="36576" anchor="ctr">
                    <a:lnL w="6350" cap="flat" cmpd="sng" algn="ctr">
                      <a:solidFill>
                        <a:srgbClr val="D5DAE1"/>
                      </a:solidFill>
                      <a:prstDash val="solid"/>
                      <a:round/>
                      <a:headEnd type="none" w="med" len="med"/>
                      <a:tailEnd type="none" w="med" len="med"/>
                    </a:lnL>
                    <a:lnR w="6350" cap="flat" cmpd="sng" algn="ctr">
                      <a:solidFill>
                        <a:srgbClr val="D5DAE1"/>
                      </a:solidFill>
                      <a:prstDash val="solid"/>
                      <a:round/>
                      <a:headEnd type="none" w="med" len="med"/>
                      <a:tailEnd type="none" w="med" len="med"/>
                    </a:lnR>
                    <a:lnT w="6350" cap="flat" cmpd="sng" algn="ctr">
                      <a:solidFill>
                        <a:srgbClr val="D5DAE1"/>
                      </a:solidFill>
                      <a:prstDash val="solid"/>
                      <a:round/>
                      <a:headEnd type="none" w="med" len="med"/>
                      <a:tailEnd type="none" w="med" len="med"/>
                    </a:lnT>
                    <a:lnB w="6350" cap="flat" cmpd="sng" algn="ctr">
                      <a:solidFill>
                        <a:srgbClr val="D5DAE1"/>
                      </a:solidFill>
                      <a:prstDash val="solid"/>
                      <a:round/>
                      <a:headEnd type="none" w="med" len="med"/>
                      <a:tailEnd type="none" w="med" len="med"/>
                    </a:lnB>
                    <a:solidFill>
                      <a:srgbClr val="F2F4F7"/>
                    </a:solidFill>
                  </a:tcPr>
                </a:tc>
              </a:tr>
              <a:tr h="502920">
                <a:tc>
                  <a:txBody>
                    <a:bodyPr/>
                    <a:lstStyle/>
                    <a:p>
                      <a:pPr algn="l" indent="0" marL="0">
                        <a:buNone/>
                      </a:pPr>
                      <a:r>
                        <a:rPr lang="en-US" sz="1300" dirty="0">
                          <a:solidFill>
                            <a:srgbClr val="1B1F2A"/>
                          </a:solidFill>
                        </a:rPr>
                        <a:t>Design, permits and pre-construction (assumption)</a:t>
                      </a:r>
                      <a:endParaRPr lang="en-US" sz="1300" dirty="0"/>
                    </a:p>
                  </a:txBody>
                  <a:tcPr marL="73152" marR="73152" marT="36576" marB="36576" anchor="ctr">
                    <a:lnL w="6350" cap="flat" cmpd="sng" algn="ctr">
                      <a:solidFill>
                        <a:srgbClr val="D5DAE1"/>
                      </a:solidFill>
                      <a:prstDash val="solid"/>
                      <a:round/>
                      <a:headEnd type="none" w="med" len="med"/>
                      <a:tailEnd type="none" w="med" len="med"/>
                    </a:lnL>
                    <a:lnR w="6350" cap="flat" cmpd="sng" algn="ctr">
                      <a:solidFill>
                        <a:srgbClr val="D5DAE1"/>
                      </a:solidFill>
                      <a:prstDash val="solid"/>
                      <a:round/>
                      <a:headEnd type="none" w="med" len="med"/>
                      <a:tailEnd type="none" w="med" len="med"/>
                    </a:lnR>
                    <a:lnT w="6350" cap="flat" cmpd="sng" algn="ctr">
                      <a:solidFill>
                        <a:srgbClr val="D5DAE1"/>
                      </a:solidFill>
                      <a:prstDash val="solid"/>
                      <a:round/>
                      <a:headEnd type="none" w="med" len="med"/>
                      <a:tailEnd type="none" w="med" len="med"/>
                    </a:lnT>
                    <a:lnB w="6350" cap="flat" cmpd="sng" algn="ctr">
                      <a:solidFill>
                        <a:srgbClr val="D5DAE1"/>
                      </a:solidFill>
                      <a:prstDash val="solid"/>
                      <a:round/>
                      <a:headEnd type="none" w="med" len="med"/>
                      <a:tailEnd type="none" w="med" len="med"/>
                    </a:lnB>
                    <a:solidFill>
                      <a:srgbClr val="FFFFFF"/>
                    </a:solidFill>
                  </a:tcPr>
                </a:tc>
                <a:tc>
                  <a:txBody>
                    <a:bodyPr/>
                    <a:lstStyle/>
                    <a:p>
                      <a:pPr algn="r" indent="0" marL="0">
                        <a:buNone/>
                      </a:pPr>
                      <a:r>
                        <a:rPr lang="en-US" sz="1300" dirty="0">
                          <a:solidFill>
                            <a:srgbClr val="1B1F2A"/>
                          </a:solidFill>
                        </a:rPr>
                        <a:t>10.5</a:t>
                      </a:r>
                      <a:endParaRPr lang="en-US" sz="1300" dirty="0"/>
                    </a:p>
                  </a:txBody>
                  <a:tcPr marL="73152" marR="73152" marT="36576" marB="36576" anchor="ctr">
                    <a:lnL w="6350" cap="flat" cmpd="sng" algn="ctr">
                      <a:solidFill>
                        <a:srgbClr val="D5DAE1"/>
                      </a:solidFill>
                      <a:prstDash val="solid"/>
                      <a:round/>
                      <a:headEnd type="none" w="med" len="med"/>
                      <a:tailEnd type="none" w="med" len="med"/>
                    </a:lnL>
                    <a:lnR w="6350" cap="flat" cmpd="sng" algn="ctr">
                      <a:solidFill>
                        <a:srgbClr val="D5DAE1"/>
                      </a:solidFill>
                      <a:prstDash val="solid"/>
                      <a:round/>
                      <a:headEnd type="none" w="med" len="med"/>
                      <a:tailEnd type="none" w="med" len="med"/>
                    </a:lnR>
                    <a:lnT w="6350" cap="flat" cmpd="sng" algn="ctr">
                      <a:solidFill>
                        <a:srgbClr val="D5DAE1"/>
                      </a:solidFill>
                      <a:prstDash val="solid"/>
                      <a:round/>
                      <a:headEnd type="none" w="med" len="med"/>
                      <a:tailEnd type="none" w="med" len="med"/>
                    </a:lnT>
                    <a:lnB w="6350" cap="flat" cmpd="sng" algn="ctr">
                      <a:solidFill>
                        <a:srgbClr val="D5DAE1"/>
                      </a:solidFill>
                      <a:prstDash val="solid"/>
                      <a:round/>
                      <a:headEnd type="none" w="med" len="med"/>
                      <a:tailEnd type="none" w="med" len="med"/>
                    </a:lnB>
                    <a:solidFill>
                      <a:srgbClr val="FFFFFF"/>
                    </a:solidFill>
                  </a:tcPr>
                </a:tc>
              </a:tr>
              <a:tr h="502920">
                <a:tc>
                  <a:txBody>
                    <a:bodyPr/>
                    <a:lstStyle/>
                    <a:p>
                      <a:pPr algn="l" indent="0" marL="0">
                        <a:buNone/>
                      </a:pPr>
                      <a:r>
                        <a:rPr lang="en-US" sz="1300" dirty="0">
                          <a:solidFill>
                            <a:srgbClr val="1B1F2A"/>
                          </a:solidFill>
                        </a:rPr>
                        <a:t>Total uses at peak</a:t>
                      </a:r>
                      <a:endParaRPr lang="en-US" sz="1300" dirty="0"/>
                    </a:p>
                  </a:txBody>
                  <a:tcPr marL="73152" marR="73152" marT="36576" marB="36576" anchor="ctr">
                    <a:lnL w="6350" cap="flat" cmpd="sng" algn="ctr">
                      <a:solidFill>
                        <a:srgbClr val="D5DAE1"/>
                      </a:solidFill>
                      <a:prstDash val="solid"/>
                      <a:round/>
                      <a:headEnd type="none" w="med" len="med"/>
                      <a:tailEnd type="none" w="med" len="med"/>
                    </a:lnL>
                    <a:lnR w="6350" cap="flat" cmpd="sng" algn="ctr">
                      <a:solidFill>
                        <a:srgbClr val="D5DAE1"/>
                      </a:solidFill>
                      <a:prstDash val="solid"/>
                      <a:round/>
                      <a:headEnd type="none" w="med" len="med"/>
                      <a:tailEnd type="none" w="med" len="med"/>
                    </a:lnR>
                    <a:lnT w="6350" cap="flat" cmpd="sng" algn="ctr">
                      <a:solidFill>
                        <a:srgbClr val="D5DAE1"/>
                      </a:solidFill>
                      <a:prstDash val="solid"/>
                      <a:round/>
                      <a:headEnd type="none" w="med" len="med"/>
                      <a:tailEnd type="none" w="med" len="med"/>
                    </a:lnT>
                    <a:lnB w="6350" cap="flat" cmpd="sng" algn="ctr">
                      <a:solidFill>
                        <a:srgbClr val="D5DAE1"/>
                      </a:solidFill>
                      <a:prstDash val="solid"/>
                      <a:round/>
                      <a:headEnd type="none" w="med" len="med"/>
                      <a:tailEnd type="none" w="med" len="med"/>
                    </a:lnB>
                    <a:solidFill>
                      <a:srgbClr val="F2F4F7"/>
                    </a:solidFill>
                  </a:tcPr>
                </a:tc>
                <a:tc>
                  <a:txBody>
                    <a:bodyPr/>
                    <a:lstStyle/>
                    <a:p>
                      <a:pPr algn="r" indent="0" marL="0">
                        <a:buNone/>
                      </a:pPr>
                      <a:r>
                        <a:rPr lang="en-US" sz="1300" dirty="0">
                          <a:solidFill>
                            <a:srgbClr val="1B1F2A"/>
                          </a:solidFill>
                        </a:rPr>
                        <a:t>113.0</a:t>
                      </a:r>
                      <a:endParaRPr lang="en-US" sz="1300" dirty="0"/>
                    </a:p>
                  </a:txBody>
                  <a:tcPr marL="73152" marR="73152" marT="36576" marB="36576" anchor="ctr">
                    <a:lnL w="6350" cap="flat" cmpd="sng" algn="ctr">
                      <a:solidFill>
                        <a:srgbClr val="D5DAE1"/>
                      </a:solidFill>
                      <a:prstDash val="solid"/>
                      <a:round/>
                      <a:headEnd type="none" w="med" len="med"/>
                      <a:tailEnd type="none" w="med" len="med"/>
                    </a:lnL>
                    <a:lnR w="6350" cap="flat" cmpd="sng" algn="ctr">
                      <a:solidFill>
                        <a:srgbClr val="D5DAE1"/>
                      </a:solidFill>
                      <a:prstDash val="solid"/>
                      <a:round/>
                      <a:headEnd type="none" w="med" len="med"/>
                      <a:tailEnd type="none" w="med" len="med"/>
                    </a:lnR>
                    <a:lnT w="6350" cap="flat" cmpd="sng" algn="ctr">
                      <a:solidFill>
                        <a:srgbClr val="D5DAE1"/>
                      </a:solidFill>
                      <a:prstDash val="solid"/>
                      <a:round/>
                      <a:headEnd type="none" w="med" len="med"/>
                      <a:tailEnd type="none" w="med" len="med"/>
                    </a:lnT>
                    <a:lnB w="6350" cap="flat" cmpd="sng" algn="ctr">
                      <a:solidFill>
                        <a:srgbClr val="D5DAE1"/>
                      </a:solidFill>
                      <a:prstDash val="solid"/>
                      <a:round/>
                      <a:headEnd type="none" w="med" len="med"/>
                      <a:tailEnd type="none" w="med" len="med"/>
                    </a:lnB>
                    <a:solidFill>
                      <a:srgbClr val="F2F4F7"/>
                    </a:solidFill>
                  </a:tcPr>
                </a:tc>
              </a:tr>
            </a:tbl>
          </a:graphicData>
        </a:graphic>
      </p:graphicFrame>
      <p:graphicFrame>
        <p:nvGraphicFramePr>
          <p:cNvPr id="23" name="Table 1"/>
          <p:cNvGraphicFramePr>
            <a:graphicFrameLocks noGrp="1"/>
          </p:cNvGraphicFramePr>
          <p:nvPr>
            <p:extLst>
              <p:ext uri="{D42A27DB-BD31-4B8C-83A1-F6EECF244321}">
                <p14:modId xmlns:p14="http://schemas.microsoft.com/office/powerpoint/2010/main" val="1579011935"/>
              </p:ext>
            </p:extLst>
          </p:nvPr>
        </p:nvGraphicFramePr>
        <p:xfrm>
          <a:off x="6309360" y="1371600"/>
          <a:ext cx="5303520" cy="914400"/>
        </p:xfrm>
        <a:graphic>
          <a:graphicData uri="http://schemas.openxmlformats.org/drawingml/2006/table">
            <a:tbl>
              <a:tblPr/>
              <a:tblGrid>
                <a:gridCol w="3108960"/>
                <a:gridCol w="1097280"/>
                <a:gridCol w="1097280"/>
              </a:tblGrid>
              <a:tr h="502920">
                <a:tc>
                  <a:txBody>
                    <a:bodyPr/>
                    <a:lstStyle/>
                    <a:p>
                      <a:pPr algn="l" indent="0" marL="0">
                        <a:buNone/>
                      </a:pPr>
                      <a:r>
                        <a:rPr lang="en-US" sz="1300" b="1" dirty="0">
                          <a:solidFill>
                            <a:srgbClr val="FFFFFF"/>
                          </a:solidFill>
                        </a:rPr>
                        <a:t>Sources</a:t>
                      </a:r>
                      <a:endParaRPr lang="en-US" sz="1300" dirty="0"/>
                    </a:p>
                  </a:txBody>
                  <a:tcPr marL="73152" marR="73152" marT="36576" marB="36576" anchor="ctr">
                    <a:lnL w="6350" cap="flat" cmpd="sng" algn="ctr">
                      <a:solidFill>
                        <a:srgbClr val="D5DAE1"/>
                      </a:solidFill>
                      <a:prstDash val="solid"/>
                      <a:round/>
                      <a:headEnd type="none" w="med" len="med"/>
                      <a:tailEnd type="none" w="med" len="med"/>
                    </a:lnL>
                    <a:lnR w="6350" cap="flat" cmpd="sng" algn="ctr">
                      <a:solidFill>
                        <a:srgbClr val="D5DAE1"/>
                      </a:solidFill>
                      <a:prstDash val="solid"/>
                      <a:round/>
                      <a:headEnd type="none" w="med" len="med"/>
                      <a:tailEnd type="none" w="med" len="med"/>
                    </a:lnR>
                    <a:lnT w="6350" cap="flat" cmpd="sng" algn="ctr">
                      <a:solidFill>
                        <a:srgbClr val="D5DAE1"/>
                      </a:solidFill>
                      <a:prstDash val="solid"/>
                      <a:round/>
                      <a:headEnd type="none" w="med" len="med"/>
                      <a:tailEnd type="none" w="med" len="med"/>
                    </a:lnT>
                    <a:lnB w="6350" cap="flat" cmpd="sng" algn="ctr">
                      <a:solidFill>
                        <a:srgbClr val="D5DAE1"/>
                      </a:solidFill>
                      <a:prstDash val="solid"/>
                      <a:round/>
                      <a:headEnd type="none" w="med" len="med"/>
                      <a:tailEnd type="none" w="med" len="med"/>
                    </a:lnB>
                    <a:solidFill>
                      <a:srgbClr val="17324D"/>
                    </a:solidFill>
                  </a:tcPr>
                </a:tc>
                <a:tc>
                  <a:txBody>
                    <a:bodyPr/>
                    <a:lstStyle/>
                    <a:p>
                      <a:pPr algn="r" indent="0" marL="0">
                        <a:buNone/>
                      </a:pPr>
                      <a:r>
                        <a:rPr lang="en-US" sz="1300" b="1" dirty="0">
                          <a:solidFill>
                            <a:srgbClr val="FFFFFF"/>
                          </a:solidFill>
                        </a:rPr>
                        <a:t>EGP million</a:t>
                      </a:r>
                      <a:endParaRPr lang="en-US" sz="1300" dirty="0"/>
                    </a:p>
                  </a:txBody>
                  <a:tcPr marL="73152" marR="73152" marT="36576" marB="36576" anchor="ctr">
                    <a:lnL w="6350" cap="flat" cmpd="sng" algn="ctr">
                      <a:solidFill>
                        <a:srgbClr val="D5DAE1"/>
                      </a:solidFill>
                      <a:prstDash val="solid"/>
                      <a:round/>
                      <a:headEnd type="none" w="med" len="med"/>
                      <a:tailEnd type="none" w="med" len="med"/>
                    </a:lnL>
                    <a:lnR w="6350" cap="flat" cmpd="sng" algn="ctr">
                      <a:solidFill>
                        <a:srgbClr val="D5DAE1"/>
                      </a:solidFill>
                      <a:prstDash val="solid"/>
                      <a:round/>
                      <a:headEnd type="none" w="med" len="med"/>
                      <a:tailEnd type="none" w="med" len="med"/>
                    </a:lnR>
                    <a:lnT w="6350" cap="flat" cmpd="sng" algn="ctr">
                      <a:solidFill>
                        <a:srgbClr val="D5DAE1"/>
                      </a:solidFill>
                      <a:prstDash val="solid"/>
                      <a:round/>
                      <a:headEnd type="none" w="med" len="med"/>
                      <a:tailEnd type="none" w="med" len="med"/>
                    </a:lnT>
                    <a:lnB w="6350" cap="flat" cmpd="sng" algn="ctr">
                      <a:solidFill>
                        <a:srgbClr val="D5DAE1"/>
                      </a:solidFill>
                      <a:prstDash val="solid"/>
                      <a:round/>
                      <a:headEnd type="none" w="med" len="med"/>
                      <a:tailEnd type="none" w="med" len="med"/>
                    </a:lnB>
                    <a:solidFill>
                      <a:srgbClr val="17324D"/>
                    </a:solidFill>
                  </a:tcPr>
                </a:tc>
                <a:tc>
                  <a:txBody>
                    <a:bodyPr/>
                    <a:lstStyle/>
                    <a:p>
                      <a:pPr algn="r" indent="0" marL="0">
                        <a:buNone/>
                      </a:pPr>
                      <a:r>
                        <a:rPr lang="en-US" sz="1300" b="1" dirty="0">
                          <a:solidFill>
                            <a:srgbClr val="FFFFFF"/>
                          </a:solidFill>
                        </a:rPr>
                        <a:t>% of uses</a:t>
                      </a:r>
                      <a:endParaRPr lang="en-US" sz="1300" dirty="0"/>
                    </a:p>
                  </a:txBody>
                  <a:tcPr marL="73152" marR="73152" marT="36576" marB="36576" anchor="ctr">
                    <a:lnL w="6350" cap="flat" cmpd="sng" algn="ctr">
                      <a:solidFill>
                        <a:srgbClr val="D5DAE1"/>
                      </a:solidFill>
                      <a:prstDash val="solid"/>
                      <a:round/>
                      <a:headEnd type="none" w="med" len="med"/>
                      <a:tailEnd type="none" w="med" len="med"/>
                    </a:lnL>
                    <a:lnR w="6350" cap="flat" cmpd="sng" algn="ctr">
                      <a:solidFill>
                        <a:srgbClr val="D5DAE1"/>
                      </a:solidFill>
                      <a:prstDash val="solid"/>
                      <a:round/>
                      <a:headEnd type="none" w="med" len="med"/>
                      <a:tailEnd type="none" w="med" len="med"/>
                    </a:lnR>
                    <a:lnT w="6350" cap="flat" cmpd="sng" algn="ctr">
                      <a:solidFill>
                        <a:srgbClr val="D5DAE1"/>
                      </a:solidFill>
                      <a:prstDash val="solid"/>
                      <a:round/>
                      <a:headEnd type="none" w="med" len="med"/>
                      <a:tailEnd type="none" w="med" len="med"/>
                    </a:lnT>
                    <a:lnB w="6350" cap="flat" cmpd="sng" algn="ctr">
                      <a:solidFill>
                        <a:srgbClr val="D5DAE1"/>
                      </a:solidFill>
                      <a:prstDash val="solid"/>
                      <a:round/>
                      <a:headEnd type="none" w="med" len="med"/>
                      <a:tailEnd type="none" w="med" len="med"/>
                    </a:lnB>
                    <a:solidFill>
                      <a:srgbClr val="17324D"/>
                    </a:solidFill>
                  </a:tcPr>
                </a:tc>
              </a:tr>
              <a:tr h="502920">
                <a:tc>
                  <a:txBody>
                    <a:bodyPr/>
                    <a:lstStyle/>
                    <a:p>
                      <a:pPr algn="l" indent="0" marL="0">
                        <a:buNone/>
                      </a:pPr>
                      <a:r>
                        <a:rPr lang="en-US" sz="1300" dirty="0">
                          <a:solidFill>
                            <a:srgbClr val="1B1F2A"/>
                          </a:solidFill>
                        </a:rPr>
                        <a:t>Investor ticket</a:t>
                      </a:r>
                      <a:endParaRPr lang="en-US" sz="1300" dirty="0"/>
                    </a:p>
                  </a:txBody>
                  <a:tcPr marL="73152" marR="73152" marT="36576" marB="36576" anchor="ctr">
                    <a:lnL w="6350" cap="flat" cmpd="sng" algn="ctr">
                      <a:solidFill>
                        <a:srgbClr val="D5DAE1"/>
                      </a:solidFill>
                      <a:prstDash val="solid"/>
                      <a:round/>
                      <a:headEnd type="none" w="med" len="med"/>
                      <a:tailEnd type="none" w="med" len="med"/>
                    </a:lnL>
                    <a:lnR w="6350" cap="flat" cmpd="sng" algn="ctr">
                      <a:solidFill>
                        <a:srgbClr val="D5DAE1"/>
                      </a:solidFill>
                      <a:prstDash val="solid"/>
                      <a:round/>
                      <a:headEnd type="none" w="med" len="med"/>
                      <a:tailEnd type="none" w="med" len="med"/>
                    </a:lnR>
                    <a:lnT w="6350" cap="flat" cmpd="sng" algn="ctr">
                      <a:solidFill>
                        <a:srgbClr val="D5DAE1"/>
                      </a:solidFill>
                      <a:prstDash val="solid"/>
                      <a:round/>
                      <a:headEnd type="none" w="med" len="med"/>
                      <a:tailEnd type="none" w="med" len="med"/>
                    </a:lnT>
                    <a:lnB w="6350" cap="flat" cmpd="sng" algn="ctr">
                      <a:solidFill>
                        <a:srgbClr val="D5DAE1"/>
                      </a:solidFill>
                      <a:prstDash val="solid"/>
                      <a:round/>
                      <a:headEnd type="none" w="med" len="med"/>
                      <a:tailEnd type="none" w="med" len="med"/>
                    </a:lnB>
                    <a:solidFill>
                      <a:srgbClr val="FFFFFF"/>
                    </a:solidFill>
                  </a:tcPr>
                </a:tc>
                <a:tc>
                  <a:txBody>
                    <a:bodyPr/>
                    <a:lstStyle/>
                    <a:p>
                      <a:pPr algn="r" indent="0" marL="0">
                        <a:buNone/>
                      </a:pPr>
                      <a:r>
                        <a:rPr lang="en-US" sz="1300" dirty="0">
                          <a:solidFill>
                            <a:srgbClr val="1B1F2A"/>
                          </a:solidFill>
                        </a:rPr>
                        <a:t>75.0</a:t>
                      </a:r>
                      <a:endParaRPr lang="en-US" sz="1300" dirty="0"/>
                    </a:p>
                  </a:txBody>
                  <a:tcPr marL="73152" marR="73152" marT="36576" marB="36576" anchor="ctr">
                    <a:lnL w="6350" cap="flat" cmpd="sng" algn="ctr">
                      <a:solidFill>
                        <a:srgbClr val="D5DAE1"/>
                      </a:solidFill>
                      <a:prstDash val="solid"/>
                      <a:round/>
                      <a:headEnd type="none" w="med" len="med"/>
                      <a:tailEnd type="none" w="med" len="med"/>
                    </a:lnL>
                    <a:lnR w="6350" cap="flat" cmpd="sng" algn="ctr">
                      <a:solidFill>
                        <a:srgbClr val="D5DAE1"/>
                      </a:solidFill>
                      <a:prstDash val="solid"/>
                      <a:round/>
                      <a:headEnd type="none" w="med" len="med"/>
                      <a:tailEnd type="none" w="med" len="med"/>
                    </a:lnR>
                    <a:lnT w="6350" cap="flat" cmpd="sng" algn="ctr">
                      <a:solidFill>
                        <a:srgbClr val="D5DAE1"/>
                      </a:solidFill>
                      <a:prstDash val="solid"/>
                      <a:round/>
                      <a:headEnd type="none" w="med" len="med"/>
                      <a:tailEnd type="none" w="med" len="med"/>
                    </a:lnT>
                    <a:lnB w="6350" cap="flat" cmpd="sng" algn="ctr">
                      <a:solidFill>
                        <a:srgbClr val="D5DAE1"/>
                      </a:solidFill>
                      <a:prstDash val="solid"/>
                      <a:round/>
                      <a:headEnd type="none" w="med" len="med"/>
                      <a:tailEnd type="none" w="med" len="med"/>
                    </a:lnB>
                    <a:solidFill>
                      <a:srgbClr val="FFFFFF"/>
                    </a:solidFill>
                  </a:tcPr>
                </a:tc>
                <a:tc>
                  <a:txBody>
                    <a:bodyPr/>
                    <a:lstStyle/>
                    <a:p>
                      <a:pPr algn="r" indent="0" marL="0">
                        <a:buNone/>
                      </a:pPr>
                      <a:r>
                        <a:rPr lang="en-US" sz="1300" dirty="0">
                          <a:solidFill>
                            <a:srgbClr val="1B1F2A"/>
                          </a:solidFill>
                        </a:rPr>
                        <a:t>66%</a:t>
                      </a:r>
                      <a:endParaRPr lang="en-US" sz="1300" dirty="0"/>
                    </a:p>
                  </a:txBody>
                  <a:tcPr marL="73152" marR="73152" marT="36576" marB="36576" anchor="ctr">
                    <a:lnL w="6350" cap="flat" cmpd="sng" algn="ctr">
                      <a:solidFill>
                        <a:srgbClr val="D5DAE1"/>
                      </a:solidFill>
                      <a:prstDash val="solid"/>
                      <a:round/>
                      <a:headEnd type="none" w="med" len="med"/>
                      <a:tailEnd type="none" w="med" len="med"/>
                    </a:lnL>
                    <a:lnR w="6350" cap="flat" cmpd="sng" algn="ctr">
                      <a:solidFill>
                        <a:srgbClr val="D5DAE1"/>
                      </a:solidFill>
                      <a:prstDash val="solid"/>
                      <a:round/>
                      <a:headEnd type="none" w="med" len="med"/>
                      <a:tailEnd type="none" w="med" len="med"/>
                    </a:lnR>
                    <a:lnT w="6350" cap="flat" cmpd="sng" algn="ctr">
                      <a:solidFill>
                        <a:srgbClr val="D5DAE1"/>
                      </a:solidFill>
                      <a:prstDash val="solid"/>
                      <a:round/>
                      <a:headEnd type="none" w="med" len="med"/>
                      <a:tailEnd type="none" w="med" len="med"/>
                    </a:lnT>
                    <a:lnB w="6350" cap="flat" cmpd="sng" algn="ctr">
                      <a:solidFill>
                        <a:srgbClr val="D5DAE1"/>
                      </a:solidFill>
                      <a:prstDash val="solid"/>
                      <a:round/>
                      <a:headEnd type="none" w="med" len="med"/>
                      <a:tailEnd type="none" w="med" len="med"/>
                    </a:lnB>
                    <a:solidFill>
                      <a:srgbClr val="FFFFFF"/>
                    </a:solidFill>
                  </a:tcPr>
                </a:tc>
              </a:tr>
              <a:tr h="502920">
                <a:tc>
                  <a:txBody>
                    <a:bodyPr/>
                    <a:lstStyle/>
                    <a:p>
                      <a:pPr algn="l" indent="0" marL="0">
                        <a:buNone/>
                      </a:pPr>
                      <a:r>
                        <a:rPr lang="en-US" sz="1300" dirty="0">
                          <a:solidFill>
                            <a:srgbClr val="1B1F2A"/>
                          </a:solidFill>
                        </a:rPr>
                        <a:t>Balance of project funding</a:t>
                      </a:r>
                      <a:endParaRPr lang="en-US" sz="1300" dirty="0"/>
                    </a:p>
                  </a:txBody>
                  <a:tcPr marL="73152" marR="73152" marT="36576" marB="36576" anchor="ctr">
                    <a:lnL w="6350" cap="flat" cmpd="sng" algn="ctr">
                      <a:solidFill>
                        <a:srgbClr val="D5DAE1"/>
                      </a:solidFill>
                      <a:prstDash val="solid"/>
                      <a:round/>
                      <a:headEnd type="none" w="med" len="med"/>
                      <a:tailEnd type="none" w="med" len="med"/>
                    </a:lnL>
                    <a:lnR w="6350" cap="flat" cmpd="sng" algn="ctr">
                      <a:solidFill>
                        <a:srgbClr val="D5DAE1"/>
                      </a:solidFill>
                      <a:prstDash val="solid"/>
                      <a:round/>
                      <a:headEnd type="none" w="med" len="med"/>
                      <a:tailEnd type="none" w="med" len="med"/>
                    </a:lnR>
                    <a:lnT w="6350" cap="flat" cmpd="sng" algn="ctr">
                      <a:solidFill>
                        <a:srgbClr val="D5DAE1"/>
                      </a:solidFill>
                      <a:prstDash val="solid"/>
                      <a:round/>
                      <a:headEnd type="none" w="med" len="med"/>
                      <a:tailEnd type="none" w="med" len="med"/>
                    </a:lnT>
                    <a:lnB w="6350" cap="flat" cmpd="sng" algn="ctr">
                      <a:solidFill>
                        <a:srgbClr val="D5DAE1"/>
                      </a:solidFill>
                      <a:prstDash val="solid"/>
                      <a:round/>
                      <a:headEnd type="none" w="med" len="med"/>
                      <a:tailEnd type="none" w="med" len="med"/>
                    </a:lnB>
                    <a:solidFill>
                      <a:srgbClr val="F2F4F7"/>
                    </a:solidFill>
                  </a:tcPr>
                </a:tc>
                <a:tc>
                  <a:txBody>
                    <a:bodyPr/>
                    <a:lstStyle/>
                    <a:p>
                      <a:pPr algn="r" indent="0" marL="0">
                        <a:buNone/>
                      </a:pPr>
                      <a:r>
                        <a:rPr lang="en-US" sz="1300" dirty="0">
                          <a:solidFill>
                            <a:srgbClr val="1B1F2A"/>
                          </a:solidFill>
                        </a:rPr>
                        <a:t>38.0</a:t>
                      </a:r>
                      <a:endParaRPr lang="en-US" sz="1300" dirty="0"/>
                    </a:p>
                  </a:txBody>
                  <a:tcPr marL="73152" marR="73152" marT="36576" marB="36576" anchor="ctr">
                    <a:lnL w="6350" cap="flat" cmpd="sng" algn="ctr">
                      <a:solidFill>
                        <a:srgbClr val="D5DAE1"/>
                      </a:solidFill>
                      <a:prstDash val="solid"/>
                      <a:round/>
                      <a:headEnd type="none" w="med" len="med"/>
                      <a:tailEnd type="none" w="med" len="med"/>
                    </a:lnL>
                    <a:lnR w="6350" cap="flat" cmpd="sng" algn="ctr">
                      <a:solidFill>
                        <a:srgbClr val="D5DAE1"/>
                      </a:solidFill>
                      <a:prstDash val="solid"/>
                      <a:round/>
                      <a:headEnd type="none" w="med" len="med"/>
                      <a:tailEnd type="none" w="med" len="med"/>
                    </a:lnR>
                    <a:lnT w="6350" cap="flat" cmpd="sng" algn="ctr">
                      <a:solidFill>
                        <a:srgbClr val="D5DAE1"/>
                      </a:solidFill>
                      <a:prstDash val="solid"/>
                      <a:round/>
                      <a:headEnd type="none" w="med" len="med"/>
                      <a:tailEnd type="none" w="med" len="med"/>
                    </a:lnT>
                    <a:lnB w="6350" cap="flat" cmpd="sng" algn="ctr">
                      <a:solidFill>
                        <a:srgbClr val="D5DAE1"/>
                      </a:solidFill>
                      <a:prstDash val="solid"/>
                      <a:round/>
                      <a:headEnd type="none" w="med" len="med"/>
                      <a:tailEnd type="none" w="med" len="med"/>
                    </a:lnB>
                    <a:solidFill>
                      <a:srgbClr val="F2F4F7"/>
                    </a:solidFill>
                  </a:tcPr>
                </a:tc>
                <a:tc>
                  <a:txBody>
                    <a:bodyPr/>
                    <a:lstStyle/>
                    <a:p>
                      <a:pPr algn="r" indent="0" marL="0">
                        <a:buNone/>
                      </a:pPr>
                      <a:r>
                        <a:rPr lang="en-US" sz="1300" dirty="0">
                          <a:solidFill>
                            <a:srgbClr val="1B1F2A"/>
                          </a:solidFill>
                        </a:rPr>
                        <a:t>34%</a:t>
                      </a:r>
                      <a:endParaRPr lang="en-US" sz="1300" dirty="0"/>
                    </a:p>
                  </a:txBody>
                  <a:tcPr marL="73152" marR="73152" marT="36576" marB="36576" anchor="ctr">
                    <a:lnL w="6350" cap="flat" cmpd="sng" algn="ctr">
                      <a:solidFill>
                        <a:srgbClr val="D5DAE1"/>
                      </a:solidFill>
                      <a:prstDash val="solid"/>
                      <a:round/>
                      <a:headEnd type="none" w="med" len="med"/>
                      <a:tailEnd type="none" w="med" len="med"/>
                    </a:lnL>
                    <a:lnR w="6350" cap="flat" cmpd="sng" algn="ctr">
                      <a:solidFill>
                        <a:srgbClr val="D5DAE1"/>
                      </a:solidFill>
                      <a:prstDash val="solid"/>
                      <a:round/>
                      <a:headEnd type="none" w="med" len="med"/>
                      <a:tailEnd type="none" w="med" len="med"/>
                    </a:lnR>
                    <a:lnT w="6350" cap="flat" cmpd="sng" algn="ctr">
                      <a:solidFill>
                        <a:srgbClr val="D5DAE1"/>
                      </a:solidFill>
                      <a:prstDash val="solid"/>
                      <a:round/>
                      <a:headEnd type="none" w="med" len="med"/>
                      <a:tailEnd type="none" w="med" len="med"/>
                    </a:lnT>
                    <a:lnB w="6350" cap="flat" cmpd="sng" algn="ctr">
                      <a:solidFill>
                        <a:srgbClr val="D5DAE1"/>
                      </a:solidFill>
                      <a:prstDash val="solid"/>
                      <a:round/>
                      <a:headEnd type="none" w="med" len="med"/>
                      <a:tailEnd type="none" w="med" len="med"/>
                    </a:lnB>
                    <a:solidFill>
                      <a:srgbClr val="F2F4F7"/>
                    </a:solidFill>
                  </a:tcPr>
                </a:tc>
              </a:tr>
              <a:tr h="502920">
                <a:tc>
                  <a:txBody>
                    <a:bodyPr/>
                    <a:lstStyle/>
                    <a:p>
                      <a:pPr algn="l" indent="0" marL="0">
                        <a:buNone/>
                      </a:pPr>
                      <a:r>
                        <a:rPr lang="en-US" sz="1300" dirty="0">
                          <a:solidFill>
                            <a:srgbClr val="1B1F2A"/>
                          </a:solidFill>
                        </a:rPr>
                        <a:t>Total sources</a:t>
                      </a:r>
                      <a:endParaRPr lang="en-US" sz="1300" dirty="0"/>
                    </a:p>
                  </a:txBody>
                  <a:tcPr marL="73152" marR="73152" marT="36576" marB="36576" anchor="ctr">
                    <a:lnL w="6350" cap="flat" cmpd="sng" algn="ctr">
                      <a:solidFill>
                        <a:srgbClr val="D5DAE1"/>
                      </a:solidFill>
                      <a:prstDash val="solid"/>
                      <a:round/>
                      <a:headEnd type="none" w="med" len="med"/>
                      <a:tailEnd type="none" w="med" len="med"/>
                    </a:lnL>
                    <a:lnR w="6350" cap="flat" cmpd="sng" algn="ctr">
                      <a:solidFill>
                        <a:srgbClr val="D5DAE1"/>
                      </a:solidFill>
                      <a:prstDash val="solid"/>
                      <a:round/>
                      <a:headEnd type="none" w="med" len="med"/>
                      <a:tailEnd type="none" w="med" len="med"/>
                    </a:lnR>
                    <a:lnT w="6350" cap="flat" cmpd="sng" algn="ctr">
                      <a:solidFill>
                        <a:srgbClr val="D5DAE1"/>
                      </a:solidFill>
                      <a:prstDash val="solid"/>
                      <a:round/>
                      <a:headEnd type="none" w="med" len="med"/>
                      <a:tailEnd type="none" w="med" len="med"/>
                    </a:lnT>
                    <a:lnB w="6350" cap="flat" cmpd="sng" algn="ctr">
                      <a:solidFill>
                        <a:srgbClr val="D5DAE1"/>
                      </a:solidFill>
                      <a:prstDash val="solid"/>
                      <a:round/>
                      <a:headEnd type="none" w="med" len="med"/>
                      <a:tailEnd type="none" w="med" len="med"/>
                    </a:lnB>
                    <a:solidFill>
                      <a:srgbClr val="FFFFFF"/>
                    </a:solidFill>
                  </a:tcPr>
                </a:tc>
                <a:tc>
                  <a:txBody>
                    <a:bodyPr/>
                    <a:lstStyle/>
                    <a:p>
                      <a:pPr algn="r" indent="0" marL="0">
                        <a:buNone/>
                      </a:pPr>
                      <a:r>
                        <a:rPr lang="en-US" sz="1300" dirty="0">
                          <a:solidFill>
                            <a:srgbClr val="1B1F2A"/>
                          </a:solidFill>
                        </a:rPr>
                        <a:t>113.0</a:t>
                      </a:r>
                      <a:endParaRPr lang="en-US" sz="1300" dirty="0"/>
                    </a:p>
                  </a:txBody>
                  <a:tcPr marL="73152" marR="73152" marT="36576" marB="36576" anchor="ctr">
                    <a:lnL w="6350" cap="flat" cmpd="sng" algn="ctr">
                      <a:solidFill>
                        <a:srgbClr val="D5DAE1"/>
                      </a:solidFill>
                      <a:prstDash val="solid"/>
                      <a:round/>
                      <a:headEnd type="none" w="med" len="med"/>
                      <a:tailEnd type="none" w="med" len="med"/>
                    </a:lnL>
                    <a:lnR w="6350" cap="flat" cmpd="sng" algn="ctr">
                      <a:solidFill>
                        <a:srgbClr val="D5DAE1"/>
                      </a:solidFill>
                      <a:prstDash val="solid"/>
                      <a:round/>
                      <a:headEnd type="none" w="med" len="med"/>
                      <a:tailEnd type="none" w="med" len="med"/>
                    </a:lnR>
                    <a:lnT w="6350" cap="flat" cmpd="sng" algn="ctr">
                      <a:solidFill>
                        <a:srgbClr val="D5DAE1"/>
                      </a:solidFill>
                      <a:prstDash val="solid"/>
                      <a:round/>
                      <a:headEnd type="none" w="med" len="med"/>
                      <a:tailEnd type="none" w="med" len="med"/>
                    </a:lnT>
                    <a:lnB w="6350" cap="flat" cmpd="sng" algn="ctr">
                      <a:solidFill>
                        <a:srgbClr val="D5DAE1"/>
                      </a:solidFill>
                      <a:prstDash val="solid"/>
                      <a:round/>
                      <a:headEnd type="none" w="med" len="med"/>
                      <a:tailEnd type="none" w="med" len="med"/>
                    </a:lnB>
                    <a:solidFill>
                      <a:srgbClr val="FFFFFF"/>
                    </a:solidFill>
                  </a:tcPr>
                </a:tc>
                <a:tc>
                  <a:txBody>
                    <a:bodyPr/>
                    <a:lstStyle/>
                    <a:p>
                      <a:pPr algn="r" indent="0" marL="0">
                        <a:buNone/>
                      </a:pPr>
                      <a:r>
                        <a:rPr lang="en-US" sz="1300" dirty="0">
                          <a:solidFill>
                            <a:srgbClr val="1B1F2A"/>
                          </a:solidFill>
                        </a:rPr>
                        <a:t>100%</a:t>
                      </a:r>
                      <a:endParaRPr lang="en-US" sz="1300" dirty="0"/>
                    </a:p>
                  </a:txBody>
                  <a:tcPr marL="73152" marR="73152" marT="36576" marB="36576" anchor="ctr">
                    <a:lnL w="6350" cap="flat" cmpd="sng" algn="ctr">
                      <a:solidFill>
                        <a:srgbClr val="D5DAE1"/>
                      </a:solidFill>
                      <a:prstDash val="solid"/>
                      <a:round/>
                      <a:headEnd type="none" w="med" len="med"/>
                      <a:tailEnd type="none" w="med" len="med"/>
                    </a:lnL>
                    <a:lnR w="6350" cap="flat" cmpd="sng" algn="ctr">
                      <a:solidFill>
                        <a:srgbClr val="D5DAE1"/>
                      </a:solidFill>
                      <a:prstDash val="solid"/>
                      <a:round/>
                      <a:headEnd type="none" w="med" len="med"/>
                      <a:tailEnd type="none" w="med" len="med"/>
                    </a:lnR>
                    <a:lnT w="6350" cap="flat" cmpd="sng" algn="ctr">
                      <a:solidFill>
                        <a:srgbClr val="D5DAE1"/>
                      </a:solidFill>
                      <a:prstDash val="solid"/>
                      <a:round/>
                      <a:headEnd type="none" w="med" len="med"/>
                      <a:tailEnd type="none" w="med" len="med"/>
                    </a:lnT>
                    <a:lnB w="6350" cap="flat" cmpd="sng" algn="ctr">
                      <a:solidFill>
                        <a:srgbClr val="D5DAE1"/>
                      </a:solidFill>
                      <a:prstDash val="solid"/>
                      <a:round/>
                      <a:headEnd type="none" w="med" len="med"/>
                      <a:tailEnd type="none" w="med" len="med"/>
                    </a:lnB>
                    <a:solidFill>
                      <a:srgbClr val="FFFFFF"/>
                    </a:solidFill>
                  </a:tcPr>
                </a:tc>
              </a:tr>
            </a:tbl>
          </a:graphicData>
        </a:graphic>
      </p:graphicFrame>
      <p:sp>
        <p:nvSpPr>
          <p:cNvPr id="6" name="Text 1"/>
          <p:cNvSpPr txBox="1"/>
          <p:nvPr/>
        </p:nvSpPr>
        <p:spPr>
          <a:xfrm>
            <a:off x="548640" y="4206240"/>
            <a:ext cx="11064240" cy="1828800"/>
          </a:xfrm>
          <a:prstGeom prst="rect">
            <a:avLst/>
          </a:prstGeom>
          <a:noFill/>
          <a:ln/>
        </p:spPr>
        <p:txBody>
          <a:bodyPr wrap="square" lIns="0" tIns="0" rIns="0" bIns="0" rtlCol="0" anchor="t"/>
          <a:lstStyle/>
          <a:p>
            <a:pPr marL="342900" indent="-342900">
              <a:spcAft>
                <a:spcPts val="600"/>
              </a:spcAft>
              <a:buSzPct val="100000"/>
              <a:buChar char="•"/>
            </a:pPr>
            <a:r>
              <a:rPr lang="en-US" sz="1300" dirty="0">
                <a:solidFill>
                  <a:srgbClr val="1B1F2A"/>
                </a:solidFill>
              </a:rPr>
              <a:t>The balance of project funding is provided by Jalour sponsor equity, project collections and other capital sources.</a:t>
            </a:r>
            <a:endParaRPr lang="en-US" sz="1300" dirty="0"/>
          </a:p>
          <a:p>
            <a:pPr marL="342900" indent="-342900">
              <a:spcAft>
                <a:spcPts val="600"/>
              </a:spcAft>
              <a:buSzPct val="100000"/>
              <a:buChar char="•"/>
            </a:pPr>
            <a:r>
              <a:rPr lang="en-US" sz="1300" dirty="0">
                <a:solidFill>
                  <a:srgbClr val="1B1F2A"/>
                </a:solidFill>
              </a:rPr>
              <a:t>Modelled peak cumulative shortage EGP 102.5 million; the ticket is 73% of it.</a:t>
            </a:r>
            <a:endParaRPr lang="en-US" sz="1300" dirty="0"/>
          </a:p>
          <a:p>
            <a:pPr marL="342900" indent="-342900">
              <a:spcAft>
                <a:spcPts val="600"/>
              </a:spcAft>
              <a:buSzPct val="100000"/>
              <a:buChar char="•"/>
            </a:pPr>
            <a:r>
              <a:rPr lang="en-US" sz="1300" dirty="0">
                <a:solidFill>
                  <a:srgbClr val="1B1F2A"/>
                </a:solidFill>
              </a:rPr>
              <a:t>If delivery payments arrive at handover the peak shortage is EGP 269 million; if sales slip 12 months with prices 10% lower it is EGP 441 million. Jalour will cover gaps above project cash from its cash reserves and cash from other projects it is constructing.</a:t>
            </a:r>
            <a:endParaRPr lang="en-US" sz="1300" dirty="0"/>
          </a:p>
          <a:p>
            <a:pPr marL="342900" indent="-342900">
              <a:spcAft>
                <a:spcPts val="600"/>
              </a:spcAft>
              <a:buSzPct val="100000"/>
              <a:buChar char="•"/>
            </a:pPr>
            <a:r>
              <a:rPr lang="en-US" sz="1300" dirty="0">
                <a:solidFill>
                  <a:srgbClr val="1B1F2A"/>
                </a:solidFill>
              </a:rPr>
              <a:t>Nothing in this structure is ring-fenced: the ticket is project funding.</a:t>
            </a:r>
            <a:endParaRPr lang="en-US" sz="1300" dirty="0"/>
          </a:p>
        </p:txBody>
      </p:sp>
      <p:sp>
        <p:nvSpPr>
          <p:cNvPr id="7" name="Text 2"/>
          <p:cNvSpPr txBox="1"/>
          <p:nvPr/>
        </p:nvSpPr>
        <p:spPr>
          <a:xfrm>
            <a:off x="548640" y="6080760"/>
            <a:ext cx="11064240" cy="274320"/>
          </a:xfrm>
          <a:prstGeom prst="rect">
            <a:avLst/>
          </a:prstGeom>
          <a:noFill/>
          <a:ln/>
        </p:spPr>
        <p:txBody>
          <a:bodyPr wrap="square" lIns="0" tIns="0" rIns="0" bIns="0" rtlCol="0" anchor="ctr"/>
          <a:lstStyle/>
          <a:p>
            <a:pPr indent="0" marL="0">
              <a:buNone/>
            </a:pPr>
            <a:r>
              <a:rPr lang="en-US" sz="900" i="1" dirty="0">
                <a:solidFill>
                  <a:srgbClr val="6B7280"/>
                </a:solidFill>
              </a:rPr>
              <a:t>Source: Financial Annex, Sources_Uses sheet. Pre-construction cost is an assumption pending Jalour's budget.</a:t>
            </a:r>
            <a:endParaRPr lang="en-US" sz="900" dirty="0"/>
          </a:p>
        </p:txBody>
      </p:sp>
      <p:sp>
        <p:nvSpPr>
          <p:cNvPr id="25" name="Slide Number Placeholder 0"/>
          <p:cNvSpPr>
            <a:spLocks noGrp="1"/>
          </p:cNvSpPr>
          <p:nvPr>
            <p:ph type="sldNum" sz="quarter" idx="4294967295"/>
          </p:nvPr>
        </p:nvSpPr>
        <p:spPr>
          <a:xfrm>
            <a:off x="11155680" y="6446520"/>
            <a:ext cx="548640" cy="274320"/>
          </a:xfrm>
          <a:prstGeom prst="rect">
            <a:avLst/>
          </a:prstGeom>
          <a:extLst>
            <a:ext uri="{C572A759-6A51-4108-AA02-DFA0A04FC94B}">
              <ma14:wrappingTextBoxFlag xmlns:ma14="http://schemas.microsoft.com/office/mac/drawingml/2011/main" val="0"/>
            </a:ext>
          </a:extLst>
        </p:spPr>
        <p:txBody>
          <a:bodyPr/>
          <a:lstStyle>
            <a:lvl1pPr>
              <a:defRPr sz="900">
                <a:solidFill>
                  <a:srgbClr val="6B7280"/>
                </a:solidFill>
              </a:defRPr>
            </a:lvl1pPr>
          </a:lstStyle>
          <a:p>
            <a:pPr algn="l"/>
            <a:fld id="{F7021451-1387-4CA6-816F-3879F97B5CBC}" type="slidenum">
              <a:rPr b="0" lang="en-US"/>
              <a:t>11</a:t>
            </a:fld>
            <a:endParaRPr lang="en-US"/>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spTree>
      <p:nvGrpSpPr>
        <p:cNvPr id="1" name=""/>
        <p:cNvGrpSpPr/>
        <p:nvPr/>
      </p:nvGrpSpPr>
      <p:grpSpPr>
        <a:xfrm>
          <a:off x="0" y="0"/>
          <a:ext cx="0" cy="0"/>
          <a:chOff x="0" y="0"/>
          <a:chExt cx="0" cy="0"/>
        </a:xfrm>
      </p:grpSpPr>
      <p:sp>
        <p:nvSpPr>
          <p:cNvPr id="2" name="Text 0"/>
          <p:cNvSpPr txBox="1"/>
          <p:nvPr/>
        </p:nvSpPr>
        <p:spPr>
          <a:xfrm>
            <a:off x="548640" y="320040"/>
            <a:ext cx="11064240" cy="822960"/>
          </a:xfrm>
          <a:prstGeom prst="rect">
            <a:avLst/>
          </a:prstGeom>
          <a:noFill/>
          <a:ln/>
        </p:spPr>
        <p:txBody>
          <a:bodyPr wrap="square" lIns="0" tIns="0" rIns="0" bIns="0" rtlCol="0" anchor="ctr">
            <a:normAutofit/>
          </a:bodyPr>
          <a:lstStyle/>
          <a:p>
            <a:pPr indent="0" marL="0">
              <a:buNone/>
            </a:pPr>
            <a:r>
              <a:rPr lang="en-US" sz="2800" b="1" dirty="0">
                <a:solidFill>
                  <a:srgbClr val="17324D"/>
                </a:solidFill>
                <a:latin typeface="Cambria" pitchFamily="34" charset="0"/>
                <a:ea typeface="Cambria" pitchFamily="34" charset="-122"/>
                <a:cs typeface="Cambria" pitchFamily="34" charset="-120"/>
              </a:rPr>
              <a:t>Option A (units) and Option B (cash) side by side</a:t>
            </a:r>
            <a:endParaRPr lang="en-US" sz="2800" dirty="0"/>
          </a:p>
        </p:txBody>
      </p:sp>
      <p:graphicFrame>
        <p:nvGraphicFramePr>
          <p:cNvPr id="13" name="Table 0"/>
          <p:cNvGraphicFramePr>
            <a:graphicFrameLocks noGrp="1"/>
          </p:cNvGraphicFramePr>
          <p:nvPr>
            <p:extLst>
              <p:ext uri="{D42A27DB-BD31-4B8C-83A1-F6EECF244321}">
                <p14:modId xmlns:p14="http://schemas.microsoft.com/office/powerpoint/2010/main" val="1579011935"/>
              </p:ext>
            </p:extLst>
          </p:nvPr>
        </p:nvGraphicFramePr>
        <p:xfrm>
          <a:off x="548640" y="1371600"/>
          <a:ext cx="11064240" cy="914400"/>
        </p:xfrm>
        <a:graphic>
          <a:graphicData uri="http://schemas.openxmlformats.org/drawingml/2006/table">
            <a:tbl>
              <a:tblPr/>
              <a:tblGrid>
                <a:gridCol w="2011680"/>
                <a:gridCol w="4572000"/>
                <a:gridCol w="4480560"/>
              </a:tblGrid>
              <a:tr h="457200">
                <a:tc>
                  <a:txBody>
                    <a:bodyPr/>
                    <a:lstStyle/>
                    <a:p>
                      <a:pPr algn="l" indent="0" marL="0">
                        <a:buNone/>
                      </a:pPr>
                      <a:endParaRPr lang="en-US" sz="1300" dirty="0"/>
                    </a:p>
                  </a:txBody>
                  <a:tcPr marL="73152" marR="73152" marT="36576" marB="36576" anchor="ctr">
                    <a:lnL w="6350" cap="flat" cmpd="sng" algn="ctr">
                      <a:solidFill>
                        <a:srgbClr val="D5DAE1"/>
                      </a:solidFill>
                      <a:prstDash val="solid"/>
                      <a:round/>
                      <a:headEnd type="none" w="med" len="med"/>
                      <a:tailEnd type="none" w="med" len="med"/>
                    </a:lnL>
                    <a:lnR w="6350" cap="flat" cmpd="sng" algn="ctr">
                      <a:solidFill>
                        <a:srgbClr val="D5DAE1"/>
                      </a:solidFill>
                      <a:prstDash val="solid"/>
                      <a:round/>
                      <a:headEnd type="none" w="med" len="med"/>
                      <a:tailEnd type="none" w="med" len="med"/>
                    </a:lnR>
                    <a:lnT w="6350" cap="flat" cmpd="sng" algn="ctr">
                      <a:solidFill>
                        <a:srgbClr val="D5DAE1"/>
                      </a:solidFill>
                      <a:prstDash val="solid"/>
                      <a:round/>
                      <a:headEnd type="none" w="med" len="med"/>
                      <a:tailEnd type="none" w="med" len="med"/>
                    </a:lnT>
                    <a:lnB w="6350" cap="flat" cmpd="sng" algn="ctr">
                      <a:solidFill>
                        <a:srgbClr val="D5DAE1"/>
                      </a:solidFill>
                      <a:prstDash val="solid"/>
                      <a:round/>
                      <a:headEnd type="none" w="med" len="med"/>
                      <a:tailEnd type="none" w="med" len="med"/>
                    </a:lnB>
                    <a:solidFill>
                      <a:srgbClr val="17324D"/>
                    </a:solidFill>
                  </a:tcPr>
                </a:tc>
                <a:tc>
                  <a:txBody>
                    <a:bodyPr/>
                    <a:lstStyle/>
                    <a:p>
                      <a:pPr algn="l" indent="0" marL="0">
                        <a:buNone/>
                      </a:pPr>
                      <a:r>
                        <a:rPr lang="en-US" sz="1300" b="1" dirty="0">
                          <a:solidFill>
                            <a:srgbClr val="FFFFFF"/>
                          </a:solidFill>
                        </a:rPr>
                        <a:t>Option A: units</a:t>
                      </a:r>
                      <a:endParaRPr lang="en-US" sz="1300" dirty="0"/>
                    </a:p>
                  </a:txBody>
                  <a:tcPr marL="73152" marR="73152" marT="36576" marB="36576" anchor="ctr">
                    <a:lnL w="6350" cap="flat" cmpd="sng" algn="ctr">
                      <a:solidFill>
                        <a:srgbClr val="D5DAE1"/>
                      </a:solidFill>
                      <a:prstDash val="solid"/>
                      <a:round/>
                      <a:headEnd type="none" w="med" len="med"/>
                      <a:tailEnd type="none" w="med" len="med"/>
                    </a:lnL>
                    <a:lnR w="6350" cap="flat" cmpd="sng" algn="ctr">
                      <a:solidFill>
                        <a:srgbClr val="D5DAE1"/>
                      </a:solidFill>
                      <a:prstDash val="solid"/>
                      <a:round/>
                      <a:headEnd type="none" w="med" len="med"/>
                      <a:tailEnd type="none" w="med" len="med"/>
                    </a:lnR>
                    <a:lnT w="6350" cap="flat" cmpd="sng" algn="ctr">
                      <a:solidFill>
                        <a:srgbClr val="D5DAE1"/>
                      </a:solidFill>
                      <a:prstDash val="solid"/>
                      <a:round/>
                      <a:headEnd type="none" w="med" len="med"/>
                      <a:tailEnd type="none" w="med" len="med"/>
                    </a:lnT>
                    <a:lnB w="6350" cap="flat" cmpd="sng" algn="ctr">
                      <a:solidFill>
                        <a:srgbClr val="D5DAE1"/>
                      </a:solidFill>
                      <a:prstDash val="solid"/>
                      <a:round/>
                      <a:headEnd type="none" w="med" len="med"/>
                      <a:tailEnd type="none" w="med" len="med"/>
                    </a:lnB>
                    <a:solidFill>
                      <a:srgbClr val="17324D"/>
                    </a:solidFill>
                  </a:tcPr>
                </a:tc>
                <a:tc>
                  <a:txBody>
                    <a:bodyPr/>
                    <a:lstStyle/>
                    <a:p>
                      <a:pPr algn="l" indent="0" marL="0">
                        <a:buNone/>
                      </a:pPr>
                      <a:r>
                        <a:rPr lang="en-US" sz="1300" b="1" dirty="0">
                          <a:solidFill>
                            <a:srgbClr val="FFFFFF"/>
                          </a:solidFill>
                        </a:rPr>
                        <a:t>Option B: cash</a:t>
                      </a:r>
                      <a:endParaRPr lang="en-US" sz="1300" dirty="0"/>
                    </a:p>
                  </a:txBody>
                  <a:tcPr marL="73152" marR="73152" marT="36576" marB="36576" anchor="ctr">
                    <a:lnL w="6350" cap="flat" cmpd="sng" algn="ctr">
                      <a:solidFill>
                        <a:srgbClr val="D5DAE1"/>
                      </a:solidFill>
                      <a:prstDash val="solid"/>
                      <a:round/>
                      <a:headEnd type="none" w="med" len="med"/>
                      <a:tailEnd type="none" w="med" len="med"/>
                    </a:lnL>
                    <a:lnR w="6350" cap="flat" cmpd="sng" algn="ctr">
                      <a:solidFill>
                        <a:srgbClr val="D5DAE1"/>
                      </a:solidFill>
                      <a:prstDash val="solid"/>
                      <a:round/>
                      <a:headEnd type="none" w="med" len="med"/>
                      <a:tailEnd type="none" w="med" len="med"/>
                    </a:lnR>
                    <a:lnT w="6350" cap="flat" cmpd="sng" algn="ctr">
                      <a:solidFill>
                        <a:srgbClr val="D5DAE1"/>
                      </a:solidFill>
                      <a:prstDash val="solid"/>
                      <a:round/>
                      <a:headEnd type="none" w="med" len="med"/>
                      <a:tailEnd type="none" w="med" len="med"/>
                    </a:lnT>
                    <a:lnB w="6350" cap="flat" cmpd="sng" algn="ctr">
                      <a:solidFill>
                        <a:srgbClr val="D5DAE1"/>
                      </a:solidFill>
                      <a:prstDash val="solid"/>
                      <a:round/>
                      <a:headEnd type="none" w="med" len="med"/>
                      <a:tailEnd type="none" w="med" len="med"/>
                    </a:lnB>
                    <a:solidFill>
                      <a:srgbClr val="17324D"/>
                    </a:solidFill>
                  </a:tcPr>
                </a:tc>
              </a:tr>
              <a:tr h="457200">
                <a:tc>
                  <a:txBody>
                    <a:bodyPr/>
                    <a:lstStyle/>
                    <a:p>
                      <a:pPr algn="l" indent="0" marL="0">
                        <a:buNone/>
                      </a:pPr>
                      <a:r>
                        <a:rPr lang="en-US" sz="1300" b="1" dirty="0">
                          <a:solidFill>
                            <a:srgbClr val="1B1F2A"/>
                          </a:solidFill>
                        </a:rPr>
                        <a:t>Entitlement</a:t>
                      </a:r>
                      <a:endParaRPr lang="en-US" sz="1300" dirty="0"/>
                    </a:p>
                  </a:txBody>
                  <a:tcPr marL="73152" marR="73152" marT="36576" marB="36576" anchor="ctr">
                    <a:lnL w="6350" cap="flat" cmpd="sng" algn="ctr">
                      <a:solidFill>
                        <a:srgbClr val="D5DAE1"/>
                      </a:solidFill>
                      <a:prstDash val="solid"/>
                      <a:round/>
                      <a:headEnd type="none" w="med" len="med"/>
                      <a:tailEnd type="none" w="med" len="med"/>
                    </a:lnL>
                    <a:lnR w="6350" cap="flat" cmpd="sng" algn="ctr">
                      <a:solidFill>
                        <a:srgbClr val="D5DAE1"/>
                      </a:solidFill>
                      <a:prstDash val="solid"/>
                      <a:round/>
                      <a:headEnd type="none" w="med" len="med"/>
                      <a:tailEnd type="none" w="med" len="med"/>
                    </a:lnR>
                    <a:lnT w="6350" cap="flat" cmpd="sng" algn="ctr">
                      <a:solidFill>
                        <a:srgbClr val="D5DAE1"/>
                      </a:solidFill>
                      <a:prstDash val="solid"/>
                      <a:round/>
                      <a:headEnd type="none" w="med" len="med"/>
                      <a:tailEnd type="none" w="med" len="med"/>
                    </a:lnT>
                    <a:lnB w="6350" cap="flat" cmpd="sng" algn="ctr">
                      <a:solidFill>
                        <a:srgbClr val="D5DAE1"/>
                      </a:solidFill>
                      <a:prstDash val="solid"/>
                      <a:round/>
                      <a:headEnd type="none" w="med" len="med"/>
                      <a:tailEnd type="none" w="med" len="med"/>
                    </a:lnB>
                    <a:solidFill>
                      <a:srgbClr val="FFFFFF"/>
                    </a:solidFill>
                  </a:tcPr>
                </a:tc>
                <a:tc>
                  <a:txBody>
                    <a:bodyPr/>
                    <a:lstStyle/>
                    <a:p>
                      <a:pPr algn="l" indent="0" marL="0">
                        <a:buNone/>
                      </a:pPr>
                      <a:r>
                        <a:rPr lang="en-US" sz="1300" dirty="0">
                          <a:solidFill>
                            <a:srgbClr val="1B1F2A"/>
                          </a:solidFill>
                        </a:rPr>
                        <a:t>Units with a face value of EGP 150 million (2.0x) at launch list</a:t>
                      </a:r>
                      <a:endParaRPr lang="en-US" sz="1300" dirty="0"/>
                    </a:p>
                  </a:txBody>
                  <a:tcPr marL="73152" marR="73152" marT="36576" marB="36576" anchor="ctr">
                    <a:lnL w="6350" cap="flat" cmpd="sng" algn="ctr">
                      <a:solidFill>
                        <a:srgbClr val="D5DAE1"/>
                      </a:solidFill>
                      <a:prstDash val="solid"/>
                      <a:round/>
                      <a:headEnd type="none" w="med" len="med"/>
                      <a:tailEnd type="none" w="med" len="med"/>
                    </a:lnL>
                    <a:lnR w="6350" cap="flat" cmpd="sng" algn="ctr">
                      <a:solidFill>
                        <a:srgbClr val="D5DAE1"/>
                      </a:solidFill>
                      <a:prstDash val="solid"/>
                      <a:round/>
                      <a:headEnd type="none" w="med" len="med"/>
                      <a:tailEnd type="none" w="med" len="med"/>
                    </a:lnR>
                    <a:lnT w="6350" cap="flat" cmpd="sng" algn="ctr">
                      <a:solidFill>
                        <a:srgbClr val="D5DAE1"/>
                      </a:solidFill>
                      <a:prstDash val="solid"/>
                      <a:round/>
                      <a:headEnd type="none" w="med" len="med"/>
                      <a:tailEnd type="none" w="med" len="med"/>
                    </a:lnT>
                    <a:lnB w="6350" cap="flat" cmpd="sng" algn="ctr">
                      <a:solidFill>
                        <a:srgbClr val="D5DAE1"/>
                      </a:solidFill>
                      <a:prstDash val="solid"/>
                      <a:round/>
                      <a:headEnd type="none" w="med" len="med"/>
                      <a:tailEnd type="none" w="med" len="med"/>
                    </a:lnB>
                    <a:solidFill>
                      <a:srgbClr val="FFFFFF"/>
                    </a:solidFill>
                  </a:tcPr>
                </a:tc>
                <a:tc>
                  <a:txBody>
                    <a:bodyPr/>
                    <a:lstStyle/>
                    <a:p>
                      <a:pPr algn="l" indent="0" marL="0">
                        <a:buNone/>
                      </a:pPr>
                      <a:r>
                        <a:rPr lang="en-US" sz="1300" dirty="0">
                          <a:solidFill>
                            <a:srgbClr val="1B1F2A"/>
                          </a:solidFill>
                        </a:rPr>
                        <a:t>EGP 173 million (2.3x) in cash</a:t>
                      </a:r>
                      <a:endParaRPr lang="en-US" sz="1300" dirty="0"/>
                    </a:p>
                  </a:txBody>
                  <a:tcPr marL="73152" marR="73152" marT="36576" marB="36576" anchor="ctr">
                    <a:lnL w="6350" cap="flat" cmpd="sng" algn="ctr">
                      <a:solidFill>
                        <a:srgbClr val="D5DAE1"/>
                      </a:solidFill>
                      <a:prstDash val="solid"/>
                      <a:round/>
                      <a:headEnd type="none" w="med" len="med"/>
                      <a:tailEnd type="none" w="med" len="med"/>
                    </a:lnL>
                    <a:lnR w="6350" cap="flat" cmpd="sng" algn="ctr">
                      <a:solidFill>
                        <a:srgbClr val="D5DAE1"/>
                      </a:solidFill>
                      <a:prstDash val="solid"/>
                      <a:round/>
                      <a:headEnd type="none" w="med" len="med"/>
                      <a:tailEnd type="none" w="med" len="med"/>
                    </a:lnR>
                    <a:lnT w="6350" cap="flat" cmpd="sng" algn="ctr">
                      <a:solidFill>
                        <a:srgbClr val="D5DAE1"/>
                      </a:solidFill>
                      <a:prstDash val="solid"/>
                      <a:round/>
                      <a:headEnd type="none" w="med" len="med"/>
                      <a:tailEnd type="none" w="med" len="med"/>
                    </a:lnT>
                    <a:lnB w="6350" cap="flat" cmpd="sng" algn="ctr">
                      <a:solidFill>
                        <a:srgbClr val="D5DAE1"/>
                      </a:solidFill>
                      <a:prstDash val="solid"/>
                      <a:round/>
                      <a:headEnd type="none" w="med" len="med"/>
                      <a:tailEnd type="none" w="med" len="med"/>
                    </a:lnB>
                    <a:solidFill>
                      <a:srgbClr val="FFFFFF"/>
                    </a:solidFill>
                  </a:tcPr>
                </a:tc>
              </a:tr>
              <a:tr h="457200">
                <a:tc>
                  <a:txBody>
                    <a:bodyPr/>
                    <a:lstStyle/>
                    <a:p>
                      <a:pPr algn="l" indent="0" marL="0">
                        <a:buNone/>
                      </a:pPr>
                      <a:r>
                        <a:rPr lang="en-US" sz="1300" b="1" dirty="0">
                          <a:solidFill>
                            <a:srgbClr val="1B1F2A"/>
                          </a:solidFill>
                        </a:rPr>
                        <a:t>Timing</a:t>
                      </a:r>
                      <a:endParaRPr lang="en-US" sz="1300" dirty="0"/>
                    </a:p>
                  </a:txBody>
                  <a:tcPr marL="73152" marR="73152" marT="36576" marB="36576" anchor="ctr">
                    <a:lnL w="6350" cap="flat" cmpd="sng" algn="ctr">
                      <a:solidFill>
                        <a:srgbClr val="D5DAE1"/>
                      </a:solidFill>
                      <a:prstDash val="solid"/>
                      <a:round/>
                      <a:headEnd type="none" w="med" len="med"/>
                      <a:tailEnd type="none" w="med" len="med"/>
                    </a:lnL>
                    <a:lnR w="6350" cap="flat" cmpd="sng" algn="ctr">
                      <a:solidFill>
                        <a:srgbClr val="D5DAE1"/>
                      </a:solidFill>
                      <a:prstDash val="solid"/>
                      <a:round/>
                      <a:headEnd type="none" w="med" len="med"/>
                      <a:tailEnd type="none" w="med" len="med"/>
                    </a:lnR>
                    <a:lnT w="6350" cap="flat" cmpd="sng" algn="ctr">
                      <a:solidFill>
                        <a:srgbClr val="D5DAE1"/>
                      </a:solidFill>
                      <a:prstDash val="solid"/>
                      <a:round/>
                      <a:headEnd type="none" w="med" len="med"/>
                      <a:tailEnd type="none" w="med" len="med"/>
                    </a:lnT>
                    <a:lnB w="6350" cap="flat" cmpd="sng" algn="ctr">
                      <a:solidFill>
                        <a:srgbClr val="D5DAE1"/>
                      </a:solidFill>
                      <a:prstDash val="solid"/>
                      <a:round/>
                      <a:headEnd type="none" w="med" len="med"/>
                      <a:tailEnd type="none" w="med" len="med"/>
                    </a:lnB>
                    <a:solidFill>
                      <a:srgbClr val="F2F4F7"/>
                    </a:solidFill>
                  </a:tcPr>
                </a:tc>
                <a:tc>
                  <a:txBody>
                    <a:bodyPr/>
                    <a:lstStyle/>
                    <a:p>
                      <a:pPr algn="l" indent="0" marL="0">
                        <a:buNone/>
                      </a:pPr>
                      <a:r>
                        <a:rPr lang="en-US" sz="1300" dirty="0">
                          <a:solidFill>
                            <a:srgbClr val="1B1F2A"/>
                          </a:solidFill>
                        </a:rPr>
                        <a:t>Allocation at signing; handover month 48; resale from month 51</a:t>
                      </a:r>
                      <a:endParaRPr lang="en-US" sz="1300" dirty="0"/>
                    </a:p>
                  </a:txBody>
                  <a:tcPr marL="73152" marR="73152" marT="36576" marB="36576" anchor="ctr">
                    <a:lnL w="6350" cap="flat" cmpd="sng" algn="ctr">
                      <a:solidFill>
                        <a:srgbClr val="D5DAE1"/>
                      </a:solidFill>
                      <a:prstDash val="solid"/>
                      <a:round/>
                      <a:headEnd type="none" w="med" len="med"/>
                      <a:tailEnd type="none" w="med" len="med"/>
                    </a:lnL>
                    <a:lnR w="6350" cap="flat" cmpd="sng" algn="ctr">
                      <a:solidFill>
                        <a:srgbClr val="D5DAE1"/>
                      </a:solidFill>
                      <a:prstDash val="solid"/>
                      <a:round/>
                      <a:headEnd type="none" w="med" len="med"/>
                      <a:tailEnd type="none" w="med" len="med"/>
                    </a:lnR>
                    <a:lnT w="6350" cap="flat" cmpd="sng" algn="ctr">
                      <a:solidFill>
                        <a:srgbClr val="D5DAE1"/>
                      </a:solidFill>
                      <a:prstDash val="solid"/>
                      <a:round/>
                      <a:headEnd type="none" w="med" len="med"/>
                      <a:tailEnd type="none" w="med" len="med"/>
                    </a:lnT>
                    <a:lnB w="6350" cap="flat" cmpd="sng" algn="ctr">
                      <a:solidFill>
                        <a:srgbClr val="D5DAE1"/>
                      </a:solidFill>
                      <a:prstDash val="solid"/>
                      <a:round/>
                      <a:headEnd type="none" w="med" len="med"/>
                      <a:tailEnd type="none" w="med" len="med"/>
                    </a:lnB>
                    <a:solidFill>
                      <a:srgbClr val="F2F4F7"/>
                    </a:solidFill>
                  </a:tcPr>
                </a:tc>
                <a:tc>
                  <a:txBody>
                    <a:bodyPr/>
                    <a:lstStyle/>
                    <a:p>
                      <a:pPr algn="l" indent="0" marL="0">
                        <a:buNone/>
                      </a:pPr>
                      <a:r>
                        <a:rPr lang="en-US" sz="1300" dirty="0">
                          <a:solidFill>
                            <a:srgbClr val="1B1F2A"/>
                          </a:solidFill>
                        </a:rPr>
                        <a:t>Grace 24 months; 12 quarterly instalments, months 30 to 63</a:t>
                      </a:r>
                      <a:endParaRPr lang="en-US" sz="1300" dirty="0"/>
                    </a:p>
                  </a:txBody>
                  <a:tcPr marL="73152" marR="73152" marT="36576" marB="36576" anchor="ctr">
                    <a:lnL w="6350" cap="flat" cmpd="sng" algn="ctr">
                      <a:solidFill>
                        <a:srgbClr val="D5DAE1"/>
                      </a:solidFill>
                      <a:prstDash val="solid"/>
                      <a:round/>
                      <a:headEnd type="none" w="med" len="med"/>
                      <a:tailEnd type="none" w="med" len="med"/>
                    </a:lnL>
                    <a:lnR w="6350" cap="flat" cmpd="sng" algn="ctr">
                      <a:solidFill>
                        <a:srgbClr val="D5DAE1"/>
                      </a:solidFill>
                      <a:prstDash val="solid"/>
                      <a:round/>
                      <a:headEnd type="none" w="med" len="med"/>
                      <a:tailEnd type="none" w="med" len="med"/>
                    </a:lnR>
                    <a:lnT w="6350" cap="flat" cmpd="sng" algn="ctr">
                      <a:solidFill>
                        <a:srgbClr val="D5DAE1"/>
                      </a:solidFill>
                      <a:prstDash val="solid"/>
                      <a:round/>
                      <a:headEnd type="none" w="med" len="med"/>
                      <a:tailEnd type="none" w="med" len="med"/>
                    </a:lnT>
                    <a:lnB w="6350" cap="flat" cmpd="sng" algn="ctr">
                      <a:solidFill>
                        <a:srgbClr val="D5DAE1"/>
                      </a:solidFill>
                      <a:prstDash val="solid"/>
                      <a:round/>
                      <a:headEnd type="none" w="med" len="med"/>
                      <a:tailEnd type="none" w="med" len="med"/>
                    </a:lnB>
                    <a:solidFill>
                      <a:srgbClr val="F2F4F7"/>
                    </a:solidFill>
                  </a:tcPr>
                </a:tc>
              </a:tr>
              <a:tr h="457200">
                <a:tc>
                  <a:txBody>
                    <a:bodyPr/>
                    <a:lstStyle/>
                    <a:p>
                      <a:pPr algn="l" indent="0" marL="0">
                        <a:buNone/>
                      </a:pPr>
                      <a:r>
                        <a:rPr lang="en-US" sz="1300" b="1" dirty="0">
                          <a:solidFill>
                            <a:srgbClr val="1B1F2A"/>
                          </a:solidFill>
                        </a:rPr>
                        <a:t>Price exposure</a:t>
                      </a:r>
                      <a:endParaRPr lang="en-US" sz="1300" dirty="0"/>
                    </a:p>
                  </a:txBody>
                  <a:tcPr marL="73152" marR="73152" marT="36576" marB="36576" anchor="ctr">
                    <a:lnL w="6350" cap="flat" cmpd="sng" algn="ctr">
                      <a:solidFill>
                        <a:srgbClr val="D5DAE1"/>
                      </a:solidFill>
                      <a:prstDash val="solid"/>
                      <a:round/>
                      <a:headEnd type="none" w="med" len="med"/>
                      <a:tailEnd type="none" w="med" len="med"/>
                    </a:lnL>
                    <a:lnR w="6350" cap="flat" cmpd="sng" algn="ctr">
                      <a:solidFill>
                        <a:srgbClr val="D5DAE1"/>
                      </a:solidFill>
                      <a:prstDash val="solid"/>
                      <a:round/>
                      <a:headEnd type="none" w="med" len="med"/>
                      <a:tailEnd type="none" w="med" len="med"/>
                    </a:lnR>
                    <a:lnT w="6350" cap="flat" cmpd="sng" algn="ctr">
                      <a:solidFill>
                        <a:srgbClr val="D5DAE1"/>
                      </a:solidFill>
                      <a:prstDash val="solid"/>
                      <a:round/>
                      <a:headEnd type="none" w="med" len="med"/>
                      <a:tailEnd type="none" w="med" len="med"/>
                    </a:lnT>
                    <a:lnB w="6350" cap="flat" cmpd="sng" algn="ctr">
                      <a:solidFill>
                        <a:srgbClr val="D5DAE1"/>
                      </a:solidFill>
                      <a:prstDash val="solid"/>
                      <a:round/>
                      <a:headEnd type="none" w="med" len="med"/>
                      <a:tailEnd type="none" w="med" len="med"/>
                    </a:lnB>
                    <a:solidFill>
                      <a:srgbClr val="FFFFFF"/>
                    </a:solidFill>
                  </a:tcPr>
                </a:tc>
                <a:tc>
                  <a:txBody>
                    <a:bodyPr/>
                    <a:lstStyle/>
                    <a:p>
                      <a:pPr algn="l" indent="0" marL="0">
                        <a:buNone/>
                      </a:pPr>
                      <a:r>
                        <a:rPr lang="en-US" sz="1300" dirty="0">
                          <a:solidFill>
                            <a:srgbClr val="1B1F2A"/>
                          </a:solidFill>
                        </a:rPr>
                        <a:t>Yes: value moves with Mostakbal City prices (delivery list 1.43x launch)</a:t>
                      </a:r>
                      <a:endParaRPr lang="en-US" sz="1300" dirty="0"/>
                    </a:p>
                  </a:txBody>
                  <a:tcPr marL="73152" marR="73152" marT="36576" marB="36576" anchor="ctr">
                    <a:lnL w="6350" cap="flat" cmpd="sng" algn="ctr">
                      <a:solidFill>
                        <a:srgbClr val="D5DAE1"/>
                      </a:solidFill>
                      <a:prstDash val="solid"/>
                      <a:round/>
                      <a:headEnd type="none" w="med" len="med"/>
                      <a:tailEnd type="none" w="med" len="med"/>
                    </a:lnL>
                    <a:lnR w="6350" cap="flat" cmpd="sng" algn="ctr">
                      <a:solidFill>
                        <a:srgbClr val="D5DAE1"/>
                      </a:solidFill>
                      <a:prstDash val="solid"/>
                      <a:round/>
                      <a:headEnd type="none" w="med" len="med"/>
                      <a:tailEnd type="none" w="med" len="med"/>
                    </a:lnR>
                    <a:lnT w="6350" cap="flat" cmpd="sng" algn="ctr">
                      <a:solidFill>
                        <a:srgbClr val="D5DAE1"/>
                      </a:solidFill>
                      <a:prstDash val="solid"/>
                      <a:round/>
                      <a:headEnd type="none" w="med" len="med"/>
                      <a:tailEnd type="none" w="med" len="med"/>
                    </a:lnT>
                    <a:lnB w="6350" cap="flat" cmpd="sng" algn="ctr">
                      <a:solidFill>
                        <a:srgbClr val="D5DAE1"/>
                      </a:solidFill>
                      <a:prstDash val="solid"/>
                      <a:round/>
                      <a:headEnd type="none" w="med" len="med"/>
                      <a:tailEnd type="none" w="med" len="med"/>
                    </a:lnB>
                    <a:solidFill>
                      <a:srgbClr val="FFFFFF"/>
                    </a:solidFill>
                  </a:tcPr>
                </a:tc>
                <a:tc>
                  <a:txBody>
                    <a:bodyPr/>
                    <a:lstStyle/>
                    <a:p>
                      <a:pPr algn="l" indent="0" marL="0">
                        <a:buNone/>
                      </a:pPr>
                      <a:r>
                        <a:rPr lang="en-US" sz="1300" dirty="0">
                          <a:solidFill>
                            <a:srgbClr val="1B1F2A"/>
                          </a:solidFill>
                        </a:rPr>
                        <a:t>No unit price exposure; fixed instalments</a:t>
                      </a:r>
                      <a:endParaRPr lang="en-US" sz="1300" dirty="0"/>
                    </a:p>
                  </a:txBody>
                  <a:tcPr marL="73152" marR="73152" marT="36576" marB="36576" anchor="ctr">
                    <a:lnL w="6350" cap="flat" cmpd="sng" algn="ctr">
                      <a:solidFill>
                        <a:srgbClr val="D5DAE1"/>
                      </a:solidFill>
                      <a:prstDash val="solid"/>
                      <a:round/>
                      <a:headEnd type="none" w="med" len="med"/>
                      <a:tailEnd type="none" w="med" len="med"/>
                    </a:lnL>
                    <a:lnR w="6350" cap="flat" cmpd="sng" algn="ctr">
                      <a:solidFill>
                        <a:srgbClr val="D5DAE1"/>
                      </a:solidFill>
                      <a:prstDash val="solid"/>
                      <a:round/>
                      <a:headEnd type="none" w="med" len="med"/>
                      <a:tailEnd type="none" w="med" len="med"/>
                    </a:lnR>
                    <a:lnT w="6350" cap="flat" cmpd="sng" algn="ctr">
                      <a:solidFill>
                        <a:srgbClr val="D5DAE1"/>
                      </a:solidFill>
                      <a:prstDash val="solid"/>
                      <a:round/>
                      <a:headEnd type="none" w="med" len="med"/>
                      <a:tailEnd type="none" w="med" len="med"/>
                    </a:lnT>
                    <a:lnB w="6350" cap="flat" cmpd="sng" algn="ctr">
                      <a:solidFill>
                        <a:srgbClr val="D5DAE1"/>
                      </a:solidFill>
                      <a:prstDash val="solid"/>
                      <a:round/>
                      <a:headEnd type="none" w="med" len="med"/>
                      <a:tailEnd type="none" w="med" len="med"/>
                    </a:lnB>
                    <a:solidFill>
                      <a:srgbClr val="FFFFFF"/>
                    </a:solidFill>
                  </a:tcPr>
                </a:tc>
              </a:tr>
              <a:tr h="457200">
                <a:tc>
                  <a:txBody>
                    <a:bodyPr/>
                    <a:lstStyle/>
                    <a:p>
                      <a:pPr algn="l" indent="0" marL="0">
                        <a:buNone/>
                      </a:pPr>
                      <a:r>
                        <a:rPr lang="en-US" sz="1300" b="1" dirty="0">
                          <a:solidFill>
                            <a:srgbClr val="1B1F2A"/>
                          </a:solidFill>
                        </a:rPr>
                        <a:t>Projected IRR, base</a:t>
                      </a:r>
                      <a:endParaRPr lang="en-US" sz="1300" dirty="0"/>
                    </a:p>
                  </a:txBody>
                  <a:tcPr marL="73152" marR="73152" marT="36576" marB="36576" anchor="ctr">
                    <a:lnL w="6350" cap="flat" cmpd="sng" algn="ctr">
                      <a:solidFill>
                        <a:srgbClr val="D5DAE1"/>
                      </a:solidFill>
                      <a:prstDash val="solid"/>
                      <a:round/>
                      <a:headEnd type="none" w="med" len="med"/>
                      <a:tailEnd type="none" w="med" len="med"/>
                    </a:lnL>
                    <a:lnR w="6350" cap="flat" cmpd="sng" algn="ctr">
                      <a:solidFill>
                        <a:srgbClr val="D5DAE1"/>
                      </a:solidFill>
                      <a:prstDash val="solid"/>
                      <a:round/>
                      <a:headEnd type="none" w="med" len="med"/>
                      <a:tailEnd type="none" w="med" len="med"/>
                    </a:lnR>
                    <a:lnT w="6350" cap="flat" cmpd="sng" algn="ctr">
                      <a:solidFill>
                        <a:srgbClr val="D5DAE1"/>
                      </a:solidFill>
                      <a:prstDash val="solid"/>
                      <a:round/>
                      <a:headEnd type="none" w="med" len="med"/>
                      <a:tailEnd type="none" w="med" len="med"/>
                    </a:lnT>
                    <a:lnB w="6350" cap="flat" cmpd="sng" algn="ctr">
                      <a:solidFill>
                        <a:srgbClr val="D5DAE1"/>
                      </a:solidFill>
                      <a:prstDash val="solid"/>
                      <a:round/>
                      <a:headEnd type="none" w="med" len="med"/>
                      <a:tailEnd type="none" w="med" len="med"/>
                    </a:lnB>
                    <a:solidFill>
                      <a:srgbClr val="F2F4F7"/>
                    </a:solidFill>
                  </a:tcPr>
                </a:tc>
                <a:tc>
                  <a:txBody>
                    <a:bodyPr/>
                    <a:lstStyle/>
                    <a:p>
                      <a:pPr algn="l" indent="0" marL="0">
                        <a:buNone/>
                      </a:pPr>
                      <a:r>
                        <a:rPr lang="en-US" sz="1300" dirty="0">
                          <a:solidFill>
                            <a:srgbClr val="1B1F2A"/>
                          </a:solidFill>
                        </a:rPr>
                        <a:t>26.4%</a:t>
                      </a:r>
                      <a:endParaRPr lang="en-US" sz="1300" dirty="0"/>
                    </a:p>
                  </a:txBody>
                  <a:tcPr marL="73152" marR="73152" marT="36576" marB="36576" anchor="ctr">
                    <a:lnL w="6350" cap="flat" cmpd="sng" algn="ctr">
                      <a:solidFill>
                        <a:srgbClr val="D5DAE1"/>
                      </a:solidFill>
                      <a:prstDash val="solid"/>
                      <a:round/>
                      <a:headEnd type="none" w="med" len="med"/>
                      <a:tailEnd type="none" w="med" len="med"/>
                    </a:lnL>
                    <a:lnR w="6350" cap="flat" cmpd="sng" algn="ctr">
                      <a:solidFill>
                        <a:srgbClr val="D5DAE1"/>
                      </a:solidFill>
                      <a:prstDash val="solid"/>
                      <a:round/>
                      <a:headEnd type="none" w="med" len="med"/>
                      <a:tailEnd type="none" w="med" len="med"/>
                    </a:lnR>
                    <a:lnT w="6350" cap="flat" cmpd="sng" algn="ctr">
                      <a:solidFill>
                        <a:srgbClr val="D5DAE1"/>
                      </a:solidFill>
                      <a:prstDash val="solid"/>
                      <a:round/>
                      <a:headEnd type="none" w="med" len="med"/>
                      <a:tailEnd type="none" w="med" len="med"/>
                    </a:lnT>
                    <a:lnB w="6350" cap="flat" cmpd="sng" algn="ctr">
                      <a:solidFill>
                        <a:srgbClr val="D5DAE1"/>
                      </a:solidFill>
                      <a:prstDash val="solid"/>
                      <a:round/>
                      <a:headEnd type="none" w="med" len="med"/>
                      <a:tailEnd type="none" w="med" len="med"/>
                    </a:lnB>
                    <a:solidFill>
                      <a:srgbClr val="F2F4F7"/>
                    </a:solidFill>
                  </a:tcPr>
                </a:tc>
                <a:tc>
                  <a:txBody>
                    <a:bodyPr/>
                    <a:lstStyle/>
                    <a:p>
                      <a:pPr algn="l" indent="0" marL="0">
                        <a:buNone/>
                      </a:pPr>
                      <a:r>
                        <a:rPr lang="en-US" sz="1300" dirty="0">
                          <a:solidFill>
                            <a:srgbClr val="1B1F2A"/>
                          </a:solidFill>
                        </a:rPr>
                        <a:t>26.5%</a:t>
                      </a:r>
                      <a:endParaRPr lang="en-US" sz="1300" dirty="0"/>
                    </a:p>
                  </a:txBody>
                  <a:tcPr marL="73152" marR="73152" marT="36576" marB="36576" anchor="ctr">
                    <a:lnL w="6350" cap="flat" cmpd="sng" algn="ctr">
                      <a:solidFill>
                        <a:srgbClr val="D5DAE1"/>
                      </a:solidFill>
                      <a:prstDash val="solid"/>
                      <a:round/>
                      <a:headEnd type="none" w="med" len="med"/>
                      <a:tailEnd type="none" w="med" len="med"/>
                    </a:lnL>
                    <a:lnR w="6350" cap="flat" cmpd="sng" algn="ctr">
                      <a:solidFill>
                        <a:srgbClr val="D5DAE1"/>
                      </a:solidFill>
                      <a:prstDash val="solid"/>
                      <a:round/>
                      <a:headEnd type="none" w="med" len="med"/>
                      <a:tailEnd type="none" w="med" len="med"/>
                    </a:lnR>
                    <a:lnT w="6350" cap="flat" cmpd="sng" algn="ctr">
                      <a:solidFill>
                        <a:srgbClr val="D5DAE1"/>
                      </a:solidFill>
                      <a:prstDash val="solid"/>
                      <a:round/>
                      <a:headEnd type="none" w="med" len="med"/>
                      <a:tailEnd type="none" w="med" len="med"/>
                    </a:lnT>
                    <a:lnB w="6350" cap="flat" cmpd="sng" algn="ctr">
                      <a:solidFill>
                        <a:srgbClr val="D5DAE1"/>
                      </a:solidFill>
                      <a:prstDash val="solid"/>
                      <a:round/>
                      <a:headEnd type="none" w="med" len="med"/>
                      <a:tailEnd type="none" w="med" len="med"/>
                    </a:lnB>
                    <a:solidFill>
                      <a:srgbClr val="F2F4F7"/>
                    </a:solidFill>
                  </a:tcPr>
                </a:tc>
              </a:tr>
              <a:tr h="457200">
                <a:tc>
                  <a:txBody>
                    <a:bodyPr/>
                    <a:lstStyle/>
                    <a:p>
                      <a:pPr algn="l" indent="0" marL="0">
                        <a:buNone/>
                      </a:pPr>
                      <a:r>
                        <a:rPr lang="en-US" sz="1300" b="1" dirty="0">
                          <a:solidFill>
                            <a:srgbClr val="1B1F2A"/>
                          </a:solidFill>
                        </a:rPr>
                        <a:t>Projected multiple, base</a:t>
                      </a:r>
                      <a:endParaRPr lang="en-US" sz="1300" dirty="0"/>
                    </a:p>
                  </a:txBody>
                  <a:tcPr marL="73152" marR="73152" marT="36576" marB="36576" anchor="ctr">
                    <a:lnL w="6350" cap="flat" cmpd="sng" algn="ctr">
                      <a:solidFill>
                        <a:srgbClr val="D5DAE1"/>
                      </a:solidFill>
                      <a:prstDash val="solid"/>
                      <a:round/>
                      <a:headEnd type="none" w="med" len="med"/>
                      <a:tailEnd type="none" w="med" len="med"/>
                    </a:lnL>
                    <a:lnR w="6350" cap="flat" cmpd="sng" algn="ctr">
                      <a:solidFill>
                        <a:srgbClr val="D5DAE1"/>
                      </a:solidFill>
                      <a:prstDash val="solid"/>
                      <a:round/>
                      <a:headEnd type="none" w="med" len="med"/>
                      <a:tailEnd type="none" w="med" len="med"/>
                    </a:lnR>
                    <a:lnT w="6350" cap="flat" cmpd="sng" algn="ctr">
                      <a:solidFill>
                        <a:srgbClr val="D5DAE1"/>
                      </a:solidFill>
                      <a:prstDash val="solid"/>
                      <a:round/>
                      <a:headEnd type="none" w="med" len="med"/>
                      <a:tailEnd type="none" w="med" len="med"/>
                    </a:lnT>
                    <a:lnB w="6350" cap="flat" cmpd="sng" algn="ctr">
                      <a:solidFill>
                        <a:srgbClr val="D5DAE1"/>
                      </a:solidFill>
                      <a:prstDash val="solid"/>
                      <a:round/>
                      <a:headEnd type="none" w="med" len="med"/>
                      <a:tailEnd type="none" w="med" len="med"/>
                    </a:lnB>
                    <a:solidFill>
                      <a:srgbClr val="FFFFFF"/>
                    </a:solidFill>
                  </a:tcPr>
                </a:tc>
                <a:tc>
                  <a:txBody>
                    <a:bodyPr/>
                    <a:lstStyle/>
                    <a:p>
                      <a:pPr algn="l" indent="0" marL="0">
                        <a:buNone/>
                      </a:pPr>
                      <a:r>
                        <a:rPr lang="en-US" sz="1300" dirty="0">
                          <a:solidFill>
                            <a:srgbClr val="1B1F2A"/>
                          </a:solidFill>
                        </a:rPr>
                        <a:t>2.78x</a:t>
                      </a:r>
                      <a:endParaRPr lang="en-US" sz="1300" dirty="0"/>
                    </a:p>
                  </a:txBody>
                  <a:tcPr marL="73152" marR="73152" marT="36576" marB="36576" anchor="ctr">
                    <a:lnL w="6350" cap="flat" cmpd="sng" algn="ctr">
                      <a:solidFill>
                        <a:srgbClr val="D5DAE1"/>
                      </a:solidFill>
                      <a:prstDash val="solid"/>
                      <a:round/>
                      <a:headEnd type="none" w="med" len="med"/>
                      <a:tailEnd type="none" w="med" len="med"/>
                    </a:lnL>
                    <a:lnR w="6350" cap="flat" cmpd="sng" algn="ctr">
                      <a:solidFill>
                        <a:srgbClr val="D5DAE1"/>
                      </a:solidFill>
                      <a:prstDash val="solid"/>
                      <a:round/>
                      <a:headEnd type="none" w="med" len="med"/>
                      <a:tailEnd type="none" w="med" len="med"/>
                    </a:lnR>
                    <a:lnT w="6350" cap="flat" cmpd="sng" algn="ctr">
                      <a:solidFill>
                        <a:srgbClr val="D5DAE1"/>
                      </a:solidFill>
                      <a:prstDash val="solid"/>
                      <a:round/>
                      <a:headEnd type="none" w="med" len="med"/>
                      <a:tailEnd type="none" w="med" len="med"/>
                    </a:lnT>
                    <a:lnB w="6350" cap="flat" cmpd="sng" algn="ctr">
                      <a:solidFill>
                        <a:srgbClr val="D5DAE1"/>
                      </a:solidFill>
                      <a:prstDash val="solid"/>
                      <a:round/>
                      <a:headEnd type="none" w="med" len="med"/>
                      <a:tailEnd type="none" w="med" len="med"/>
                    </a:lnB>
                    <a:solidFill>
                      <a:srgbClr val="FFFFFF"/>
                    </a:solidFill>
                  </a:tcPr>
                </a:tc>
                <a:tc>
                  <a:txBody>
                    <a:bodyPr/>
                    <a:lstStyle/>
                    <a:p>
                      <a:pPr algn="l" indent="0" marL="0">
                        <a:buNone/>
                      </a:pPr>
                      <a:r>
                        <a:rPr lang="en-US" sz="1300" dirty="0">
                          <a:solidFill>
                            <a:srgbClr val="1B1F2A"/>
                          </a:solidFill>
                        </a:rPr>
                        <a:t>2.30x</a:t>
                      </a:r>
                      <a:endParaRPr lang="en-US" sz="1300" dirty="0"/>
                    </a:p>
                  </a:txBody>
                  <a:tcPr marL="73152" marR="73152" marT="36576" marB="36576" anchor="ctr">
                    <a:lnL w="6350" cap="flat" cmpd="sng" algn="ctr">
                      <a:solidFill>
                        <a:srgbClr val="D5DAE1"/>
                      </a:solidFill>
                      <a:prstDash val="solid"/>
                      <a:round/>
                      <a:headEnd type="none" w="med" len="med"/>
                      <a:tailEnd type="none" w="med" len="med"/>
                    </a:lnL>
                    <a:lnR w="6350" cap="flat" cmpd="sng" algn="ctr">
                      <a:solidFill>
                        <a:srgbClr val="D5DAE1"/>
                      </a:solidFill>
                      <a:prstDash val="solid"/>
                      <a:round/>
                      <a:headEnd type="none" w="med" len="med"/>
                      <a:tailEnd type="none" w="med" len="med"/>
                    </a:lnR>
                    <a:lnT w="6350" cap="flat" cmpd="sng" algn="ctr">
                      <a:solidFill>
                        <a:srgbClr val="D5DAE1"/>
                      </a:solidFill>
                      <a:prstDash val="solid"/>
                      <a:round/>
                      <a:headEnd type="none" w="med" len="med"/>
                      <a:tailEnd type="none" w="med" len="med"/>
                    </a:lnT>
                    <a:lnB w="6350" cap="flat" cmpd="sng" algn="ctr">
                      <a:solidFill>
                        <a:srgbClr val="D5DAE1"/>
                      </a:solidFill>
                      <a:prstDash val="solid"/>
                      <a:round/>
                      <a:headEnd type="none" w="med" len="med"/>
                      <a:tailEnd type="none" w="med" len="med"/>
                    </a:lnB>
                    <a:solidFill>
                      <a:srgbClr val="FFFFFF"/>
                    </a:solidFill>
                  </a:tcPr>
                </a:tc>
              </a:tr>
              <a:tr h="457200">
                <a:tc>
                  <a:txBody>
                    <a:bodyPr/>
                    <a:lstStyle/>
                    <a:p>
                      <a:pPr algn="l" indent="0" marL="0">
                        <a:buNone/>
                      </a:pPr>
                      <a:r>
                        <a:rPr lang="en-US" sz="1300" b="1" dirty="0">
                          <a:solidFill>
                            <a:srgbClr val="1B1F2A"/>
                          </a:solidFill>
                        </a:rPr>
                        <a:t>Upside IRR</a:t>
                      </a:r>
                      <a:endParaRPr lang="en-US" sz="1300" dirty="0"/>
                    </a:p>
                  </a:txBody>
                  <a:tcPr marL="73152" marR="73152" marT="36576" marB="36576" anchor="ctr">
                    <a:lnL w="6350" cap="flat" cmpd="sng" algn="ctr">
                      <a:solidFill>
                        <a:srgbClr val="D5DAE1"/>
                      </a:solidFill>
                      <a:prstDash val="solid"/>
                      <a:round/>
                      <a:headEnd type="none" w="med" len="med"/>
                      <a:tailEnd type="none" w="med" len="med"/>
                    </a:lnL>
                    <a:lnR w="6350" cap="flat" cmpd="sng" algn="ctr">
                      <a:solidFill>
                        <a:srgbClr val="D5DAE1"/>
                      </a:solidFill>
                      <a:prstDash val="solid"/>
                      <a:round/>
                      <a:headEnd type="none" w="med" len="med"/>
                      <a:tailEnd type="none" w="med" len="med"/>
                    </a:lnR>
                    <a:lnT w="6350" cap="flat" cmpd="sng" algn="ctr">
                      <a:solidFill>
                        <a:srgbClr val="D5DAE1"/>
                      </a:solidFill>
                      <a:prstDash val="solid"/>
                      <a:round/>
                      <a:headEnd type="none" w="med" len="med"/>
                      <a:tailEnd type="none" w="med" len="med"/>
                    </a:lnT>
                    <a:lnB w="6350" cap="flat" cmpd="sng" algn="ctr">
                      <a:solidFill>
                        <a:srgbClr val="D5DAE1"/>
                      </a:solidFill>
                      <a:prstDash val="solid"/>
                      <a:round/>
                      <a:headEnd type="none" w="med" len="med"/>
                      <a:tailEnd type="none" w="med" len="med"/>
                    </a:lnB>
                    <a:solidFill>
                      <a:srgbClr val="F2F4F7"/>
                    </a:solidFill>
                  </a:tcPr>
                </a:tc>
                <a:tc>
                  <a:txBody>
                    <a:bodyPr/>
                    <a:lstStyle/>
                    <a:p>
                      <a:pPr algn="l" indent="0" marL="0">
                        <a:buNone/>
                      </a:pPr>
                      <a:r>
                        <a:rPr lang="en-US" sz="1300" dirty="0">
                          <a:solidFill>
                            <a:srgbClr val="1B1F2A"/>
                          </a:solidFill>
                        </a:rPr>
                        <a:t>29.2% (3.06x)</a:t>
                      </a:r>
                      <a:endParaRPr lang="en-US" sz="1300" dirty="0"/>
                    </a:p>
                  </a:txBody>
                  <a:tcPr marL="73152" marR="73152" marT="36576" marB="36576" anchor="ctr">
                    <a:lnL w="6350" cap="flat" cmpd="sng" algn="ctr">
                      <a:solidFill>
                        <a:srgbClr val="D5DAE1"/>
                      </a:solidFill>
                      <a:prstDash val="solid"/>
                      <a:round/>
                      <a:headEnd type="none" w="med" len="med"/>
                      <a:tailEnd type="none" w="med" len="med"/>
                    </a:lnL>
                    <a:lnR w="6350" cap="flat" cmpd="sng" algn="ctr">
                      <a:solidFill>
                        <a:srgbClr val="D5DAE1"/>
                      </a:solidFill>
                      <a:prstDash val="solid"/>
                      <a:round/>
                      <a:headEnd type="none" w="med" len="med"/>
                      <a:tailEnd type="none" w="med" len="med"/>
                    </a:lnR>
                    <a:lnT w="6350" cap="flat" cmpd="sng" algn="ctr">
                      <a:solidFill>
                        <a:srgbClr val="D5DAE1"/>
                      </a:solidFill>
                      <a:prstDash val="solid"/>
                      <a:round/>
                      <a:headEnd type="none" w="med" len="med"/>
                      <a:tailEnd type="none" w="med" len="med"/>
                    </a:lnT>
                    <a:lnB w="6350" cap="flat" cmpd="sng" algn="ctr">
                      <a:solidFill>
                        <a:srgbClr val="D5DAE1"/>
                      </a:solidFill>
                      <a:prstDash val="solid"/>
                      <a:round/>
                      <a:headEnd type="none" w="med" len="med"/>
                      <a:tailEnd type="none" w="med" len="med"/>
                    </a:lnB>
                    <a:solidFill>
                      <a:srgbClr val="F2F4F7"/>
                    </a:solidFill>
                  </a:tcPr>
                </a:tc>
                <a:tc>
                  <a:txBody>
                    <a:bodyPr/>
                    <a:lstStyle/>
                    <a:p>
                      <a:pPr algn="l" indent="0" marL="0">
                        <a:buNone/>
                      </a:pPr>
                      <a:r>
                        <a:rPr lang="en-US" sz="1300" dirty="0">
                          <a:solidFill>
                            <a:srgbClr val="1B1F2A"/>
                          </a:solidFill>
                        </a:rPr>
                        <a:t>Contractual: 26.5% if paid</a:t>
                      </a:r>
                      <a:endParaRPr lang="en-US" sz="1300" dirty="0"/>
                    </a:p>
                  </a:txBody>
                  <a:tcPr marL="73152" marR="73152" marT="36576" marB="36576" anchor="ctr">
                    <a:lnL w="6350" cap="flat" cmpd="sng" algn="ctr">
                      <a:solidFill>
                        <a:srgbClr val="D5DAE1"/>
                      </a:solidFill>
                      <a:prstDash val="solid"/>
                      <a:round/>
                      <a:headEnd type="none" w="med" len="med"/>
                      <a:tailEnd type="none" w="med" len="med"/>
                    </a:lnL>
                    <a:lnR w="6350" cap="flat" cmpd="sng" algn="ctr">
                      <a:solidFill>
                        <a:srgbClr val="D5DAE1"/>
                      </a:solidFill>
                      <a:prstDash val="solid"/>
                      <a:round/>
                      <a:headEnd type="none" w="med" len="med"/>
                      <a:tailEnd type="none" w="med" len="med"/>
                    </a:lnR>
                    <a:lnT w="6350" cap="flat" cmpd="sng" algn="ctr">
                      <a:solidFill>
                        <a:srgbClr val="D5DAE1"/>
                      </a:solidFill>
                      <a:prstDash val="solid"/>
                      <a:round/>
                      <a:headEnd type="none" w="med" len="med"/>
                      <a:tailEnd type="none" w="med" len="med"/>
                    </a:lnT>
                    <a:lnB w="6350" cap="flat" cmpd="sng" algn="ctr">
                      <a:solidFill>
                        <a:srgbClr val="D5DAE1"/>
                      </a:solidFill>
                      <a:prstDash val="solid"/>
                      <a:round/>
                      <a:headEnd type="none" w="med" len="med"/>
                      <a:tailEnd type="none" w="med" len="med"/>
                    </a:lnB>
                    <a:solidFill>
                      <a:srgbClr val="F2F4F7"/>
                    </a:solidFill>
                  </a:tcPr>
                </a:tc>
              </a:tr>
              <a:tr h="457200">
                <a:tc>
                  <a:txBody>
                    <a:bodyPr/>
                    <a:lstStyle/>
                    <a:p>
                      <a:pPr algn="l" indent="0" marL="0">
                        <a:buNone/>
                      </a:pPr>
                      <a:r>
                        <a:rPr lang="en-US" sz="1300" b="1" dirty="0">
                          <a:solidFill>
                            <a:srgbClr val="1B1F2A"/>
                          </a:solidFill>
                        </a:rPr>
                        <a:t>Downside IRR</a:t>
                      </a:r>
                      <a:endParaRPr lang="en-US" sz="1300" dirty="0"/>
                    </a:p>
                  </a:txBody>
                  <a:tcPr marL="73152" marR="73152" marT="36576" marB="36576" anchor="ctr">
                    <a:lnL w="6350" cap="flat" cmpd="sng" algn="ctr">
                      <a:solidFill>
                        <a:srgbClr val="D5DAE1"/>
                      </a:solidFill>
                      <a:prstDash val="solid"/>
                      <a:round/>
                      <a:headEnd type="none" w="med" len="med"/>
                      <a:tailEnd type="none" w="med" len="med"/>
                    </a:lnL>
                    <a:lnR w="6350" cap="flat" cmpd="sng" algn="ctr">
                      <a:solidFill>
                        <a:srgbClr val="D5DAE1"/>
                      </a:solidFill>
                      <a:prstDash val="solid"/>
                      <a:round/>
                      <a:headEnd type="none" w="med" len="med"/>
                      <a:tailEnd type="none" w="med" len="med"/>
                    </a:lnR>
                    <a:lnT w="6350" cap="flat" cmpd="sng" algn="ctr">
                      <a:solidFill>
                        <a:srgbClr val="D5DAE1"/>
                      </a:solidFill>
                      <a:prstDash val="solid"/>
                      <a:round/>
                      <a:headEnd type="none" w="med" len="med"/>
                      <a:tailEnd type="none" w="med" len="med"/>
                    </a:lnT>
                    <a:lnB w="6350" cap="flat" cmpd="sng" algn="ctr">
                      <a:solidFill>
                        <a:srgbClr val="D5DAE1"/>
                      </a:solidFill>
                      <a:prstDash val="solid"/>
                      <a:round/>
                      <a:headEnd type="none" w="med" len="med"/>
                      <a:tailEnd type="none" w="med" len="med"/>
                    </a:lnB>
                    <a:solidFill>
                      <a:srgbClr val="FFFFFF"/>
                    </a:solidFill>
                  </a:tcPr>
                </a:tc>
                <a:tc>
                  <a:txBody>
                    <a:bodyPr/>
                    <a:lstStyle/>
                    <a:p>
                      <a:pPr algn="l" indent="0" marL="0">
                        <a:buNone/>
                      </a:pPr>
                      <a:r>
                        <a:rPr lang="en-US" sz="1300" dirty="0">
                          <a:solidFill>
                            <a:srgbClr val="1B1F2A"/>
                          </a:solidFill>
                        </a:rPr>
                        <a:t>18.6% (2.50x)</a:t>
                      </a:r>
                      <a:endParaRPr lang="en-US" sz="1300" dirty="0"/>
                    </a:p>
                  </a:txBody>
                  <a:tcPr marL="73152" marR="73152" marT="36576" marB="36576" anchor="ctr">
                    <a:lnL w="6350" cap="flat" cmpd="sng" algn="ctr">
                      <a:solidFill>
                        <a:srgbClr val="D5DAE1"/>
                      </a:solidFill>
                      <a:prstDash val="solid"/>
                      <a:round/>
                      <a:headEnd type="none" w="med" len="med"/>
                      <a:tailEnd type="none" w="med" len="med"/>
                    </a:lnL>
                    <a:lnR w="6350" cap="flat" cmpd="sng" algn="ctr">
                      <a:solidFill>
                        <a:srgbClr val="D5DAE1"/>
                      </a:solidFill>
                      <a:prstDash val="solid"/>
                      <a:round/>
                      <a:headEnd type="none" w="med" len="med"/>
                      <a:tailEnd type="none" w="med" len="med"/>
                    </a:lnR>
                    <a:lnT w="6350" cap="flat" cmpd="sng" algn="ctr">
                      <a:solidFill>
                        <a:srgbClr val="D5DAE1"/>
                      </a:solidFill>
                      <a:prstDash val="solid"/>
                      <a:round/>
                      <a:headEnd type="none" w="med" len="med"/>
                      <a:tailEnd type="none" w="med" len="med"/>
                    </a:lnT>
                    <a:lnB w="6350" cap="flat" cmpd="sng" algn="ctr">
                      <a:solidFill>
                        <a:srgbClr val="D5DAE1"/>
                      </a:solidFill>
                      <a:prstDash val="solid"/>
                      <a:round/>
                      <a:headEnd type="none" w="med" len="med"/>
                      <a:tailEnd type="none" w="med" len="med"/>
                    </a:lnB>
                    <a:solidFill>
                      <a:srgbClr val="FFFFFF"/>
                    </a:solidFill>
                  </a:tcPr>
                </a:tc>
                <a:tc>
                  <a:txBody>
                    <a:bodyPr/>
                    <a:lstStyle/>
                    <a:p>
                      <a:pPr algn="l" indent="0" marL="0">
                        <a:buNone/>
                      </a:pPr>
                      <a:r>
                        <a:rPr lang="en-US" sz="1300" dirty="0">
                          <a:solidFill>
                            <a:srgbClr val="1B1F2A"/>
                          </a:solidFill>
                        </a:rPr>
                        <a:t>Contractual: 26.5% if paid; depends on Jalour funding</a:t>
                      </a:r>
                      <a:endParaRPr lang="en-US" sz="1300" dirty="0"/>
                    </a:p>
                  </a:txBody>
                  <a:tcPr marL="73152" marR="73152" marT="36576" marB="36576" anchor="ctr">
                    <a:lnL w="6350" cap="flat" cmpd="sng" algn="ctr">
                      <a:solidFill>
                        <a:srgbClr val="D5DAE1"/>
                      </a:solidFill>
                      <a:prstDash val="solid"/>
                      <a:round/>
                      <a:headEnd type="none" w="med" len="med"/>
                      <a:tailEnd type="none" w="med" len="med"/>
                    </a:lnL>
                    <a:lnR w="6350" cap="flat" cmpd="sng" algn="ctr">
                      <a:solidFill>
                        <a:srgbClr val="D5DAE1"/>
                      </a:solidFill>
                      <a:prstDash val="solid"/>
                      <a:round/>
                      <a:headEnd type="none" w="med" len="med"/>
                      <a:tailEnd type="none" w="med" len="med"/>
                    </a:lnR>
                    <a:lnT w="6350" cap="flat" cmpd="sng" algn="ctr">
                      <a:solidFill>
                        <a:srgbClr val="D5DAE1"/>
                      </a:solidFill>
                      <a:prstDash val="solid"/>
                      <a:round/>
                      <a:headEnd type="none" w="med" len="med"/>
                      <a:tailEnd type="none" w="med" len="med"/>
                    </a:lnT>
                    <a:lnB w="6350" cap="flat" cmpd="sng" algn="ctr">
                      <a:solidFill>
                        <a:srgbClr val="D5DAE1"/>
                      </a:solidFill>
                      <a:prstDash val="solid"/>
                      <a:round/>
                      <a:headEnd type="none" w="med" len="med"/>
                      <a:tailEnd type="none" w="med" len="med"/>
                    </a:lnB>
                    <a:solidFill>
                      <a:srgbClr val="FFFFFF"/>
                    </a:solidFill>
                  </a:tcPr>
                </a:tc>
              </a:tr>
              <a:tr h="457200">
                <a:tc>
                  <a:txBody>
                    <a:bodyPr/>
                    <a:lstStyle/>
                    <a:p>
                      <a:pPr algn="l" indent="0" marL="0">
                        <a:buNone/>
                      </a:pPr>
                      <a:r>
                        <a:rPr lang="en-US" sz="1300" b="1" dirty="0">
                          <a:solidFill>
                            <a:srgbClr val="1B1F2A"/>
                          </a:solidFill>
                        </a:rPr>
                        <a:t>Payback</a:t>
                      </a:r>
                      <a:endParaRPr lang="en-US" sz="1300" dirty="0"/>
                    </a:p>
                  </a:txBody>
                  <a:tcPr marL="73152" marR="73152" marT="36576" marB="36576" anchor="ctr">
                    <a:lnL w="6350" cap="flat" cmpd="sng" algn="ctr">
                      <a:solidFill>
                        <a:srgbClr val="D5DAE1"/>
                      </a:solidFill>
                      <a:prstDash val="solid"/>
                      <a:round/>
                      <a:headEnd type="none" w="med" len="med"/>
                      <a:tailEnd type="none" w="med" len="med"/>
                    </a:lnL>
                    <a:lnR w="6350" cap="flat" cmpd="sng" algn="ctr">
                      <a:solidFill>
                        <a:srgbClr val="D5DAE1"/>
                      </a:solidFill>
                      <a:prstDash val="solid"/>
                      <a:round/>
                      <a:headEnd type="none" w="med" len="med"/>
                      <a:tailEnd type="none" w="med" len="med"/>
                    </a:lnR>
                    <a:lnT w="6350" cap="flat" cmpd="sng" algn="ctr">
                      <a:solidFill>
                        <a:srgbClr val="D5DAE1"/>
                      </a:solidFill>
                      <a:prstDash val="solid"/>
                      <a:round/>
                      <a:headEnd type="none" w="med" len="med"/>
                      <a:tailEnd type="none" w="med" len="med"/>
                    </a:lnT>
                    <a:lnB w="6350" cap="flat" cmpd="sng" algn="ctr">
                      <a:solidFill>
                        <a:srgbClr val="D5DAE1"/>
                      </a:solidFill>
                      <a:prstDash val="solid"/>
                      <a:round/>
                      <a:headEnd type="none" w="med" len="med"/>
                      <a:tailEnd type="none" w="med" len="med"/>
                    </a:lnB>
                    <a:solidFill>
                      <a:srgbClr val="F2F4F7"/>
                    </a:solidFill>
                  </a:tcPr>
                </a:tc>
                <a:tc>
                  <a:txBody>
                    <a:bodyPr/>
                    <a:lstStyle/>
                    <a:p>
                      <a:pPr algn="l" indent="0" marL="0">
                        <a:buNone/>
                      </a:pPr>
                      <a:r>
                        <a:rPr lang="en-US" sz="1300" dirty="0">
                          <a:solidFill>
                            <a:srgbClr val="1B1F2A"/>
                          </a:solidFill>
                        </a:rPr>
                        <a:t>Month 54</a:t>
                      </a:r>
                      <a:endParaRPr lang="en-US" sz="1300" dirty="0"/>
                    </a:p>
                  </a:txBody>
                  <a:tcPr marL="73152" marR="73152" marT="36576" marB="36576" anchor="ctr">
                    <a:lnL w="6350" cap="flat" cmpd="sng" algn="ctr">
                      <a:solidFill>
                        <a:srgbClr val="D5DAE1"/>
                      </a:solidFill>
                      <a:prstDash val="solid"/>
                      <a:round/>
                      <a:headEnd type="none" w="med" len="med"/>
                      <a:tailEnd type="none" w="med" len="med"/>
                    </a:lnL>
                    <a:lnR w="6350" cap="flat" cmpd="sng" algn="ctr">
                      <a:solidFill>
                        <a:srgbClr val="D5DAE1"/>
                      </a:solidFill>
                      <a:prstDash val="solid"/>
                      <a:round/>
                      <a:headEnd type="none" w="med" len="med"/>
                      <a:tailEnd type="none" w="med" len="med"/>
                    </a:lnR>
                    <a:lnT w="6350" cap="flat" cmpd="sng" algn="ctr">
                      <a:solidFill>
                        <a:srgbClr val="D5DAE1"/>
                      </a:solidFill>
                      <a:prstDash val="solid"/>
                      <a:round/>
                      <a:headEnd type="none" w="med" len="med"/>
                      <a:tailEnd type="none" w="med" len="med"/>
                    </a:lnT>
                    <a:lnB w="6350" cap="flat" cmpd="sng" algn="ctr">
                      <a:solidFill>
                        <a:srgbClr val="D5DAE1"/>
                      </a:solidFill>
                      <a:prstDash val="solid"/>
                      <a:round/>
                      <a:headEnd type="none" w="med" len="med"/>
                      <a:tailEnd type="none" w="med" len="med"/>
                    </a:lnB>
                    <a:solidFill>
                      <a:srgbClr val="F2F4F7"/>
                    </a:solidFill>
                  </a:tcPr>
                </a:tc>
                <a:tc>
                  <a:txBody>
                    <a:bodyPr/>
                    <a:lstStyle/>
                    <a:p>
                      <a:pPr algn="l" indent="0" marL="0">
                        <a:buNone/>
                      </a:pPr>
                      <a:r>
                        <a:rPr lang="en-US" sz="1300" dirty="0">
                          <a:solidFill>
                            <a:srgbClr val="1B1F2A"/>
                          </a:solidFill>
                        </a:rPr>
                        <a:t>Month 45</a:t>
                      </a:r>
                      <a:endParaRPr lang="en-US" sz="1300" dirty="0"/>
                    </a:p>
                  </a:txBody>
                  <a:tcPr marL="73152" marR="73152" marT="36576" marB="36576" anchor="ctr">
                    <a:lnL w="6350" cap="flat" cmpd="sng" algn="ctr">
                      <a:solidFill>
                        <a:srgbClr val="D5DAE1"/>
                      </a:solidFill>
                      <a:prstDash val="solid"/>
                      <a:round/>
                      <a:headEnd type="none" w="med" len="med"/>
                      <a:tailEnd type="none" w="med" len="med"/>
                    </a:lnL>
                    <a:lnR w="6350" cap="flat" cmpd="sng" algn="ctr">
                      <a:solidFill>
                        <a:srgbClr val="D5DAE1"/>
                      </a:solidFill>
                      <a:prstDash val="solid"/>
                      <a:round/>
                      <a:headEnd type="none" w="med" len="med"/>
                      <a:tailEnd type="none" w="med" len="med"/>
                    </a:lnR>
                    <a:lnT w="6350" cap="flat" cmpd="sng" algn="ctr">
                      <a:solidFill>
                        <a:srgbClr val="D5DAE1"/>
                      </a:solidFill>
                      <a:prstDash val="solid"/>
                      <a:round/>
                      <a:headEnd type="none" w="med" len="med"/>
                      <a:tailEnd type="none" w="med" len="med"/>
                    </a:lnT>
                    <a:lnB w="6350" cap="flat" cmpd="sng" algn="ctr">
                      <a:solidFill>
                        <a:srgbClr val="D5DAE1"/>
                      </a:solidFill>
                      <a:prstDash val="solid"/>
                      <a:round/>
                      <a:headEnd type="none" w="med" len="med"/>
                      <a:tailEnd type="none" w="med" len="med"/>
                    </a:lnB>
                    <a:solidFill>
                      <a:srgbClr val="F2F4F7"/>
                    </a:solidFill>
                  </a:tcPr>
                </a:tc>
              </a:tr>
              <a:tr h="457200">
                <a:tc>
                  <a:txBody>
                    <a:bodyPr/>
                    <a:lstStyle/>
                    <a:p>
                      <a:pPr algn="l" indent="0" marL="0">
                        <a:buNone/>
                      </a:pPr>
                      <a:r>
                        <a:rPr lang="en-US" sz="1300" b="1" dirty="0">
                          <a:solidFill>
                            <a:srgbClr val="1B1F2A"/>
                          </a:solidFill>
                        </a:rPr>
                        <a:t>Main risk</a:t>
                      </a:r>
                      <a:endParaRPr lang="en-US" sz="1300" dirty="0"/>
                    </a:p>
                  </a:txBody>
                  <a:tcPr marL="73152" marR="73152" marT="36576" marB="36576" anchor="ctr">
                    <a:lnL w="6350" cap="flat" cmpd="sng" algn="ctr">
                      <a:solidFill>
                        <a:srgbClr val="D5DAE1"/>
                      </a:solidFill>
                      <a:prstDash val="solid"/>
                      <a:round/>
                      <a:headEnd type="none" w="med" len="med"/>
                      <a:tailEnd type="none" w="med" len="med"/>
                    </a:lnL>
                    <a:lnR w="6350" cap="flat" cmpd="sng" algn="ctr">
                      <a:solidFill>
                        <a:srgbClr val="D5DAE1"/>
                      </a:solidFill>
                      <a:prstDash val="solid"/>
                      <a:round/>
                      <a:headEnd type="none" w="med" len="med"/>
                      <a:tailEnd type="none" w="med" len="med"/>
                    </a:lnR>
                    <a:lnT w="6350" cap="flat" cmpd="sng" algn="ctr">
                      <a:solidFill>
                        <a:srgbClr val="D5DAE1"/>
                      </a:solidFill>
                      <a:prstDash val="solid"/>
                      <a:round/>
                      <a:headEnd type="none" w="med" len="med"/>
                      <a:tailEnd type="none" w="med" len="med"/>
                    </a:lnT>
                    <a:lnB w="6350" cap="flat" cmpd="sng" algn="ctr">
                      <a:solidFill>
                        <a:srgbClr val="D5DAE1"/>
                      </a:solidFill>
                      <a:prstDash val="solid"/>
                      <a:round/>
                      <a:headEnd type="none" w="med" len="med"/>
                      <a:tailEnd type="none" w="med" len="med"/>
                    </a:lnB>
                    <a:solidFill>
                      <a:srgbClr val="FFFFFF"/>
                    </a:solidFill>
                  </a:tcPr>
                </a:tc>
                <a:tc>
                  <a:txBody>
                    <a:bodyPr/>
                    <a:lstStyle/>
                    <a:p>
                      <a:pPr algn="l" indent="0" marL="0">
                        <a:buNone/>
                      </a:pPr>
                      <a:r>
                        <a:rPr lang="en-US" sz="1300" dirty="0">
                          <a:solidFill>
                            <a:srgbClr val="1B1F2A"/>
                          </a:solidFill>
                        </a:rPr>
                        <a:t>Resale price and timing; consents to assign</a:t>
                      </a:r>
                      <a:endParaRPr lang="en-US" sz="1300" dirty="0"/>
                    </a:p>
                  </a:txBody>
                  <a:tcPr marL="73152" marR="73152" marT="36576" marB="36576" anchor="ctr">
                    <a:lnL w="6350" cap="flat" cmpd="sng" algn="ctr">
                      <a:solidFill>
                        <a:srgbClr val="D5DAE1"/>
                      </a:solidFill>
                      <a:prstDash val="solid"/>
                      <a:round/>
                      <a:headEnd type="none" w="med" len="med"/>
                      <a:tailEnd type="none" w="med" len="med"/>
                    </a:lnL>
                    <a:lnR w="6350" cap="flat" cmpd="sng" algn="ctr">
                      <a:solidFill>
                        <a:srgbClr val="D5DAE1"/>
                      </a:solidFill>
                      <a:prstDash val="solid"/>
                      <a:round/>
                      <a:headEnd type="none" w="med" len="med"/>
                      <a:tailEnd type="none" w="med" len="med"/>
                    </a:lnR>
                    <a:lnT w="6350" cap="flat" cmpd="sng" algn="ctr">
                      <a:solidFill>
                        <a:srgbClr val="D5DAE1"/>
                      </a:solidFill>
                      <a:prstDash val="solid"/>
                      <a:round/>
                      <a:headEnd type="none" w="med" len="med"/>
                      <a:tailEnd type="none" w="med" len="med"/>
                    </a:lnT>
                    <a:lnB w="6350" cap="flat" cmpd="sng" algn="ctr">
                      <a:solidFill>
                        <a:srgbClr val="D5DAE1"/>
                      </a:solidFill>
                      <a:prstDash val="solid"/>
                      <a:round/>
                      <a:headEnd type="none" w="med" len="med"/>
                      <a:tailEnd type="none" w="med" len="med"/>
                    </a:lnB>
                    <a:solidFill>
                      <a:srgbClr val="FFFFFF"/>
                    </a:solidFill>
                  </a:tcPr>
                </a:tc>
                <a:tc>
                  <a:txBody>
                    <a:bodyPr/>
                    <a:lstStyle/>
                    <a:p>
                      <a:pPr algn="l" indent="0" marL="0">
                        <a:buNone/>
                      </a:pPr>
                      <a:r>
                        <a:rPr lang="en-US" sz="1300" dirty="0">
                          <a:solidFill>
                            <a:srgbClr val="1B1F2A"/>
                          </a:solidFill>
                        </a:rPr>
                        <a:t>Payment capacity during the construction peak</a:t>
                      </a:r>
                      <a:endParaRPr lang="en-US" sz="1300" dirty="0"/>
                    </a:p>
                  </a:txBody>
                  <a:tcPr marL="73152" marR="73152" marT="36576" marB="36576" anchor="ctr">
                    <a:lnL w="6350" cap="flat" cmpd="sng" algn="ctr">
                      <a:solidFill>
                        <a:srgbClr val="D5DAE1"/>
                      </a:solidFill>
                      <a:prstDash val="solid"/>
                      <a:round/>
                      <a:headEnd type="none" w="med" len="med"/>
                      <a:tailEnd type="none" w="med" len="med"/>
                    </a:lnL>
                    <a:lnR w="6350" cap="flat" cmpd="sng" algn="ctr">
                      <a:solidFill>
                        <a:srgbClr val="D5DAE1"/>
                      </a:solidFill>
                      <a:prstDash val="solid"/>
                      <a:round/>
                      <a:headEnd type="none" w="med" len="med"/>
                      <a:tailEnd type="none" w="med" len="med"/>
                    </a:lnR>
                    <a:lnT w="6350" cap="flat" cmpd="sng" algn="ctr">
                      <a:solidFill>
                        <a:srgbClr val="D5DAE1"/>
                      </a:solidFill>
                      <a:prstDash val="solid"/>
                      <a:round/>
                      <a:headEnd type="none" w="med" len="med"/>
                      <a:tailEnd type="none" w="med" len="med"/>
                    </a:lnT>
                    <a:lnB w="6350" cap="flat" cmpd="sng" algn="ctr">
                      <a:solidFill>
                        <a:srgbClr val="D5DAE1"/>
                      </a:solidFill>
                      <a:prstDash val="solid"/>
                      <a:round/>
                      <a:headEnd type="none" w="med" len="med"/>
                      <a:tailEnd type="none" w="med" len="med"/>
                    </a:lnB>
                    <a:solidFill>
                      <a:srgbClr val="FFFFFF"/>
                    </a:solidFill>
                  </a:tcPr>
                </a:tc>
              </a:tr>
            </a:tbl>
          </a:graphicData>
        </a:graphic>
      </p:graphicFrame>
      <p:sp>
        <p:nvSpPr>
          <p:cNvPr id="5" name="Text 1"/>
          <p:cNvSpPr txBox="1"/>
          <p:nvPr/>
        </p:nvSpPr>
        <p:spPr>
          <a:xfrm>
            <a:off x="548640" y="6035040"/>
            <a:ext cx="11064240" cy="274320"/>
          </a:xfrm>
          <a:prstGeom prst="rect">
            <a:avLst/>
          </a:prstGeom>
          <a:noFill/>
          <a:ln/>
        </p:spPr>
        <p:txBody>
          <a:bodyPr wrap="square" lIns="0" tIns="0" rIns="0" bIns="0" rtlCol="0" anchor="ctr"/>
          <a:lstStyle/>
          <a:p>
            <a:pPr indent="0" marL="0">
              <a:buNone/>
            </a:pPr>
            <a:r>
              <a:rPr lang="en-US" sz="900" i="1" dirty="0">
                <a:solidFill>
                  <a:srgbClr val="6B7280"/>
                </a:solidFill>
              </a:rPr>
              <a:t>Source: Financial Annex, Option_A and Option_B sheets. Projections; downside = sales delayed 12 months and prices 10% lower.</a:t>
            </a:r>
            <a:endParaRPr lang="en-US" sz="900" dirty="0"/>
          </a:p>
        </p:txBody>
      </p:sp>
      <p:sp>
        <p:nvSpPr>
          <p:cNvPr id="25" name="Slide Number Placeholder 0"/>
          <p:cNvSpPr>
            <a:spLocks noGrp="1"/>
          </p:cNvSpPr>
          <p:nvPr>
            <p:ph type="sldNum" sz="quarter" idx="4294967295"/>
          </p:nvPr>
        </p:nvSpPr>
        <p:spPr>
          <a:xfrm>
            <a:off x="11155680" y="6446520"/>
            <a:ext cx="548640" cy="274320"/>
          </a:xfrm>
          <a:prstGeom prst="rect">
            <a:avLst/>
          </a:prstGeom>
          <a:extLst>
            <a:ext uri="{C572A759-6A51-4108-AA02-DFA0A04FC94B}">
              <ma14:wrappingTextBoxFlag xmlns:ma14="http://schemas.microsoft.com/office/mac/drawingml/2011/main" val="0"/>
            </a:ext>
          </a:extLst>
        </p:spPr>
        <p:txBody>
          <a:bodyPr/>
          <a:lstStyle>
            <a:lvl1pPr>
              <a:defRPr sz="900">
                <a:solidFill>
                  <a:srgbClr val="6B7280"/>
                </a:solidFill>
              </a:defRPr>
            </a:lvl1pPr>
          </a:lstStyle>
          <a:p>
            <a:pPr algn="l"/>
            <a:fld id="{F7021451-1387-4CA6-816F-3879F97B5CBC}" type="slidenum">
              <a:rPr b="0" lang="en-US"/>
              <a:t>12</a:t>
            </a:fld>
            <a:endParaRPr lang="en-US"/>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spTree>
      <p:nvGrpSpPr>
        <p:cNvPr id="1" name=""/>
        <p:cNvGrpSpPr/>
        <p:nvPr/>
      </p:nvGrpSpPr>
      <p:grpSpPr>
        <a:xfrm>
          <a:off x="0" y="0"/>
          <a:ext cx="0" cy="0"/>
          <a:chOff x="0" y="0"/>
          <a:chExt cx="0" cy="0"/>
        </a:xfrm>
      </p:grpSpPr>
      <p:sp>
        <p:nvSpPr>
          <p:cNvPr id="2" name="Text 0"/>
          <p:cNvSpPr txBox="1"/>
          <p:nvPr/>
        </p:nvSpPr>
        <p:spPr>
          <a:xfrm>
            <a:off x="548640" y="320040"/>
            <a:ext cx="11064240" cy="822960"/>
          </a:xfrm>
          <a:prstGeom prst="rect">
            <a:avLst/>
          </a:prstGeom>
          <a:noFill/>
          <a:ln/>
        </p:spPr>
        <p:txBody>
          <a:bodyPr wrap="square" lIns="0" tIns="0" rIns="0" bIns="0" rtlCol="0" anchor="ctr">
            <a:normAutofit/>
          </a:bodyPr>
          <a:lstStyle/>
          <a:p>
            <a:pPr indent="0" marL="0">
              <a:buNone/>
            </a:pPr>
            <a:r>
              <a:rPr lang="en-US" sz="2800" b="1" dirty="0">
                <a:solidFill>
                  <a:srgbClr val="17324D"/>
                </a:solidFill>
                <a:latin typeface="Cambria" pitchFamily="34" charset="0"/>
                <a:ea typeface="Cambria" pitchFamily="34" charset="-122"/>
                <a:cs typeface="Cambria" pitchFamily="34" charset="-120"/>
              </a:rPr>
              <a:t>Security package and investor protections</a:t>
            </a:r>
            <a:endParaRPr lang="en-US" sz="2800" dirty="0"/>
          </a:p>
        </p:txBody>
      </p:sp>
      <p:sp>
        <p:nvSpPr>
          <p:cNvPr id="4" name="Shape 1"/>
          <p:cNvSpPr/>
          <p:nvPr/>
        </p:nvSpPr>
        <p:spPr>
          <a:xfrm>
            <a:off x="548640" y="1371600"/>
            <a:ext cx="5394960" cy="4480560"/>
          </a:xfrm>
          <a:prstGeom prst="rect">
            <a:avLst/>
          </a:prstGeom>
          <a:solidFill>
            <a:srgbClr val="F2F4F7"/>
          </a:solidFill>
          <a:ln w="12700">
            <a:solidFill>
              <a:srgbClr val="F2F4F7"/>
            </a:solidFill>
            <a:prstDash val="solid"/>
          </a:ln>
        </p:spPr>
      </p:sp>
      <p:sp>
        <p:nvSpPr>
          <p:cNvPr id="5" name="Text 2"/>
          <p:cNvSpPr txBox="1"/>
          <p:nvPr/>
        </p:nvSpPr>
        <p:spPr>
          <a:xfrm>
            <a:off x="731520" y="1463040"/>
            <a:ext cx="5029200" cy="365760"/>
          </a:xfrm>
          <a:prstGeom prst="rect">
            <a:avLst/>
          </a:prstGeom>
          <a:noFill/>
          <a:ln/>
        </p:spPr>
        <p:txBody>
          <a:bodyPr wrap="square" lIns="0" tIns="0" rIns="0" bIns="0" rtlCol="0" anchor="ctr"/>
          <a:lstStyle/>
          <a:p>
            <a:pPr indent="0" marL="0">
              <a:buNone/>
            </a:pPr>
            <a:r>
              <a:rPr lang="en-US" sz="1600" b="1" dirty="0">
                <a:solidFill>
                  <a:srgbClr val="17324D"/>
                </a:solidFill>
              </a:rPr>
              <a:t>Proposed base package</a:t>
            </a:r>
            <a:endParaRPr lang="en-US" sz="1600" dirty="0"/>
          </a:p>
        </p:txBody>
      </p:sp>
      <p:sp>
        <p:nvSpPr>
          <p:cNvPr id="6" name="Text 3"/>
          <p:cNvSpPr txBox="1"/>
          <p:nvPr/>
        </p:nvSpPr>
        <p:spPr>
          <a:xfrm>
            <a:off x="731520" y="1920240"/>
            <a:ext cx="5029200" cy="3840480"/>
          </a:xfrm>
          <a:prstGeom prst="rect">
            <a:avLst/>
          </a:prstGeom>
          <a:noFill/>
          <a:ln/>
        </p:spPr>
        <p:txBody>
          <a:bodyPr wrap="square" lIns="0" tIns="0" rIns="0" bIns="0" rtlCol="0" anchor="t"/>
          <a:lstStyle/>
          <a:p>
            <a:pPr marL="342900" indent="-342900">
              <a:spcAft>
                <a:spcPts val="600"/>
              </a:spcAft>
              <a:buSzPct val="100000"/>
              <a:buChar char="•"/>
            </a:pPr>
            <a:r>
              <a:rPr lang="en-US" sz="1300" dirty="0">
                <a:solidFill>
                  <a:srgbClr val="1B1F2A"/>
                </a:solidFill>
              </a:rPr>
              <a:t>Option A: a registered allocation of specific units from the first two sales tranches; the units are the investor's asset</a:t>
            </a:r>
            <a:endParaRPr lang="en-US" sz="1300" dirty="0"/>
          </a:p>
          <a:p>
            <a:pPr marL="342900" indent="-342900">
              <a:spcAft>
                <a:spcPts val="600"/>
              </a:spcAft>
              <a:buSzPct val="100000"/>
              <a:buChar char="•"/>
            </a:pPr>
            <a:r>
              <a:rPr lang="en-US" sz="1300" dirty="0">
                <a:solidFill>
                  <a:srgbClr val="1B1F2A"/>
                </a:solidFill>
              </a:rPr>
              <a:t>Option B: earmark of specific unsold units with a list value of at least the ticket, with a right to substitute equal value</a:t>
            </a:r>
            <a:endParaRPr lang="en-US" sz="1300" dirty="0"/>
          </a:p>
          <a:p>
            <a:pPr marL="342900" indent="-342900">
              <a:spcAft>
                <a:spcPts val="600"/>
              </a:spcAft>
              <a:buSzPct val="100000"/>
              <a:buChar char="•"/>
            </a:pPr>
            <a:r>
              <a:rPr lang="en-US" sz="1300" dirty="0">
                <a:solidFill>
                  <a:srgbClr val="1B1F2A"/>
                </a:solidFill>
              </a:rPr>
              <a:t>Payment priority covenant: no shareholder distributions or shareholder-loan repayments while an instalment is overdue</a:t>
            </a:r>
            <a:endParaRPr lang="en-US" sz="1300" dirty="0"/>
          </a:p>
          <a:p>
            <a:pPr marL="342900" indent="-342900">
              <a:spcAft>
                <a:spcPts val="600"/>
              </a:spcAft>
              <a:buSzPct val="100000"/>
              <a:buChar char="•"/>
            </a:pPr>
            <a:r>
              <a:rPr lang="en-US" sz="1300" dirty="0">
                <a:solidFill>
                  <a:srgbClr val="1B1F2A"/>
                </a:solidFill>
              </a:rPr>
              <a:t>Negative pledge on the earmarked units</a:t>
            </a:r>
            <a:endParaRPr lang="en-US" sz="1300" dirty="0"/>
          </a:p>
          <a:p>
            <a:pPr marL="342900" indent="-342900">
              <a:spcAft>
                <a:spcPts val="600"/>
              </a:spcAft>
              <a:buSzPct val="100000"/>
              <a:buChar char="•"/>
            </a:pPr>
            <a:r>
              <a:rPr lang="en-US" sz="1300" dirty="0">
                <a:solidFill>
                  <a:srgbClr val="1B1F2A"/>
                </a:solidFill>
              </a:rPr>
              <a:t>Information rights: monthly reporting and audit rights</a:t>
            </a:r>
            <a:endParaRPr lang="en-US" sz="1300" dirty="0"/>
          </a:p>
          <a:p>
            <a:pPr marL="342900" indent="-342900">
              <a:spcAft>
                <a:spcPts val="600"/>
              </a:spcAft>
              <a:buSzPct val="100000"/>
              <a:buChar char="•"/>
            </a:pPr>
            <a:r>
              <a:rPr lang="en-US" sz="1300" dirty="0">
                <a:solidFill>
                  <a:srgbClr val="1B1F2A"/>
                </a:solidFill>
              </a:rPr>
              <a:t>Sponsor funding undertaking for project gaps from Jalour cash reserves and other projects' cash; no guarantee of return</a:t>
            </a:r>
            <a:endParaRPr lang="en-US" sz="1300" dirty="0"/>
          </a:p>
        </p:txBody>
      </p:sp>
      <p:sp>
        <p:nvSpPr>
          <p:cNvPr id="7" name="Shape 4"/>
          <p:cNvSpPr/>
          <p:nvPr/>
        </p:nvSpPr>
        <p:spPr>
          <a:xfrm>
            <a:off x="6217920" y="1371600"/>
            <a:ext cx="5394960" cy="4480560"/>
          </a:xfrm>
          <a:prstGeom prst="rect">
            <a:avLst/>
          </a:prstGeom>
          <a:solidFill>
            <a:srgbClr val="FBF3E4"/>
          </a:solidFill>
          <a:ln w="12700">
            <a:solidFill>
              <a:srgbClr val="FBF3E4"/>
            </a:solidFill>
            <a:prstDash val="solid"/>
          </a:ln>
        </p:spPr>
      </p:sp>
      <p:sp>
        <p:nvSpPr>
          <p:cNvPr id="8" name="Text 5"/>
          <p:cNvSpPr txBox="1"/>
          <p:nvPr/>
        </p:nvSpPr>
        <p:spPr>
          <a:xfrm>
            <a:off x="6400800" y="1463040"/>
            <a:ext cx="5029200" cy="365760"/>
          </a:xfrm>
          <a:prstGeom prst="rect">
            <a:avLst/>
          </a:prstGeom>
          <a:noFill/>
          <a:ln/>
        </p:spPr>
        <p:txBody>
          <a:bodyPr wrap="square" lIns="0" tIns="0" rIns="0" bIns="0" rtlCol="0" anchor="ctr"/>
          <a:lstStyle/>
          <a:p>
            <a:pPr indent="0" marL="0">
              <a:buNone/>
            </a:pPr>
            <a:r>
              <a:rPr lang="en-US" sz="1600" b="1" dirty="0">
                <a:solidFill>
                  <a:srgbClr val="B8893B"/>
                </a:solidFill>
              </a:rPr>
              <a:t>Optional and for counsel</a:t>
            </a:r>
            <a:endParaRPr lang="en-US" sz="1600" dirty="0"/>
          </a:p>
        </p:txBody>
      </p:sp>
      <p:sp>
        <p:nvSpPr>
          <p:cNvPr id="9" name="Text 6"/>
          <p:cNvSpPr txBox="1"/>
          <p:nvPr/>
        </p:nvSpPr>
        <p:spPr>
          <a:xfrm>
            <a:off x="6400800" y="1920240"/>
            <a:ext cx="5029200" cy="3840480"/>
          </a:xfrm>
          <a:prstGeom prst="rect">
            <a:avLst/>
          </a:prstGeom>
          <a:noFill/>
          <a:ln/>
        </p:spPr>
        <p:txBody>
          <a:bodyPr wrap="square" lIns="0" tIns="0" rIns="0" bIns="0" rtlCol="0" anchor="t"/>
          <a:lstStyle/>
          <a:p>
            <a:pPr marL="342900" indent="-342900">
              <a:spcAft>
                <a:spcPts val="600"/>
              </a:spcAft>
              <a:buSzPct val="100000"/>
              <a:buChar char="•"/>
            </a:pPr>
            <a:r>
              <a:rPr lang="en-US" sz="1300" dirty="0">
                <a:solidFill>
                  <a:srgbClr val="1B1F2A"/>
                </a:solidFill>
              </a:rPr>
              <a:t>Promissory note or post-dated cheques for each Option B instalment (common practice in Egypt)</a:t>
            </a:r>
            <a:endParaRPr lang="en-US" sz="1300" dirty="0"/>
          </a:p>
          <a:p>
            <a:pPr marL="342900" indent="-342900">
              <a:spcAft>
                <a:spcPts val="600"/>
              </a:spcAft>
              <a:buSzPct val="100000"/>
              <a:buChar char="•"/>
            </a:pPr>
            <a:r>
              <a:rPr lang="en-US" sz="1300" dirty="0">
                <a:solidFill>
                  <a:srgbClr val="1B1F2A"/>
                </a:solidFill>
              </a:rPr>
              <a:t>Independent engineer reporting on construction progress</a:t>
            </a:r>
            <a:endParaRPr lang="en-US" sz="1300" dirty="0"/>
          </a:p>
          <a:p>
            <a:pPr marL="342900" indent="-342900">
              <a:spcAft>
                <a:spcPts val="600"/>
              </a:spcAft>
              <a:buSzPct val="100000"/>
              <a:buChar char="•"/>
            </a:pPr>
            <a:r>
              <a:rPr lang="en-US" sz="1300" dirty="0">
                <a:solidFill>
                  <a:srgbClr val="1B1F2A"/>
                </a:solidFill>
              </a:rPr>
              <a:t>Step-in right to market the earmarked units after a payment default</a:t>
            </a:r>
            <a:endParaRPr lang="en-US" sz="1300" dirty="0"/>
          </a:p>
          <a:p>
            <a:pPr marL="342900" indent="-342900">
              <a:spcAft>
                <a:spcPts val="600"/>
              </a:spcAft>
              <a:buSzPct val="100000"/>
              <a:buChar char="•"/>
            </a:pPr>
            <a:r>
              <a:rPr lang="en-US" sz="1300" dirty="0">
                <a:solidFill>
                  <a:srgbClr val="1B1F2A"/>
                </a:solidFill>
              </a:rPr>
              <a:t>Landlord acknowledgement of the unit allocation</a:t>
            </a:r>
            <a:endParaRPr lang="en-US" sz="1300" dirty="0"/>
          </a:p>
          <a:p>
            <a:pPr marL="342900" indent="-342900">
              <a:spcAft>
                <a:spcPts val="600"/>
              </a:spcAft>
              <a:buSzPct val="100000"/>
              <a:buChar char="•"/>
            </a:pPr>
            <a:r>
              <a:rPr lang="en-US" sz="1300" dirty="0">
                <a:solidFill>
                  <a:srgbClr val="1B1F2A"/>
                </a:solidFill>
              </a:rPr>
              <a:t>Parent guarantee: not offered in this structure</a:t>
            </a:r>
            <a:endParaRPr lang="en-US" sz="1300" dirty="0"/>
          </a:p>
        </p:txBody>
      </p:sp>
      <p:sp>
        <p:nvSpPr>
          <p:cNvPr id="10" name="Text 7"/>
          <p:cNvSpPr txBox="1"/>
          <p:nvPr/>
        </p:nvSpPr>
        <p:spPr>
          <a:xfrm>
            <a:off x="548640" y="6035040"/>
            <a:ext cx="11064240" cy="274320"/>
          </a:xfrm>
          <a:prstGeom prst="rect">
            <a:avLst/>
          </a:prstGeom>
          <a:noFill/>
          <a:ln/>
        </p:spPr>
        <p:txBody>
          <a:bodyPr wrap="square" lIns="0" tIns="0" rIns="0" bIns="0" rtlCol="0" anchor="ctr"/>
          <a:lstStyle/>
          <a:p>
            <a:pPr indent="0" marL="0">
              <a:buNone/>
            </a:pPr>
            <a:r>
              <a:rPr lang="en-US" sz="900" i="1" dirty="0">
                <a:solidFill>
                  <a:srgbClr val="6B7280"/>
                </a:solidFill>
              </a:rPr>
              <a:t>Source: Proposal for review by Jalour's lawyers. Landlord consent is required for any allocation or encumbrance affecting its 35% share.</a:t>
            </a:r>
            <a:endParaRPr lang="en-US" sz="900" dirty="0"/>
          </a:p>
        </p:txBody>
      </p:sp>
      <p:sp>
        <p:nvSpPr>
          <p:cNvPr id="25" name="Slide Number Placeholder 0"/>
          <p:cNvSpPr>
            <a:spLocks noGrp="1"/>
          </p:cNvSpPr>
          <p:nvPr>
            <p:ph type="sldNum" sz="quarter" idx="4294967295"/>
          </p:nvPr>
        </p:nvSpPr>
        <p:spPr>
          <a:xfrm>
            <a:off x="11155680" y="6446520"/>
            <a:ext cx="548640" cy="274320"/>
          </a:xfrm>
          <a:prstGeom prst="rect">
            <a:avLst/>
          </a:prstGeom>
          <a:extLst>
            <a:ext uri="{C572A759-6A51-4108-AA02-DFA0A04FC94B}">
              <ma14:wrappingTextBoxFlag xmlns:ma14="http://schemas.microsoft.com/office/mac/drawingml/2011/main" val="0"/>
            </a:ext>
          </a:extLst>
        </p:spPr>
        <p:txBody>
          <a:bodyPr/>
          <a:lstStyle>
            <a:lvl1pPr>
              <a:defRPr sz="900">
                <a:solidFill>
                  <a:srgbClr val="6B7280"/>
                </a:solidFill>
              </a:defRPr>
            </a:lvl1pPr>
          </a:lstStyle>
          <a:p>
            <a:pPr algn="l"/>
            <a:fld id="{F7021451-1387-4CA6-816F-3879F97B5CBC}" type="slidenum">
              <a:rPr b="0" lang="en-US"/>
              <a:t>13</a:t>
            </a:fld>
            <a:endParaRPr lang="en-US"/>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spTree>
      <p:nvGrpSpPr>
        <p:cNvPr id="1" name=""/>
        <p:cNvGrpSpPr/>
        <p:nvPr/>
      </p:nvGrpSpPr>
      <p:grpSpPr>
        <a:xfrm>
          <a:off x="0" y="0"/>
          <a:ext cx="0" cy="0"/>
          <a:chOff x="0" y="0"/>
          <a:chExt cx="0" cy="0"/>
        </a:xfrm>
      </p:grpSpPr>
      <p:sp>
        <p:nvSpPr>
          <p:cNvPr id="2" name="Text 0"/>
          <p:cNvSpPr txBox="1"/>
          <p:nvPr/>
        </p:nvSpPr>
        <p:spPr>
          <a:xfrm>
            <a:off x="548640" y="320040"/>
            <a:ext cx="11064240" cy="822960"/>
          </a:xfrm>
          <a:prstGeom prst="rect">
            <a:avLst/>
          </a:prstGeom>
          <a:noFill/>
          <a:ln/>
        </p:spPr>
        <p:txBody>
          <a:bodyPr wrap="square" lIns="0" tIns="0" rIns="0" bIns="0" rtlCol="0" anchor="ctr">
            <a:normAutofit/>
          </a:bodyPr>
          <a:lstStyle/>
          <a:p>
            <a:pPr indent="0" marL="0">
              <a:buNone/>
            </a:pPr>
            <a:r>
              <a:rPr lang="en-US" sz="2800" b="1" dirty="0">
                <a:solidFill>
                  <a:srgbClr val="17324D"/>
                </a:solidFill>
                <a:latin typeface="Cambria" pitchFamily="34" charset="0"/>
                <a:ea typeface="Cambria" pitchFamily="34" charset="-122"/>
                <a:cs typeface="Cambria" pitchFamily="34" charset="-120"/>
              </a:rPr>
              <a:t>Returns and sensitivity</a:t>
            </a:r>
            <a:endParaRPr lang="en-US" sz="2800" dirty="0"/>
          </a:p>
        </p:txBody>
      </p:sp>
      <p:graphicFrame>
        <p:nvGraphicFramePr>
          <p:cNvPr id="4" name="Chart 0" descr=""/>
          <p:cNvGraphicFramePr/>
          <p:nvPr/>
        </p:nvGraphicFramePr>
        <p:xfrm>
          <a:off x="548640" y="1280160"/>
          <a:ext cx="5394960" cy="3291840"/>
        </p:xfrm>
        <a:graphic xmlns:a="http://schemas.openxmlformats.org/drawingml/2006/main">
          <a:graphicData uri="http://schemas.openxmlformats.org/drawingml/2006/chart">
            <c:chart xmlns:c="http://schemas.openxmlformats.org/drawingml/2006/chart" r:id="rId1"/>
          </a:graphicData>
        </a:graphic>
      </p:graphicFrame>
      <p:graphicFrame>
        <p:nvGraphicFramePr>
          <p:cNvPr id="15" name="Table 0"/>
          <p:cNvGraphicFramePr>
            <a:graphicFrameLocks noGrp="1"/>
          </p:cNvGraphicFramePr>
          <p:nvPr>
            <p:extLst>
              <p:ext uri="{D42A27DB-BD31-4B8C-83A1-F6EECF244321}">
                <p14:modId xmlns:p14="http://schemas.microsoft.com/office/powerpoint/2010/main" val="1579011935"/>
              </p:ext>
            </p:extLst>
          </p:nvPr>
        </p:nvGraphicFramePr>
        <p:xfrm>
          <a:off x="6217920" y="1371600"/>
          <a:ext cx="5394960" cy="914400"/>
        </p:xfrm>
        <a:graphic>
          <a:graphicData uri="http://schemas.openxmlformats.org/drawingml/2006/table">
            <a:tbl>
              <a:tblPr/>
              <a:tblGrid>
                <a:gridCol w="2743200"/>
                <a:gridCol w="1234440"/>
                <a:gridCol w="1417320"/>
              </a:tblGrid>
              <a:tr h="384048">
                <a:tc>
                  <a:txBody>
                    <a:bodyPr/>
                    <a:lstStyle/>
                    <a:p>
                      <a:pPr algn="l" indent="0" marL="0">
                        <a:buNone/>
                      </a:pPr>
                      <a:r>
                        <a:rPr lang="en-US" sz="1200" b="1" dirty="0">
                          <a:solidFill>
                            <a:srgbClr val="FFFFFF"/>
                          </a:solidFill>
                        </a:rPr>
                        <a:t>Project case</a:t>
                      </a:r>
                      <a:endParaRPr lang="en-US" sz="1200" dirty="0"/>
                    </a:p>
                  </a:txBody>
                  <a:tcPr marL="73152" marR="73152" marT="36576" marB="36576" anchor="ctr">
                    <a:lnL w="6350" cap="flat" cmpd="sng" algn="ctr">
                      <a:solidFill>
                        <a:srgbClr val="D5DAE1"/>
                      </a:solidFill>
                      <a:prstDash val="solid"/>
                      <a:round/>
                      <a:headEnd type="none" w="med" len="med"/>
                      <a:tailEnd type="none" w="med" len="med"/>
                    </a:lnL>
                    <a:lnR w="6350" cap="flat" cmpd="sng" algn="ctr">
                      <a:solidFill>
                        <a:srgbClr val="D5DAE1"/>
                      </a:solidFill>
                      <a:prstDash val="solid"/>
                      <a:round/>
                      <a:headEnd type="none" w="med" len="med"/>
                      <a:tailEnd type="none" w="med" len="med"/>
                    </a:lnR>
                    <a:lnT w="6350" cap="flat" cmpd="sng" algn="ctr">
                      <a:solidFill>
                        <a:srgbClr val="D5DAE1"/>
                      </a:solidFill>
                      <a:prstDash val="solid"/>
                      <a:round/>
                      <a:headEnd type="none" w="med" len="med"/>
                      <a:tailEnd type="none" w="med" len="med"/>
                    </a:lnT>
                    <a:lnB w="6350" cap="flat" cmpd="sng" algn="ctr">
                      <a:solidFill>
                        <a:srgbClr val="D5DAE1"/>
                      </a:solidFill>
                      <a:prstDash val="solid"/>
                      <a:round/>
                      <a:headEnd type="none" w="med" len="med"/>
                      <a:tailEnd type="none" w="med" len="med"/>
                    </a:lnB>
                    <a:solidFill>
                      <a:srgbClr val="17324D"/>
                    </a:solidFill>
                  </a:tcPr>
                </a:tc>
                <a:tc>
                  <a:txBody>
                    <a:bodyPr/>
                    <a:lstStyle/>
                    <a:p>
                      <a:pPr algn="r" indent="0" marL="0">
                        <a:buNone/>
                      </a:pPr>
                      <a:r>
                        <a:rPr lang="en-US" sz="1200" b="1" dirty="0">
                          <a:solidFill>
                            <a:srgbClr val="FFFFFF"/>
                          </a:solidFill>
                        </a:rPr>
                        <a:t>NPV (EGP m)</a:t>
                      </a:r>
                      <a:endParaRPr lang="en-US" sz="1200" dirty="0"/>
                    </a:p>
                  </a:txBody>
                  <a:tcPr marL="73152" marR="73152" marT="36576" marB="36576" anchor="ctr">
                    <a:lnL w="6350" cap="flat" cmpd="sng" algn="ctr">
                      <a:solidFill>
                        <a:srgbClr val="D5DAE1"/>
                      </a:solidFill>
                      <a:prstDash val="solid"/>
                      <a:round/>
                      <a:headEnd type="none" w="med" len="med"/>
                      <a:tailEnd type="none" w="med" len="med"/>
                    </a:lnL>
                    <a:lnR w="6350" cap="flat" cmpd="sng" algn="ctr">
                      <a:solidFill>
                        <a:srgbClr val="D5DAE1"/>
                      </a:solidFill>
                      <a:prstDash val="solid"/>
                      <a:round/>
                      <a:headEnd type="none" w="med" len="med"/>
                      <a:tailEnd type="none" w="med" len="med"/>
                    </a:lnR>
                    <a:lnT w="6350" cap="flat" cmpd="sng" algn="ctr">
                      <a:solidFill>
                        <a:srgbClr val="D5DAE1"/>
                      </a:solidFill>
                      <a:prstDash val="solid"/>
                      <a:round/>
                      <a:headEnd type="none" w="med" len="med"/>
                      <a:tailEnd type="none" w="med" len="med"/>
                    </a:lnT>
                    <a:lnB w="6350" cap="flat" cmpd="sng" algn="ctr">
                      <a:solidFill>
                        <a:srgbClr val="D5DAE1"/>
                      </a:solidFill>
                      <a:prstDash val="solid"/>
                      <a:round/>
                      <a:headEnd type="none" w="med" len="med"/>
                      <a:tailEnd type="none" w="med" len="med"/>
                    </a:lnB>
                    <a:solidFill>
                      <a:srgbClr val="17324D"/>
                    </a:solidFill>
                  </a:tcPr>
                </a:tc>
                <a:tc>
                  <a:txBody>
                    <a:bodyPr/>
                    <a:lstStyle/>
                    <a:p>
                      <a:pPr algn="r" indent="0" marL="0">
                        <a:buNone/>
                      </a:pPr>
                      <a:r>
                        <a:rPr lang="en-US" sz="1200" b="1" dirty="0">
                          <a:solidFill>
                            <a:srgbClr val="FFFFFF"/>
                          </a:solidFill>
                        </a:rPr>
                        <a:t>Peak shortage (EGP m)</a:t>
                      </a:r>
                      <a:endParaRPr lang="en-US" sz="1200" dirty="0"/>
                    </a:p>
                  </a:txBody>
                  <a:tcPr marL="73152" marR="73152" marT="36576" marB="36576" anchor="ctr">
                    <a:lnL w="6350" cap="flat" cmpd="sng" algn="ctr">
                      <a:solidFill>
                        <a:srgbClr val="D5DAE1"/>
                      </a:solidFill>
                      <a:prstDash val="solid"/>
                      <a:round/>
                      <a:headEnd type="none" w="med" len="med"/>
                      <a:tailEnd type="none" w="med" len="med"/>
                    </a:lnL>
                    <a:lnR w="6350" cap="flat" cmpd="sng" algn="ctr">
                      <a:solidFill>
                        <a:srgbClr val="D5DAE1"/>
                      </a:solidFill>
                      <a:prstDash val="solid"/>
                      <a:round/>
                      <a:headEnd type="none" w="med" len="med"/>
                      <a:tailEnd type="none" w="med" len="med"/>
                    </a:lnR>
                    <a:lnT w="6350" cap="flat" cmpd="sng" algn="ctr">
                      <a:solidFill>
                        <a:srgbClr val="D5DAE1"/>
                      </a:solidFill>
                      <a:prstDash val="solid"/>
                      <a:round/>
                      <a:headEnd type="none" w="med" len="med"/>
                      <a:tailEnd type="none" w="med" len="med"/>
                    </a:lnT>
                    <a:lnB w="6350" cap="flat" cmpd="sng" algn="ctr">
                      <a:solidFill>
                        <a:srgbClr val="D5DAE1"/>
                      </a:solidFill>
                      <a:prstDash val="solid"/>
                      <a:round/>
                      <a:headEnd type="none" w="med" len="med"/>
                      <a:tailEnd type="none" w="med" len="med"/>
                    </a:lnB>
                    <a:solidFill>
                      <a:srgbClr val="17324D"/>
                    </a:solidFill>
                  </a:tcPr>
                </a:tc>
              </a:tr>
              <a:tr h="384048">
                <a:tc>
                  <a:txBody>
                    <a:bodyPr/>
                    <a:lstStyle/>
                    <a:p>
                      <a:pPr algn="l" indent="0" marL="0">
                        <a:buNone/>
                      </a:pPr>
                      <a:r>
                        <a:rPr lang="en-US" sz="1200" dirty="0">
                          <a:solidFill>
                            <a:srgbClr val="1B1F2A"/>
                          </a:solidFill>
                        </a:rPr>
                        <a:t>Base</a:t>
                      </a:r>
                      <a:endParaRPr lang="en-US" sz="1200" dirty="0"/>
                    </a:p>
                  </a:txBody>
                  <a:tcPr marL="73152" marR="73152" marT="36576" marB="36576" anchor="ctr">
                    <a:lnL w="6350" cap="flat" cmpd="sng" algn="ctr">
                      <a:solidFill>
                        <a:srgbClr val="D5DAE1"/>
                      </a:solidFill>
                      <a:prstDash val="solid"/>
                      <a:round/>
                      <a:headEnd type="none" w="med" len="med"/>
                      <a:tailEnd type="none" w="med" len="med"/>
                    </a:lnL>
                    <a:lnR w="6350" cap="flat" cmpd="sng" algn="ctr">
                      <a:solidFill>
                        <a:srgbClr val="D5DAE1"/>
                      </a:solidFill>
                      <a:prstDash val="solid"/>
                      <a:round/>
                      <a:headEnd type="none" w="med" len="med"/>
                      <a:tailEnd type="none" w="med" len="med"/>
                    </a:lnR>
                    <a:lnT w="6350" cap="flat" cmpd="sng" algn="ctr">
                      <a:solidFill>
                        <a:srgbClr val="D5DAE1"/>
                      </a:solidFill>
                      <a:prstDash val="solid"/>
                      <a:round/>
                      <a:headEnd type="none" w="med" len="med"/>
                      <a:tailEnd type="none" w="med" len="med"/>
                    </a:lnT>
                    <a:lnB w="6350" cap="flat" cmpd="sng" algn="ctr">
                      <a:solidFill>
                        <a:srgbClr val="D5DAE1"/>
                      </a:solidFill>
                      <a:prstDash val="solid"/>
                      <a:round/>
                      <a:headEnd type="none" w="med" len="med"/>
                      <a:tailEnd type="none" w="med" len="med"/>
                    </a:lnB>
                    <a:solidFill>
                      <a:srgbClr val="FFFFFF"/>
                    </a:solidFill>
                  </a:tcPr>
                </a:tc>
                <a:tc>
                  <a:txBody>
                    <a:bodyPr/>
                    <a:lstStyle/>
                    <a:p>
                      <a:pPr algn="r" indent="0" marL="0">
                        <a:buNone/>
                      </a:pPr>
                      <a:r>
                        <a:rPr lang="en-US" sz="1200" dirty="0">
                          <a:solidFill>
                            <a:srgbClr val="1B1F2A"/>
                          </a:solidFill>
                        </a:rPr>
                        <a:t>215</a:t>
                      </a:r>
                      <a:endParaRPr lang="en-US" sz="1200" dirty="0"/>
                    </a:p>
                  </a:txBody>
                  <a:tcPr marL="73152" marR="73152" marT="36576" marB="36576" anchor="ctr">
                    <a:lnL w="6350" cap="flat" cmpd="sng" algn="ctr">
                      <a:solidFill>
                        <a:srgbClr val="D5DAE1"/>
                      </a:solidFill>
                      <a:prstDash val="solid"/>
                      <a:round/>
                      <a:headEnd type="none" w="med" len="med"/>
                      <a:tailEnd type="none" w="med" len="med"/>
                    </a:lnL>
                    <a:lnR w="6350" cap="flat" cmpd="sng" algn="ctr">
                      <a:solidFill>
                        <a:srgbClr val="D5DAE1"/>
                      </a:solidFill>
                      <a:prstDash val="solid"/>
                      <a:round/>
                      <a:headEnd type="none" w="med" len="med"/>
                      <a:tailEnd type="none" w="med" len="med"/>
                    </a:lnR>
                    <a:lnT w="6350" cap="flat" cmpd="sng" algn="ctr">
                      <a:solidFill>
                        <a:srgbClr val="D5DAE1"/>
                      </a:solidFill>
                      <a:prstDash val="solid"/>
                      <a:round/>
                      <a:headEnd type="none" w="med" len="med"/>
                      <a:tailEnd type="none" w="med" len="med"/>
                    </a:lnT>
                    <a:lnB w="6350" cap="flat" cmpd="sng" algn="ctr">
                      <a:solidFill>
                        <a:srgbClr val="D5DAE1"/>
                      </a:solidFill>
                      <a:prstDash val="solid"/>
                      <a:round/>
                      <a:headEnd type="none" w="med" len="med"/>
                      <a:tailEnd type="none" w="med" len="med"/>
                    </a:lnB>
                    <a:solidFill>
                      <a:srgbClr val="FFFFFF"/>
                    </a:solidFill>
                  </a:tcPr>
                </a:tc>
                <a:tc>
                  <a:txBody>
                    <a:bodyPr/>
                    <a:lstStyle/>
                    <a:p>
                      <a:pPr algn="r" indent="0" marL="0">
                        <a:buNone/>
                      </a:pPr>
                      <a:r>
                        <a:rPr lang="en-US" sz="1200" dirty="0">
                          <a:solidFill>
                            <a:srgbClr val="1B1F2A"/>
                          </a:solidFill>
                        </a:rPr>
                        <a:t>103</a:t>
                      </a:r>
                      <a:endParaRPr lang="en-US" sz="1200" dirty="0"/>
                    </a:p>
                  </a:txBody>
                  <a:tcPr marL="73152" marR="73152" marT="36576" marB="36576" anchor="ctr">
                    <a:lnL w="6350" cap="flat" cmpd="sng" algn="ctr">
                      <a:solidFill>
                        <a:srgbClr val="D5DAE1"/>
                      </a:solidFill>
                      <a:prstDash val="solid"/>
                      <a:round/>
                      <a:headEnd type="none" w="med" len="med"/>
                      <a:tailEnd type="none" w="med" len="med"/>
                    </a:lnL>
                    <a:lnR w="6350" cap="flat" cmpd="sng" algn="ctr">
                      <a:solidFill>
                        <a:srgbClr val="D5DAE1"/>
                      </a:solidFill>
                      <a:prstDash val="solid"/>
                      <a:round/>
                      <a:headEnd type="none" w="med" len="med"/>
                      <a:tailEnd type="none" w="med" len="med"/>
                    </a:lnR>
                    <a:lnT w="6350" cap="flat" cmpd="sng" algn="ctr">
                      <a:solidFill>
                        <a:srgbClr val="D5DAE1"/>
                      </a:solidFill>
                      <a:prstDash val="solid"/>
                      <a:round/>
                      <a:headEnd type="none" w="med" len="med"/>
                      <a:tailEnd type="none" w="med" len="med"/>
                    </a:lnT>
                    <a:lnB w="6350" cap="flat" cmpd="sng" algn="ctr">
                      <a:solidFill>
                        <a:srgbClr val="D5DAE1"/>
                      </a:solidFill>
                      <a:prstDash val="solid"/>
                      <a:round/>
                      <a:headEnd type="none" w="med" len="med"/>
                      <a:tailEnd type="none" w="med" len="med"/>
                    </a:lnB>
                    <a:solidFill>
                      <a:srgbClr val="FFFFFF"/>
                    </a:solidFill>
                  </a:tcPr>
                </a:tc>
              </a:tr>
              <a:tr h="384048">
                <a:tc>
                  <a:txBody>
                    <a:bodyPr/>
                    <a:lstStyle/>
                    <a:p>
                      <a:pPr algn="l" indent="0" marL="0">
                        <a:buNone/>
                      </a:pPr>
                      <a:r>
                        <a:rPr lang="en-US" sz="1200" dirty="0">
                          <a:solidFill>
                            <a:srgbClr val="1B1F2A"/>
                          </a:solidFill>
                        </a:rPr>
                        <a:t>Prices -10%</a:t>
                      </a:r>
                      <a:endParaRPr lang="en-US" sz="1200" dirty="0"/>
                    </a:p>
                  </a:txBody>
                  <a:tcPr marL="73152" marR="73152" marT="36576" marB="36576" anchor="ctr">
                    <a:lnL w="6350" cap="flat" cmpd="sng" algn="ctr">
                      <a:solidFill>
                        <a:srgbClr val="D5DAE1"/>
                      </a:solidFill>
                      <a:prstDash val="solid"/>
                      <a:round/>
                      <a:headEnd type="none" w="med" len="med"/>
                      <a:tailEnd type="none" w="med" len="med"/>
                    </a:lnL>
                    <a:lnR w="6350" cap="flat" cmpd="sng" algn="ctr">
                      <a:solidFill>
                        <a:srgbClr val="D5DAE1"/>
                      </a:solidFill>
                      <a:prstDash val="solid"/>
                      <a:round/>
                      <a:headEnd type="none" w="med" len="med"/>
                      <a:tailEnd type="none" w="med" len="med"/>
                    </a:lnR>
                    <a:lnT w="6350" cap="flat" cmpd="sng" algn="ctr">
                      <a:solidFill>
                        <a:srgbClr val="D5DAE1"/>
                      </a:solidFill>
                      <a:prstDash val="solid"/>
                      <a:round/>
                      <a:headEnd type="none" w="med" len="med"/>
                      <a:tailEnd type="none" w="med" len="med"/>
                    </a:lnT>
                    <a:lnB w="6350" cap="flat" cmpd="sng" algn="ctr">
                      <a:solidFill>
                        <a:srgbClr val="D5DAE1"/>
                      </a:solidFill>
                      <a:prstDash val="solid"/>
                      <a:round/>
                      <a:headEnd type="none" w="med" len="med"/>
                      <a:tailEnd type="none" w="med" len="med"/>
                    </a:lnB>
                    <a:solidFill>
                      <a:srgbClr val="F2F4F7"/>
                    </a:solidFill>
                  </a:tcPr>
                </a:tc>
                <a:tc>
                  <a:txBody>
                    <a:bodyPr/>
                    <a:lstStyle/>
                    <a:p>
                      <a:pPr algn="r" indent="0" marL="0">
                        <a:buNone/>
                      </a:pPr>
                      <a:r>
                        <a:rPr lang="en-US" sz="1200" dirty="0">
                          <a:solidFill>
                            <a:srgbClr val="1B1F2A"/>
                          </a:solidFill>
                        </a:rPr>
                        <a:t>116</a:t>
                      </a:r>
                      <a:endParaRPr lang="en-US" sz="1200" dirty="0"/>
                    </a:p>
                  </a:txBody>
                  <a:tcPr marL="73152" marR="73152" marT="36576" marB="36576" anchor="ctr">
                    <a:lnL w="6350" cap="flat" cmpd="sng" algn="ctr">
                      <a:solidFill>
                        <a:srgbClr val="D5DAE1"/>
                      </a:solidFill>
                      <a:prstDash val="solid"/>
                      <a:round/>
                      <a:headEnd type="none" w="med" len="med"/>
                      <a:tailEnd type="none" w="med" len="med"/>
                    </a:lnL>
                    <a:lnR w="6350" cap="flat" cmpd="sng" algn="ctr">
                      <a:solidFill>
                        <a:srgbClr val="D5DAE1"/>
                      </a:solidFill>
                      <a:prstDash val="solid"/>
                      <a:round/>
                      <a:headEnd type="none" w="med" len="med"/>
                      <a:tailEnd type="none" w="med" len="med"/>
                    </a:lnR>
                    <a:lnT w="6350" cap="flat" cmpd="sng" algn="ctr">
                      <a:solidFill>
                        <a:srgbClr val="D5DAE1"/>
                      </a:solidFill>
                      <a:prstDash val="solid"/>
                      <a:round/>
                      <a:headEnd type="none" w="med" len="med"/>
                      <a:tailEnd type="none" w="med" len="med"/>
                    </a:lnT>
                    <a:lnB w="6350" cap="flat" cmpd="sng" algn="ctr">
                      <a:solidFill>
                        <a:srgbClr val="D5DAE1"/>
                      </a:solidFill>
                      <a:prstDash val="solid"/>
                      <a:round/>
                      <a:headEnd type="none" w="med" len="med"/>
                      <a:tailEnd type="none" w="med" len="med"/>
                    </a:lnB>
                    <a:solidFill>
                      <a:srgbClr val="F2F4F7"/>
                    </a:solidFill>
                  </a:tcPr>
                </a:tc>
                <a:tc>
                  <a:txBody>
                    <a:bodyPr/>
                    <a:lstStyle/>
                    <a:p>
                      <a:pPr algn="r" indent="0" marL="0">
                        <a:buNone/>
                      </a:pPr>
                      <a:r>
                        <a:rPr lang="en-US" sz="1200" dirty="0">
                          <a:solidFill>
                            <a:srgbClr val="1B1F2A"/>
                          </a:solidFill>
                        </a:rPr>
                        <a:t>114</a:t>
                      </a:r>
                      <a:endParaRPr lang="en-US" sz="1200" dirty="0"/>
                    </a:p>
                  </a:txBody>
                  <a:tcPr marL="73152" marR="73152" marT="36576" marB="36576" anchor="ctr">
                    <a:lnL w="6350" cap="flat" cmpd="sng" algn="ctr">
                      <a:solidFill>
                        <a:srgbClr val="D5DAE1"/>
                      </a:solidFill>
                      <a:prstDash val="solid"/>
                      <a:round/>
                      <a:headEnd type="none" w="med" len="med"/>
                      <a:tailEnd type="none" w="med" len="med"/>
                    </a:lnL>
                    <a:lnR w="6350" cap="flat" cmpd="sng" algn="ctr">
                      <a:solidFill>
                        <a:srgbClr val="D5DAE1"/>
                      </a:solidFill>
                      <a:prstDash val="solid"/>
                      <a:round/>
                      <a:headEnd type="none" w="med" len="med"/>
                      <a:tailEnd type="none" w="med" len="med"/>
                    </a:lnR>
                    <a:lnT w="6350" cap="flat" cmpd="sng" algn="ctr">
                      <a:solidFill>
                        <a:srgbClr val="D5DAE1"/>
                      </a:solidFill>
                      <a:prstDash val="solid"/>
                      <a:round/>
                      <a:headEnd type="none" w="med" len="med"/>
                      <a:tailEnd type="none" w="med" len="med"/>
                    </a:lnT>
                    <a:lnB w="6350" cap="flat" cmpd="sng" algn="ctr">
                      <a:solidFill>
                        <a:srgbClr val="D5DAE1"/>
                      </a:solidFill>
                      <a:prstDash val="solid"/>
                      <a:round/>
                      <a:headEnd type="none" w="med" len="med"/>
                      <a:tailEnd type="none" w="med" len="med"/>
                    </a:lnB>
                    <a:solidFill>
                      <a:srgbClr val="F2F4F7"/>
                    </a:solidFill>
                  </a:tcPr>
                </a:tc>
              </a:tr>
              <a:tr h="384048">
                <a:tc>
                  <a:txBody>
                    <a:bodyPr/>
                    <a:lstStyle/>
                    <a:p>
                      <a:pPr algn="l" indent="0" marL="0">
                        <a:buNone/>
                      </a:pPr>
                      <a:r>
                        <a:rPr lang="en-US" sz="1200" dirty="0">
                          <a:solidFill>
                            <a:srgbClr val="1B1F2A"/>
                          </a:solidFill>
                        </a:rPr>
                        <a:t>Prices +10%</a:t>
                      </a:r>
                      <a:endParaRPr lang="en-US" sz="1200" dirty="0"/>
                    </a:p>
                  </a:txBody>
                  <a:tcPr marL="73152" marR="73152" marT="36576" marB="36576" anchor="ctr">
                    <a:lnL w="6350" cap="flat" cmpd="sng" algn="ctr">
                      <a:solidFill>
                        <a:srgbClr val="D5DAE1"/>
                      </a:solidFill>
                      <a:prstDash val="solid"/>
                      <a:round/>
                      <a:headEnd type="none" w="med" len="med"/>
                      <a:tailEnd type="none" w="med" len="med"/>
                    </a:lnL>
                    <a:lnR w="6350" cap="flat" cmpd="sng" algn="ctr">
                      <a:solidFill>
                        <a:srgbClr val="D5DAE1"/>
                      </a:solidFill>
                      <a:prstDash val="solid"/>
                      <a:round/>
                      <a:headEnd type="none" w="med" len="med"/>
                      <a:tailEnd type="none" w="med" len="med"/>
                    </a:lnR>
                    <a:lnT w="6350" cap="flat" cmpd="sng" algn="ctr">
                      <a:solidFill>
                        <a:srgbClr val="D5DAE1"/>
                      </a:solidFill>
                      <a:prstDash val="solid"/>
                      <a:round/>
                      <a:headEnd type="none" w="med" len="med"/>
                      <a:tailEnd type="none" w="med" len="med"/>
                    </a:lnT>
                    <a:lnB w="6350" cap="flat" cmpd="sng" algn="ctr">
                      <a:solidFill>
                        <a:srgbClr val="D5DAE1"/>
                      </a:solidFill>
                      <a:prstDash val="solid"/>
                      <a:round/>
                      <a:headEnd type="none" w="med" len="med"/>
                      <a:tailEnd type="none" w="med" len="med"/>
                    </a:lnB>
                    <a:solidFill>
                      <a:srgbClr val="FFFFFF"/>
                    </a:solidFill>
                  </a:tcPr>
                </a:tc>
                <a:tc>
                  <a:txBody>
                    <a:bodyPr/>
                    <a:lstStyle/>
                    <a:p>
                      <a:pPr algn="r" indent="0" marL="0">
                        <a:buNone/>
                      </a:pPr>
                      <a:r>
                        <a:rPr lang="en-US" sz="1200" dirty="0">
                          <a:solidFill>
                            <a:srgbClr val="1B1F2A"/>
                          </a:solidFill>
                        </a:rPr>
                        <a:t>315</a:t>
                      </a:r>
                      <a:endParaRPr lang="en-US" sz="1200" dirty="0"/>
                    </a:p>
                  </a:txBody>
                  <a:tcPr marL="73152" marR="73152" marT="36576" marB="36576" anchor="ctr">
                    <a:lnL w="6350" cap="flat" cmpd="sng" algn="ctr">
                      <a:solidFill>
                        <a:srgbClr val="D5DAE1"/>
                      </a:solidFill>
                      <a:prstDash val="solid"/>
                      <a:round/>
                      <a:headEnd type="none" w="med" len="med"/>
                      <a:tailEnd type="none" w="med" len="med"/>
                    </a:lnL>
                    <a:lnR w="6350" cap="flat" cmpd="sng" algn="ctr">
                      <a:solidFill>
                        <a:srgbClr val="D5DAE1"/>
                      </a:solidFill>
                      <a:prstDash val="solid"/>
                      <a:round/>
                      <a:headEnd type="none" w="med" len="med"/>
                      <a:tailEnd type="none" w="med" len="med"/>
                    </a:lnR>
                    <a:lnT w="6350" cap="flat" cmpd="sng" algn="ctr">
                      <a:solidFill>
                        <a:srgbClr val="D5DAE1"/>
                      </a:solidFill>
                      <a:prstDash val="solid"/>
                      <a:round/>
                      <a:headEnd type="none" w="med" len="med"/>
                      <a:tailEnd type="none" w="med" len="med"/>
                    </a:lnT>
                    <a:lnB w="6350" cap="flat" cmpd="sng" algn="ctr">
                      <a:solidFill>
                        <a:srgbClr val="D5DAE1"/>
                      </a:solidFill>
                      <a:prstDash val="solid"/>
                      <a:round/>
                      <a:headEnd type="none" w="med" len="med"/>
                      <a:tailEnd type="none" w="med" len="med"/>
                    </a:lnB>
                    <a:solidFill>
                      <a:srgbClr val="FFFFFF"/>
                    </a:solidFill>
                  </a:tcPr>
                </a:tc>
                <a:tc>
                  <a:txBody>
                    <a:bodyPr/>
                    <a:lstStyle/>
                    <a:p>
                      <a:pPr algn="r" indent="0" marL="0">
                        <a:buNone/>
                      </a:pPr>
                      <a:r>
                        <a:rPr lang="en-US" sz="1200" dirty="0">
                          <a:solidFill>
                            <a:srgbClr val="1B1F2A"/>
                          </a:solidFill>
                        </a:rPr>
                        <a:t>103</a:t>
                      </a:r>
                      <a:endParaRPr lang="en-US" sz="1200" dirty="0"/>
                    </a:p>
                  </a:txBody>
                  <a:tcPr marL="73152" marR="73152" marT="36576" marB="36576" anchor="ctr">
                    <a:lnL w="6350" cap="flat" cmpd="sng" algn="ctr">
                      <a:solidFill>
                        <a:srgbClr val="D5DAE1"/>
                      </a:solidFill>
                      <a:prstDash val="solid"/>
                      <a:round/>
                      <a:headEnd type="none" w="med" len="med"/>
                      <a:tailEnd type="none" w="med" len="med"/>
                    </a:lnL>
                    <a:lnR w="6350" cap="flat" cmpd="sng" algn="ctr">
                      <a:solidFill>
                        <a:srgbClr val="D5DAE1"/>
                      </a:solidFill>
                      <a:prstDash val="solid"/>
                      <a:round/>
                      <a:headEnd type="none" w="med" len="med"/>
                      <a:tailEnd type="none" w="med" len="med"/>
                    </a:lnR>
                    <a:lnT w="6350" cap="flat" cmpd="sng" algn="ctr">
                      <a:solidFill>
                        <a:srgbClr val="D5DAE1"/>
                      </a:solidFill>
                      <a:prstDash val="solid"/>
                      <a:round/>
                      <a:headEnd type="none" w="med" len="med"/>
                      <a:tailEnd type="none" w="med" len="med"/>
                    </a:lnT>
                    <a:lnB w="6350" cap="flat" cmpd="sng" algn="ctr">
                      <a:solidFill>
                        <a:srgbClr val="D5DAE1"/>
                      </a:solidFill>
                      <a:prstDash val="solid"/>
                      <a:round/>
                      <a:headEnd type="none" w="med" len="med"/>
                      <a:tailEnd type="none" w="med" len="med"/>
                    </a:lnB>
                    <a:solidFill>
                      <a:srgbClr val="FFFFFF"/>
                    </a:solidFill>
                  </a:tcPr>
                </a:tc>
              </a:tr>
              <a:tr h="384048">
                <a:tc>
                  <a:txBody>
                    <a:bodyPr/>
                    <a:lstStyle/>
                    <a:p>
                      <a:pPr algn="l" indent="0" marL="0">
                        <a:buNone/>
                      </a:pPr>
                      <a:r>
                        <a:rPr lang="en-US" sz="1200" dirty="0">
                          <a:solidFill>
                            <a:srgbClr val="1B1F2A"/>
                          </a:solidFill>
                        </a:rPr>
                        <a:t>Sales delay 12 months</a:t>
                      </a:r>
                      <a:endParaRPr lang="en-US" sz="1200" dirty="0"/>
                    </a:p>
                  </a:txBody>
                  <a:tcPr marL="73152" marR="73152" marT="36576" marB="36576" anchor="ctr">
                    <a:lnL w="6350" cap="flat" cmpd="sng" algn="ctr">
                      <a:solidFill>
                        <a:srgbClr val="D5DAE1"/>
                      </a:solidFill>
                      <a:prstDash val="solid"/>
                      <a:round/>
                      <a:headEnd type="none" w="med" len="med"/>
                      <a:tailEnd type="none" w="med" len="med"/>
                    </a:lnL>
                    <a:lnR w="6350" cap="flat" cmpd="sng" algn="ctr">
                      <a:solidFill>
                        <a:srgbClr val="D5DAE1"/>
                      </a:solidFill>
                      <a:prstDash val="solid"/>
                      <a:round/>
                      <a:headEnd type="none" w="med" len="med"/>
                      <a:tailEnd type="none" w="med" len="med"/>
                    </a:lnR>
                    <a:lnT w="6350" cap="flat" cmpd="sng" algn="ctr">
                      <a:solidFill>
                        <a:srgbClr val="D5DAE1"/>
                      </a:solidFill>
                      <a:prstDash val="solid"/>
                      <a:round/>
                      <a:headEnd type="none" w="med" len="med"/>
                      <a:tailEnd type="none" w="med" len="med"/>
                    </a:lnT>
                    <a:lnB w="6350" cap="flat" cmpd="sng" algn="ctr">
                      <a:solidFill>
                        <a:srgbClr val="D5DAE1"/>
                      </a:solidFill>
                      <a:prstDash val="solid"/>
                      <a:round/>
                      <a:headEnd type="none" w="med" len="med"/>
                      <a:tailEnd type="none" w="med" len="med"/>
                    </a:lnB>
                    <a:solidFill>
                      <a:srgbClr val="F2F4F7"/>
                    </a:solidFill>
                  </a:tcPr>
                </a:tc>
                <a:tc>
                  <a:txBody>
                    <a:bodyPr/>
                    <a:lstStyle/>
                    <a:p>
                      <a:pPr algn="r" indent="0" marL="0">
                        <a:buNone/>
                      </a:pPr>
                      <a:r>
                        <a:rPr lang="en-US" sz="1200" dirty="0">
                          <a:solidFill>
                            <a:srgbClr val="1B1F2A"/>
                          </a:solidFill>
                        </a:rPr>
                        <a:t>49</a:t>
                      </a:r>
                      <a:endParaRPr lang="en-US" sz="1200" dirty="0"/>
                    </a:p>
                  </a:txBody>
                  <a:tcPr marL="73152" marR="73152" marT="36576" marB="36576" anchor="ctr">
                    <a:lnL w="6350" cap="flat" cmpd="sng" algn="ctr">
                      <a:solidFill>
                        <a:srgbClr val="D5DAE1"/>
                      </a:solidFill>
                      <a:prstDash val="solid"/>
                      <a:round/>
                      <a:headEnd type="none" w="med" len="med"/>
                      <a:tailEnd type="none" w="med" len="med"/>
                    </a:lnL>
                    <a:lnR w="6350" cap="flat" cmpd="sng" algn="ctr">
                      <a:solidFill>
                        <a:srgbClr val="D5DAE1"/>
                      </a:solidFill>
                      <a:prstDash val="solid"/>
                      <a:round/>
                      <a:headEnd type="none" w="med" len="med"/>
                      <a:tailEnd type="none" w="med" len="med"/>
                    </a:lnR>
                    <a:lnT w="6350" cap="flat" cmpd="sng" algn="ctr">
                      <a:solidFill>
                        <a:srgbClr val="D5DAE1"/>
                      </a:solidFill>
                      <a:prstDash val="solid"/>
                      <a:round/>
                      <a:headEnd type="none" w="med" len="med"/>
                      <a:tailEnd type="none" w="med" len="med"/>
                    </a:lnT>
                    <a:lnB w="6350" cap="flat" cmpd="sng" algn="ctr">
                      <a:solidFill>
                        <a:srgbClr val="D5DAE1"/>
                      </a:solidFill>
                      <a:prstDash val="solid"/>
                      <a:round/>
                      <a:headEnd type="none" w="med" len="med"/>
                      <a:tailEnd type="none" w="med" len="med"/>
                    </a:lnB>
                    <a:solidFill>
                      <a:srgbClr val="F2F4F7"/>
                    </a:solidFill>
                  </a:tcPr>
                </a:tc>
                <a:tc>
                  <a:txBody>
                    <a:bodyPr/>
                    <a:lstStyle/>
                    <a:p>
                      <a:pPr algn="r" indent="0" marL="0">
                        <a:buNone/>
                      </a:pPr>
                      <a:r>
                        <a:rPr lang="en-US" sz="1200" dirty="0">
                          <a:solidFill>
                            <a:srgbClr val="1B1F2A"/>
                          </a:solidFill>
                        </a:rPr>
                        <a:t>408</a:t>
                      </a:r>
                      <a:endParaRPr lang="en-US" sz="1200" dirty="0"/>
                    </a:p>
                  </a:txBody>
                  <a:tcPr marL="73152" marR="73152" marT="36576" marB="36576" anchor="ctr">
                    <a:lnL w="6350" cap="flat" cmpd="sng" algn="ctr">
                      <a:solidFill>
                        <a:srgbClr val="D5DAE1"/>
                      </a:solidFill>
                      <a:prstDash val="solid"/>
                      <a:round/>
                      <a:headEnd type="none" w="med" len="med"/>
                      <a:tailEnd type="none" w="med" len="med"/>
                    </a:lnL>
                    <a:lnR w="6350" cap="flat" cmpd="sng" algn="ctr">
                      <a:solidFill>
                        <a:srgbClr val="D5DAE1"/>
                      </a:solidFill>
                      <a:prstDash val="solid"/>
                      <a:round/>
                      <a:headEnd type="none" w="med" len="med"/>
                      <a:tailEnd type="none" w="med" len="med"/>
                    </a:lnR>
                    <a:lnT w="6350" cap="flat" cmpd="sng" algn="ctr">
                      <a:solidFill>
                        <a:srgbClr val="D5DAE1"/>
                      </a:solidFill>
                      <a:prstDash val="solid"/>
                      <a:round/>
                      <a:headEnd type="none" w="med" len="med"/>
                      <a:tailEnd type="none" w="med" len="med"/>
                    </a:lnT>
                    <a:lnB w="6350" cap="flat" cmpd="sng" algn="ctr">
                      <a:solidFill>
                        <a:srgbClr val="D5DAE1"/>
                      </a:solidFill>
                      <a:prstDash val="solid"/>
                      <a:round/>
                      <a:headEnd type="none" w="med" len="med"/>
                      <a:tailEnd type="none" w="med" len="med"/>
                    </a:lnB>
                    <a:solidFill>
                      <a:srgbClr val="F2F4F7"/>
                    </a:solidFill>
                  </a:tcPr>
                </a:tc>
              </a:tr>
              <a:tr h="384048">
                <a:tc>
                  <a:txBody>
                    <a:bodyPr/>
                    <a:lstStyle/>
                    <a:p>
                      <a:pPr algn="l" indent="0" marL="0">
                        <a:buNone/>
                      </a:pPr>
                      <a:r>
                        <a:rPr lang="en-US" sz="1200" dirty="0">
                          <a:solidFill>
                            <a:srgbClr val="1B1F2A"/>
                          </a:solidFill>
                        </a:rPr>
                        <a:t>Cost overrun +10%</a:t>
                      </a:r>
                      <a:endParaRPr lang="en-US" sz="1200" dirty="0"/>
                    </a:p>
                  </a:txBody>
                  <a:tcPr marL="73152" marR="73152" marT="36576" marB="36576" anchor="ctr">
                    <a:lnL w="6350" cap="flat" cmpd="sng" algn="ctr">
                      <a:solidFill>
                        <a:srgbClr val="D5DAE1"/>
                      </a:solidFill>
                      <a:prstDash val="solid"/>
                      <a:round/>
                      <a:headEnd type="none" w="med" len="med"/>
                      <a:tailEnd type="none" w="med" len="med"/>
                    </a:lnL>
                    <a:lnR w="6350" cap="flat" cmpd="sng" algn="ctr">
                      <a:solidFill>
                        <a:srgbClr val="D5DAE1"/>
                      </a:solidFill>
                      <a:prstDash val="solid"/>
                      <a:round/>
                      <a:headEnd type="none" w="med" len="med"/>
                      <a:tailEnd type="none" w="med" len="med"/>
                    </a:lnR>
                    <a:lnT w="6350" cap="flat" cmpd="sng" algn="ctr">
                      <a:solidFill>
                        <a:srgbClr val="D5DAE1"/>
                      </a:solidFill>
                      <a:prstDash val="solid"/>
                      <a:round/>
                      <a:headEnd type="none" w="med" len="med"/>
                      <a:tailEnd type="none" w="med" len="med"/>
                    </a:lnT>
                    <a:lnB w="6350" cap="flat" cmpd="sng" algn="ctr">
                      <a:solidFill>
                        <a:srgbClr val="D5DAE1"/>
                      </a:solidFill>
                      <a:prstDash val="solid"/>
                      <a:round/>
                      <a:headEnd type="none" w="med" len="med"/>
                      <a:tailEnd type="none" w="med" len="med"/>
                    </a:lnB>
                    <a:solidFill>
                      <a:srgbClr val="FFFFFF"/>
                    </a:solidFill>
                  </a:tcPr>
                </a:tc>
                <a:tc>
                  <a:txBody>
                    <a:bodyPr/>
                    <a:lstStyle/>
                    <a:p>
                      <a:pPr algn="r" indent="0" marL="0">
                        <a:buNone/>
                      </a:pPr>
                      <a:r>
                        <a:rPr lang="en-US" sz="1200" dirty="0">
                          <a:solidFill>
                            <a:srgbClr val="1B1F2A"/>
                          </a:solidFill>
                        </a:rPr>
                        <a:t>162</a:t>
                      </a:r>
                      <a:endParaRPr lang="en-US" sz="1200" dirty="0"/>
                    </a:p>
                  </a:txBody>
                  <a:tcPr marL="73152" marR="73152" marT="36576" marB="36576" anchor="ctr">
                    <a:lnL w="6350" cap="flat" cmpd="sng" algn="ctr">
                      <a:solidFill>
                        <a:srgbClr val="D5DAE1"/>
                      </a:solidFill>
                      <a:prstDash val="solid"/>
                      <a:round/>
                      <a:headEnd type="none" w="med" len="med"/>
                      <a:tailEnd type="none" w="med" len="med"/>
                    </a:lnL>
                    <a:lnR w="6350" cap="flat" cmpd="sng" algn="ctr">
                      <a:solidFill>
                        <a:srgbClr val="D5DAE1"/>
                      </a:solidFill>
                      <a:prstDash val="solid"/>
                      <a:round/>
                      <a:headEnd type="none" w="med" len="med"/>
                      <a:tailEnd type="none" w="med" len="med"/>
                    </a:lnR>
                    <a:lnT w="6350" cap="flat" cmpd="sng" algn="ctr">
                      <a:solidFill>
                        <a:srgbClr val="D5DAE1"/>
                      </a:solidFill>
                      <a:prstDash val="solid"/>
                      <a:round/>
                      <a:headEnd type="none" w="med" len="med"/>
                      <a:tailEnd type="none" w="med" len="med"/>
                    </a:lnT>
                    <a:lnB w="6350" cap="flat" cmpd="sng" algn="ctr">
                      <a:solidFill>
                        <a:srgbClr val="D5DAE1"/>
                      </a:solidFill>
                      <a:prstDash val="solid"/>
                      <a:round/>
                      <a:headEnd type="none" w="med" len="med"/>
                      <a:tailEnd type="none" w="med" len="med"/>
                    </a:lnB>
                    <a:solidFill>
                      <a:srgbClr val="FFFFFF"/>
                    </a:solidFill>
                  </a:tcPr>
                </a:tc>
                <a:tc>
                  <a:txBody>
                    <a:bodyPr/>
                    <a:lstStyle/>
                    <a:p>
                      <a:pPr algn="r" indent="0" marL="0">
                        <a:buNone/>
                      </a:pPr>
                      <a:r>
                        <a:rPr lang="en-US" sz="1200" dirty="0">
                          <a:solidFill>
                            <a:srgbClr val="1B1F2A"/>
                          </a:solidFill>
                        </a:rPr>
                        <a:t>103</a:t>
                      </a:r>
                      <a:endParaRPr lang="en-US" sz="1200" dirty="0"/>
                    </a:p>
                  </a:txBody>
                  <a:tcPr marL="73152" marR="73152" marT="36576" marB="36576" anchor="ctr">
                    <a:lnL w="6350" cap="flat" cmpd="sng" algn="ctr">
                      <a:solidFill>
                        <a:srgbClr val="D5DAE1"/>
                      </a:solidFill>
                      <a:prstDash val="solid"/>
                      <a:round/>
                      <a:headEnd type="none" w="med" len="med"/>
                      <a:tailEnd type="none" w="med" len="med"/>
                    </a:lnL>
                    <a:lnR w="6350" cap="flat" cmpd="sng" algn="ctr">
                      <a:solidFill>
                        <a:srgbClr val="D5DAE1"/>
                      </a:solidFill>
                      <a:prstDash val="solid"/>
                      <a:round/>
                      <a:headEnd type="none" w="med" len="med"/>
                      <a:tailEnd type="none" w="med" len="med"/>
                    </a:lnR>
                    <a:lnT w="6350" cap="flat" cmpd="sng" algn="ctr">
                      <a:solidFill>
                        <a:srgbClr val="D5DAE1"/>
                      </a:solidFill>
                      <a:prstDash val="solid"/>
                      <a:round/>
                      <a:headEnd type="none" w="med" len="med"/>
                      <a:tailEnd type="none" w="med" len="med"/>
                    </a:lnT>
                    <a:lnB w="6350" cap="flat" cmpd="sng" algn="ctr">
                      <a:solidFill>
                        <a:srgbClr val="D5DAE1"/>
                      </a:solidFill>
                      <a:prstDash val="solid"/>
                      <a:round/>
                      <a:headEnd type="none" w="med" len="med"/>
                      <a:tailEnd type="none" w="med" len="med"/>
                    </a:lnB>
                    <a:solidFill>
                      <a:srgbClr val="FFFFFF"/>
                    </a:solidFill>
                  </a:tcPr>
                </a:tc>
              </a:tr>
              <a:tr h="384048">
                <a:tc>
                  <a:txBody>
                    <a:bodyPr/>
                    <a:lstStyle/>
                    <a:p>
                      <a:pPr algn="l" indent="0" marL="0">
                        <a:buNone/>
                      </a:pPr>
                      <a:r>
                        <a:rPr lang="en-US" sz="1200" dirty="0">
                          <a:solidFill>
                            <a:srgbClr val="1B1F2A"/>
                          </a:solidFill>
                        </a:rPr>
                        <a:t>Collections slip 2 quarters</a:t>
                      </a:r>
                      <a:endParaRPr lang="en-US" sz="1200" dirty="0"/>
                    </a:p>
                  </a:txBody>
                  <a:tcPr marL="73152" marR="73152" marT="36576" marB="36576" anchor="ctr">
                    <a:lnL w="6350" cap="flat" cmpd="sng" algn="ctr">
                      <a:solidFill>
                        <a:srgbClr val="D5DAE1"/>
                      </a:solidFill>
                      <a:prstDash val="solid"/>
                      <a:round/>
                      <a:headEnd type="none" w="med" len="med"/>
                      <a:tailEnd type="none" w="med" len="med"/>
                    </a:lnL>
                    <a:lnR w="6350" cap="flat" cmpd="sng" algn="ctr">
                      <a:solidFill>
                        <a:srgbClr val="D5DAE1"/>
                      </a:solidFill>
                      <a:prstDash val="solid"/>
                      <a:round/>
                      <a:headEnd type="none" w="med" len="med"/>
                      <a:tailEnd type="none" w="med" len="med"/>
                    </a:lnR>
                    <a:lnT w="6350" cap="flat" cmpd="sng" algn="ctr">
                      <a:solidFill>
                        <a:srgbClr val="D5DAE1"/>
                      </a:solidFill>
                      <a:prstDash val="solid"/>
                      <a:round/>
                      <a:headEnd type="none" w="med" len="med"/>
                      <a:tailEnd type="none" w="med" len="med"/>
                    </a:lnT>
                    <a:lnB w="6350" cap="flat" cmpd="sng" algn="ctr">
                      <a:solidFill>
                        <a:srgbClr val="D5DAE1"/>
                      </a:solidFill>
                      <a:prstDash val="solid"/>
                      <a:round/>
                      <a:headEnd type="none" w="med" len="med"/>
                      <a:tailEnd type="none" w="med" len="med"/>
                    </a:lnB>
                    <a:solidFill>
                      <a:srgbClr val="F2F4F7"/>
                    </a:solidFill>
                  </a:tcPr>
                </a:tc>
                <a:tc>
                  <a:txBody>
                    <a:bodyPr/>
                    <a:lstStyle/>
                    <a:p>
                      <a:pPr algn="r" indent="0" marL="0">
                        <a:buNone/>
                      </a:pPr>
                      <a:r>
                        <a:rPr lang="en-US" sz="1200" dirty="0">
                          <a:solidFill>
                            <a:srgbClr val="1B1F2A"/>
                          </a:solidFill>
                        </a:rPr>
                        <a:t>125</a:t>
                      </a:r>
                      <a:endParaRPr lang="en-US" sz="1200" dirty="0"/>
                    </a:p>
                  </a:txBody>
                  <a:tcPr marL="73152" marR="73152" marT="36576" marB="36576" anchor="ctr">
                    <a:lnL w="6350" cap="flat" cmpd="sng" algn="ctr">
                      <a:solidFill>
                        <a:srgbClr val="D5DAE1"/>
                      </a:solidFill>
                      <a:prstDash val="solid"/>
                      <a:round/>
                      <a:headEnd type="none" w="med" len="med"/>
                      <a:tailEnd type="none" w="med" len="med"/>
                    </a:lnL>
                    <a:lnR w="6350" cap="flat" cmpd="sng" algn="ctr">
                      <a:solidFill>
                        <a:srgbClr val="D5DAE1"/>
                      </a:solidFill>
                      <a:prstDash val="solid"/>
                      <a:round/>
                      <a:headEnd type="none" w="med" len="med"/>
                      <a:tailEnd type="none" w="med" len="med"/>
                    </a:lnR>
                    <a:lnT w="6350" cap="flat" cmpd="sng" algn="ctr">
                      <a:solidFill>
                        <a:srgbClr val="D5DAE1"/>
                      </a:solidFill>
                      <a:prstDash val="solid"/>
                      <a:round/>
                      <a:headEnd type="none" w="med" len="med"/>
                      <a:tailEnd type="none" w="med" len="med"/>
                    </a:lnT>
                    <a:lnB w="6350" cap="flat" cmpd="sng" algn="ctr">
                      <a:solidFill>
                        <a:srgbClr val="D5DAE1"/>
                      </a:solidFill>
                      <a:prstDash val="solid"/>
                      <a:round/>
                      <a:headEnd type="none" w="med" len="med"/>
                      <a:tailEnd type="none" w="med" len="med"/>
                    </a:lnB>
                    <a:solidFill>
                      <a:srgbClr val="F2F4F7"/>
                    </a:solidFill>
                  </a:tcPr>
                </a:tc>
                <a:tc>
                  <a:txBody>
                    <a:bodyPr/>
                    <a:lstStyle/>
                    <a:p>
                      <a:pPr algn="r" indent="0" marL="0">
                        <a:buNone/>
                      </a:pPr>
                      <a:r>
                        <a:rPr lang="en-US" sz="1200" dirty="0">
                          <a:solidFill>
                            <a:srgbClr val="1B1F2A"/>
                          </a:solidFill>
                        </a:rPr>
                        <a:t>236</a:t>
                      </a:r>
                      <a:endParaRPr lang="en-US" sz="1200" dirty="0"/>
                    </a:p>
                  </a:txBody>
                  <a:tcPr marL="73152" marR="73152" marT="36576" marB="36576" anchor="ctr">
                    <a:lnL w="6350" cap="flat" cmpd="sng" algn="ctr">
                      <a:solidFill>
                        <a:srgbClr val="D5DAE1"/>
                      </a:solidFill>
                      <a:prstDash val="solid"/>
                      <a:round/>
                      <a:headEnd type="none" w="med" len="med"/>
                      <a:tailEnd type="none" w="med" len="med"/>
                    </a:lnL>
                    <a:lnR w="6350" cap="flat" cmpd="sng" algn="ctr">
                      <a:solidFill>
                        <a:srgbClr val="D5DAE1"/>
                      </a:solidFill>
                      <a:prstDash val="solid"/>
                      <a:round/>
                      <a:headEnd type="none" w="med" len="med"/>
                      <a:tailEnd type="none" w="med" len="med"/>
                    </a:lnR>
                    <a:lnT w="6350" cap="flat" cmpd="sng" algn="ctr">
                      <a:solidFill>
                        <a:srgbClr val="D5DAE1"/>
                      </a:solidFill>
                      <a:prstDash val="solid"/>
                      <a:round/>
                      <a:headEnd type="none" w="med" len="med"/>
                      <a:tailEnd type="none" w="med" len="med"/>
                    </a:lnT>
                    <a:lnB w="6350" cap="flat" cmpd="sng" algn="ctr">
                      <a:solidFill>
                        <a:srgbClr val="D5DAE1"/>
                      </a:solidFill>
                      <a:prstDash val="solid"/>
                      <a:round/>
                      <a:headEnd type="none" w="med" len="med"/>
                      <a:tailEnd type="none" w="med" len="med"/>
                    </a:lnB>
                    <a:solidFill>
                      <a:srgbClr val="F2F4F7"/>
                    </a:solidFill>
                  </a:tcPr>
                </a:tc>
              </a:tr>
              <a:tr h="384048">
                <a:tc>
                  <a:txBody>
                    <a:bodyPr/>
                    <a:lstStyle/>
                    <a:p>
                      <a:pPr algn="l" indent="0" marL="0">
                        <a:buNone/>
                      </a:pPr>
                      <a:r>
                        <a:rPr lang="en-US" sz="1200" dirty="0">
                          <a:solidFill>
                            <a:srgbClr val="1B1F2A"/>
                          </a:solidFill>
                        </a:rPr>
                        <a:t>Delivery payments at handover</a:t>
                      </a:r>
                      <a:endParaRPr lang="en-US" sz="1200" dirty="0"/>
                    </a:p>
                  </a:txBody>
                  <a:tcPr marL="73152" marR="73152" marT="36576" marB="36576" anchor="ctr">
                    <a:lnL w="6350" cap="flat" cmpd="sng" algn="ctr">
                      <a:solidFill>
                        <a:srgbClr val="D5DAE1"/>
                      </a:solidFill>
                      <a:prstDash val="solid"/>
                      <a:round/>
                      <a:headEnd type="none" w="med" len="med"/>
                      <a:tailEnd type="none" w="med" len="med"/>
                    </a:lnL>
                    <a:lnR w="6350" cap="flat" cmpd="sng" algn="ctr">
                      <a:solidFill>
                        <a:srgbClr val="D5DAE1"/>
                      </a:solidFill>
                      <a:prstDash val="solid"/>
                      <a:round/>
                      <a:headEnd type="none" w="med" len="med"/>
                      <a:tailEnd type="none" w="med" len="med"/>
                    </a:lnR>
                    <a:lnT w="6350" cap="flat" cmpd="sng" algn="ctr">
                      <a:solidFill>
                        <a:srgbClr val="D5DAE1"/>
                      </a:solidFill>
                      <a:prstDash val="solid"/>
                      <a:round/>
                      <a:headEnd type="none" w="med" len="med"/>
                      <a:tailEnd type="none" w="med" len="med"/>
                    </a:lnT>
                    <a:lnB w="6350" cap="flat" cmpd="sng" algn="ctr">
                      <a:solidFill>
                        <a:srgbClr val="D5DAE1"/>
                      </a:solidFill>
                      <a:prstDash val="solid"/>
                      <a:round/>
                      <a:headEnd type="none" w="med" len="med"/>
                      <a:tailEnd type="none" w="med" len="med"/>
                    </a:lnB>
                    <a:solidFill>
                      <a:srgbClr val="FFFFFF"/>
                    </a:solidFill>
                  </a:tcPr>
                </a:tc>
                <a:tc>
                  <a:txBody>
                    <a:bodyPr/>
                    <a:lstStyle/>
                    <a:p>
                      <a:pPr algn="r" indent="0" marL="0">
                        <a:buNone/>
                      </a:pPr>
                      <a:r>
                        <a:rPr lang="en-US" sz="1200" dirty="0">
                          <a:solidFill>
                            <a:srgbClr val="1B1F2A"/>
                          </a:solidFill>
                        </a:rPr>
                        <a:t>155</a:t>
                      </a:r>
                      <a:endParaRPr lang="en-US" sz="1200" dirty="0"/>
                    </a:p>
                  </a:txBody>
                  <a:tcPr marL="73152" marR="73152" marT="36576" marB="36576" anchor="ctr">
                    <a:lnL w="6350" cap="flat" cmpd="sng" algn="ctr">
                      <a:solidFill>
                        <a:srgbClr val="D5DAE1"/>
                      </a:solidFill>
                      <a:prstDash val="solid"/>
                      <a:round/>
                      <a:headEnd type="none" w="med" len="med"/>
                      <a:tailEnd type="none" w="med" len="med"/>
                    </a:lnL>
                    <a:lnR w="6350" cap="flat" cmpd="sng" algn="ctr">
                      <a:solidFill>
                        <a:srgbClr val="D5DAE1"/>
                      </a:solidFill>
                      <a:prstDash val="solid"/>
                      <a:round/>
                      <a:headEnd type="none" w="med" len="med"/>
                      <a:tailEnd type="none" w="med" len="med"/>
                    </a:lnR>
                    <a:lnT w="6350" cap="flat" cmpd="sng" algn="ctr">
                      <a:solidFill>
                        <a:srgbClr val="D5DAE1"/>
                      </a:solidFill>
                      <a:prstDash val="solid"/>
                      <a:round/>
                      <a:headEnd type="none" w="med" len="med"/>
                      <a:tailEnd type="none" w="med" len="med"/>
                    </a:lnT>
                    <a:lnB w="6350" cap="flat" cmpd="sng" algn="ctr">
                      <a:solidFill>
                        <a:srgbClr val="D5DAE1"/>
                      </a:solidFill>
                      <a:prstDash val="solid"/>
                      <a:round/>
                      <a:headEnd type="none" w="med" len="med"/>
                      <a:tailEnd type="none" w="med" len="med"/>
                    </a:lnB>
                    <a:solidFill>
                      <a:srgbClr val="FFFFFF"/>
                    </a:solidFill>
                  </a:tcPr>
                </a:tc>
                <a:tc>
                  <a:txBody>
                    <a:bodyPr/>
                    <a:lstStyle/>
                    <a:p>
                      <a:pPr algn="r" indent="0" marL="0">
                        <a:buNone/>
                      </a:pPr>
                      <a:r>
                        <a:rPr lang="en-US" sz="1200" dirty="0">
                          <a:solidFill>
                            <a:srgbClr val="1B1F2A"/>
                          </a:solidFill>
                        </a:rPr>
                        <a:t>269</a:t>
                      </a:r>
                      <a:endParaRPr lang="en-US" sz="1200" dirty="0"/>
                    </a:p>
                  </a:txBody>
                  <a:tcPr marL="73152" marR="73152" marT="36576" marB="36576" anchor="ctr">
                    <a:lnL w="6350" cap="flat" cmpd="sng" algn="ctr">
                      <a:solidFill>
                        <a:srgbClr val="D5DAE1"/>
                      </a:solidFill>
                      <a:prstDash val="solid"/>
                      <a:round/>
                      <a:headEnd type="none" w="med" len="med"/>
                      <a:tailEnd type="none" w="med" len="med"/>
                    </a:lnL>
                    <a:lnR w="6350" cap="flat" cmpd="sng" algn="ctr">
                      <a:solidFill>
                        <a:srgbClr val="D5DAE1"/>
                      </a:solidFill>
                      <a:prstDash val="solid"/>
                      <a:round/>
                      <a:headEnd type="none" w="med" len="med"/>
                      <a:tailEnd type="none" w="med" len="med"/>
                    </a:lnR>
                    <a:lnT w="6350" cap="flat" cmpd="sng" algn="ctr">
                      <a:solidFill>
                        <a:srgbClr val="D5DAE1"/>
                      </a:solidFill>
                      <a:prstDash val="solid"/>
                      <a:round/>
                      <a:headEnd type="none" w="med" len="med"/>
                      <a:tailEnd type="none" w="med" len="med"/>
                    </a:lnT>
                    <a:lnB w="6350" cap="flat" cmpd="sng" algn="ctr">
                      <a:solidFill>
                        <a:srgbClr val="D5DAE1"/>
                      </a:solidFill>
                      <a:prstDash val="solid"/>
                      <a:round/>
                      <a:headEnd type="none" w="med" len="med"/>
                      <a:tailEnd type="none" w="med" len="med"/>
                    </a:lnB>
                    <a:solidFill>
                      <a:srgbClr val="FFFFFF"/>
                    </a:solidFill>
                  </a:tcPr>
                </a:tc>
              </a:tr>
            </a:tbl>
          </a:graphicData>
        </a:graphic>
      </p:graphicFrame>
      <p:sp>
        <p:nvSpPr>
          <p:cNvPr id="6" name="Text 1"/>
          <p:cNvSpPr txBox="1"/>
          <p:nvPr/>
        </p:nvSpPr>
        <p:spPr>
          <a:xfrm>
            <a:off x="548640" y="4663440"/>
            <a:ext cx="11064240" cy="1371600"/>
          </a:xfrm>
          <a:prstGeom prst="rect">
            <a:avLst/>
          </a:prstGeom>
          <a:noFill/>
          <a:ln/>
        </p:spPr>
        <p:txBody>
          <a:bodyPr wrap="square" lIns="0" tIns="0" rIns="0" bIns="0" rtlCol="0" anchor="t"/>
          <a:lstStyle/>
          <a:p>
            <a:pPr marL="342900" indent="-342900">
              <a:spcAft>
                <a:spcPts val="600"/>
              </a:spcAft>
              <a:buSzPct val="100000"/>
              <a:buChar char="•"/>
            </a:pPr>
            <a:r>
              <a:rPr lang="en-US" sz="1200" dirty="0">
                <a:solidFill>
                  <a:srgbClr val="1B1F2A"/>
                </a:solidFill>
              </a:rPr>
              <a:t>Option A break-even: the units could be resold at 36% of the delivery list price before the ticket is lost.</a:t>
            </a:r>
            <a:endParaRPr lang="en-US" sz="1200" dirty="0"/>
          </a:p>
          <a:p>
            <a:pPr marL="342900" indent="-342900">
              <a:spcAft>
                <a:spcPts val="600"/>
              </a:spcAft>
              <a:buSzPct val="100000"/>
              <a:buChar char="•"/>
            </a:pPr>
            <a:r>
              <a:rPr lang="en-US" sz="1200" dirty="0">
                <a:solidFill>
                  <a:srgbClr val="1B1F2A"/>
                </a:solidFill>
              </a:rPr>
              <a:t>Option B: cash available covers each instalment at least 5.5x on a pooled-cash basis; net cash flow alone covers it in 4 of 12 quarters because of the construction peak.</a:t>
            </a:r>
            <a:endParaRPr lang="en-US" sz="1200" dirty="0"/>
          </a:p>
          <a:p>
            <a:pPr marL="342900" indent="-342900">
              <a:spcAft>
                <a:spcPts val="600"/>
              </a:spcAft>
              <a:buSzPct val="100000"/>
              <a:buChar char="•"/>
            </a:pPr>
            <a:r>
              <a:rPr lang="en-US" sz="1200" dirty="0">
                <a:solidFill>
                  <a:srgbClr val="1B1F2A"/>
                </a:solidFill>
              </a:rPr>
              <a:t>Returns are projections, not guarantees.</a:t>
            </a:r>
            <a:endParaRPr lang="en-US" sz="1200" dirty="0"/>
          </a:p>
        </p:txBody>
      </p:sp>
      <p:sp>
        <p:nvSpPr>
          <p:cNvPr id="7" name="Text 2"/>
          <p:cNvSpPr txBox="1"/>
          <p:nvPr/>
        </p:nvSpPr>
        <p:spPr>
          <a:xfrm>
            <a:off x="548640" y="6080760"/>
            <a:ext cx="11064240" cy="274320"/>
          </a:xfrm>
          <a:prstGeom prst="rect">
            <a:avLst/>
          </a:prstGeom>
          <a:noFill/>
          <a:ln/>
        </p:spPr>
        <p:txBody>
          <a:bodyPr wrap="square" lIns="0" tIns="0" rIns="0" bIns="0" rtlCol="0" anchor="ctr"/>
          <a:lstStyle/>
          <a:p>
            <a:pPr indent="0" marL="0">
              <a:buNone/>
            </a:pPr>
            <a:r>
              <a:rPr lang="en-US" sz="900" i="1" dirty="0">
                <a:solidFill>
                  <a:srgbClr val="6B7280"/>
                </a:solidFill>
              </a:rPr>
              <a:t>Source: Financial Annex, Scenarios, Sensitivity and Option sheets. Project cases show Jalour net cash flow before any investor instrument.</a:t>
            </a:r>
            <a:endParaRPr lang="en-US" sz="900" dirty="0"/>
          </a:p>
        </p:txBody>
      </p:sp>
      <p:sp>
        <p:nvSpPr>
          <p:cNvPr id="25" name="Slide Number Placeholder 0"/>
          <p:cNvSpPr>
            <a:spLocks noGrp="1"/>
          </p:cNvSpPr>
          <p:nvPr>
            <p:ph type="sldNum" sz="quarter" idx="4294967295"/>
          </p:nvPr>
        </p:nvSpPr>
        <p:spPr>
          <a:xfrm>
            <a:off x="11155680" y="6446520"/>
            <a:ext cx="548640" cy="274320"/>
          </a:xfrm>
          <a:prstGeom prst="rect">
            <a:avLst/>
          </a:prstGeom>
          <a:extLst>
            <a:ext uri="{C572A759-6A51-4108-AA02-DFA0A04FC94B}">
              <ma14:wrappingTextBoxFlag xmlns:ma14="http://schemas.microsoft.com/office/mac/drawingml/2011/main" val="0"/>
            </a:ext>
          </a:extLst>
        </p:spPr>
        <p:txBody>
          <a:bodyPr/>
          <a:lstStyle>
            <a:lvl1pPr>
              <a:defRPr sz="900">
                <a:solidFill>
                  <a:srgbClr val="6B7280"/>
                </a:solidFill>
              </a:defRPr>
            </a:lvl1pPr>
          </a:lstStyle>
          <a:p>
            <a:pPr algn="l"/>
            <a:fld id="{F7021451-1387-4CA6-816F-3879F97B5CBC}" type="slidenum">
              <a:rPr b="0" lang="en-US"/>
              <a:t>14</a:t>
            </a:fld>
            <a:endParaRPr lang="en-US"/>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5">
    <p:spTree>
      <p:nvGrpSpPr>
        <p:cNvPr id="1" name=""/>
        <p:cNvGrpSpPr/>
        <p:nvPr/>
      </p:nvGrpSpPr>
      <p:grpSpPr>
        <a:xfrm>
          <a:off x="0" y="0"/>
          <a:ext cx="0" cy="0"/>
          <a:chOff x="0" y="0"/>
          <a:chExt cx="0" cy="0"/>
        </a:xfrm>
      </p:grpSpPr>
      <p:sp>
        <p:nvSpPr>
          <p:cNvPr id="2" name="Text 0"/>
          <p:cNvSpPr txBox="1"/>
          <p:nvPr/>
        </p:nvSpPr>
        <p:spPr>
          <a:xfrm>
            <a:off x="548640" y="320040"/>
            <a:ext cx="11064240" cy="822960"/>
          </a:xfrm>
          <a:prstGeom prst="rect">
            <a:avLst/>
          </a:prstGeom>
          <a:noFill/>
          <a:ln/>
        </p:spPr>
        <p:txBody>
          <a:bodyPr wrap="square" lIns="0" tIns="0" rIns="0" bIns="0" rtlCol="0" anchor="ctr">
            <a:normAutofit/>
          </a:bodyPr>
          <a:lstStyle/>
          <a:p>
            <a:pPr indent="0" marL="0">
              <a:buNone/>
            </a:pPr>
            <a:r>
              <a:rPr lang="en-US" sz="2800" b="1" dirty="0">
                <a:solidFill>
                  <a:srgbClr val="17324D"/>
                </a:solidFill>
                <a:latin typeface="Cambria" pitchFamily="34" charset="0"/>
                <a:ea typeface="Cambria" pitchFamily="34" charset="-122"/>
                <a:cs typeface="Cambria" pitchFamily="34" charset="-120"/>
              </a:rPr>
              <a:t>Risks and mitigants</a:t>
            </a:r>
            <a:endParaRPr lang="en-US" sz="2800" dirty="0"/>
          </a:p>
        </p:txBody>
      </p:sp>
      <p:graphicFrame>
        <p:nvGraphicFramePr>
          <p:cNvPr id="16" name="Table 0"/>
          <p:cNvGraphicFramePr>
            <a:graphicFrameLocks noGrp="1"/>
          </p:cNvGraphicFramePr>
          <p:nvPr>
            <p:extLst>
              <p:ext uri="{D42A27DB-BD31-4B8C-83A1-F6EECF244321}">
                <p14:modId xmlns:p14="http://schemas.microsoft.com/office/powerpoint/2010/main" val="1579011935"/>
              </p:ext>
            </p:extLst>
          </p:nvPr>
        </p:nvGraphicFramePr>
        <p:xfrm>
          <a:off x="548640" y="1325880"/>
          <a:ext cx="11064240" cy="914400"/>
        </p:xfrm>
        <a:graphic>
          <a:graphicData uri="http://schemas.openxmlformats.org/drawingml/2006/table">
            <a:tbl>
              <a:tblPr/>
              <a:tblGrid>
                <a:gridCol w="4937760"/>
                <a:gridCol w="6126480"/>
              </a:tblGrid>
              <a:tr h="475488">
                <a:tc>
                  <a:txBody>
                    <a:bodyPr/>
                    <a:lstStyle/>
                    <a:p>
                      <a:pPr algn="l" indent="0" marL="0">
                        <a:buNone/>
                      </a:pPr>
                      <a:r>
                        <a:rPr lang="en-US" sz="1200" b="1" dirty="0">
                          <a:solidFill>
                            <a:srgbClr val="FFFFFF"/>
                          </a:solidFill>
                        </a:rPr>
                        <a:t>Risk</a:t>
                      </a:r>
                      <a:endParaRPr lang="en-US" sz="1200" dirty="0"/>
                    </a:p>
                  </a:txBody>
                  <a:tcPr marL="73152" marR="73152" marT="36576" marB="36576" anchor="ctr">
                    <a:lnL w="6350" cap="flat" cmpd="sng" algn="ctr">
                      <a:solidFill>
                        <a:srgbClr val="D5DAE1"/>
                      </a:solidFill>
                      <a:prstDash val="solid"/>
                      <a:round/>
                      <a:headEnd type="none" w="med" len="med"/>
                      <a:tailEnd type="none" w="med" len="med"/>
                    </a:lnL>
                    <a:lnR w="6350" cap="flat" cmpd="sng" algn="ctr">
                      <a:solidFill>
                        <a:srgbClr val="D5DAE1"/>
                      </a:solidFill>
                      <a:prstDash val="solid"/>
                      <a:round/>
                      <a:headEnd type="none" w="med" len="med"/>
                      <a:tailEnd type="none" w="med" len="med"/>
                    </a:lnR>
                    <a:lnT w="6350" cap="flat" cmpd="sng" algn="ctr">
                      <a:solidFill>
                        <a:srgbClr val="D5DAE1"/>
                      </a:solidFill>
                      <a:prstDash val="solid"/>
                      <a:round/>
                      <a:headEnd type="none" w="med" len="med"/>
                      <a:tailEnd type="none" w="med" len="med"/>
                    </a:lnT>
                    <a:lnB w="6350" cap="flat" cmpd="sng" algn="ctr">
                      <a:solidFill>
                        <a:srgbClr val="D5DAE1"/>
                      </a:solidFill>
                      <a:prstDash val="solid"/>
                      <a:round/>
                      <a:headEnd type="none" w="med" len="med"/>
                      <a:tailEnd type="none" w="med" len="med"/>
                    </a:lnB>
                    <a:solidFill>
                      <a:srgbClr val="17324D"/>
                    </a:solidFill>
                  </a:tcPr>
                </a:tc>
                <a:tc>
                  <a:txBody>
                    <a:bodyPr/>
                    <a:lstStyle/>
                    <a:p>
                      <a:pPr algn="l" indent="0" marL="0">
                        <a:buNone/>
                      </a:pPr>
                      <a:r>
                        <a:rPr lang="en-US" sz="1200" b="1" dirty="0">
                          <a:solidFill>
                            <a:srgbClr val="FFFFFF"/>
                          </a:solidFill>
                        </a:rPr>
                        <a:t>Mitigant</a:t>
                      </a:r>
                      <a:endParaRPr lang="en-US" sz="1200" dirty="0"/>
                    </a:p>
                  </a:txBody>
                  <a:tcPr marL="73152" marR="73152" marT="36576" marB="36576" anchor="ctr">
                    <a:lnL w="6350" cap="flat" cmpd="sng" algn="ctr">
                      <a:solidFill>
                        <a:srgbClr val="D5DAE1"/>
                      </a:solidFill>
                      <a:prstDash val="solid"/>
                      <a:round/>
                      <a:headEnd type="none" w="med" len="med"/>
                      <a:tailEnd type="none" w="med" len="med"/>
                    </a:lnL>
                    <a:lnR w="6350" cap="flat" cmpd="sng" algn="ctr">
                      <a:solidFill>
                        <a:srgbClr val="D5DAE1"/>
                      </a:solidFill>
                      <a:prstDash val="solid"/>
                      <a:round/>
                      <a:headEnd type="none" w="med" len="med"/>
                      <a:tailEnd type="none" w="med" len="med"/>
                    </a:lnR>
                    <a:lnT w="6350" cap="flat" cmpd="sng" algn="ctr">
                      <a:solidFill>
                        <a:srgbClr val="D5DAE1"/>
                      </a:solidFill>
                      <a:prstDash val="solid"/>
                      <a:round/>
                      <a:headEnd type="none" w="med" len="med"/>
                      <a:tailEnd type="none" w="med" len="med"/>
                    </a:lnT>
                    <a:lnB w="6350" cap="flat" cmpd="sng" algn="ctr">
                      <a:solidFill>
                        <a:srgbClr val="D5DAE1"/>
                      </a:solidFill>
                      <a:prstDash val="solid"/>
                      <a:round/>
                      <a:headEnd type="none" w="med" len="med"/>
                      <a:tailEnd type="none" w="med" len="med"/>
                    </a:lnB>
                    <a:solidFill>
                      <a:srgbClr val="17324D"/>
                    </a:solidFill>
                  </a:tcPr>
                </a:tc>
              </a:tr>
              <a:tr h="475488">
                <a:tc>
                  <a:txBody>
                    <a:bodyPr/>
                    <a:lstStyle/>
                    <a:p>
                      <a:pPr algn="l" indent="0" marL="0">
                        <a:buNone/>
                      </a:pPr>
                      <a:r>
                        <a:rPr lang="en-US" sz="1200" dirty="0">
                          <a:solidFill>
                            <a:srgbClr val="1B1F2A"/>
                          </a:solidFill>
                        </a:rPr>
                        <a:t>Market and price: sales plan assumes list-price rises of 33% to 48% over the sales window</a:t>
                      </a:r>
                      <a:endParaRPr lang="en-US" sz="1200" dirty="0"/>
                    </a:p>
                  </a:txBody>
                  <a:tcPr marL="73152" marR="73152" marT="36576" marB="36576" anchor="ctr">
                    <a:lnL w="6350" cap="flat" cmpd="sng" algn="ctr">
                      <a:solidFill>
                        <a:srgbClr val="D5DAE1"/>
                      </a:solidFill>
                      <a:prstDash val="solid"/>
                      <a:round/>
                      <a:headEnd type="none" w="med" len="med"/>
                      <a:tailEnd type="none" w="med" len="med"/>
                    </a:lnL>
                    <a:lnR w="6350" cap="flat" cmpd="sng" algn="ctr">
                      <a:solidFill>
                        <a:srgbClr val="D5DAE1"/>
                      </a:solidFill>
                      <a:prstDash val="solid"/>
                      <a:round/>
                      <a:headEnd type="none" w="med" len="med"/>
                      <a:tailEnd type="none" w="med" len="med"/>
                    </a:lnR>
                    <a:lnT w="6350" cap="flat" cmpd="sng" algn="ctr">
                      <a:solidFill>
                        <a:srgbClr val="D5DAE1"/>
                      </a:solidFill>
                      <a:prstDash val="solid"/>
                      <a:round/>
                      <a:headEnd type="none" w="med" len="med"/>
                      <a:tailEnd type="none" w="med" len="med"/>
                    </a:lnT>
                    <a:lnB w="6350" cap="flat" cmpd="sng" algn="ctr">
                      <a:solidFill>
                        <a:srgbClr val="D5DAE1"/>
                      </a:solidFill>
                      <a:prstDash val="solid"/>
                      <a:round/>
                      <a:headEnd type="none" w="med" len="med"/>
                      <a:tailEnd type="none" w="med" len="med"/>
                    </a:lnB>
                    <a:solidFill>
                      <a:srgbClr val="FFFFFF"/>
                    </a:solidFill>
                  </a:tcPr>
                </a:tc>
                <a:tc>
                  <a:txBody>
                    <a:bodyPr/>
                    <a:lstStyle/>
                    <a:p>
                      <a:pPr algn="l" indent="0" marL="0">
                        <a:buNone/>
                      </a:pPr>
                      <a:r>
                        <a:rPr lang="en-US" sz="1200" dirty="0">
                          <a:solidFill>
                            <a:srgbClr val="1B1F2A"/>
                          </a:solidFill>
                        </a:rPr>
                        <a:t>Downside case shown; Option B has no unit price exposure; price evidence in the data room</a:t>
                      </a:r>
                      <a:endParaRPr lang="en-US" sz="1200" dirty="0"/>
                    </a:p>
                  </a:txBody>
                  <a:tcPr marL="73152" marR="73152" marT="36576" marB="36576" anchor="ctr">
                    <a:lnL w="6350" cap="flat" cmpd="sng" algn="ctr">
                      <a:solidFill>
                        <a:srgbClr val="D5DAE1"/>
                      </a:solidFill>
                      <a:prstDash val="solid"/>
                      <a:round/>
                      <a:headEnd type="none" w="med" len="med"/>
                      <a:tailEnd type="none" w="med" len="med"/>
                    </a:lnL>
                    <a:lnR w="6350" cap="flat" cmpd="sng" algn="ctr">
                      <a:solidFill>
                        <a:srgbClr val="D5DAE1"/>
                      </a:solidFill>
                      <a:prstDash val="solid"/>
                      <a:round/>
                      <a:headEnd type="none" w="med" len="med"/>
                      <a:tailEnd type="none" w="med" len="med"/>
                    </a:lnR>
                    <a:lnT w="6350" cap="flat" cmpd="sng" algn="ctr">
                      <a:solidFill>
                        <a:srgbClr val="D5DAE1"/>
                      </a:solidFill>
                      <a:prstDash val="solid"/>
                      <a:round/>
                      <a:headEnd type="none" w="med" len="med"/>
                      <a:tailEnd type="none" w="med" len="med"/>
                    </a:lnT>
                    <a:lnB w="6350" cap="flat" cmpd="sng" algn="ctr">
                      <a:solidFill>
                        <a:srgbClr val="D5DAE1"/>
                      </a:solidFill>
                      <a:prstDash val="solid"/>
                      <a:round/>
                      <a:headEnd type="none" w="med" len="med"/>
                      <a:tailEnd type="none" w="med" len="med"/>
                    </a:lnB>
                    <a:solidFill>
                      <a:srgbClr val="FFFFFF"/>
                    </a:solidFill>
                  </a:tcPr>
                </a:tc>
              </a:tr>
              <a:tr h="475488">
                <a:tc>
                  <a:txBody>
                    <a:bodyPr/>
                    <a:lstStyle/>
                    <a:p>
                      <a:pPr algn="l" indent="0" marL="0">
                        <a:buNone/>
                      </a:pPr>
                      <a:r>
                        <a:rPr lang="en-US" sz="1200" dirty="0">
                          <a:solidFill>
                            <a:srgbClr val="1B1F2A"/>
                          </a:solidFill>
                        </a:rPr>
                        <a:t>Delivery payments collected ahead of handover</a:t>
                      </a:r>
                      <a:endParaRPr lang="en-US" sz="1200" dirty="0"/>
                    </a:p>
                  </a:txBody>
                  <a:tcPr marL="73152" marR="73152" marT="36576" marB="36576" anchor="ctr">
                    <a:lnL w="6350" cap="flat" cmpd="sng" algn="ctr">
                      <a:solidFill>
                        <a:srgbClr val="D5DAE1"/>
                      </a:solidFill>
                      <a:prstDash val="solid"/>
                      <a:round/>
                      <a:headEnd type="none" w="med" len="med"/>
                      <a:tailEnd type="none" w="med" len="med"/>
                    </a:lnL>
                    <a:lnR w="6350" cap="flat" cmpd="sng" algn="ctr">
                      <a:solidFill>
                        <a:srgbClr val="D5DAE1"/>
                      </a:solidFill>
                      <a:prstDash val="solid"/>
                      <a:round/>
                      <a:headEnd type="none" w="med" len="med"/>
                      <a:tailEnd type="none" w="med" len="med"/>
                    </a:lnR>
                    <a:lnT w="6350" cap="flat" cmpd="sng" algn="ctr">
                      <a:solidFill>
                        <a:srgbClr val="D5DAE1"/>
                      </a:solidFill>
                      <a:prstDash val="solid"/>
                      <a:round/>
                      <a:headEnd type="none" w="med" len="med"/>
                      <a:tailEnd type="none" w="med" len="med"/>
                    </a:lnT>
                    <a:lnB w="6350" cap="flat" cmpd="sng" algn="ctr">
                      <a:solidFill>
                        <a:srgbClr val="D5DAE1"/>
                      </a:solidFill>
                      <a:prstDash val="solid"/>
                      <a:round/>
                      <a:headEnd type="none" w="med" len="med"/>
                      <a:tailEnd type="none" w="med" len="med"/>
                    </a:lnB>
                    <a:solidFill>
                      <a:srgbClr val="F2F4F7"/>
                    </a:solidFill>
                  </a:tcPr>
                </a:tc>
                <a:tc>
                  <a:txBody>
                    <a:bodyPr/>
                    <a:lstStyle/>
                    <a:p>
                      <a:pPr algn="l" indent="0" marL="0">
                        <a:buNone/>
                      </a:pPr>
                      <a:r>
                        <a:rPr lang="en-US" sz="1200" dirty="0">
                          <a:solidFill>
                            <a:srgbClr val="1B1F2A"/>
                          </a:solidFill>
                        </a:rPr>
                        <a:t>Contractual milestone; Jalour covers any gap from cash reserves and other projects' cash; stress case shown</a:t>
                      </a:r>
                      <a:endParaRPr lang="en-US" sz="1200" dirty="0"/>
                    </a:p>
                  </a:txBody>
                  <a:tcPr marL="73152" marR="73152" marT="36576" marB="36576" anchor="ctr">
                    <a:lnL w="6350" cap="flat" cmpd="sng" algn="ctr">
                      <a:solidFill>
                        <a:srgbClr val="D5DAE1"/>
                      </a:solidFill>
                      <a:prstDash val="solid"/>
                      <a:round/>
                      <a:headEnd type="none" w="med" len="med"/>
                      <a:tailEnd type="none" w="med" len="med"/>
                    </a:lnL>
                    <a:lnR w="6350" cap="flat" cmpd="sng" algn="ctr">
                      <a:solidFill>
                        <a:srgbClr val="D5DAE1"/>
                      </a:solidFill>
                      <a:prstDash val="solid"/>
                      <a:round/>
                      <a:headEnd type="none" w="med" len="med"/>
                      <a:tailEnd type="none" w="med" len="med"/>
                    </a:lnR>
                    <a:lnT w="6350" cap="flat" cmpd="sng" algn="ctr">
                      <a:solidFill>
                        <a:srgbClr val="D5DAE1"/>
                      </a:solidFill>
                      <a:prstDash val="solid"/>
                      <a:round/>
                      <a:headEnd type="none" w="med" len="med"/>
                      <a:tailEnd type="none" w="med" len="med"/>
                    </a:lnT>
                    <a:lnB w="6350" cap="flat" cmpd="sng" algn="ctr">
                      <a:solidFill>
                        <a:srgbClr val="D5DAE1"/>
                      </a:solidFill>
                      <a:prstDash val="solid"/>
                      <a:round/>
                      <a:headEnd type="none" w="med" len="med"/>
                      <a:tailEnd type="none" w="med" len="med"/>
                    </a:lnB>
                    <a:solidFill>
                      <a:srgbClr val="F2F4F7"/>
                    </a:solidFill>
                  </a:tcPr>
                </a:tc>
              </a:tr>
              <a:tr h="475488">
                <a:tc>
                  <a:txBody>
                    <a:bodyPr/>
                    <a:lstStyle/>
                    <a:p>
                      <a:pPr algn="l" indent="0" marL="0">
                        <a:buNone/>
                      </a:pPr>
                      <a:r>
                        <a:rPr lang="en-US" sz="1200" dirty="0">
                          <a:solidFill>
                            <a:srgbClr val="1B1F2A"/>
                          </a:solidFill>
                        </a:rPr>
                        <a:t>Construction cost and inflation (costs flat in the model)</a:t>
                      </a:r>
                      <a:endParaRPr lang="en-US" sz="1200" dirty="0"/>
                    </a:p>
                  </a:txBody>
                  <a:tcPr marL="73152" marR="73152" marT="36576" marB="36576" anchor="ctr">
                    <a:lnL w="6350" cap="flat" cmpd="sng" algn="ctr">
                      <a:solidFill>
                        <a:srgbClr val="D5DAE1"/>
                      </a:solidFill>
                      <a:prstDash val="solid"/>
                      <a:round/>
                      <a:headEnd type="none" w="med" len="med"/>
                      <a:tailEnd type="none" w="med" len="med"/>
                    </a:lnL>
                    <a:lnR w="6350" cap="flat" cmpd="sng" algn="ctr">
                      <a:solidFill>
                        <a:srgbClr val="D5DAE1"/>
                      </a:solidFill>
                      <a:prstDash val="solid"/>
                      <a:round/>
                      <a:headEnd type="none" w="med" len="med"/>
                      <a:tailEnd type="none" w="med" len="med"/>
                    </a:lnR>
                    <a:lnT w="6350" cap="flat" cmpd="sng" algn="ctr">
                      <a:solidFill>
                        <a:srgbClr val="D5DAE1"/>
                      </a:solidFill>
                      <a:prstDash val="solid"/>
                      <a:round/>
                      <a:headEnd type="none" w="med" len="med"/>
                      <a:tailEnd type="none" w="med" len="med"/>
                    </a:lnT>
                    <a:lnB w="6350" cap="flat" cmpd="sng" algn="ctr">
                      <a:solidFill>
                        <a:srgbClr val="D5DAE1"/>
                      </a:solidFill>
                      <a:prstDash val="solid"/>
                      <a:round/>
                      <a:headEnd type="none" w="med" len="med"/>
                      <a:tailEnd type="none" w="med" len="med"/>
                    </a:lnB>
                    <a:solidFill>
                      <a:srgbClr val="FFFFFF"/>
                    </a:solidFill>
                  </a:tcPr>
                </a:tc>
                <a:tc>
                  <a:txBody>
                    <a:bodyPr/>
                    <a:lstStyle/>
                    <a:p>
                      <a:pPr algn="l" indent="0" marL="0">
                        <a:buNone/>
                      </a:pPr>
                      <a:r>
                        <a:rPr lang="en-US" sz="1200" dirty="0">
                          <a:solidFill>
                            <a:srgbClr val="1B1F2A"/>
                          </a:solidFill>
                        </a:rPr>
                        <a:t>Cost +10% case; fixed-price contracting to be sought; contingency 5% in the model</a:t>
                      </a:r>
                      <a:endParaRPr lang="en-US" sz="1200" dirty="0"/>
                    </a:p>
                  </a:txBody>
                  <a:tcPr marL="73152" marR="73152" marT="36576" marB="36576" anchor="ctr">
                    <a:lnL w="6350" cap="flat" cmpd="sng" algn="ctr">
                      <a:solidFill>
                        <a:srgbClr val="D5DAE1"/>
                      </a:solidFill>
                      <a:prstDash val="solid"/>
                      <a:round/>
                      <a:headEnd type="none" w="med" len="med"/>
                      <a:tailEnd type="none" w="med" len="med"/>
                    </a:lnL>
                    <a:lnR w="6350" cap="flat" cmpd="sng" algn="ctr">
                      <a:solidFill>
                        <a:srgbClr val="D5DAE1"/>
                      </a:solidFill>
                      <a:prstDash val="solid"/>
                      <a:round/>
                      <a:headEnd type="none" w="med" len="med"/>
                      <a:tailEnd type="none" w="med" len="med"/>
                    </a:lnR>
                    <a:lnT w="6350" cap="flat" cmpd="sng" algn="ctr">
                      <a:solidFill>
                        <a:srgbClr val="D5DAE1"/>
                      </a:solidFill>
                      <a:prstDash val="solid"/>
                      <a:round/>
                      <a:headEnd type="none" w="med" len="med"/>
                      <a:tailEnd type="none" w="med" len="med"/>
                    </a:lnT>
                    <a:lnB w="6350" cap="flat" cmpd="sng" algn="ctr">
                      <a:solidFill>
                        <a:srgbClr val="D5DAE1"/>
                      </a:solidFill>
                      <a:prstDash val="solid"/>
                      <a:round/>
                      <a:headEnd type="none" w="med" len="med"/>
                      <a:tailEnd type="none" w="med" len="med"/>
                    </a:lnB>
                    <a:solidFill>
                      <a:srgbClr val="FFFFFF"/>
                    </a:solidFill>
                  </a:tcPr>
                </a:tc>
              </a:tr>
              <a:tr h="475488">
                <a:tc>
                  <a:txBody>
                    <a:bodyPr/>
                    <a:lstStyle/>
                    <a:p>
                      <a:pPr algn="l" indent="0" marL="0">
                        <a:buNone/>
                      </a:pPr>
                      <a:r>
                        <a:rPr lang="en-US" sz="1200" dirty="0">
                          <a:solidFill>
                            <a:srgbClr val="1B1F2A"/>
                          </a:solidFill>
                        </a:rPr>
                        <a:t>Landlord: consent and minimum guarantee payments</a:t>
                      </a:r>
                      <a:endParaRPr lang="en-US" sz="1200" dirty="0"/>
                    </a:p>
                  </a:txBody>
                  <a:tcPr marL="73152" marR="73152" marT="36576" marB="36576" anchor="ctr">
                    <a:lnL w="6350" cap="flat" cmpd="sng" algn="ctr">
                      <a:solidFill>
                        <a:srgbClr val="D5DAE1"/>
                      </a:solidFill>
                      <a:prstDash val="solid"/>
                      <a:round/>
                      <a:headEnd type="none" w="med" len="med"/>
                      <a:tailEnd type="none" w="med" len="med"/>
                    </a:lnL>
                    <a:lnR w="6350" cap="flat" cmpd="sng" algn="ctr">
                      <a:solidFill>
                        <a:srgbClr val="D5DAE1"/>
                      </a:solidFill>
                      <a:prstDash val="solid"/>
                      <a:round/>
                      <a:headEnd type="none" w="med" len="med"/>
                      <a:tailEnd type="none" w="med" len="med"/>
                    </a:lnR>
                    <a:lnT w="6350" cap="flat" cmpd="sng" algn="ctr">
                      <a:solidFill>
                        <a:srgbClr val="D5DAE1"/>
                      </a:solidFill>
                      <a:prstDash val="solid"/>
                      <a:round/>
                      <a:headEnd type="none" w="med" len="med"/>
                      <a:tailEnd type="none" w="med" len="med"/>
                    </a:lnT>
                    <a:lnB w="6350" cap="flat" cmpd="sng" algn="ctr">
                      <a:solidFill>
                        <a:srgbClr val="D5DAE1"/>
                      </a:solidFill>
                      <a:prstDash val="solid"/>
                      <a:round/>
                      <a:headEnd type="none" w="med" len="med"/>
                      <a:tailEnd type="none" w="med" len="med"/>
                    </a:lnB>
                    <a:solidFill>
                      <a:srgbClr val="F2F4F7"/>
                    </a:solidFill>
                  </a:tcPr>
                </a:tc>
                <a:tc>
                  <a:txBody>
                    <a:bodyPr/>
                    <a:lstStyle/>
                    <a:p>
                      <a:pPr algn="l" indent="0" marL="0">
                        <a:buNone/>
                      </a:pPr>
                      <a:r>
                        <a:rPr lang="en-US" sz="1200" dirty="0">
                          <a:solidFill>
                            <a:srgbClr val="1B1F2A"/>
                          </a:solidFill>
                        </a:rPr>
                        <a:t>Written consent as a condition precedent; guarantee schedule fully funded in the plan</a:t>
                      </a:r>
                      <a:endParaRPr lang="en-US" sz="1200" dirty="0"/>
                    </a:p>
                  </a:txBody>
                  <a:tcPr marL="73152" marR="73152" marT="36576" marB="36576" anchor="ctr">
                    <a:lnL w="6350" cap="flat" cmpd="sng" algn="ctr">
                      <a:solidFill>
                        <a:srgbClr val="D5DAE1"/>
                      </a:solidFill>
                      <a:prstDash val="solid"/>
                      <a:round/>
                      <a:headEnd type="none" w="med" len="med"/>
                      <a:tailEnd type="none" w="med" len="med"/>
                    </a:lnL>
                    <a:lnR w="6350" cap="flat" cmpd="sng" algn="ctr">
                      <a:solidFill>
                        <a:srgbClr val="D5DAE1"/>
                      </a:solidFill>
                      <a:prstDash val="solid"/>
                      <a:round/>
                      <a:headEnd type="none" w="med" len="med"/>
                      <a:tailEnd type="none" w="med" len="med"/>
                    </a:lnR>
                    <a:lnT w="6350" cap="flat" cmpd="sng" algn="ctr">
                      <a:solidFill>
                        <a:srgbClr val="D5DAE1"/>
                      </a:solidFill>
                      <a:prstDash val="solid"/>
                      <a:round/>
                      <a:headEnd type="none" w="med" len="med"/>
                      <a:tailEnd type="none" w="med" len="med"/>
                    </a:lnT>
                    <a:lnB w="6350" cap="flat" cmpd="sng" algn="ctr">
                      <a:solidFill>
                        <a:srgbClr val="D5DAE1"/>
                      </a:solidFill>
                      <a:prstDash val="solid"/>
                      <a:round/>
                      <a:headEnd type="none" w="med" len="med"/>
                      <a:tailEnd type="none" w="med" len="med"/>
                    </a:lnB>
                    <a:solidFill>
                      <a:srgbClr val="F2F4F7"/>
                    </a:solidFill>
                  </a:tcPr>
                </a:tc>
              </a:tr>
              <a:tr h="475488">
                <a:tc>
                  <a:txBody>
                    <a:bodyPr/>
                    <a:lstStyle/>
                    <a:p>
                      <a:pPr algn="l" indent="0" marL="0">
                        <a:buNone/>
                      </a:pPr>
                      <a:r>
                        <a:rPr lang="en-US" sz="1200" dirty="0">
                          <a:solidFill>
                            <a:srgbClr val="1B1F2A"/>
                          </a:solidFill>
                        </a:rPr>
                        <a:t>Delivery and permits</a:t>
                      </a:r>
                      <a:endParaRPr lang="en-US" sz="1200" dirty="0"/>
                    </a:p>
                  </a:txBody>
                  <a:tcPr marL="73152" marR="73152" marT="36576" marB="36576" anchor="ctr">
                    <a:lnL w="6350" cap="flat" cmpd="sng" algn="ctr">
                      <a:solidFill>
                        <a:srgbClr val="D5DAE1"/>
                      </a:solidFill>
                      <a:prstDash val="solid"/>
                      <a:round/>
                      <a:headEnd type="none" w="med" len="med"/>
                      <a:tailEnd type="none" w="med" len="med"/>
                    </a:lnL>
                    <a:lnR w="6350" cap="flat" cmpd="sng" algn="ctr">
                      <a:solidFill>
                        <a:srgbClr val="D5DAE1"/>
                      </a:solidFill>
                      <a:prstDash val="solid"/>
                      <a:round/>
                      <a:headEnd type="none" w="med" len="med"/>
                      <a:tailEnd type="none" w="med" len="med"/>
                    </a:lnR>
                    <a:lnT w="6350" cap="flat" cmpd="sng" algn="ctr">
                      <a:solidFill>
                        <a:srgbClr val="D5DAE1"/>
                      </a:solidFill>
                      <a:prstDash val="solid"/>
                      <a:round/>
                      <a:headEnd type="none" w="med" len="med"/>
                      <a:tailEnd type="none" w="med" len="med"/>
                    </a:lnT>
                    <a:lnB w="6350" cap="flat" cmpd="sng" algn="ctr">
                      <a:solidFill>
                        <a:srgbClr val="D5DAE1"/>
                      </a:solidFill>
                      <a:prstDash val="solid"/>
                      <a:round/>
                      <a:headEnd type="none" w="med" len="med"/>
                      <a:tailEnd type="none" w="med" len="med"/>
                    </a:lnB>
                    <a:solidFill>
                      <a:srgbClr val="FFFFFF"/>
                    </a:solidFill>
                  </a:tcPr>
                </a:tc>
                <a:tc>
                  <a:txBody>
                    <a:bodyPr/>
                    <a:lstStyle/>
                    <a:p>
                      <a:pPr algn="l" indent="0" marL="0">
                        <a:buNone/>
                      </a:pPr>
                      <a:r>
                        <a:rPr lang="en-US" sz="1200" dirty="0">
                          <a:solidFill>
                            <a:srgbClr val="1B1F2A"/>
                          </a:solidFill>
                        </a:rPr>
                        <a:t>Permit status in the data room; independent engineer (optional)</a:t>
                      </a:r>
                      <a:endParaRPr lang="en-US" sz="1200" dirty="0"/>
                    </a:p>
                  </a:txBody>
                  <a:tcPr marL="73152" marR="73152" marT="36576" marB="36576" anchor="ctr">
                    <a:lnL w="6350" cap="flat" cmpd="sng" algn="ctr">
                      <a:solidFill>
                        <a:srgbClr val="D5DAE1"/>
                      </a:solidFill>
                      <a:prstDash val="solid"/>
                      <a:round/>
                      <a:headEnd type="none" w="med" len="med"/>
                      <a:tailEnd type="none" w="med" len="med"/>
                    </a:lnL>
                    <a:lnR w="6350" cap="flat" cmpd="sng" algn="ctr">
                      <a:solidFill>
                        <a:srgbClr val="D5DAE1"/>
                      </a:solidFill>
                      <a:prstDash val="solid"/>
                      <a:round/>
                      <a:headEnd type="none" w="med" len="med"/>
                      <a:tailEnd type="none" w="med" len="med"/>
                    </a:lnR>
                    <a:lnT w="6350" cap="flat" cmpd="sng" algn="ctr">
                      <a:solidFill>
                        <a:srgbClr val="D5DAE1"/>
                      </a:solidFill>
                      <a:prstDash val="solid"/>
                      <a:round/>
                      <a:headEnd type="none" w="med" len="med"/>
                      <a:tailEnd type="none" w="med" len="med"/>
                    </a:lnT>
                    <a:lnB w="6350" cap="flat" cmpd="sng" algn="ctr">
                      <a:solidFill>
                        <a:srgbClr val="D5DAE1"/>
                      </a:solidFill>
                      <a:prstDash val="solid"/>
                      <a:round/>
                      <a:headEnd type="none" w="med" len="med"/>
                      <a:tailEnd type="none" w="med" len="med"/>
                    </a:lnB>
                    <a:solidFill>
                      <a:srgbClr val="FFFFFF"/>
                    </a:solidFill>
                  </a:tcPr>
                </a:tc>
              </a:tr>
              <a:tr h="475488">
                <a:tc>
                  <a:txBody>
                    <a:bodyPr/>
                    <a:lstStyle/>
                    <a:p>
                      <a:pPr algn="l" indent="0" marL="0">
                        <a:buNone/>
                      </a:pPr>
                      <a:r>
                        <a:rPr lang="en-US" sz="1200" dirty="0">
                          <a:solidFill>
                            <a:srgbClr val="1B1F2A"/>
                          </a:solidFill>
                        </a:rPr>
                        <a:t>Legal and regulatory: private placement, off-plan rules, assignment of contracts</a:t>
                      </a:r>
                      <a:endParaRPr lang="en-US" sz="1200" dirty="0"/>
                    </a:p>
                  </a:txBody>
                  <a:tcPr marL="73152" marR="73152" marT="36576" marB="36576" anchor="ctr">
                    <a:lnL w="6350" cap="flat" cmpd="sng" algn="ctr">
                      <a:solidFill>
                        <a:srgbClr val="D5DAE1"/>
                      </a:solidFill>
                      <a:prstDash val="solid"/>
                      <a:round/>
                      <a:headEnd type="none" w="med" len="med"/>
                      <a:tailEnd type="none" w="med" len="med"/>
                    </a:lnL>
                    <a:lnR w="6350" cap="flat" cmpd="sng" algn="ctr">
                      <a:solidFill>
                        <a:srgbClr val="D5DAE1"/>
                      </a:solidFill>
                      <a:prstDash val="solid"/>
                      <a:round/>
                      <a:headEnd type="none" w="med" len="med"/>
                      <a:tailEnd type="none" w="med" len="med"/>
                    </a:lnR>
                    <a:lnT w="6350" cap="flat" cmpd="sng" algn="ctr">
                      <a:solidFill>
                        <a:srgbClr val="D5DAE1"/>
                      </a:solidFill>
                      <a:prstDash val="solid"/>
                      <a:round/>
                      <a:headEnd type="none" w="med" len="med"/>
                      <a:tailEnd type="none" w="med" len="med"/>
                    </a:lnT>
                    <a:lnB w="6350" cap="flat" cmpd="sng" algn="ctr">
                      <a:solidFill>
                        <a:srgbClr val="D5DAE1"/>
                      </a:solidFill>
                      <a:prstDash val="solid"/>
                      <a:round/>
                      <a:headEnd type="none" w="med" len="med"/>
                      <a:tailEnd type="none" w="med" len="med"/>
                    </a:lnB>
                    <a:solidFill>
                      <a:srgbClr val="F2F4F7"/>
                    </a:solidFill>
                  </a:tcPr>
                </a:tc>
                <a:tc>
                  <a:txBody>
                    <a:bodyPr/>
                    <a:lstStyle/>
                    <a:p>
                      <a:pPr algn="l" indent="0" marL="0">
                        <a:buNone/>
                      </a:pPr>
                      <a:r>
                        <a:rPr lang="en-US" sz="1200" dirty="0">
                          <a:solidFill>
                            <a:srgbClr val="1B1F2A"/>
                          </a:solidFill>
                        </a:rPr>
                        <a:t>Counsel review before signing; developer and landlord consent mechanics defined</a:t>
                      </a:r>
                      <a:endParaRPr lang="en-US" sz="1200" dirty="0"/>
                    </a:p>
                  </a:txBody>
                  <a:tcPr marL="73152" marR="73152" marT="36576" marB="36576" anchor="ctr">
                    <a:lnL w="6350" cap="flat" cmpd="sng" algn="ctr">
                      <a:solidFill>
                        <a:srgbClr val="D5DAE1"/>
                      </a:solidFill>
                      <a:prstDash val="solid"/>
                      <a:round/>
                      <a:headEnd type="none" w="med" len="med"/>
                      <a:tailEnd type="none" w="med" len="med"/>
                    </a:lnL>
                    <a:lnR w="6350" cap="flat" cmpd="sng" algn="ctr">
                      <a:solidFill>
                        <a:srgbClr val="D5DAE1"/>
                      </a:solidFill>
                      <a:prstDash val="solid"/>
                      <a:round/>
                      <a:headEnd type="none" w="med" len="med"/>
                      <a:tailEnd type="none" w="med" len="med"/>
                    </a:lnR>
                    <a:lnT w="6350" cap="flat" cmpd="sng" algn="ctr">
                      <a:solidFill>
                        <a:srgbClr val="D5DAE1"/>
                      </a:solidFill>
                      <a:prstDash val="solid"/>
                      <a:round/>
                      <a:headEnd type="none" w="med" len="med"/>
                      <a:tailEnd type="none" w="med" len="med"/>
                    </a:lnT>
                    <a:lnB w="6350" cap="flat" cmpd="sng" algn="ctr">
                      <a:solidFill>
                        <a:srgbClr val="D5DAE1"/>
                      </a:solidFill>
                      <a:prstDash val="solid"/>
                      <a:round/>
                      <a:headEnd type="none" w="med" len="med"/>
                      <a:tailEnd type="none" w="med" len="med"/>
                    </a:lnB>
                    <a:solidFill>
                      <a:srgbClr val="F2F4F7"/>
                    </a:solidFill>
                  </a:tcPr>
                </a:tc>
              </a:tr>
              <a:tr h="475488">
                <a:tc>
                  <a:txBody>
                    <a:bodyPr/>
                    <a:lstStyle/>
                    <a:p>
                      <a:pPr algn="l" indent="0" marL="0">
                        <a:buNone/>
                      </a:pPr>
                      <a:r>
                        <a:rPr lang="en-US" sz="1200" dirty="0">
                          <a:solidFill>
                            <a:srgbClr val="1B1F2A"/>
                          </a:solidFill>
                        </a:rPr>
                        <a:t>Currency and FX: EGP returns; USD value may fall</a:t>
                      </a:r>
                      <a:endParaRPr lang="en-US" sz="1200" dirty="0"/>
                    </a:p>
                  </a:txBody>
                  <a:tcPr marL="73152" marR="73152" marT="36576" marB="36576" anchor="ctr">
                    <a:lnL w="6350" cap="flat" cmpd="sng" algn="ctr">
                      <a:solidFill>
                        <a:srgbClr val="D5DAE1"/>
                      </a:solidFill>
                      <a:prstDash val="solid"/>
                      <a:round/>
                      <a:headEnd type="none" w="med" len="med"/>
                      <a:tailEnd type="none" w="med" len="med"/>
                    </a:lnL>
                    <a:lnR w="6350" cap="flat" cmpd="sng" algn="ctr">
                      <a:solidFill>
                        <a:srgbClr val="D5DAE1"/>
                      </a:solidFill>
                      <a:prstDash val="solid"/>
                      <a:round/>
                      <a:headEnd type="none" w="med" len="med"/>
                      <a:tailEnd type="none" w="med" len="med"/>
                    </a:lnR>
                    <a:lnT w="6350" cap="flat" cmpd="sng" algn="ctr">
                      <a:solidFill>
                        <a:srgbClr val="D5DAE1"/>
                      </a:solidFill>
                      <a:prstDash val="solid"/>
                      <a:round/>
                      <a:headEnd type="none" w="med" len="med"/>
                      <a:tailEnd type="none" w="med" len="med"/>
                    </a:lnT>
                    <a:lnB w="6350" cap="flat" cmpd="sng" algn="ctr">
                      <a:solidFill>
                        <a:srgbClr val="D5DAE1"/>
                      </a:solidFill>
                      <a:prstDash val="solid"/>
                      <a:round/>
                      <a:headEnd type="none" w="med" len="med"/>
                      <a:tailEnd type="none" w="med" len="med"/>
                    </a:lnB>
                    <a:solidFill>
                      <a:srgbClr val="FFFFFF"/>
                    </a:solidFill>
                  </a:tcPr>
                </a:tc>
                <a:tc>
                  <a:txBody>
                    <a:bodyPr/>
                    <a:lstStyle/>
                    <a:p>
                      <a:pPr algn="l" indent="0" marL="0">
                        <a:buNone/>
                      </a:pPr>
                      <a:r>
                        <a:rPr lang="en-US" sz="1200" dirty="0">
                          <a:solidFill>
                            <a:srgbClr val="1B1F2A"/>
                          </a:solidFill>
                        </a:rPr>
                        <a:t>USD equivalents shown at EGP 48; foreign investors take FX advice</a:t>
                      </a:r>
                      <a:endParaRPr lang="en-US" sz="1200" dirty="0"/>
                    </a:p>
                  </a:txBody>
                  <a:tcPr marL="73152" marR="73152" marT="36576" marB="36576" anchor="ctr">
                    <a:lnL w="6350" cap="flat" cmpd="sng" algn="ctr">
                      <a:solidFill>
                        <a:srgbClr val="D5DAE1"/>
                      </a:solidFill>
                      <a:prstDash val="solid"/>
                      <a:round/>
                      <a:headEnd type="none" w="med" len="med"/>
                      <a:tailEnd type="none" w="med" len="med"/>
                    </a:lnL>
                    <a:lnR w="6350" cap="flat" cmpd="sng" algn="ctr">
                      <a:solidFill>
                        <a:srgbClr val="D5DAE1"/>
                      </a:solidFill>
                      <a:prstDash val="solid"/>
                      <a:round/>
                      <a:headEnd type="none" w="med" len="med"/>
                      <a:tailEnd type="none" w="med" len="med"/>
                    </a:lnR>
                    <a:lnT w="6350" cap="flat" cmpd="sng" algn="ctr">
                      <a:solidFill>
                        <a:srgbClr val="D5DAE1"/>
                      </a:solidFill>
                      <a:prstDash val="solid"/>
                      <a:round/>
                      <a:headEnd type="none" w="med" len="med"/>
                      <a:tailEnd type="none" w="med" len="med"/>
                    </a:lnT>
                    <a:lnB w="6350" cap="flat" cmpd="sng" algn="ctr">
                      <a:solidFill>
                        <a:srgbClr val="D5DAE1"/>
                      </a:solidFill>
                      <a:prstDash val="solid"/>
                      <a:round/>
                      <a:headEnd type="none" w="med" len="med"/>
                      <a:tailEnd type="none" w="med" len="med"/>
                    </a:lnB>
                    <a:solidFill>
                      <a:srgbClr val="FFFFFF"/>
                    </a:solidFill>
                  </a:tcPr>
                </a:tc>
              </a:tr>
              <a:tr h="475488">
                <a:tc>
                  <a:txBody>
                    <a:bodyPr/>
                    <a:lstStyle/>
                    <a:p>
                      <a:pPr algn="l" indent="0" marL="0">
                        <a:buNone/>
                      </a:pPr>
                      <a:r>
                        <a:rPr lang="en-US" sz="1200" dirty="0">
                          <a:solidFill>
                            <a:srgbClr val="1B1F2A"/>
                          </a:solidFill>
                        </a:rPr>
                        <a:t>Concentration: single project</a:t>
                      </a:r>
                      <a:endParaRPr lang="en-US" sz="1200" dirty="0"/>
                    </a:p>
                  </a:txBody>
                  <a:tcPr marL="73152" marR="73152" marT="36576" marB="36576" anchor="ctr">
                    <a:lnL w="6350" cap="flat" cmpd="sng" algn="ctr">
                      <a:solidFill>
                        <a:srgbClr val="D5DAE1"/>
                      </a:solidFill>
                      <a:prstDash val="solid"/>
                      <a:round/>
                      <a:headEnd type="none" w="med" len="med"/>
                      <a:tailEnd type="none" w="med" len="med"/>
                    </a:lnL>
                    <a:lnR w="6350" cap="flat" cmpd="sng" algn="ctr">
                      <a:solidFill>
                        <a:srgbClr val="D5DAE1"/>
                      </a:solidFill>
                      <a:prstDash val="solid"/>
                      <a:round/>
                      <a:headEnd type="none" w="med" len="med"/>
                      <a:tailEnd type="none" w="med" len="med"/>
                    </a:lnR>
                    <a:lnT w="6350" cap="flat" cmpd="sng" algn="ctr">
                      <a:solidFill>
                        <a:srgbClr val="D5DAE1"/>
                      </a:solidFill>
                      <a:prstDash val="solid"/>
                      <a:round/>
                      <a:headEnd type="none" w="med" len="med"/>
                      <a:tailEnd type="none" w="med" len="med"/>
                    </a:lnT>
                    <a:lnB w="6350" cap="flat" cmpd="sng" algn="ctr">
                      <a:solidFill>
                        <a:srgbClr val="D5DAE1"/>
                      </a:solidFill>
                      <a:prstDash val="solid"/>
                      <a:round/>
                      <a:headEnd type="none" w="med" len="med"/>
                      <a:tailEnd type="none" w="med" len="med"/>
                    </a:lnB>
                    <a:solidFill>
                      <a:srgbClr val="F2F4F7"/>
                    </a:solidFill>
                  </a:tcPr>
                </a:tc>
                <a:tc>
                  <a:txBody>
                    <a:bodyPr/>
                    <a:lstStyle/>
                    <a:p>
                      <a:pPr algn="l" indent="0" marL="0">
                        <a:buNone/>
                      </a:pPr>
                      <a:r>
                        <a:rPr lang="en-US" sz="1200" dirty="0">
                          <a:solidFill>
                            <a:srgbClr val="1B1F2A"/>
                          </a:solidFill>
                        </a:rPr>
                        <a:t>No cross-collateral or cross-default with other Jalour projects; investor exposed to this project only</a:t>
                      </a:r>
                      <a:endParaRPr lang="en-US" sz="1200" dirty="0"/>
                    </a:p>
                  </a:txBody>
                  <a:tcPr marL="73152" marR="73152" marT="36576" marB="36576" anchor="ctr">
                    <a:lnL w="6350" cap="flat" cmpd="sng" algn="ctr">
                      <a:solidFill>
                        <a:srgbClr val="D5DAE1"/>
                      </a:solidFill>
                      <a:prstDash val="solid"/>
                      <a:round/>
                      <a:headEnd type="none" w="med" len="med"/>
                      <a:tailEnd type="none" w="med" len="med"/>
                    </a:lnL>
                    <a:lnR w="6350" cap="flat" cmpd="sng" algn="ctr">
                      <a:solidFill>
                        <a:srgbClr val="D5DAE1"/>
                      </a:solidFill>
                      <a:prstDash val="solid"/>
                      <a:round/>
                      <a:headEnd type="none" w="med" len="med"/>
                      <a:tailEnd type="none" w="med" len="med"/>
                    </a:lnR>
                    <a:lnT w="6350" cap="flat" cmpd="sng" algn="ctr">
                      <a:solidFill>
                        <a:srgbClr val="D5DAE1"/>
                      </a:solidFill>
                      <a:prstDash val="solid"/>
                      <a:round/>
                      <a:headEnd type="none" w="med" len="med"/>
                      <a:tailEnd type="none" w="med" len="med"/>
                    </a:lnT>
                    <a:lnB w="6350" cap="flat" cmpd="sng" algn="ctr">
                      <a:solidFill>
                        <a:srgbClr val="D5DAE1"/>
                      </a:solidFill>
                      <a:prstDash val="solid"/>
                      <a:round/>
                      <a:headEnd type="none" w="med" len="med"/>
                      <a:tailEnd type="none" w="med" len="med"/>
                    </a:lnB>
                    <a:solidFill>
                      <a:srgbClr val="F2F4F7"/>
                    </a:solidFill>
                  </a:tcPr>
                </a:tc>
              </a:tr>
            </a:tbl>
          </a:graphicData>
        </a:graphic>
      </p:graphicFrame>
      <p:sp>
        <p:nvSpPr>
          <p:cNvPr id="5" name="Text 1"/>
          <p:cNvSpPr txBox="1"/>
          <p:nvPr/>
        </p:nvSpPr>
        <p:spPr>
          <a:xfrm>
            <a:off x="548640" y="6080760"/>
            <a:ext cx="11064240" cy="274320"/>
          </a:xfrm>
          <a:prstGeom prst="rect">
            <a:avLst/>
          </a:prstGeom>
          <a:noFill/>
          <a:ln/>
        </p:spPr>
        <p:txBody>
          <a:bodyPr wrap="square" lIns="0" tIns="0" rIns="0" bIns="0" rtlCol="0" anchor="ctr"/>
          <a:lstStyle/>
          <a:p>
            <a:pPr indent="0" marL="0">
              <a:buNone/>
            </a:pPr>
            <a:r>
              <a:rPr lang="en-US" sz="900" i="1" dirty="0">
                <a:solidFill>
                  <a:srgbClr val="6B7280"/>
                </a:solidFill>
              </a:rPr>
              <a:t>Source: Jalour; full risk factors in the Investment Memorandum and the Due Diligence Memorandum.</a:t>
            </a:r>
            <a:endParaRPr lang="en-US" sz="900" dirty="0"/>
          </a:p>
        </p:txBody>
      </p:sp>
      <p:sp>
        <p:nvSpPr>
          <p:cNvPr id="25" name="Slide Number Placeholder 0"/>
          <p:cNvSpPr>
            <a:spLocks noGrp="1"/>
          </p:cNvSpPr>
          <p:nvPr>
            <p:ph type="sldNum" sz="quarter" idx="4294967295"/>
          </p:nvPr>
        </p:nvSpPr>
        <p:spPr>
          <a:xfrm>
            <a:off x="11155680" y="6446520"/>
            <a:ext cx="548640" cy="274320"/>
          </a:xfrm>
          <a:prstGeom prst="rect">
            <a:avLst/>
          </a:prstGeom>
          <a:extLst>
            <a:ext uri="{C572A759-6A51-4108-AA02-DFA0A04FC94B}">
              <ma14:wrappingTextBoxFlag xmlns:ma14="http://schemas.microsoft.com/office/mac/drawingml/2011/main" val="0"/>
            </a:ext>
          </a:extLst>
        </p:spPr>
        <p:txBody>
          <a:bodyPr/>
          <a:lstStyle>
            <a:lvl1pPr>
              <a:defRPr sz="900">
                <a:solidFill>
                  <a:srgbClr val="6B7280"/>
                </a:solidFill>
              </a:defRPr>
            </a:lvl1pPr>
          </a:lstStyle>
          <a:p>
            <a:pPr algn="l"/>
            <a:fld id="{F7021451-1387-4CA6-816F-3879F97B5CBC}" type="slidenum">
              <a:rPr b="0" lang="en-US"/>
              <a:t>15</a:t>
            </a:fld>
            <a:endParaRPr lang="en-US"/>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name="Slide 16">
    <p:spTree>
      <p:nvGrpSpPr>
        <p:cNvPr id="1" name=""/>
        <p:cNvGrpSpPr/>
        <p:nvPr/>
      </p:nvGrpSpPr>
      <p:grpSpPr>
        <a:xfrm>
          <a:off x="0" y="0"/>
          <a:ext cx="0" cy="0"/>
          <a:chOff x="0" y="0"/>
          <a:chExt cx="0" cy="0"/>
        </a:xfrm>
      </p:grpSpPr>
      <p:sp>
        <p:nvSpPr>
          <p:cNvPr id="2" name="Text 0"/>
          <p:cNvSpPr txBox="1"/>
          <p:nvPr/>
        </p:nvSpPr>
        <p:spPr>
          <a:xfrm>
            <a:off x="548640" y="320040"/>
            <a:ext cx="11064240" cy="822960"/>
          </a:xfrm>
          <a:prstGeom prst="rect">
            <a:avLst/>
          </a:prstGeom>
          <a:noFill/>
          <a:ln/>
        </p:spPr>
        <p:txBody>
          <a:bodyPr wrap="square" lIns="0" tIns="0" rIns="0" bIns="0" rtlCol="0" anchor="ctr">
            <a:normAutofit/>
          </a:bodyPr>
          <a:lstStyle/>
          <a:p>
            <a:pPr indent="0" marL="0">
              <a:buNone/>
            </a:pPr>
            <a:r>
              <a:rPr lang="en-US" sz="2800" b="1" dirty="0">
                <a:solidFill>
                  <a:srgbClr val="17324D"/>
                </a:solidFill>
                <a:latin typeface="Cambria" pitchFamily="34" charset="0"/>
                <a:ea typeface="Cambria" pitchFamily="34" charset="-122"/>
                <a:cs typeface="Cambria" pitchFamily="34" charset="-120"/>
              </a:rPr>
              <a:t>Timeline and milestones</a:t>
            </a:r>
            <a:endParaRPr lang="en-US" sz="2800" dirty="0"/>
          </a:p>
        </p:txBody>
      </p:sp>
      <p:sp>
        <p:nvSpPr>
          <p:cNvPr id="4" name="Shape 1"/>
          <p:cNvSpPr/>
          <p:nvPr/>
        </p:nvSpPr>
        <p:spPr>
          <a:xfrm>
            <a:off x="822960" y="3108960"/>
            <a:ext cx="10515600" cy="0"/>
          </a:xfrm>
          <a:prstGeom prst="line">
            <a:avLst/>
          </a:prstGeom>
          <a:noFill/>
          <a:ln w="25400">
            <a:solidFill>
              <a:srgbClr val="17324D"/>
            </a:solidFill>
            <a:prstDash val="solid"/>
          </a:ln>
        </p:spPr>
      </p:sp>
      <p:sp>
        <p:nvSpPr>
          <p:cNvPr id="5" name="Shape 2"/>
          <p:cNvSpPr/>
          <p:nvPr/>
        </p:nvSpPr>
        <p:spPr>
          <a:xfrm>
            <a:off x="740664" y="3026664"/>
            <a:ext cx="164592" cy="164592"/>
          </a:xfrm>
          <a:prstGeom prst="ellipse">
            <a:avLst/>
          </a:prstGeom>
          <a:solidFill>
            <a:srgbClr val="B8893B"/>
          </a:solidFill>
          <a:ln w="12700">
            <a:solidFill>
              <a:srgbClr val="FFFFFF"/>
            </a:solidFill>
            <a:prstDash val="solid"/>
          </a:ln>
        </p:spPr>
      </p:sp>
      <p:sp>
        <p:nvSpPr>
          <p:cNvPr id="6" name="Text 3"/>
          <p:cNvSpPr txBox="1"/>
          <p:nvPr/>
        </p:nvSpPr>
        <p:spPr>
          <a:xfrm>
            <a:off x="45720" y="2103120"/>
            <a:ext cx="1554480" cy="822960"/>
          </a:xfrm>
          <a:prstGeom prst="rect">
            <a:avLst/>
          </a:prstGeom>
          <a:noFill/>
          <a:ln/>
        </p:spPr>
        <p:txBody>
          <a:bodyPr wrap="square" lIns="0" tIns="0" rIns="0" bIns="0" rtlCol="0" anchor="b"/>
          <a:lstStyle/>
          <a:p>
            <a:pPr algn="ctr" indent="0" marL="0">
              <a:buNone/>
            </a:pPr>
            <a:r>
              <a:rPr lang="en-US" sz="1100" b="1" dirty="0">
                <a:solidFill>
                  <a:srgbClr val="1B1F2A"/>
                </a:solidFill>
              </a:rPr>
              <a:t>Model start</a:t>
            </a:r>
            <a:endParaRPr lang="en-US" sz="1100" dirty="0"/>
          </a:p>
          <a:p>
            <a:pPr algn="ctr" indent="0" marL="0">
              <a:buNone/>
            </a:pPr>
            <a:r>
              <a:rPr lang="en-US" sz="1100" dirty="0">
                <a:solidFill>
                  <a:srgbClr val="1B1F2A"/>
                </a:solidFill>
              </a:rPr>
              <a:t>Month 0</a:t>
            </a:r>
            <a:endParaRPr lang="en-US" sz="1100" dirty="0"/>
          </a:p>
        </p:txBody>
      </p:sp>
      <p:sp>
        <p:nvSpPr>
          <p:cNvPr id="7" name="Shape 4"/>
          <p:cNvSpPr/>
          <p:nvPr/>
        </p:nvSpPr>
        <p:spPr>
          <a:xfrm>
            <a:off x="1855955" y="3026664"/>
            <a:ext cx="164592" cy="164592"/>
          </a:xfrm>
          <a:prstGeom prst="ellipse">
            <a:avLst/>
          </a:prstGeom>
          <a:solidFill>
            <a:srgbClr val="B8893B"/>
          </a:solidFill>
          <a:ln w="12700">
            <a:solidFill>
              <a:srgbClr val="FFFFFF"/>
            </a:solidFill>
            <a:prstDash val="solid"/>
          </a:ln>
        </p:spPr>
      </p:sp>
      <p:sp>
        <p:nvSpPr>
          <p:cNvPr id="8" name="Text 5"/>
          <p:cNvSpPr txBox="1"/>
          <p:nvPr/>
        </p:nvSpPr>
        <p:spPr>
          <a:xfrm>
            <a:off x="1161011" y="3337560"/>
            <a:ext cx="1554480" cy="822960"/>
          </a:xfrm>
          <a:prstGeom prst="rect">
            <a:avLst/>
          </a:prstGeom>
          <a:noFill/>
          <a:ln/>
        </p:spPr>
        <p:txBody>
          <a:bodyPr wrap="square" lIns="0" tIns="0" rIns="0" bIns="0" rtlCol="0" anchor="t"/>
          <a:lstStyle/>
          <a:p>
            <a:pPr algn="ctr" indent="0" marL="0">
              <a:buNone/>
            </a:pPr>
            <a:r>
              <a:rPr lang="en-US" sz="1100" b="1" dirty="0">
                <a:solidFill>
                  <a:srgbClr val="1B1F2A"/>
                </a:solidFill>
              </a:rPr>
              <a:t>Sales start</a:t>
            </a:r>
            <a:endParaRPr lang="en-US" sz="1100" dirty="0"/>
          </a:p>
          <a:p>
            <a:pPr algn="ctr" indent="0" marL="0">
              <a:buNone/>
            </a:pPr>
            <a:r>
              <a:rPr lang="en-US" sz="1100" dirty="0">
                <a:solidFill>
                  <a:srgbClr val="1B1F2A"/>
                </a:solidFill>
              </a:rPr>
              <a:t>Month 7</a:t>
            </a:r>
            <a:endParaRPr lang="en-US" sz="1100" dirty="0"/>
          </a:p>
        </p:txBody>
      </p:sp>
      <p:sp>
        <p:nvSpPr>
          <p:cNvPr id="9" name="Shape 6"/>
          <p:cNvSpPr/>
          <p:nvPr/>
        </p:nvSpPr>
        <p:spPr>
          <a:xfrm>
            <a:off x="2811919" y="3026664"/>
            <a:ext cx="164592" cy="164592"/>
          </a:xfrm>
          <a:prstGeom prst="ellipse">
            <a:avLst/>
          </a:prstGeom>
          <a:solidFill>
            <a:srgbClr val="B8893B"/>
          </a:solidFill>
          <a:ln w="12700">
            <a:solidFill>
              <a:srgbClr val="FFFFFF"/>
            </a:solidFill>
            <a:prstDash val="solid"/>
          </a:ln>
        </p:spPr>
      </p:sp>
      <p:sp>
        <p:nvSpPr>
          <p:cNvPr id="10" name="Text 7"/>
          <p:cNvSpPr txBox="1"/>
          <p:nvPr/>
        </p:nvSpPr>
        <p:spPr>
          <a:xfrm>
            <a:off x="2116975" y="2103120"/>
            <a:ext cx="1554480" cy="822960"/>
          </a:xfrm>
          <a:prstGeom prst="rect">
            <a:avLst/>
          </a:prstGeom>
          <a:noFill/>
          <a:ln/>
        </p:spPr>
        <p:txBody>
          <a:bodyPr wrap="square" lIns="0" tIns="0" rIns="0" bIns="0" rtlCol="0" anchor="b"/>
          <a:lstStyle/>
          <a:p>
            <a:pPr algn="ctr" indent="0" marL="0">
              <a:buNone/>
            </a:pPr>
            <a:r>
              <a:rPr lang="en-US" sz="1100" b="1" dirty="0">
                <a:solidFill>
                  <a:srgbClr val="1B1F2A"/>
                </a:solidFill>
              </a:rPr>
              <a:t>Construction start</a:t>
            </a:r>
            <a:endParaRPr lang="en-US" sz="1100" dirty="0"/>
          </a:p>
          <a:p>
            <a:pPr algn="ctr" indent="0" marL="0">
              <a:buNone/>
            </a:pPr>
            <a:r>
              <a:rPr lang="en-US" sz="1100" dirty="0">
                <a:solidFill>
                  <a:srgbClr val="1B1F2A"/>
                </a:solidFill>
              </a:rPr>
              <a:t>Month 13</a:t>
            </a:r>
            <a:endParaRPr lang="en-US" sz="1100" dirty="0"/>
          </a:p>
        </p:txBody>
      </p:sp>
      <p:sp>
        <p:nvSpPr>
          <p:cNvPr id="11" name="Shape 8"/>
          <p:cNvSpPr/>
          <p:nvPr/>
        </p:nvSpPr>
        <p:spPr>
          <a:xfrm>
            <a:off x="5042500" y="3026664"/>
            <a:ext cx="164592" cy="164592"/>
          </a:xfrm>
          <a:prstGeom prst="ellipse">
            <a:avLst/>
          </a:prstGeom>
          <a:solidFill>
            <a:srgbClr val="B8893B"/>
          </a:solidFill>
          <a:ln w="12700">
            <a:solidFill>
              <a:srgbClr val="FFFFFF"/>
            </a:solidFill>
            <a:prstDash val="solid"/>
          </a:ln>
        </p:spPr>
      </p:sp>
      <p:sp>
        <p:nvSpPr>
          <p:cNvPr id="12" name="Text 9"/>
          <p:cNvSpPr txBox="1"/>
          <p:nvPr/>
        </p:nvSpPr>
        <p:spPr>
          <a:xfrm>
            <a:off x="4347556" y="3337560"/>
            <a:ext cx="1554480" cy="822960"/>
          </a:xfrm>
          <a:prstGeom prst="rect">
            <a:avLst/>
          </a:prstGeom>
          <a:noFill/>
          <a:ln/>
        </p:spPr>
        <p:txBody>
          <a:bodyPr wrap="square" lIns="0" tIns="0" rIns="0" bIns="0" rtlCol="0" anchor="t"/>
          <a:lstStyle/>
          <a:p>
            <a:pPr algn="ctr" indent="0" marL="0">
              <a:buNone/>
            </a:pPr>
            <a:r>
              <a:rPr lang="en-US" sz="1100" b="1" dirty="0">
                <a:solidFill>
                  <a:srgbClr val="1B1F2A"/>
                </a:solidFill>
              </a:rPr>
              <a:t>Grace ends</a:t>
            </a:r>
            <a:endParaRPr lang="en-US" sz="1100" dirty="0"/>
          </a:p>
          <a:p>
            <a:pPr algn="ctr" indent="0" marL="0">
              <a:buNone/>
            </a:pPr>
            <a:r>
              <a:rPr lang="en-US" sz="1100" dirty="0">
                <a:solidFill>
                  <a:srgbClr val="1B1F2A"/>
                </a:solidFill>
              </a:rPr>
              <a:t>Month 27</a:t>
            </a:r>
            <a:endParaRPr lang="en-US" sz="1100" dirty="0"/>
          </a:p>
        </p:txBody>
      </p:sp>
      <p:sp>
        <p:nvSpPr>
          <p:cNvPr id="13" name="Shape 10"/>
          <p:cNvSpPr/>
          <p:nvPr/>
        </p:nvSpPr>
        <p:spPr>
          <a:xfrm>
            <a:off x="5520482" y="3026664"/>
            <a:ext cx="164592" cy="164592"/>
          </a:xfrm>
          <a:prstGeom prst="ellipse">
            <a:avLst/>
          </a:prstGeom>
          <a:solidFill>
            <a:srgbClr val="B8893B"/>
          </a:solidFill>
          <a:ln w="12700">
            <a:solidFill>
              <a:srgbClr val="FFFFFF"/>
            </a:solidFill>
            <a:prstDash val="solid"/>
          </a:ln>
        </p:spPr>
      </p:sp>
      <p:sp>
        <p:nvSpPr>
          <p:cNvPr id="14" name="Text 11"/>
          <p:cNvSpPr txBox="1"/>
          <p:nvPr/>
        </p:nvSpPr>
        <p:spPr>
          <a:xfrm>
            <a:off x="4825538" y="2103120"/>
            <a:ext cx="1554480" cy="822960"/>
          </a:xfrm>
          <a:prstGeom prst="rect">
            <a:avLst/>
          </a:prstGeom>
          <a:noFill/>
          <a:ln/>
        </p:spPr>
        <p:txBody>
          <a:bodyPr wrap="square" lIns="0" tIns="0" rIns="0" bIns="0" rtlCol="0" anchor="b"/>
          <a:lstStyle/>
          <a:p>
            <a:pPr algn="ctr" indent="0" marL="0">
              <a:buNone/>
            </a:pPr>
            <a:r>
              <a:rPr lang="en-US" sz="1100" b="1" dirty="0">
                <a:solidFill>
                  <a:srgbClr val="1B1F2A"/>
                </a:solidFill>
              </a:rPr>
              <a:t>First Option B payment</a:t>
            </a:r>
            <a:endParaRPr lang="en-US" sz="1100" dirty="0"/>
          </a:p>
          <a:p>
            <a:pPr algn="ctr" indent="0" marL="0">
              <a:buNone/>
            </a:pPr>
            <a:r>
              <a:rPr lang="en-US" sz="1100" dirty="0">
                <a:solidFill>
                  <a:srgbClr val="1B1F2A"/>
                </a:solidFill>
              </a:rPr>
              <a:t>Month 30</a:t>
            </a:r>
            <a:endParaRPr lang="en-US" sz="1100" dirty="0"/>
          </a:p>
        </p:txBody>
      </p:sp>
      <p:sp>
        <p:nvSpPr>
          <p:cNvPr id="15" name="Shape 12"/>
          <p:cNvSpPr/>
          <p:nvPr/>
        </p:nvSpPr>
        <p:spPr>
          <a:xfrm>
            <a:off x="8388373" y="3026664"/>
            <a:ext cx="164592" cy="164592"/>
          </a:xfrm>
          <a:prstGeom prst="ellipse">
            <a:avLst/>
          </a:prstGeom>
          <a:solidFill>
            <a:srgbClr val="B8893B"/>
          </a:solidFill>
          <a:ln w="12700">
            <a:solidFill>
              <a:srgbClr val="FFFFFF"/>
            </a:solidFill>
            <a:prstDash val="solid"/>
          </a:ln>
        </p:spPr>
      </p:sp>
      <p:sp>
        <p:nvSpPr>
          <p:cNvPr id="16" name="Text 13"/>
          <p:cNvSpPr txBox="1"/>
          <p:nvPr/>
        </p:nvSpPr>
        <p:spPr>
          <a:xfrm>
            <a:off x="7693429" y="3337560"/>
            <a:ext cx="1554480" cy="822960"/>
          </a:xfrm>
          <a:prstGeom prst="rect">
            <a:avLst/>
          </a:prstGeom>
          <a:noFill/>
          <a:ln/>
        </p:spPr>
        <p:txBody>
          <a:bodyPr wrap="square" lIns="0" tIns="0" rIns="0" bIns="0" rtlCol="0" anchor="t"/>
          <a:lstStyle/>
          <a:p>
            <a:pPr algn="ctr" indent="0" marL="0">
              <a:buNone/>
            </a:pPr>
            <a:r>
              <a:rPr lang="en-US" sz="1100" b="1" dirty="0">
                <a:solidFill>
                  <a:srgbClr val="1B1F2A"/>
                </a:solidFill>
              </a:rPr>
              <a:t>Handover</a:t>
            </a:r>
            <a:endParaRPr lang="en-US" sz="1100" dirty="0"/>
          </a:p>
          <a:p>
            <a:pPr algn="ctr" indent="0" marL="0">
              <a:buNone/>
            </a:pPr>
            <a:r>
              <a:rPr lang="en-US" sz="1100" dirty="0">
                <a:solidFill>
                  <a:srgbClr val="1B1F2A"/>
                </a:solidFill>
              </a:rPr>
              <a:t>Month 48</a:t>
            </a:r>
            <a:endParaRPr lang="en-US" sz="1100" dirty="0"/>
          </a:p>
        </p:txBody>
      </p:sp>
      <p:sp>
        <p:nvSpPr>
          <p:cNvPr id="17" name="Shape 14"/>
          <p:cNvSpPr/>
          <p:nvPr/>
        </p:nvSpPr>
        <p:spPr>
          <a:xfrm>
            <a:off x="8866355" y="3026664"/>
            <a:ext cx="164592" cy="164592"/>
          </a:xfrm>
          <a:prstGeom prst="ellipse">
            <a:avLst/>
          </a:prstGeom>
          <a:solidFill>
            <a:srgbClr val="B8893B"/>
          </a:solidFill>
          <a:ln w="12700">
            <a:solidFill>
              <a:srgbClr val="FFFFFF"/>
            </a:solidFill>
            <a:prstDash val="solid"/>
          </a:ln>
        </p:spPr>
      </p:sp>
      <p:sp>
        <p:nvSpPr>
          <p:cNvPr id="18" name="Text 15"/>
          <p:cNvSpPr txBox="1"/>
          <p:nvPr/>
        </p:nvSpPr>
        <p:spPr>
          <a:xfrm>
            <a:off x="8171411" y="2103120"/>
            <a:ext cx="1554480" cy="822960"/>
          </a:xfrm>
          <a:prstGeom prst="rect">
            <a:avLst/>
          </a:prstGeom>
          <a:noFill/>
          <a:ln/>
        </p:spPr>
        <p:txBody>
          <a:bodyPr wrap="square" lIns="0" tIns="0" rIns="0" bIns="0" rtlCol="0" anchor="b"/>
          <a:lstStyle/>
          <a:p>
            <a:pPr algn="ctr" indent="0" marL="0">
              <a:buNone/>
            </a:pPr>
            <a:r>
              <a:rPr lang="en-US" sz="1100" b="1" dirty="0">
                <a:solidFill>
                  <a:srgbClr val="1B1F2A"/>
                </a:solidFill>
              </a:rPr>
              <a:t>First resales</a:t>
            </a:r>
            <a:endParaRPr lang="en-US" sz="1100" dirty="0"/>
          </a:p>
          <a:p>
            <a:pPr algn="ctr" indent="0" marL="0">
              <a:buNone/>
            </a:pPr>
            <a:r>
              <a:rPr lang="en-US" sz="1100" dirty="0">
                <a:solidFill>
                  <a:srgbClr val="1B1F2A"/>
                </a:solidFill>
              </a:rPr>
              <a:t>Month 51</a:t>
            </a:r>
            <a:endParaRPr lang="en-US" sz="1100" dirty="0"/>
          </a:p>
        </p:txBody>
      </p:sp>
      <p:sp>
        <p:nvSpPr>
          <p:cNvPr id="19" name="Shape 16"/>
          <p:cNvSpPr/>
          <p:nvPr/>
        </p:nvSpPr>
        <p:spPr>
          <a:xfrm>
            <a:off x="10778282" y="3026664"/>
            <a:ext cx="164592" cy="164592"/>
          </a:xfrm>
          <a:prstGeom prst="ellipse">
            <a:avLst/>
          </a:prstGeom>
          <a:solidFill>
            <a:srgbClr val="B8893B"/>
          </a:solidFill>
          <a:ln w="12700">
            <a:solidFill>
              <a:srgbClr val="FFFFFF"/>
            </a:solidFill>
            <a:prstDash val="solid"/>
          </a:ln>
        </p:spPr>
      </p:sp>
      <p:sp>
        <p:nvSpPr>
          <p:cNvPr id="20" name="Text 17"/>
          <p:cNvSpPr txBox="1"/>
          <p:nvPr/>
        </p:nvSpPr>
        <p:spPr>
          <a:xfrm>
            <a:off x="10083338" y="3337560"/>
            <a:ext cx="1554480" cy="822960"/>
          </a:xfrm>
          <a:prstGeom prst="rect">
            <a:avLst/>
          </a:prstGeom>
          <a:noFill/>
          <a:ln/>
        </p:spPr>
        <p:txBody>
          <a:bodyPr wrap="square" lIns="0" tIns="0" rIns="0" bIns="0" rtlCol="0" anchor="t"/>
          <a:lstStyle/>
          <a:p>
            <a:pPr algn="ctr" indent="0" marL="0">
              <a:buNone/>
            </a:pPr>
            <a:r>
              <a:rPr lang="en-US" sz="1100" b="1" dirty="0">
                <a:solidFill>
                  <a:srgbClr val="1B1F2A"/>
                </a:solidFill>
              </a:rPr>
              <a:t>Last Option B payment</a:t>
            </a:r>
            <a:endParaRPr lang="en-US" sz="1100" dirty="0"/>
          </a:p>
          <a:p>
            <a:pPr algn="ctr" indent="0" marL="0">
              <a:buNone/>
            </a:pPr>
            <a:r>
              <a:rPr lang="en-US" sz="1100" dirty="0">
                <a:solidFill>
                  <a:srgbClr val="1B1F2A"/>
                </a:solidFill>
              </a:rPr>
              <a:t>Month 63</a:t>
            </a:r>
            <a:endParaRPr lang="en-US" sz="1100" dirty="0"/>
          </a:p>
        </p:txBody>
      </p:sp>
      <p:sp>
        <p:nvSpPr>
          <p:cNvPr id="21" name="Text 18"/>
          <p:cNvSpPr txBox="1"/>
          <p:nvPr/>
        </p:nvSpPr>
        <p:spPr>
          <a:xfrm>
            <a:off x="548640" y="4480560"/>
            <a:ext cx="11064240" cy="1463040"/>
          </a:xfrm>
          <a:prstGeom prst="rect">
            <a:avLst/>
          </a:prstGeom>
          <a:noFill/>
          <a:ln/>
        </p:spPr>
        <p:txBody>
          <a:bodyPr wrap="square" lIns="0" tIns="0" rIns="0" bIns="0" rtlCol="0" anchor="t"/>
          <a:lstStyle/>
          <a:p>
            <a:pPr marL="342900" indent="-342900">
              <a:spcAft>
                <a:spcPts val="600"/>
              </a:spcAft>
              <a:buSzPct val="100000"/>
              <a:buChar char="•"/>
            </a:pPr>
            <a:r>
              <a:rPr lang="en-US" sz="1300" dirty="0">
                <a:solidFill>
                  <a:srgbClr val="1B1F2A"/>
                </a:solidFill>
              </a:rPr>
              <a:t>Funding and signing: month 3 (ticket due when the down payment of EGP 80 million falls due).</a:t>
            </a:r>
            <a:endParaRPr lang="en-US" sz="1300" dirty="0"/>
          </a:p>
          <a:p>
            <a:pPr marL="342900" indent="-342900">
              <a:spcAft>
                <a:spcPts val="600"/>
              </a:spcAft>
              <a:buSzPct val="100000"/>
              <a:buChar char="•"/>
            </a:pPr>
            <a:r>
              <a:rPr lang="en-US" sz="1300" dirty="0">
                <a:solidFill>
                  <a:srgbClr val="1B1F2A"/>
                </a:solidFill>
              </a:rPr>
              <a:t>Option A: units are allocated at signing and delivered at handover (month 48); the investor may resell after consents.</a:t>
            </a:r>
            <a:endParaRPr lang="en-US" sz="1300" dirty="0"/>
          </a:p>
          <a:p>
            <a:pPr marL="342900" indent="-342900">
              <a:spcAft>
                <a:spcPts val="600"/>
              </a:spcAft>
              <a:buSzPct val="100000"/>
              <a:buChar char="•"/>
            </a:pPr>
            <a:r>
              <a:rPr lang="en-US" sz="1300" dirty="0">
                <a:solidFill>
                  <a:srgbClr val="1B1F2A"/>
                </a:solidFill>
              </a:rPr>
              <a:t>Option B: 24-month grace, then 12 quarterly instalments from month 30.</a:t>
            </a:r>
            <a:endParaRPr lang="en-US" sz="1300" dirty="0"/>
          </a:p>
        </p:txBody>
      </p:sp>
      <p:sp>
        <p:nvSpPr>
          <p:cNvPr id="22" name="Text 19"/>
          <p:cNvSpPr txBox="1"/>
          <p:nvPr/>
        </p:nvSpPr>
        <p:spPr>
          <a:xfrm>
            <a:off x="548640" y="6080760"/>
            <a:ext cx="11064240" cy="274320"/>
          </a:xfrm>
          <a:prstGeom prst="rect">
            <a:avLst/>
          </a:prstGeom>
          <a:noFill/>
          <a:ln/>
        </p:spPr>
        <p:txBody>
          <a:bodyPr wrap="square" lIns="0" tIns="0" rIns="0" bIns="0" rtlCol="0" anchor="ctr"/>
          <a:lstStyle/>
          <a:p>
            <a:pPr indent="0" marL="0">
              <a:buNone/>
            </a:pPr>
            <a:r>
              <a:rPr lang="en-US" sz="900" i="1" dirty="0">
                <a:solidFill>
                  <a:srgbClr val="6B7280"/>
                </a:solidFill>
              </a:rPr>
              <a:t>Source: Jalour financial model; Financial Annex. Months count from the start of the model timeline.</a:t>
            </a:r>
            <a:endParaRPr lang="en-US" sz="900" dirty="0"/>
          </a:p>
        </p:txBody>
      </p:sp>
      <p:sp>
        <p:nvSpPr>
          <p:cNvPr id="25" name="Slide Number Placeholder 0"/>
          <p:cNvSpPr>
            <a:spLocks noGrp="1"/>
          </p:cNvSpPr>
          <p:nvPr>
            <p:ph type="sldNum" sz="quarter" idx="4294967295"/>
          </p:nvPr>
        </p:nvSpPr>
        <p:spPr>
          <a:xfrm>
            <a:off x="11155680" y="6446520"/>
            <a:ext cx="548640" cy="274320"/>
          </a:xfrm>
          <a:prstGeom prst="rect">
            <a:avLst/>
          </a:prstGeom>
          <a:extLst>
            <a:ext uri="{C572A759-6A51-4108-AA02-DFA0A04FC94B}">
              <ma14:wrappingTextBoxFlag xmlns:ma14="http://schemas.microsoft.com/office/mac/drawingml/2011/main" val="0"/>
            </a:ext>
          </a:extLst>
        </p:spPr>
        <p:txBody>
          <a:bodyPr/>
          <a:lstStyle>
            <a:lvl1pPr>
              <a:defRPr sz="900">
                <a:solidFill>
                  <a:srgbClr val="6B7280"/>
                </a:solidFill>
              </a:defRPr>
            </a:lvl1pPr>
          </a:lstStyle>
          <a:p>
            <a:pPr algn="l"/>
            <a:fld id="{F7021451-1387-4CA6-816F-3879F97B5CBC}" type="slidenum">
              <a:rPr b="0" lang="en-US"/>
              <a:t>16</a:t>
            </a:fld>
            <a:endParaRPr lang="en-US"/>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name="Slide 17">
    <p:spTree>
      <p:nvGrpSpPr>
        <p:cNvPr id="1" name=""/>
        <p:cNvGrpSpPr/>
        <p:nvPr/>
      </p:nvGrpSpPr>
      <p:grpSpPr>
        <a:xfrm>
          <a:off x="0" y="0"/>
          <a:ext cx="0" cy="0"/>
          <a:chOff x="0" y="0"/>
          <a:chExt cx="0" cy="0"/>
        </a:xfrm>
      </p:grpSpPr>
      <p:sp>
        <p:nvSpPr>
          <p:cNvPr id="2" name="Text 0"/>
          <p:cNvSpPr txBox="1"/>
          <p:nvPr/>
        </p:nvSpPr>
        <p:spPr>
          <a:xfrm>
            <a:off x="731520" y="640080"/>
            <a:ext cx="10515600" cy="822960"/>
          </a:xfrm>
          <a:prstGeom prst="rect">
            <a:avLst/>
          </a:prstGeom>
          <a:noFill/>
          <a:ln/>
        </p:spPr>
        <p:txBody>
          <a:bodyPr wrap="square" lIns="0" tIns="0" rIns="0" bIns="0" rtlCol="0" anchor="ctr"/>
          <a:lstStyle/>
          <a:p>
            <a:pPr indent="0" marL="0">
              <a:buNone/>
            </a:pPr>
            <a:r>
              <a:rPr lang="en-US" sz="3400" b="1" dirty="0">
                <a:solidFill>
                  <a:srgbClr val="FFFFFF"/>
                </a:solidFill>
                <a:latin typeface="Cambria" pitchFamily="34" charset="0"/>
                <a:ea typeface="Cambria" pitchFamily="34" charset="-122"/>
                <a:cs typeface="Cambria" pitchFamily="34" charset="-120"/>
              </a:rPr>
              <a:t>The ask and next steps</a:t>
            </a:r>
            <a:endParaRPr lang="en-US" sz="3400" dirty="0"/>
          </a:p>
        </p:txBody>
      </p:sp>
      <p:sp>
        <p:nvSpPr>
          <p:cNvPr id="3" name="Text 1"/>
          <p:cNvSpPr txBox="1"/>
          <p:nvPr/>
        </p:nvSpPr>
        <p:spPr>
          <a:xfrm>
            <a:off x="731520" y="1645920"/>
            <a:ext cx="10515600" cy="1097280"/>
          </a:xfrm>
          <a:prstGeom prst="rect">
            <a:avLst/>
          </a:prstGeom>
          <a:noFill/>
          <a:ln/>
        </p:spPr>
        <p:txBody>
          <a:bodyPr wrap="square" lIns="0" tIns="0" rIns="0" bIns="0" rtlCol="0" anchor="ctr"/>
          <a:lstStyle/>
          <a:p>
            <a:pPr indent="0" marL="0">
              <a:buNone/>
            </a:pPr>
            <a:r>
              <a:rPr lang="en-US" sz="1800" dirty="0">
                <a:solidFill>
                  <a:srgbClr val="D5DAE1"/>
                </a:solidFill>
              </a:rPr>
              <a:t>Jalour invites an investment of EGP 75 million in Green Square, with the choice of Option A (units, 2.0x face value) or Option B (cash, 2.3x over 3 years after a 24-month grace period).</a:t>
            </a:r>
            <a:endParaRPr lang="en-US" sz="1800" dirty="0"/>
          </a:p>
        </p:txBody>
      </p:sp>
      <p:sp>
        <p:nvSpPr>
          <p:cNvPr id="4" name="Shape 2"/>
          <p:cNvSpPr/>
          <p:nvPr/>
        </p:nvSpPr>
        <p:spPr>
          <a:xfrm>
            <a:off x="731520" y="3017520"/>
            <a:ext cx="384048" cy="384048"/>
          </a:xfrm>
          <a:prstGeom prst="ellipse">
            <a:avLst/>
          </a:prstGeom>
          <a:solidFill>
            <a:srgbClr val="B8893B"/>
          </a:solidFill>
          <a:ln w="12700">
            <a:solidFill>
              <a:srgbClr val="B8893B"/>
            </a:solidFill>
            <a:prstDash val="solid"/>
          </a:ln>
        </p:spPr>
      </p:sp>
      <p:sp>
        <p:nvSpPr>
          <p:cNvPr id="5" name="Text 3"/>
          <p:cNvSpPr txBox="1"/>
          <p:nvPr/>
        </p:nvSpPr>
        <p:spPr>
          <a:xfrm>
            <a:off x="731520" y="3017520"/>
            <a:ext cx="384048" cy="384048"/>
          </a:xfrm>
          <a:prstGeom prst="rect">
            <a:avLst/>
          </a:prstGeom>
          <a:noFill/>
          <a:ln/>
        </p:spPr>
        <p:txBody>
          <a:bodyPr wrap="square" lIns="0" tIns="0" rIns="0" bIns="0" rtlCol="0" anchor="ctr"/>
          <a:lstStyle/>
          <a:p>
            <a:pPr algn="ctr" indent="0" marL="0">
              <a:buNone/>
            </a:pPr>
            <a:r>
              <a:rPr lang="en-US" sz="1400" b="1" dirty="0">
                <a:solidFill>
                  <a:srgbClr val="FFFFFF"/>
                </a:solidFill>
              </a:rPr>
              <a:t>1</a:t>
            </a:r>
            <a:endParaRPr lang="en-US" sz="1400" dirty="0"/>
          </a:p>
        </p:txBody>
      </p:sp>
      <p:sp>
        <p:nvSpPr>
          <p:cNvPr id="6" name="Text 4"/>
          <p:cNvSpPr txBox="1"/>
          <p:nvPr/>
        </p:nvSpPr>
        <p:spPr>
          <a:xfrm>
            <a:off x="1325880" y="3017520"/>
            <a:ext cx="9875520" cy="384048"/>
          </a:xfrm>
          <a:prstGeom prst="rect">
            <a:avLst/>
          </a:prstGeom>
          <a:noFill/>
          <a:ln/>
        </p:spPr>
        <p:txBody>
          <a:bodyPr wrap="square" lIns="0" tIns="0" rIns="0" bIns="0" rtlCol="0" anchor="ctr"/>
          <a:lstStyle/>
          <a:p>
            <a:pPr indent="0" marL="0">
              <a:buNone/>
            </a:pPr>
            <a:r>
              <a:rPr lang="en-US" sz="1600" dirty="0">
                <a:solidFill>
                  <a:srgbClr val="FFFFFF"/>
                </a:solidFill>
              </a:rPr>
              <a:t>Review this presentation, the Investment Memorandum and the Financial Annex</a:t>
            </a:r>
            <a:endParaRPr lang="en-US" sz="1600" dirty="0"/>
          </a:p>
        </p:txBody>
      </p:sp>
      <p:sp>
        <p:nvSpPr>
          <p:cNvPr id="7" name="Shape 5"/>
          <p:cNvSpPr/>
          <p:nvPr/>
        </p:nvSpPr>
        <p:spPr>
          <a:xfrm>
            <a:off x="731520" y="3584448"/>
            <a:ext cx="384048" cy="384048"/>
          </a:xfrm>
          <a:prstGeom prst="ellipse">
            <a:avLst/>
          </a:prstGeom>
          <a:solidFill>
            <a:srgbClr val="B8893B"/>
          </a:solidFill>
          <a:ln w="12700">
            <a:solidFill>
              <a:srgbClr val="B8893B"/>
            </a:solidFill>
            <a:prstDash val="solid"/>
          </a:ln>
        </p:spPr>
      </p:sp>
      <p:sp>
        <p:nvSpPr>
          <p:cNvPr id="8" name="Text 6"/>
          <p:cNvSpPr txBox="1"/>
          <p:nvPr/>
        </p:nvSpPr>
        <p:spPr>
          <a:xfrm>
            <a:off x="731520" y="3584448"/>
            <a:ext cx="384048" cy="384048"/>
          </a:xfrm>
          <a:prstGeom prst="rect">
            <a:avLst/>
          </a:prstGeom>
          <a:noFill/>
          <a:ln/>
        </p:spPr>
        <p:txBody>
          <a:bodyPr wrap="square" lIns="0" tIns="0" rIns="0" bIns="0" rtlCol="0" anchor="ctr"/>
          <a:lstStyle/>
          <a:p>
            <a:pPr algn="ctr" indent="0" marL="0">
              <a:buNone/>
            </a:pPr>
            <a:r>
              <a:rPr lang="en-US" sz="1400" b="1" dirty="0">
                <a:solidFill>
                  <a:srgbClr val="FFFFFF"/>
                </a:solidFill>
              </a:rPr>
              <a:t>2</a:t>
            </a:r>
            <a:endParaRPr lang="en-US" sz="1400" dirty="0"/>
          </a:p>
        </p:txBody>
      </p:sp>
      <p:sp>
        <p:nvSpPr>
          <p:cNvPr id="9" name="Text 7"/>
          <p:cNvSpPr txBox="1"/>
          <p:nvPr/>
        </p:nvSpPr>
        <p:spPr>
          <a:xfrm>
            <a:off x="1325880" y="3584448"/>
            <a:ext cx="9875520" cy="384048"/>
          </a:xfrm>
          <a:prstGeom prst="rect">
            <a:avLst/>
          </a:prstGeom>
          <a:noFill/>
          <a:ln/>
        </p:spPr>
        <p:txBody>
          <a:bodyPr wrap="square" lIns="0" tIns="0" rIns="0" bIns="0" rtlCol="0" anchor="ctr"/>
          <a:lstStyle/>
          <a:p>
            <a:pPr indent="0" marL="0">
              <a:buNone/>
            </a:pPr>
            <a:r>
              <a:rPr lang="en-US" sz="1600" dirty="0">
                <a:solidFill>
                  <a:srgbClr val="FFFFFF"/>
                </a:solidFill>
              </a:rPr>
              <a:t>Select Option A or Option B and confirm the ticket</a:t>
            </a:r>
            <a:endParaRPr lang="en-US" sz="1600" dirty="0"/>
          </a:p>
        </p:txBody>
      </p:sp>
      <p:sp>
        <p:nvSpPr>
          <p:cNvPr id="10" name="Shape 8"/>
          <p:cNvSpPr/>
          <p:nvPr/>
        </p:nvSpPr>
        <p:spPr>
          <a:xfrm>
            <a:off x="731520" y="4151376"/>
            <a:ext cx="384048" cy="384048"/>
          </a:xfrm>
          <a:prstGeom prst="ellipse">
            <a:avLst/>
          </a:prstGeom>
          <a:solidFill>
            <a:srgbClr val="B8893B"/>
          </a:solidFill>
          <a:ln w="12700">
            <a:solidFill>
              <a:srgbClr val="B8893B"/>
            </a:solidFill>
            <a:prstDash val="solid"/>
          </a:ln>
        </p:spPr>
      </p:sp>
      <p:sp>
        <p:nvSpPr>
          <p:cNvPr id="11" name="Text 9"/>
          <p:cNvSpPr txBox="1"/>
          <p:nvPr/>
        </p:nvSpPr>
        <p:spPr>
          <a:xfrm>
            <a:off x="731520" y="4151376"/>
            <a:ext cx="384048" cy="384048"/>
          </a:xfrm>
          <a:prstGeom prst="rect">
            <a:avLst/>
          </a:prstGeom>
          <a:noFill/>
          <a:ln/>
        </p:spPr>
        <p:txBody>
          <a:bodyPr wrap="square" lIns="0" tIns="0" rIns="0" bIns="0" rtlCol="0" anchor="ctr"/>
          <a:lstStyle/>
          <a:p>
            <a:pPr algn="ctr" indent="0" marL="0">
              <a:buNone/>
            </a:pPr>
            <a:r>
              <a:rPr lang="en-US" sz="1400" b="1" dirty="0">
                <a:solidFill>
                  <a:srgbClr val="FFFFFF"/>
                </a:solidFill>
              </a:rPr>
              <a:t>3</a:t>
            </a:r>
            <a:endParaRPr lang="en-US" sz="1400" dirty="0"/>
          </a:p>
        </p:txBody>
      </p:sp>
      <p:sp>
        <p:nvSpPr>
          <p:cNvPr id="12" name="Text 10"/>
          <p:cNvSpPr txBox="1"/>
          <p:nvPr/>
        </p:nvSpPr>
        <p:spPr>
          <a:xfrm>
            <a:off x="1325880" y="4151376"/>
            <a:ext cx="9875520" cy="384048"/>
          </a:xfrm>
          <a:prstGeom prst="rect">
            <a:avLst/>
          </a:prstGeom>
          <a:noFill/>
          <a:ln/>
        </p:spPr>
        <p:txBody>
          <a:bodyPr wrap="square" lIns="0" tIns="0" rIns="0" bIns="0" rtlCol="0" anchor="ctr"/>
          <a:lstStyle/>
          <a:p>
            <a:pPr indent="0" marL="0">
              <a:buNone/>
            </a:pPr>
            <a:r>
              <a:rPr lang="en-US" sz="1600" dirty="0">
                <a:solidFill>
                  <a:srgbClr val="FFFFFF"/>
                </a:solidFill>
              </a:rPr>
              <a:t>Due diligence: data room, legal and technical review</a:t>
            </a:r>
            <a:endParaRPr lang="en-US" sz="1600" dirty="0"/>
          </a:p>
        </p:txBody>
      </p:sp>
      <p:sp>
        <p:nvSpPr>
          <p:cNvPr id="13" name="Shape 11"/>
          <p:cNvSpPr/>
          <p:nvPr/>
        </p:nvSpPr>
        <p:spPr>
          <a:xfrm>
            <a:off x="731520" y="4718304"/>
            <a:ext cx="384048" cy="384048"/>
          </a:xfrm>
          <a:prstGeom prst="ellipse">
            <a:avLst/>
          </a:prstGeom>
          <a:solidFill>
            <a:srgbClr val="B8893B"/>
          </a:solidFill>
          <a:ln w="12700">
            <a:solidFill>
              <a:srgbClr val="B8893B"/>
            </a:solidFill>
            <a:prstDash val="solid"/>
          </a:ln>
        </p:spPr>
      </p:sp>
      <p:sp>
        <p:nvSpPr>
          <p:cNvPr id="14" name="Text 12"/>
          <p:cNvSpPr txBox="1"/>
          <p:nvPr/>
        </p:nvSpPr>
        <p:spPr>
          <a:xfrm>
            <a:off x="731520" y="4718304"/>
            <a:ext cx="384048" cy="384048"/>
          </a:xfrm>
          <a:prstGeom prst="rect">
            <a:avLst/>
          </a:prstGeom>
          <a:noFill/>
          <a:ln/>
        </p:spPr>
        <p:txBody>
          <a:bodyPr wrap="square" lIns="0" tIns="0" rIns="0" bIns="0" rtlCol="0" anchor="ctr"/>
          <a:lstStyle/>
          <a:p>
            <a:pPr algn="ctr" indent="0" marL="0">
              <a:buNone/>
            </a:pPr>
            <a:r>
              <a:rPr lang="en-US" sz="1400" b="1" dirty="0">
                <a:solidFill>
                  <a:srgbClr val="FFFFFF"/>
                </a:solidFill>
              </a:rPr>
              <a:t>4</a:t>
            </a:r>
            <a:endParaRPr lang="en-US" sz="1400" dirty="0"/>
          </a:p>
        </p:txBody>
      </p:sp>
      <p:sp>
        <p:nvSpPr>
          <p:cNvPr id="15" name="Text 13"/>
          <p:cNvSpPr txBox="1"/>
          <p:nvPr/>
        </p:nvSpPr>
        <p:spPr>
          <a:xfrm>
            <a:off x="1325880" y="4718304"/>
            <a:ext cx="9875520" cy="384048"/>
          </a:xfrm>
          <a:prstGeom prst="rect">
            <a:avLst/>
          </a:prstGeom>
          <a:noFill/>
          <a:ln/>
        </p:spPr>
        <p:txBody>
          <a:bodyPr wrap="square" lIns="0" tIns="0" rIns="0" bIns="0" rtlCol="0" anchor="ctr"/>
          <a:lstStyle/>
          <a:p>
            <a:pPr indent="0" marL="0">
              <a:buNone/>
            </a:pPr>
            <a:r>
              <a:rPr lang="en-US" sz="1600" dirty="0">
                <a:solidFill>
                  <a:srgbClr val="FFFFFF"/>
                </a:solidFill>
              </a:rPr>
              <a:t>Landlord consent and definitive documents</a:t>
            </a:r>
            <a:endParaRPr lang="en-US" sz="1600" dirty="0"/>
          </a:p>
        </p:txBody>
      </p:sp>
      <p:sp>
        <p:nvSpPr>
          <p:cNvPr id="16" name="Shape 14"/>
          <p:cNvSpPr/>
          <p:nvPr/>
        </p:nvSpPr>
        <p:spPr>
          <a:xfrm>
            <a:off x="731520" y="5285232"/>
            <a:ext cx="384048" cy="384048"/>
          </a:xfrm>
          <a:prstGeom prst="ellipse">
            <a:avLst/>
          </a:prstGeom>
          <a:solidFill>
            <a:srgbClr val="B8893B"/>
          </a:solidFill>
          <a:ln w="12700">
            <a:solidFill>
              <a:srgbClr val="B8893B"/>
            </a:solidFill>
            <a:prstDash val="solid"/>
          </a:ln>
        </p:spPr>
      </p:sp>
      <p:sp>
        <p:nvSpPr>
          <p:cNvPr id="17" name="Text 15"/>
          <p:cNvSpPr txBox="1"/>
          <p:nvPr/>
        </p:nvSpPr>
        <p:spPr>
          <a:xfrm>
            <a:off x="731520" y="5285232"/>
            <a:ext cx="384048" cy="384048"/>
          </a:xfrm>
          <a:prstGeom prst="rect">
            <a:avLst/>
          </a:prstGeom>
          <a:noFill/>
          <a:ln/>
        </p:spPr>
        <p:txBody>
          <a:bodyPr wrap="square" lIns="0" tIns="0" rIns="0" bIns="0" rtlCol="0" anchor="ctr"/>
          <a:lstStyle/>
          <a:p>
            <a:pPr algn="ctr" indent="0" marL="0">
              <a:buNone/>
            </a:pPr>
            <a:r>
              <a:rPr lang="en-US" sz="1400" b="1" dirty="0">
                <a:solidFill>
                  <a:srgbClr val="FFFFFF"/>
                </a:solidFill>
              </a:rPr>
              <a:t>5</a:t>
            </a:r>
            <a:endParaRPr lang="en-US" sz="1400" dirty="0"/>
          </a:p>
        </p:txBody>
      </p:sp>
      <p:sp>
        <p:nvSpPr>
          <p:cNvPr id="18" name="Text 16"/>
          <p:cNvSpPr txBox="1"/>
          <p:nvPr/>
        </p:nvSpPr>
        <p:spPr>
          <a:xfrm>
            <a:off x="1325880" y="5285232"/>
            <a:ext cx="9875520" cy="384048"/>
          </a:xfrm>
          <a:prstGeom prst="rect">
            <a:avLst/>
          </a:prstGeom>
          <a:noFill/>
          <a:ln/>
        </p:spPr>
        <p:txBody>
          <a:bodyPr wrap="square" lIns="0" tIns="0" rIns="0" bIns="0" rtlCol="0" anchor="ctr"/>
          <a:lstStyle/>
          <a:p>
            <a:pPr indent="0" marL="0">
              <a:buNone/>
            </a:pPr>
            <a:r>
              <a:rPr lang="en-US" sz="1600" dirty="0">
                <a:solidFill>
                  <a:srgbClr val="FFFFFF"/>
                </a:solidFill>
              </a:rPr>
              <a:t>Signing and funding</a:t>
            </a:r>
            <a:endParaRPr lang="en-US" sz="1600" dirty="0"/>
          </a:p>
        </p:txBody>
      </p:sp>
      <p:sp>
        <p:nvSpPr>
          <p:cNvPr id="19" name="Text 17"/>
          <p:cNvSpPr txBox="1"/>
          <p:nvPr/>
        </p:nvSpPr>
        <p:spPr>
          <a:xfrm>
            <a:off x="731520" y="5989320"/>
            <a:ext cx="10515600" cy="457200"/>
          </a:xfrm>
          <a:prstGeom prst="rect">
            <a:avLst/>
          </a:prstGeom>
          <a:noFill/>
          <a:ln/>
        </p:spPr>
        <p:txBody>
          <a:bodyPr wrap="square" lIns="0" tIns="0" rIns="0" bIns="0" rtlCol="0" anchor="ctr"/>
          <a:lstStyle/>
          <a:p>
            <a:pPr indent="0" marL="0">
              <a:buNone/>
            </a:pPr>
            <a:r>
              <a:rPr lang="en-US" sz="1100" dirty="0">
                <a:solidFill>
                  <a:srgbClr val="AAB2BD"/>
                </a:solidFill>
              </a:rPr>
              <a:t>Jalour may raise further capital at project or holding level, subject to the investor's stated rights. Projections are not guarantees. All information in this presentation and in the other documents of this pack is confidential and subject to the non-disclosure agreement.</a:t>
            </a:r>
            <a:endParaRPr lang="en-US" sz="1100" dirty="0"/>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mbria"/>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17</Slides>
  <Notes>17</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17</vt:i4>
      </vt:variant>
    </vt:vector>
  </HeadingPairs>
  <TitlesOfParts>
    <vt:vector size="20"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lpstr>Slide 16</vt:lpstr>
      <vt:lpstr>Slide 17</vt:lpstr>
    </vt:vector>
  </TitlesOfParts>
  <Company>Jalour Developments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Green Square - Investment Presentation (EGP 75 million)</dc:title>
  <dc:subject>Strictly private and confidential</dc:subject>
  <dc:creator>Jalour Developments</dc:creator>
  <cp:lastModifiedBy>Jalour Developments</cp:lastModifiedBy>
  <cp:revision>1</cp:revision>
  <dcterms:created xsi:type="dcterms:W3CDTF">2026-10-08T08:56:12Z</dcterms:created>
  <dcterms:modified xsi:type="dcterms:W3CDTF">2026-10-08T08:56:12Z</dcterms:modified>
</cp:coreProperties>
</file>