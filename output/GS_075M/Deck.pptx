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Built-up area mix (m2)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Built-up area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8893B"/>
              </a:solidFill>
              <a:effectLst/>
            </c:spPr>
          </c:dPt>
          <c:dPt>
            <c:idx val="1"/>
            <c:bubble3D val="0"/>
            <c:spPr>
              <a:solidFill>
                <a:srgbClr val="17324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Retail</c:v>
                </c:pt>
                <c:pt idx="1">
                  <c:v>Offices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4341</c:v>
                </c:pt>
                <c:pt idx="1">
                  <c:v>8682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Minimum guarantee schedule (EGP million)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Guaranteed payment to landlord (EGP m)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Down payment</c:v>
                  </c:pt>
                  <c:pt idx="1">
                    <c:v>Year 1</c:v>
                  </c:pt>
                  <c:pt idx="2">
                    <c:v>Year 2</c:v>
                  </c:pt>
                  <c:pt idx="3">
                    <c:v>Year 3</c:v>
                  </c:pt>
                  <c:pt idx="4">
                    <c:v>Year 4</c:v>
                  </c:pt>
                  <c:pt idx="5">
                    <c:v>Year 5</c:v>
                  </c:pt>
                  <c:pt idx="6">
                    <c:v>Year 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</c:v>
                </c:pt>
                <c:pt idx="1">
                  <c:v>45</c:v>
                </c:pt>
                <c:pt idx="2">
                  <c:v>90</c:v>
                </c:pt>
                <c:pt idx="3">
                  <c:v>135</c:v>
                </c:pt>
                <c:pt idx="4">
                  <c:v>180</c:v>
                </c:pt>
                <c:pt idx="5">
                  <c:v>180</c:v>
                </c:pt>
                <c:pt idx="6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1F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Sales value by quarter of sale (EGP million, 80% of units)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Retail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M9</c:v>
                  </c:pt>
                  <c:pt idx="1">
                    <c:v>M12</c:v>
                  </c:pt>
                  <c:pt idx="2">
                    <c:v>M15</c:v>
                  </c:pt>
                  <c:pt idx="3">
                    <c:v>M18</c:v>
                  </c:pt>
                  <c:pt idx="4">
                    <c:v>M21</c:v>
                  </c:pt>
                  <c:pt idx="5">
                    <c:v>M24</c:v>
                  </c:pt>
                  <c:pt idx="6">
                    <c:v>M27</c:v>
                  </c:pt>
                  <c:pt idx="7">
                    <c:v>M30</c:v>
                  </c:pt>
                  <c:pt idx="8">
                    <c:v>M33</c:v>
                  </c:pt>
                  <c:pt idx="9">
                    <c:v>M36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97.6725</c:v>
                </c:pt>
                <c:pt idx="1">
                  <c:v>97.6725</c:v>
                </c:pt>
                <c:pt idx="2">
                  <c:v>75.9675</c:v>
                </c:pt>
                <c:pt idx="3">
                  <c:v>75.9675</c:v>
                </c:pt>
                <c:pt idx="4">
                  <c:v>83.56425000000002</c:v>
                </c:pt>
                <c:pt idx="5">
                  <c:v>83.56425000000002</c:v>
                </c:pt>
                <c:pt idx="6">
                  <c:v>91.16100000000002</c:v>
                </c:pt>
                <c:pt idx="7">
                  <c:v>130.23</c:v>
                </c:pt>
                <c:pt idx="8">
                  <c:v>130.23</c:v>
                </c:pt>
                <c:pt idx="9">
                  <c:v>65.115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Offices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M9</c:v>
                  </c:pt>
                  <c:pt idx="1">
                    <c:v>M12</c:v>
                  </c:pt>
                  <c:pt idx="2">
                    <c:v>M15</c:v>
                  </c:pt>
                  <c:pt idx="3">
                    <c:v>M18</c:v>
                  </c:pt>
                  <c:pt idx="4">
                    <c:v>M21</c:v>
                  </c:pt>
                  <c:pt idx="5">
                    <c:v>M24</c:v>
                  </c:pt>
                  <c:pt idx="6">
                    <c:v>M27</c:v>
                  </c:pt>
                  <c:pt idx="7">
                    <c:v>M30</c:v>
                  </c:pt>
                  <c:pt idx="8">
                    <c:v>M33</c:v>
                  </c:pt>
                  <c:pt idx="9">
                    <c:v>M36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205.11225</c:v>
                </c:pt>
                <c:pt idx="1">
                  <c:v>205.11225</c:v>
                </c:pt>
                <c:pt idx="2">
                  <c:v>162.064</c:v>
                </c:pt>
                <c:pt idx="3">
                  <c:v>162.064</c:v>
                </c:pt>
                <c:pt idx="4">
                  <c:v>91.161</c:v>
                </c:pt>
                <c:pt idx="5">
                  <c:v>91.161</c:v>
                </c:pt>
                <c:pt idx="6">
                  <c:v>101.29</c:v>
                </c:pt>
                <c:pt idx="7">
                  <c:v>101.29</c:v>
                </c:pt>
                <c:pt idx="8">
                  <c:v>101.29</c:v>
                </c:pt>
                <c:pt idx="9">
                  <c:v>101.29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Project cash flow by project year (EGP million)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Collections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45.4177125</c:v>
                </c:pt>
                <c:pt idx="1">
                  <c:v>235.096803125</c:v>
                </c:pt>
                <c:pt idx="2">
                  <c:v>937.6944359375001</c:v>
                </c:pt>
                <c:pt idx="3">
                  <c:v>307.96772312499996</c:v>
                </c:pt>
                <c:pt idx="4">
                  <c:v>224.046245</c:v>
                </c:pt>
                <c:pt idx="5">
                  <c:v>175.6911225</c:v>
                </c:pt>
                <c:pt idx="6">
                  <c:v>123.8726959375</c:v>
                </c:pt>
                <c:pt idx="7">
                  <c:v>100.356685</c:v>
                </c:pt>
                <c:pt idx="8">
                  <c:v>89.638936875</c:v>
                </c:pt>
                <c:pt idx="9">
                  <c:v>13.196639999999999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Landlord payments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-125</c:v>
                </c:pt>
                <c:pt idx="1">
                  <c:v>-90</c:v>
                </c:pt>
                <c:pt idx="2">
                  <c:v>-135</c:v>
                </c:pt>
                <c:pt idx="3">
                  <c:v>-180</c:v>
                </c:pt>
                <c:pt idx="4">
                  <c:v>-180</c:v>
                </c:pt>
                <c:pt idx="5">
                  <c:v>-90</c:v>
                </c:pt>
                <c:pt idx="6">
                  <c:v>0</c:v>
                </c:pt>
                <c:pt idx="7">
                  <c:v>-140.68774761718748</c:v>
                </c:pt>
                <c:pt idx="8">
                  <c:v>-39.217034882812456</c:v>
                </c:pt>
                <c:pt idx="9">
                  <c:v>-5.773529999999993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Construction, commission, SG&amp;A</c:v>
                </c:pt>
              </c:strCache>
            </c:strRef>
          </c:tx>
          <c:spPr>
            <a:solidFill>
              <a:srgbClr val="6B72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</c:v>
                </c:pt>
                <c:pt idx="1">
                  <c:v>-153.94278</c:v>
                </c:pt>
                <c:pt idx="2">
                  <c:v>-105.88453999999999</c:v>
                </c:pt>
                <c:pt idx="3">
                  <c:v>-632.02584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Cumulative net cash flow</c:v>
                </c:pt>
              </c:strCache>
            </c:strRef>
          </c:tx>
          <c:spPr>
            <a:solidFill>
              <a:srgbClr val="A23B3B"/>
            </a:solidFill>
            <a:ln w="38100" cap="flat">
              <a:solidFill>
                <a:srgbClr val="A23B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23B3B"/>
              </a:solidFill>
              <a:ln w="9525" cap="flat">
                <a:solidFill>
                  <a:srgbClr val="A23B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-79.58228749999999</c:v>
                </c:pt>
                <c:pt idx="1">
                  <c:v>-88.42826437499998</c:v>
                </c:pt>
                <c:pt idx="2">
                  <c:v>608.3816315625002</c:v>
                </c:pt>
                <c:pt idx="3">
                  <c:v>104.32351468750014</c:v>
                </c:pt>
                <c:pt idx="4">
                  <c:v>148.3697596875001</c:v>
                </c:pt>
                <c:pt idx="5">
                  <c:v>234.0608821875001</c:v>
                </c:pt>
                <c:pt idx="6">
                  <c:v>357.9335781250001</c:v>
                </c:pt>
                <c:pt idx="7">
                  <c:v>317.6025155078126</c:v>
                </c:pt>
                <c:pt idx="8">
                  <c:v>368.02441750000014</c:v>
                </c:pt>
                <c:pt idx="9">
                  <c:v>375.44752750000015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Projected investor IRR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Investor IRR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Option A base</c:v>
                  </c:pt>
                  <c:pt idx="1">
                    <c:v>Option A downside</c:v>
                  </c:pt>
                  <c:pt idx="2">
                    <c:v>Option A upside</c:v>
                  </c:pt>
                  <c:pt idx="3">
                    <c:v>Option B (contractual)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26.402990671961263</c:v>
                </c:pt>
                <c:pt idx="1">
                  <c:v>18.64016056724076</c:v>
                </c:pt>
                <c:pt idx="2">
                  <c:v>29.19928386686741</c:v>
                </c:pt>
                <c:pt idx="3">
                  <c:v>26.546399483999473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1F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All figures are projections based on the Jalour financial model; see the Financial Annex.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steps and contact details to be added by Jalour.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Jalour Developments  |  Green Square  |  Strictly private and confidential. Projections, not guarantees.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93B"/>
                </a:solidFill>
              </a:rPr>
              <a:t>STRICTLY PRIVATE AND CONFIDENTIAL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Square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926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5DAE1"/>
                </a:solidFill>
              </a:rPr>
              <a:t>Commercial and office development, El Mostakbal City, Cairo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893B"/>
                </a:solidFill>
              </a:rPr>
              <a:t>Private placement: investor ticket of EGP 75 million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DAE1"/>
                </a:solidFill>
              </a:rPr>
              <a:t>Investment presentation  |  Jalour Developments, a subsidiary of Al Jalal Holding  |  October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highlights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13,023 m2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Built-up area, G+2: 4,341 m2 retail and 8,682 m2 offices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355848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38728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 48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Handover; sales from month 7, construction from month 13 for 36 months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63056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45936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EGP 2.25 bn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Sales plan: 80% of units sold over the sales window, at modelled prices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970264" y="1371600"/>
            <a:ext cx="2651760" cy="141732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53144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 / 65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AE1"/>
                </a:solidFill>
              </a:rPr>
              <a:t>Revenue split between the landowner (Al Ahly Sabbour) and Jalour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200400"/>
            <a:ext cx="1106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Land owned by Al Ahly Sabbour; Jalour designs, permits, builds (core and shell), markets, sells, collects and operates.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Landlord receives 35% of collections with a minimum guarantee of EGP 800 million over six years; Jalour keeps 65%.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Option A: units with a face value of EGP 150 million (2.0x the ticket) at launch list prices. Projected investor IRR 26.4% (base).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Option B: cash return of EGP 173 million (2.3x the ticket) in 12 quarterly instalments after a 24-month grace period. Projected investor IRR 26.5%.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Project-level exposure only: the investment has no exposure to other Jalour projects.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Annex, Summary sheet. IRRs are projections, not guarantees.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Transaction overview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696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Term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Summary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Investor ticket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75 million (USD 1.6 million at EGP 48 per USD)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Issuer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Project company for this development (name, jurisdiction and instrument to be confirmed by counsel)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Use of proceeds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Down payment to the landowner, guarantee instalments and working capital to the funding peak, and pre-construction costs (total modelled need EGP 113.0 million)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Option A: units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Units with a face value of EGP 150 million at launch list prices, allocated from the first two sales tranches; resale rights subject to consents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Option B: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173 million in 12 equal quarterly instalments of EGP 14.38 million; first payment month 30, last month 63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Choice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The investor chooses Option A or Option B at signing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Balance of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The balance of project funding is provided by Jalour sponsor equity, project collections and other capital sources.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Further capital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Jalour may raise further capital at project or holding level, subject to the investor's stated rights (ranking, collateral, information rights)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Term summary; final terms are set by the definitive agreements.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Market: Cairo office and commercial supply and demand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 Cairo office stock, current and future, is in New Cairo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355848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38728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~9%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office vacancy, stable (Q1 2026); Grade A occupancy about 90%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63056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45936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+82%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office pipeline to 2029 relative to current stock: supply is the main risk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970264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53144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348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Grade A rent per m2 per year in New Cairo business parks (Q2 2026)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063240"/>
            <a:ext cx="11064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Mostakbal City covers about 11,000 feddans, with a planned population of about 1 million; master developer is the state-linked Mostakbal for Urban Development (MIDAR).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Connected by the Regional (Middle) Ring Road and the East Cairo monorail corridor to Shorouk, Obour, Badr and the New Administrative Capital.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Cairo retail stock above 3.3 million m2 after about 89,000 m2 delivered in Q1 2026, mostly small malls in New Cairo and Giza; about 331,300 m2 more due by end 2026.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Comparable commercial schemes are under way: Hassan Allam's HAPTOWN (offices G+1 to G+4, retail, healthcare) in Mostakbal City.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Knight Frank (via Arabian Business, Jul 2026; Enterprise, Jul 2026); JLL Q1 2026 (via Invest-Gate); MIDAR; Nawy; Bayut; Invest-Gate. Knight Frank and JLL use different office-stock definitions.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Market: pricing evidence and demand drivers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120640"/>
                <a:gridCol w="420624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Indicator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Evidence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 assumption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Office prices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Mostakbal City listings: EGP 106,000 to 120,000 per m2 (asking)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EGP 135,000 per m2, rising to 200,000 at the final list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Retail prices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New Cairo listings: EGP 139,000 to 325,000 per m2 (asking, individual listings)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EGP 225,000 per m2, rising to 300,000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Price growth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New Cairo secondary prices +3.1% y/y (Q1 2026); broker estimates 10 to 16% a year for 2026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to final list: +33% retail, +48% offices over the sales window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Interest rates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CBE overnight deposit rate 19.00% (Sep 2026); urban inflation 14.5% (Aug 2026)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Discount rate 14% in the model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Developer sales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Top 10 developers EGP 670 bn in H1 2026, +2.9% y/y; units sold -5%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Sales over about 3 years from launch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Payment plans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Typically 8 to 12 years with 1.5% to 10% down payment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Down payments 5% to 20%; instalments 2 to 8 years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166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</a:rPr>
              <a:t>Reading across: the sales plan needs price growth that sits at the upper end of recent evidence. The downside case on slide 14 tests lower prices and later sales.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Property Finder listings (2026); JLL via Enterprise (2026); Sands of Wealth (2026); CBE via Bnok24; CAPMAS via Ahram Online; Daily News Egypt; Bayut. Listings are asking prices, not transactions.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project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0350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383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Item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Detail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Land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14,470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Footprint (30%)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4,341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Height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G+2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Retail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4,341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Office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8,682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Total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13,023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Finishing standard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Core and shell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Sales start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7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Construction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13 to 48 (36 months)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Handover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48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6949440" y="1371600"/>
          <a:ext cx="46634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(project summary). Jalour retains 20% of units, outside the sales plan and outside this offering.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Partnership with Al Ahly Sabbour and the revenue share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2A"/>
                </a:solidFill>
              </a:rPr>
              <a:t>Al Ahly Sabbour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</a:rPr>
              <a:t>Landowner. Receives 35% of collections, subject to a minimum guarantee.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2743200"/>
            <a:ext cx="2743200" cy="15544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278892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2A"/>
                </a:solidFill>
              </a:rPr>
              <a:t>Jalour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</a:rPr>
              <a:t>Developer and operator. Keeps 65% of collections. Carries design, permits, core-and-shell construction, marketing, sales, collection and operation costs.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43484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Minimum guarantee EGP 800 million over six years; down payment EGP 80 million (10%) paid up front.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Landlord share is 35% of collections or the guaranteed instalment, whichever is higher.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Any excess of 35% over the guarantee is settled from year 8.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Allocation of units, assignment of collections or any encumbrance affecting the landlord share requires the landlord's written consent.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657600" y="1280160"/>
          <a:ext cx="79552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(landlord terms); agreement terms to be confirmed in the data room.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Jalour Developments: role and track record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394960" cy="44805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Role in this project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Design and permits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Construction to core-and-shell standard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Marketing, branding and sales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Collection of instalments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Operation, management and maintenance, directly or through a facility management company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Funds project funding gaps from sponsor equity or other capital sources (to be documented)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217920" y="1371600"/>
            <a:ext cx="5394960" cy="4480560"/>
          </a:xfrm>
          <a:prstGeom prst="rect">
            <a:avLst/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93B"/>
                </a:solidFill>
              </a:rPr>
              <a:t>Track record and team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[To be provided by Jalour: completed projects, area delivered and units handed over]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[To be provided by Jalour: management team biographies]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[To be provided by Jalour: audited financial statements of Jalour and Al Jalal Holding]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[To be provided by Jalour: references from landlords, contractors and buyers]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Developments is the real estate arm of Al Jalal Holding, Cairo. Placeholders in brackets are pending from Jalour.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plan and pricing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6766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463040"/>
          <a:ext cx="40233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777240"/>
                <a:gridCol w="777240"/>
                <a:gridCol w="8229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EGP thousand per m2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Launch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Final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Average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Retail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225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268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Offices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135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163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7589520" y="29260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Total sales at 100% of units: EGP 2,816 million; plan sells 80%: EGP 2,253 million.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Payment plans: down payment 5% to 20%, a second equal payment three months later, instalments of 2 to 8 years and a delivery payment of 20% to 25%.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Delivery payments are collected on a contractual milestone ahead of handover (see risks).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(sales sheet). Prices are model assumptions; see slide 5 for market evidence.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Collections, costs and cash flow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74980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1"/>
          <p:cNvSpPr/>
          <p:nvPr/>
        </p:nvSpPr>
        <p:spPr>
          <a:xfrm>
            <a:off x="8321040" y="137160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503920" y="148132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375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8503920" y="221284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Jalour net cash flow, nominal, EGP million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8321040" y="292608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503920" y="30358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215</a:t>
            </a:r>
            <a:endParaRPr lang="en-US" sz="3000" dirty="0"/>
          </a:p>
        </p:txBody>
      </p:sp>
      <p:sp>
        <p:nvSpPr>
          <p:cNvPr id="10" name="Text 6"/>
          <p:cNvSpPr txBox="1"/>
          <p:nvPr/>
        </p:nvSpPr>
        <p:spPr>
          <a:xfrm>
            <a:off x="8503920" y="376732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NPV at 14%, EGP million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8321040" y="448056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503920" y="459028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102.5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8503920" y="532180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Peak cumulative shortage, EGP million (month 6)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Annex, Project_CF sheet. Project years: Y1 = months 1 to 12. Excludes the 20% of units retained by Jalour.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and uses of funds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Uses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EGP million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Down payment to landowner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80.0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Guarantee instalments and working capital to the funding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22.5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Design, permits and pre-construction (assumption)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10.5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Total uses at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113.0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371600"/>
          <a:ext cx="53035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9728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Sources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EGP million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% of uses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Investor ticket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75.0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66%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Balance of project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38.0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34%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Total sources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113.0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420624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The balance of project funding is provided by Jalour sponsor equity, project collections and other capital sources.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Modelled peak cumulative shortage EGP 102.5 million; the ticket is 73% of it.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If delivery payments arrive at handover the peak shortage is EGP 269 million; if sales slip 12 months with prices 10% lower it is EGP 441 million. Jalour will fund gaps above project cash.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Nothing in this structure is ring-fenced: the ticket is project funding.</a:t>
            </a:r>
            <a:endParaRPr lang="en-US" sz="13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Sources_Uses sheet. Pre-construction cost is an assumption pending Jalour's budget.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 A (units) and Option B (cash) side by side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4480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Option A: units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Option B: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Entitlement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Units with a face value of EGP 150 million (2.0x) at launch list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173 million (2.3x) in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Timing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Allocation at signing; handover month 48; resale from month 51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Grace 24 months; 12 quarterly instalments, months 30 to 63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Price exposure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Yes: value moves with Mostakbal City prices (final list 1.43x launch)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No unit price exposure; fixed instalments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Projected IRR, base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26.4%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26.5%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Projected multiple, base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2.78x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2.30x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Upside IRR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29.2% (3.06x)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Contractual: 26.5% if paid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Downside IRR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18.6% (2.50x)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Contractual: 26.5% if paid; depends on Jalour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Payback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Month 54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Month 45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Main risk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Resale price and timing; consents to assign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Payment capacity during the construction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Option_A and Option_B sheets. Projections; downside = sales delayed 12 months and prices 10% lower.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package and investor protections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394960" cy="44805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Proposed base package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A: a registered allocation of specific units from the first two sales tranches; the units are the investor's asset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B: earmark of specific unsold units with a list value of at least the ticket, with a right to substitute equal value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Payment priority covenant: no shareholder distributions or shareholder-loan repayments while an instalment is overdue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Negative pledge on the earmarked units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Information rights: monthly reporting and audit rights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Sponsor funding undertaking for project funding gaps; no guarantee of return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217920" y="1371600"/>
            <a:ext cx="5394960" cy="4480560"/>
          </a:xfrm>
          <a:prstGeom prst="rect">
            <a:avLst/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93B"/>
                </a:solidFill>
              </a:rPr>
              <a:t>Optional and for counsel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Promissory note or post-dated cheques for each Option B instalment (common practice in Egypt)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Independent engineer reporting on construction progress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Step-in right to market the earmarked units after a payment default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Landlord acknowledgement of the unit allocation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Parent guarantee: not offered in this structure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Proposal for review by Jalour's lawyers. Landlord consent is required for any allocation or encumbrance affecting its 35% share.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Returns and sensitivity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5394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371600"/>
          <a:ext cx="5394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23444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Project case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NPV (EGP m)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Peak shortage (EGP m)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215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Prices -10%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116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114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Prices +10%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315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Sales delay 12 months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49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408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Cost overrun +10%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162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Collections slip 2 quarters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125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236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payments at handover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155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269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466344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Option A break-even: the units could be resold at 36% of the final list price before the ticket is lost.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Option B: cash available covers each instalment at least 5.5x on a pooled-cash basis; net cash flow alone covers it in 4 of 12 quarters because of the construction peak.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Returns are projections, not guarantees.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Scenarios, Sensitivity and Option sheets. Project cases show Jalour net cash flow before any investor instrument.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and mitigants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1264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Mitigant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Market and price: sales plan assumes list-price rises of 33% to 48% over the sales window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Downside case shown; Option B has no unit price exposure; price evidence in the data room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payments collected ahead of handover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Contractual milestone; Jalour funds any gap; stress case shown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Construction cost and inflation (costs flat in the model)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Cost +10% case; fixed-price contracting to be sought; contingency 5% in the model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Landlord: consent and minimum guarantee payments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Written consent as a condition precedent; guarantee schedule fully funded in the plan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and permits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Permit status in the data room; independent engineer (optional)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Legal and regulatory: private placement, off-plan rules, assignment of contracts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Counsel review before signing; developer and landlord consent mechanics defined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Currency and FX: EGP returns; USD value may fall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USD equivalents shown at EGP 48; foreign investors take FX advice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Concentration: single project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No cross-collateral or cross-default with other Jalour projects; investor exposed to this project only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Jalour; full risk factors in the Investment Memorandum and the Due Diligence Memorandum.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Timeline and milestones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822960" y="3108960"/>
            <a:ext cx="10515600" cy="0"/>
          </a:xfrm>
          <a:prstGeom prst="line">
            <a:avLst/>
          </a:prstGeom>
          <a:noFill/>
          <a:ln w="25400">
            <a:solidFill>
              <a:srgbClr val="17324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40664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Model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0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1855955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61011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Sales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7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811919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16975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Construction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13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042500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347556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Grace ends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27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520482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25538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First Option B payment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30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388373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93429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Handover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48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66355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71411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First resales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51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0778282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83338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Last Option B payment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63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44805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Funding and signing: month 3 (ticket due when the down payment of EGP 80 million falls due).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A: units are allocated at signing and delivered at handover (month 48); the investor may resell after consents.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B: 24-month grace, then 12 quarterly instalments from month 30.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Annex. Months count from the start of the model timeline.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 and next steps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5DAE1"/>
                </a:solidFill>
              </a:rPr>
              <a:t>Jalour invites an investment of EGP 75 million in Green Square, with the choice of Option A (units, 2.0x face value) or Option B (cash, 2.3x over 3 years after a 24-month grace period).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3017520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301752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Review this presentation, the Investment Memorandum and the Financial Annex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3584448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358444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Select Option A or Option B and confirm the ticket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4151376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415137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Due diligence: data room, legal and technical review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1520" y="4718304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71830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Landlord consent and definitive documents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" y="5285232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285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28523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Signing and funding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989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BD"/>
                </a:solidFill>
              </a:rPr>
              <a:t>Jalour may raise further capital at project or holding level, subject to the investor's stated rights. Projections are not guarantees. Strictly private and confidential.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Jalour Developments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Green Square - Investment Presentation (EGP 75 million)</dc:title>
  <dc:subject>Strictly private and confidential</dc:subject>
  <dc:creator>Jalour Developments</dc:creator>
  <cp:lastModifiedBy>Jalour Developments</cp:lastModifiedBy>
  <cp:revision>1</cp:revision>
  <dcterms:created xsi:type="dcterms:W3CDTF">2026-10-07T13:52:13Z</dcterms:created>
  <dcterms:modified xsi:type="dcterms:W3CDTF">2026-10-07T13:52:13Z</dcterms:modified>
</cp:coreProperties>
</file>