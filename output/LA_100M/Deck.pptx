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4473</c:v>
                </c:pt>
                <c:pt idx="1">
                  <c:v>8946</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 80% of units)</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0</c:v>
                </c:pt>
                <c:pt idx="1">
                  <c:v>181.62616500000001</c:v>
                </c:pt>
                <c:pt idx="2">
                  <c:v>334.5393975</c:v>
                </c:pt>
                <c:pt idx="3">
                  <c:v>1094.88043875</c:v>
                </c:pt>
                <c:pt idx="4">
                  <c:v>375.1728749999998</c:v>
                </c:pt>
                <c:pt idx="5">
                  <c:v>259.817000625</c:v>
                </c:pt>
                <c:pt idx="6">
                  <c:v>204.18499499999993</c:v>
                </c:pt>
                <c:pt idx="7">
                  <c:v>142.80704812499997</c:v>
                </c:pt>
                <c:pt idx="8">
                  <c:v>66.21531</c:v>
                </c:pt>
                <c:pt idx="9">
                  <c:v>14.49252</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-85</c:v>
                </c:pt>
                <c:pt idx="1">
                  <c:v>-90</c:v>
                </c:pt>
                <c:pt idx="2">
                  <c:v>-180</c:v>
                </c:pt>
                <c:pt idx="3">
                  <c:v>-225</c:v>
                </c:pt>
                <c:pt idx="4">
                  <c:v>-180</c:v>
                </c:pt>
                <c:pt idx="5">
                  <c:v>-90</c:v>
                </c:pt>
                <c:pt idx="6">
                  <c:v>0</c:v>
                </c:pt>
                <c:pt idx="7">
                  <c:v>-284.44971499999986</c:v>
                </c:pt>
                <c:pt idx="8">
                  <c:v>-28.969198125000045</c:v>
                </c:pt>
                <c:pt idx="9">
                  <c:v>-6.34047750000001</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Sheet1!$D$2:$D$11</c:f>
              <c:numCache>
                <c:formatCode>General</c:formatCode>
                <c:ptCount val="10"/>
                <c:pt idx="0">
                  <c:v>0</c:v>
                </c:pt>
                <c:pt idx="1">
                  <c:v>-53.36</c:v>
                </c:pt>
                <c:pt idx="2">
                  <c:v>-185.70151</c:v>
                </c:pt>
                <c:pt idx="3">
                  <c:v>-318.5604</c:v>
                </c:pt>
                <c:pt idx="4">
                  <c:v>-351.06152</c:v>
                </c:pt>
                <c:pt idx="5">
                  <c:v>0</c:v>
                </c:pt>
                <c:pt idx="6">
                  <c:v>0</c:v>
                </c:pt>
                <c:pt idx="7">
                  <c:v>0</c:v>
                </c:pt>
                <c:pt idx="8">
                  <c:v>0</c:v>
                </c:pt>
                <c:pt idx="9">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Sheet1!$E$2:$E$11</c:f>
              <c:numCache>
                <c:formatCode>General</c:formatCode>
                <c:ptCount val="10"/>
                <c:pt idx="0">
                  <c:v>-85</c:v>
                </c:pt>
                <c:pt idx="1">
                  <c:v>-46.733835</c:v>
                </c:pt>
                <c:pt idx="2">
                  <c:v>-77.89594749999998</c:v>
                </c:pt>
                <c:pt idx="3">
                  <c:v>473.4240912499998</c:v>
                </c:pt>
                <c:pt idx="4">
                  <c:v>317.5354462499996</c:v>
                </c:pt>
                <c:pt idx="5">
                  <c:v>487.35244687499954</c:v>
                </c:pt>
                <c:pt idx="6">
                  <c:v>691.5374418749996</c:v>
                </c:pt>
                <c:pt idx="7">
                  <c:v>549.8947749999996</c:v>
                </c:pt>
                <c:pt idx="8">
                  <c:v>587.1408868749996</c:v>
                </c:pt>
                <c:pt idx="9">
                  <c:v>595.2929293749995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29.247325055002815</c:v>
                </c:pt>
                <c:pt idx="1">
                  <c:v>20.406197386547248</c:v>
                </c:pt>
                <c:pt idx="2">
                  <c:v>32.28399853457024</c:v>
                </c:pt>
                <c:pt idx="3">
                  <c:v>26.54639948399945</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L'avenir</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100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13,419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4,473 m2 retail and 8,946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54</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13, construction from month 19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2.67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80% of units sold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850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200 million (2.0x the ticket) at launch list prices. Projected investor IRR 29.2% (base).</a:t>
            </a:r>
            <a:endParaRPr lang="en-US" sz="1700" dirty="0"/>
          </a:p>
          <a:p>
            <a:pPr marL="342900" indent="-342900">
              <a:spcAft>
                <a:spcPts val="600"/>
              </a:spcAft>
              <a:buSzPct val="100000"/>
              <a:buChar char="•"/>
            </a:pPr>
            <a:r>
              <a:rPr lang="en-US" sz="1700" dirty="0">
                <a:solidFill>
                  <a:srgbClr val="1B1F2A"/>
                </a:solidFill>
              </a:rPr>
              <a:t>Option B: cash return of EGP 230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100 million (USD 2.1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200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230 million in 12 equal quarterly instalments of EGP 19.17 million; first payment month 39, last month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160,000 per m2, rising to 240,000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250,000 per m2, rising to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+44% retail, +50% offices; offices +112% on today's asking,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14,910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8,946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13,419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13</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19 to 54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54</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 Jalour retains 20% of units, outside the sales plan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850 million over six years; down payment EGP 85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191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Total sales at 100% of units: EGP 3,342 million; plan sells 80%: EGP 2,674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595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308</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102.0</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30)</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17.0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89%</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102.0 million; the ticket is 98%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244 million; if sales slip 12 months with prices 10% lower it is EGP 849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200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230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54; resale from month 57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39 to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1.48x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2.87x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32.3% (3.16x)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20.4% (2.59x)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54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412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779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117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381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275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35%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3.5x on a pooled-cash basis; net cash flow alone covers it in 8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44% to 50%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740664"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45720"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Model start</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2563368"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868424"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13</a:t>
            </a:r>
            <a:endParaRPr lang="en-US" sz="1100" dirty="0"/>
          </a:p>
        </p:txBody>
      </p:sp>
      <p:sp>
        <p:nvSpPr>
          <p:cNvPr id="9" name="Shape 6"/>
          <p:cNvSpPr/>
          <p:nvPr/>
        </p:nvSpPr>
        <p:spPr>
          <a:xfrm>
            <a:off x="3404616"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70967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19</a:t>
            </a:r>
            <a:endParaRPr lang="en-US" sz="1100" dirty="0"/>
          </a:p>
        </p:txBody>
      </p:sp>
      <p:sp>
        <p:nvSpPr>
          <p:cNvPr id="11" name="Shape 8"/>
          <p:cNvSpPr/>
          <p:nvPr/>
        </p:nvSpPr>
        <p:spPr>
          <a:xfrm>
            <a:off x="5788152"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509320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36</a:t>
            </a:r>
            <a:endParaRPr lang="en-US" sz="1100" dirty="0"/>
          </a:p>
        </p:txBody>
      </p:sp>
      <p:sp>
        <p:nvSpPr>
          <p:cNvPr id="13" name="Shape 10"/>
          <p:cNvSpPr/>
          <p:nvPr/>
        </p:nvSpPr>
        <p:spPr>
          <a:xfrm>
            <a:off x="6208776"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551383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39</a:t>
            </a:r>
            <a:endParaRPr lang="en-US" sz="1100" dirty="0"/>
          </a:p>
        </p:txBody>
      </p:sp>
      <p:sp>
        <p:nvSpPr>
          <p:cNvPr id="15" name="Shape 12"/>
          <p:cNvSpPr/>
          <p:nvPr/>
        </p:nvSpPr>
        <p:spPr>
          <a:xfrm>
            <a:off x="8311896"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16952"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54</a:t>
            </a:r>
            <a:endParaRPr lang="en-US" sz="1100" dirty="0"/>
          </a:p>
        </p:txBody>
      </p:sp>
      <p:sp>
        <p:nvSpPr>
          <p:cNvPr id="17" name="Shape 14"/>
          <p:cNvSpPr/>
          <p:nvPr/>
        </p:nvSpPr>
        <p:spPr>
          <a:xfrm>
            <a:off x="8732520"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037576"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57</a:t>
            </a:r>
            <a:endParaRPr lang="en-US" sz="1100" dirty="0"/>
          </a:p>
        </p:txBody>
      </p:sp>
      <p:sp>
        <p:nvSpPr>
          <p:cNvPr id="19" name="Shape 16"/>
          <p:cNvSpPr/>
          <p:nvPr/>
        </p:nvSpPr>
        <p:spPr>
          <a:xfrm>
            <a:off x="10835640"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14069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72</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12 (ticket due when the down payment of EGP 85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54);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39.</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100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L'avenir - Investment Presentation (EGP 100 million)</dc:title>
  <dc:subject>Strictly private and confidential</dc:subject>
  <dc:creator>Jalour Developments</dc:creator>
  <cp:lastModifiedBy>Jalour Developments</cp:lastModifiedBy>
  <cp:revision>1</cp:revision>
  <dcterms:created xsi:type="dcterms:W3CDTF">2026-10-08T08:58:02Z</dcterms:created>
  <dcterms:modified xsi:type="dcterms:W3CDTF">2026-10-08T08:58:02Z</dcterms:modified>
</cp:coreProperties>
</file>