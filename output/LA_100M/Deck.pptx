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4473</c:v>
                </c:pt>
                <c:pt idx="1">
                  <c:v>8946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</c:v>
                </c:pt>
                <c:pt idx="1">
                  <c:v>0</c:v>
                </c:pt>
                <c:pt idx="2">
                  <c:v>90</c:v>
                </c:pt>
                <c:pt idx="3">
                  <c:v>180</c:v>
                </c:pt>
                <c:pt idx="4">
                  <c:v>225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111.825</c:v>
                </c:pt>
                <c:pt idx="1">
                  <c:v>111.825</c:v>
                </c:pt>
                <c:pt idx="2">
                  <c:v>123.0075</c:v>
                </c:pt>
                <c:pt idx="3">
                  <c:v>86.10525000000001</c:v>
                </c:pt>
                <c:pt idx="4">
                  <c:v>93.93300000000002</c:v>
                </c:pt>
                <c:pt idx="5">
                  <c:v>80.514</c:v>
                </c:pt>
                <c:pt idx="6">
                  <c:v>73.8045</c:v>
                </c:pt>
                <c:pt idx="7">
                  <c:v>73.8045</c:v>
                </c:pt>
                <c:pt idx="8">
                  <c:v>80.514</c:v>
                </c:pt>
                <c:pt idx="9">
                  <c:v>80.514</c:v>
                </c:pt>
                <c:pt idx="10">
                  <c:v>80.514</c:v>
                </c:pt>
                <c:pt idx="11">
                  <c:v>80.514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250.488</c:v>
                </c:pt>
                <c:pt idx="1">
                  <c:v>250.488</c:v>
                </c:pt>
                <c:pt idx="2">
                  <c:v>187.866</c:v>
                </c:pt>
                <c:pt idx="3">
                  <c:v>93.933</c:v>
                </c:pt>
                <c:pt idx="4">
                  <c:v>104.37</c:v>
                </c:pt>
                <c:pt idx="5">
                  <c:v>104.37</c:v>
                </c:pt>
                <c:pt idx="6">
                  <c:v>114.807</c:v>
                </c:pt>
                <c:pt idx="7">
                  <c:v>114.807</c:v>
                </c:pt>
                <c:pt idx="8">
                  <c:v>125.244</c:v>
                </c:pt>
                <c:pt idx="9">
                  <c:v>125.244</c:v>
                </c:pt>
                <c:pt idx="10">
                  <c:v>62.622</c:v>
                </c:pt>
                <c:pt idx="11">
                  <c:v>62.622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181.62616500000001</c:v>
                </c:pt>
                <c:pt idx="2">
                  <c:v>334.5393975</c:v>
                </c:pt>
                <c:pt idx="3">
                  <c:v>1094.88043875</c:v>
                </c:pt>
                <c:pt idx="4">
                  <c:v>375.1728749999998</c:v>
                </c:pt>
                <c:pt idx="5">
                  <c:v>259.817000625</c:v>
                </c:pt>
                <c:pt idx="6">
                  <c:v>204.18499499999993</c:v>
                </c:pt>
                <c:pt idx="7">
                  <c:v>142.80704812499997</c:v>
                </c:pt>
                <c:pt idx="8">
                  <c:v>66.21531</c:v>
                </c:pt>
                <c:pt idx="9">
                  <c:v>14.49252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-85</c:v>
                </c:pt>
                <c:pt idx="1">
                  <c:v>-90</c:v>
                </c:pt>
                <c:pt idx="2">
                  <c:v>-180</c:v>
                </c:pt>
                <c:pt idx="3">
                  <c:v>-225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-284.44971499999986</c:v>
                </c:pt>
                <c:pt idx="8">
                  <c:v>-28.969198125000045</c:v>
                </c:pt>
                <c:pt idx="9">
                  <c:v>-6.34047750000001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-53.36</c:v>
                </c:pt>
                <c:pt idx="2">
                  <c:v>-185.70151</c:v>
                </c:pt>
                <c:pt idx="3">
                  <c:v>-318.5604</c:v>
                </c:pt>
                <c:pt idx="4">
                  <c:v>-351.06152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-85</c:v>
                </c:pt>
                <c:pt idx="1">
                  <c:v>-46.733835</c:v>
                </c:pt>
                <c:pt idx="2">
                  <c:v>-77.89594749999998</c:v>
                </c:pt>
                <c:pt idx="3">
                  <c:v>473.4240912499998</c:v>
                </c:pt>
                <c:pt idx="4">
                  <c:v>317.5354462499996</c:v>
                </c:pt>
                <c:pt idx="5">
                  <c:v>487.35244687499954</c:v>
                </c:pt>
                <c:pt idx="6">
                  <c:v>691.5374418749996</c:v>
                </c:pt>
                <c:pt idx="7">
                  <c:v>549.8947749999996</c:v>
                </c:pt>
                <c:pt idx="8">
                  <c:v>587.1408868749996</c:v>
                </c:pt>
                <c:pt idx="9">
                  <c:v>595.2929293749995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29.247325055002815</c:v>
                </c:pt>
                <c:pt idx="1">
                  <c:v>20.406197386547248</c:v>
                </c:pt>
                <c:pt idx="2">
                  <c:v>32.28399853457024</c:v>
                </c:pt>
                <c:pt idx="3">
                  <c:v>26.54639948399945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L'avenir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L'avenir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100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13,419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4,473 m2 retail and 8,946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54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13, construction from month 19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2.67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850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200 million (2.0x the ticket) at launch list prices. Projected investor IRR 29.2%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230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100 million (USD 2.1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112.5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200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230 million in 12 equal quarterly instalments of EGP 19.17 million; first payment month 39, last month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160,000 per m2, rising to 240,000 at the final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250,000 per m2, rising to 360,000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final list: +44% retail, +50% offices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14,910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8,946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13,419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19 to 54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850 million over six years; down payment EGP 85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Funds project funding gaps from sponsor equity or other capital sources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completed projects, area delivered and units handed over]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management team biographies]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audited financial statements of Jalour and Al Jalal Holding]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references from landlords, contractors and buyers]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Placeholders in brackets are pending from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191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3,342 million; plan sells 80%: EGP 2,674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308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30)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17.0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89%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102.0 million; the ticket is 98%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244 million; if sales slip 12 months with prices 10% lower it is EGP 849 million. Jalour will fund gaps above project cash.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200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230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54; resale from month 57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39 to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(final list 1.48x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2.87x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32.3% (3.16x)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20.4% (2.59x)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60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funding gaps;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412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88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779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275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35% of the final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3.5x on a pooled-cash basis; net cash flow alone covers it in 8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44% to 50%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funds any gap;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563368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68424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0461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0967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19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8815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9320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877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1383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39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1189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6952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3252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37576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57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83564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14069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12 (ticket due when the down payment of EGP 85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54);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39.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100 million in L'avenir,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L'avenir - Investment Presentation (EGP 100 million)</dc:title>
  <dc:subject>Strictly private and confidential</dc:subject>
  <dc:creator>Jalour Developments</dc:creator>
  <cp:lastModifiedBy>Jalour Developments</cp:lastModifiedBy>
  <cp:revision>1</cp:revision>
  <dcterms:created xsi:type="dcterms:W3CDTF">2026-10-07T13:53:17Z</dcterms:created>
  <dcterms:modified xsi:type="dcterms:W3CDTF">2026-10-07T13:53:17Z</dcterms:modified>
</cp:coreProperties>
</file>