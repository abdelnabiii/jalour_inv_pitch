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Built-up area (m2)</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Green Square</c:v>
                  </c:pt>
                  <c:pt idx="1">
                    <c:v>L'avenir</c:v>
                  </c:pt>
                </c:lvl>
              </c:multiLvlStrCache>
            </c:multiLvlStrRef>
          </c:cat>
          <c:val>
            <c:numRef>
              <c:f>Sheet1!$B$2:$B$3</c:f>
              <c:numCache>
                <c:formatCode>General</c:formatCode>
                <c:ptCount val="2"/>
                <c:pt idx="0">
                  <c:v>4341</c:v>
                </c:pt>
                <c:pt idx="1">
                  <c:v>4473</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Green Square</c:v>
                  </c:pt>
                  <c:pt idx="1">
                    <c:v>L'avenir</c:v>
                  </c:pt>
                </c:lvl>
              </c:multiLvlStrCache>
            </c:multiLvlStrRef>
          </c:cat>
          <c:val>
            <c:numRef>
              <c:f>Sheet1!$C$2:$C$3</c:f>
              <c:numCache>
                <c:formatCode>General</c:formatCode>
                <c:ptCount val="2"/>
                <c:pt idx="0">
                  <c:v>8682</c:v>
                </c:pt>
                <c:pt idx="1">
                  <c:v>8946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Minimum guarantee schedule (EGP million)</a:t>
            </a:r>
          </a:p>
        </c:rich>
      </c:tx>
      <c:layout/>
      <c:overlay val="0"/>
    </c:title>
    <c:autoTitleDeleted val="0"/>
    <c:plotArea>
      <c:layout/>
      <c:barChart>
        <c:barDir val="col"/>
        <c:grouping val="clustered"/>
        <c:varyColors val="0"/>
        <c:ser>
          <c:idx val="0"/>
          <c:order val="0"/>
          <c:tx>
            <c:strRef>
              <c:f>Sheet1!$B$1</c:f>
              <c:strCache>
                <c:ptCount val="1"/>
                <c:pt idx="0">
                  <c:v>Green Square</c:v>
                </c:pt>
              </c:strCache>
            </c:strRef>
          </c:tx>
          <c:spPr>
            <a:solidFill>
              <a:srgbClr val="17324D"/>
            </a:solidFill>
            <a:effectLst/>
          </c:spPr>
          <c:invertIfNegative val="0"/>
          <c:dLbls>
            <c:numFmt formatCode="#,##0" sourceLinked="0"/>
            <c:txPr>
              <a:bodyPr/>
              <a:lstStyle/>
              <a:p>
                <a:pPr>
                  <a:defRPr b="0" i="0" strike="noStrike" sz="9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80</c:v>
                </c:pt>
                <c:pt idx="1">
                  <c:v>45</c:v>
                </c:pt>
                <c:pt idx="2">
                  <c:v>90</c:v>
                </c:pt>
                <c:pt idx="3">
                  <c:v>135</c:v>
                </c:pt>
                <c:pt idx="4">
                  <c:v>180</c:v>
                </c:pt>
                <c:pt idx="5">
                  <c:v>180</c:v>
                </c:pt>
                <c:pt idx="6">
                  <c:v>90</c:v>
                </c:pt>
              </c:numCache>
            </c:numRef>
          </c:val>
        </c:ser>
        <c:ser>
          <c:idx val="1"/>
          <c:order val="1"/>
          <c:tx>
            <c:strRef>
              <c:f>Sheet1!$C$1</c:f>
              <c:strCache>
                <c:ptCount val="1"/>
                <c:pt idx="0">
                  <c:v>L'avenir</c:v>
                </c:pt>
              </c:strCache>
            </c:strRef>
          </c:tx>
          <c:spPr>
            <a:solidFill>
              <a:srgbClr val="B8893B"/>
            </a:solidFill>
            <a:effectLst/>
          </c:spPr>
          <c:invertIfNegative val="0"/>
          <c:dLbls>
            <c:numFmt formatCode="#,##0" sourceLinked="0"/>
            <c:txPr>
              <a:bodyPr/>
              <a:lstStyle/>
              <a:p>
                <a:pPr>
                  <a:defRPr b="0" i="0" strike="noStrike" sz="9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Sheet1!$C$2:$C$8</c:f>
              <c:numCache>
                <c:formatCode>General</c:formatCode>
                <c:ptCount val="7"/>
                <c:pt idx="0">
                  <c:v>85</c:v>
                </c:pt>
                <c:pt idx="1">
                  <c:v>0</c:v>
                </c:pt>
                <c:pt idx="2">
                  <c:v>90</c:v>
                </c:pt>
                <c:pt idx="3">
                  <c:v>180</c:v>
                </c:pt>
                <c:pt idx="4">
                  <c:v>225</c:v>
                </c:pt>
                <c:pt idx="5">
                  <c:v>180</c:v>
                </c:pt>
                <c:pt idx="6">
                  <c:v>90</c:v>
                </c:pt>
              </c:numCache>
            </c:numRef>
          </c:val>
        </c:ser>
        <c:dLbls>
          <c:numFmt formatCode="#,##0" sourceLinked="0"/>
          <c:txPr>
            <a:bodyPr/>
            <a:lstStyle/>
            <a:p>
              <a:pPr>
                <a:defRPr b="0" i="0" strike="noStrike" sz="9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Arial"/>
              </a:defRPr>
            </a:pPr>
            <a:r>
              <a:rPr sz="1200" b="0" i="0" u="none" strike="noStrike">
                <a:solidFill>
                  <a:srgbClr val="1B1F2A"/>
                </a:solidFill>
                <a:latin typeface="Arial"/>
              </a:rPr>
              <a:t>Green Square: sales value by quarter (EGP million)</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Sheet1!$B$2:$B$11</c:f>
              <c:numCache>
                <c:formatCode>General</c:formatCode>
                <c:ptCount val="10"/>
                <c:pt idx="0">
                  <c:v>97.6725</c:v>
                </c:pt>
                <c:pt idx="1">
                  <c:v>97.6725</c:v>
                </c:pt>
                <c:pt idx="2">
                  <c:v>75.9675</c:v>
                </c:pt>
                <c:pt idx="3">
                  <c:v>75.9675</c:v>
                </c:pt>
                <c:pt idx="4">
                  <c:v>83.56425000000002</c:v>
                </c:pt>
                <c:pt idx="5">
                  <c:v>83.56425000000002</c:v>
                </c:pt>
                <c:pt idx="6">
                  <c:v>91.16100000000002</c:v>
                </c:pt>
                <c:pt idx="7">
                  <c:v>130.23</c:v>
                </c:pt>
                <c:pt idx="8">
                  <c:v>130.23</c:v>
                </c:pt>
                <c:pt idx="9">
                  <c:v>65.115</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Sheet1!$C$2:$C$11</c:f>
              <c:numCache>
                <c:formatCode>General</c:formatCode>
                <c:ptCount val="10"/>
                <c:pt idx="0">
                  <c:v>205.11225</c:v>
                </c:pt>
                <c:pt idx="1">
                  <c:v>205.11225</c:v>
                </c:pt>
                <c:pt idx="2">
                  <c:v>162.064</c:v>
                </c:pt>
                <c:pt idx="3">
                  <c:v>162.064</c:v>
                </c:pt>
                <c:pt idx="4">
                  <c:v>91.161</c:v>
                </c:pt>
                <c:pt idx="5">
                  <c:v>91.161</c:v>
                </c:pt>
                <c:pt idx="6">
                  <c:v>101.29</c:v>
                </c:pt>
                <c:pt idx="7">
                  <c:v>101.29</c:v>
                </c:pt>
                <c:pt idx="8">
                  <c:v>101.29</c:v>
                </c:pt>
                <c:pt idx="9">
                  <c:v>101.29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Arial"/>
              </a:defRPr>
            </a:pPr>
            <a:r>
              <a:rPr sz="1200" b="0" i="0" u="none" strike="noStrike">
                <a:solidFill>
                  <a:srgbClr val="1B1F2A"/>
                </a:solidFill>
                <a:latin typeface="Arial"/>
              </a:rPr>
              <a:t>L'avenir: sales value by quarter (EGP million)</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M3</c:v>
                  </c:pt>
                  <c:pt idx="1">
                    <c:v>M6</c:v>
                  </c:pt>
                  <c:pt idx="2">
                    <c:v>M9</c:v>
                  </c:pt>
                  <c:pt idx="3">
                    <c:v>M12</c:v>
                  </c:pt>
                  <c:pt idx="4">
                    <c:v>M15</c:v>
                  </c:pt>
                  <c:pt idx="5">
                    <c:v>M18</c:v>
                  </c:pt>
                  <c:pt idx="6">
                    <c:v>M21</c:v>
                  </c:pt>
                  <c:pt idx="7">
                    <c:v>M24</c:v>
                  </c:pt>
                  <c:pt idx="8">
                    <c:v>M27</c:v>
                  </c:pt>
                  <c:pt idx="9">
                    <c:v>M30</c:v>
                  </c:pt>
                  <c:pt idx="10">
                    <c:v>M33</c:v>
                  </c:pt>
                  <c:pt idx="11">
                    <c:v>M36</c:v>
                  </c:pt>
                </c:lvl>
              </c:multiLvlStrCache>
            </c:multiLvlStrRef>
          </c:cat>
          <c:val>
            <c:numRef>
              <c:f>Sheet1!$B$2:$B$13</c:f>
              <c:numCache>
                <c:formatCode>General</c:formatCode>
                <c:ptCount val="12"/>
                <c:pt idx="0">
                  <c:v>111.825</c:v>
                </c:pt>
                <c:pt idx="1">
                  <c:v>111.825</c:v>
                </c:pt>
                <c:pt idx="2">
                  <c:v>123.0075</c:v>
                </c:pt>
                <c:pt idx="3">
                  <c:v>86.10525000000001</c:v>
                </c:pt>
                <c:pt idx="4">
                  <c:v>93.93300000000002</c:v>
                </c:pt>
                <c:pt idx="5">
                  <c:v>80.514</c:v>
                </c:pt>
                <c:pt idx="6">
                  <c:v>73.8045</c:v>
                </c:pt>
                <c:pt idx="7">
                  <c:v>73.8045</c:v>
                </c:pt>
                <c:pt idx="8">
                  <c:v>80.514</c:v>
                </c:pt>
                <c:pt idx="9">
                  <c:v>80.514</c:v>
                </c:pt>
                <c:pt idx="10">
                  <c:v>80.514</c:v>
                </c:pt>
                <c:pt idx="11">
                  <c:v>80.514</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M3</c:v>
                  </c:pt>
                  <c:pt idx="1">
                    <c:v>M6</c:v>
                  </c:pt>
                  <c:pt idx="2">
                    <c:v>M9</c:v>
                  </c:pt>
                  <c:pt idx="3">
                    <c:v>M12</c:v>
                  </c:pt>
                  <c:pt idx="4">
                    <c:v>M15</c:v>
                  </c:pt>
                  <c:pt idx="5">
                    <c:v>M18</c:v>
                  </c:pt>
                  <c:pt idx="6">
                    <c:v>M21</c:v>
                  </c:pt>
                  <c:pt idx="7">
                    <c:v>M24</c:v>
                  </c:pt>
                  <c:pt idx="8">
                    <c:v>M27</c:v>
                  </c:pt>
                  <c:pt idx="9">
                    <c:v>M30</c:v>
                  </c:pt>
                  <c:pt idx="10">
                    <c:v>M33</c:v>
                  </c:pt>
                  <c:pt idx="11">
                    <c:v>M36</c:v>
                  </c:pt>
                </c:lvl>
              </c:multiLvlStrCache>
            </c:multiLvlStrRef>
          </c:cat>
          <c:val>
            <c:numRef>
              <c:f>Sheet1!$C$2:$C$13</c:f>
              <c:numCache>
                <c:formatCode>General</c:formatCode>
                <c:ptCount val="12"/>
                <c:pt idx="0">
                  <c:v>250.488</c:v>
                </c:pt>
                <c:pt idx="1">
                  <c:v>250.488</c:v>
                </c:pt>
                <c:pt idx="2">
                  <c:v>187.866</c:v>
                </c:pt>
                <c:pt idx="3">
                  <c:v>93.933</c:v>
                </c:pt>
                <c:pt idx="4">
                  <c:v>104.37</c:v>
                </c:pt>
                <c:pt idx="5">
                  <c:v>104.37</c:v>
                </c:pt>
                <c:pt idx="6">
                  <c:v>114.807</c:v>
                </c:pt>
                <c:pt idx="7">
                  <c:v>114.807</c:v>
                </c:pt>
                <c:pt idx="8">
                  <c:v>125.244</c:v>
                </c:pt>
                <c:pt idx="9">
                  <c:v>125.244</c:v>
                </c:pt>
                <c:pt idx="10">
                  <c:v>62.622</c:v>
                </c:pt>
                <c:pt idx="11">
                  <c:v>62.622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Net cash flow by project year (EGP million)</a:t>
            </a:r>
          </a:p>
        </c:rich>
      </c:tx>
      <c:layout/>
      <c:overlay val="0"/>
    </c:title>
    <c:autoTitleDeleted val="0"/>
    <c:plotArea>
      <c:layout/>
      <c:barChart>
        <c:barDir val="col"/>
        <c:grouping val="clustered"/>
        <c:varyColors val="0"/>
        <c:ser>
          <c:idx val="0"/>
          <c:order val="0"/>
          <c:tx>
            <c:strRef>
              <c:f>Sheet1!$B$1</c:f>
              <c:strCache>
                <c:ptCount val="1"/>
                <c:pt idx="0">
                  <c:v>Green Square net cash flow</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Y0</c:v>
                  </c:pt>
                  <c:pt idx="1">
                    <c:v>Y1</c:v>
                  </c:pt>
                  <c:pt idx="2">
                    <c:v>Y2</c:v>
                  </c:pt>
                  <c:pt idx="3">
                    <c:v>Y3</c:v>
                  </c:pt>
                  <c:pt idx="4">
                    <c:v>Y4</c:v>
                  </c:pt>
                  <c:pt idx="5">
                    <c:v>Y5</c:v>
                  </c:pt>
                  <c:pt idx="6">
                    <c:v>Y6</c:v>
                  </c:pt>
                  <c:pt idx="7">
                    <c:v>Y7</c:v>
                  </c:pt>
                  <c:pt idx="8">
                    <c:v>Y8</c:v>
                  </c:pt>
                  <c:pt idx="9">
                    <c:v>Y9</c:v>
                  </c:pt>
                </c:lvl>
              </c:multiLvlStrCache>
            </c:multiLvlStrRef>
          </c:cat>
          <c:val>
            <c:numRef>
              <c:f>Sheet1!$B$2:$B$11</c:f>
              <c:numCache>
                <c:formatCode>General</c:formatCode>
                <c:ptCount val="10"/>
                <c:pt idx="0">
                  <c:v>-102.5</c:v>
                </c:pt>
                <c:pt idx="1">
                  <c:v>33.815256250000004</c:v>
                </c:pt>
                <c:pt idx="2">
                  <c:v>408.5766453125001</c:v>
                </c:pt>
                <c:pt idx="3">
                  <c:v>54.151608749999994</c:v>
                </c:pt>
                <c:pt idx="4">
                  <c:v>-258.78064000000006</c:v>
                </c:pt>
                <c:pt idx="5">
                  <c:v>59.59256</c:v>
                </c:pt>
                <c:pt idx="6">
                  <c:v>108.5588053125</c:v>
                </c:pt>
                <c:pt idx="7">
                  <c:v>-14.037037773437518</c:v>
                </c:pt>
                <c:pt idx="8">
                  <c:v>55.22209839843755</c:v>
                </c:pt>
                <c:pt idx="9">
                  <c:v>30.848231250000026</c:v>
                </c:pt>
              </c:numCache>
            </c:numRef>
          </c:val>
        </c:ser>
        <c:ser>
          <c:idx val="1"/>
          <c:order val="1"/>
          <c:tx>
            <c:strRef>
              <c:f>Sheet1!$C$1</c:f>
              <c:strCache>
                <c:ptCount val="1"/>
                <c:pt idx="0">
                  <c:v>L'avenir net cash flow</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Y0</c:v>
                  </c:pt>
                  <c:pt idx="1">
                    <c:v>Y1</c:v>
                  </c:pt>
                  <c:pt idx="2">
                    <c:v>Y2</c:v>
                  </c:pt>
                  <c:pt idx="3">
                    <c:v>Y3</c:v>
                  </c:pt>
                  <c:pt idx="4">
                    <c:v>Y4</c:v>
                  </c:pt>
                  <c:pt idx="5">
                    <c:v>Y5</c:v>
                  </c:pt>
                  <c:pt idx="6">
                    <c:v>Y6</c:v>
                  </c:pt>
                  <c:pt idx="7">
                    <c:v>Y7</c:v>
                  </c:pt>
                  <c:pt idx="8">
                    <c:v>Y8</c:v>
                  </c:pt>
                  <c:pt idx="9">
                    <c:v>Y9</c:v>
                  </c:pt>
                </c:lvl>
              </c:multiLvlStrCache>
            </c:multiLvlStrRef>
          </c:cat>
          <c:val>
            <c:numRef>
              <c:f>Sheet1!$C$2:$C$11</c:f>
              <c:numCache>
                <c:formatCode>General</c:formatCode>
                <c:ptCount val="10"/>
                <c:pt idx="0">
                  <c:v>-85</c:v>
                </c:pt>
                <c:pt idx="1">
                  <c:v>38.266165</c:v>
                </c:pt>
                <c:pt idx="2">
                  <c:v>-31.162112499999985</c:v>
                </c:pt>
                <c:pt idx="3">
                  <c:v>551.3200387499999</c:v>
                </c:pt>
                <c:pt idx="4">
                  <c:v>-155.88864500000022</c:v>
                </c:pt>
                <c:pt idx="5">
                  <c:v>169.817000625</c:v>
                </c:pt>
                <c:pt idx="6">
                  <c:v>204.18499499999993</c:v>
                </c:pt>
                <c:pt idx="7">
                  <c:v>-141.64266687499986</c:v>
                </c:pt>
                <c:pt idx="8">
                  <c:v>37.24611187499996</c:v>
                </c:pt>
                <c:pt idx="9">
                  <c:v>8.15204249999999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Arial"/>
              </a:defRPr>
            </a:pPr>
            <a:r>
              <a:rPr sz="1200" b="0" i="0" u="none" strike="noStrike">
                <a:solidFill>
                  <a:srgbClr val="1B1F2A"/>
                </a:solidFill>
                <a:latin typeface="Arial"/>
              </a:rPr>
              <a:t>Cumulative net cash flow before investor instruments (EGP million)</a:t>
            </a:r>
          </a:p>
        </c:rich>
      </c:tx>
      <c:layout/>
      <c:overlay val="0"/>
    </c:title>
    <c:autoTitleDeleted val="0"/>
    <c:plotArea>
      <c:layout/>
      <c:lineChart>
        <c:varyColors val="0"/>
        <c:ser>
          <c:idx val="0"/>
          <c:order val="0"/>
          <c:tx>
            <c:strRef>
              <c:f>Sheet1!$B$1</c:f>
              <c:strCache>
                <c:ptCount val="1"/>
                <c:pt idx="0">
                  <c:v>Green Square</c:v>
                </c:pt>
              </c:strCache>
            </c:strRef>
          </c:tx>
          <c:spPr>
            <a:solidFill>
              <a:srgbClr val="17324D"/>
            </a:solidFill>
            <a:ln w="31750" cap="flat">
              <a:solidFill>
                <a:srgbClr val="1732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D"/>
              </a:solidFill>
              <a:ln w="9525" cap="flat">
                <a:solidFill>
                  <a:srgbClr val="17324D"/>
                </a:solidFill>
                <a:prstDash val="solid"/>
                <a:round/>
              </a:ln>
              <a:effectLst/>
            </c:spPr>
          </c:marker>
          <c:cat>
            <c:multiLvlStrRef>
              <c:f>Sheet1!$A$2:$A$29</c:f>
              <c:multiLvlStrCache>
                <c:ptCount val="28"/>
                <c:lvl>
                  <c:pt idx="0">
                    <c:v>M-3</c:v>
                  </c:pt>
                  <c:pt idx="1">
                    <c:v>M0</c:v>
                  </c:pt>
                  <c:pt idx="2">
                    <c:v>M3</c:v>
                  </c:pt>
                  <c:pt idx="3">
                    <c:v>M6</c:v>
                  </c:pt>
                  <c:pt idx="4">
                    <c:v>M9</c:v>
                  </c:pt>
                  <c:pt idx="5">
                    <c:v>M12</c:v>
                  </c:pt>
                  <c:pt idx="6">
                    <c:v>M15</c:v>
                  </c:pt>
                  <c:pt idx="7">
                    <c:v>M18</c:v>
                  </c:pt>
                  <c:pt idx="8">
                    <c:v>M21</c:v>
                  </c:pt>
                  <c:pt idx="9">
                    <c:v>M24</c:v>
                  </c:pt>
                  <c:pt idx="10">
                    <c:v>M27</c:v>
                  </c:pt>
                  <c:pt idx="11">
                    <c:v>M30</c:v>
                  </c:pt>
                  <c:pt idx="12">
                    <c:v>M33</c:v>
                  </c:pt>
                  <c:pt idx="13">
                    <c:v>M36</c:v>
                  </c:pt>
                  <c:pt idx="14">
                    <c:v>M39</c:v>
                  </c:pt>
                  <c:pt idx="15">
                    <c:v>M42</c:v>
                  </c:pt>
                  <c:pt idx="16">
                    <c:v>M45</c:v>
                  </c:pt>
                  <c:pt idx="17">
                    <c:v>M48</c:v>
                  </c:pt>
                  <c:pt idx="18">
                    <c:v>M51</c:v>
                  </c:pt>
                  <c:pt idx="19">
                    <c:v>M54</c:v>
                  </c:pt>
                  <c:pt idx="20">
                    <c:v>M57</c:v>
                  </c:pt>
                  <c:pt idx="21">
                    <c:v>M60</c:v>
                  </c:pt>
                  <c:pt idx="22">
                    <c:v>M63</c:v>
                  </c:pt>
                  <c:pt idx="23">
                    <c:v>M66</c:v>
                  </c:pt>
                  <c:pt idx="24">
                    <c:v>M69</c:v>
                  </c:pt>
                  <c:pt idx="25">
                    <c:v>M72</c:v>
                  </c:pt>
                  <c:pt idx="26">
                    <c:v>M75</c:v>
                  </c:pt>
                  <c:pt idx="27">
                    <c:v>M78</c:v>
                  </c:pt>
                </c:lvl>
              </c:multiLvlStrCache>
            </c:multiLvlStrRef>
          </c:cat>
          <c:val>
            <c:numRef>
              <c:f>Sheet1!$B$2:$B$29</c:f>
              <c:numCache>
                <c:formatCode>General</c:formatCode>
                <c:ptCount val="28"/>
                <c:pt idx="0">
                  <c:v>-91.25</c:v>
                </c:pt>
                <c:pt idx="1">
                  <c:v>-102.5</c:v>
                </c:pt>
                <c:pt idx="2">
                  <c:v>-98.61076249999999</c:v>
                </c:pt>
                <c:pt idx="3">
                  <c:v>-79.58228749999999</c:v>
                </c:pt>
                <c:pt idx="4">
                  <c:v>-78.57028125</c:v>
                </c:pt>
                <c:pt idx="5">
                  <c:v>-68.68474375</c:v>
                </c:pt>
                <c:pt idx="6">
                  <c:v>-86.93043374999999</c:v>
                </c:pt>
                <c:pt idx="7">
                  <c:v>-88.42826437499998</c:v>
                </c:pt>
                <c:pt idx="8">
                  <c:v>-81.73067593749997</c:v>
                </c:pt>
                <c:pt idx="9">
                  <c:v>339.89190156250015</c:v>
                </c:pt>
                <c:pt idx="10">
                  <c:v>478.6586415625002</c:v>
                </c:pt>
                <c:pt idx="11">
                  <c:v>608.3816315625002</c:v>
                </c:pt>
                <c:pt idx="12">
                  <c:v>514.9943415625002</c:v>
                </c:pt>
                <c:pt idx="13">
                  <c:v>394.04351031250013</c:v>
                </c:pt>
                <c:pt idx="14">
                  <c:v>222.49267906250014</c:v>
                </c:pt>
                <c:pt idx="15">
                  <c:v>104.32351468750014</c:v>
                </c:pt>
                <c:pt idx="16">
                  <c:v>120.55015437500013</c:v>
                </c:pt>
                <c:pt idx="17">
                  <c:v>135.26287031250013</c:v>
                </c:pt>
                <c:pt idx="18">
                  <c:v>143.98681500000012</c:v>
                </c:pt>
                <c:pt idx="19">
                  <c:v>148.3697596875001</c:v>
                </c:pt>
                <c:pt idx="20">
                  <c:v>175.25270437500012</c:v>
                </c:pt>
                <c:pt idx="21">
                  <c:v>194.85543031250012</c:v>
                </c:pt>
                <c:pt idx="22">
                  <c:v>214.45815625000012</c:v>
                </c:pt>
                <c:pt idx="23">
                  <c:v>234.0608821875001</c:v>
                </c:pt>
                <c:pt idx="24">
                  <c:v>270.3756081250001</c:v>
                </c:pt>
                <c:pt idx="25">
                  <c:v>303.4142356250001</c:v>
                </c:pt>
                <c:pt idx="26">
                  <c:v>332.8444068750001</c:v>
                </c:pt>
                <c:pt idx="27">
                  <c:v>357.9335781250001</c:v>
                </c:pt>
              </c:numCache>
            </c:numRef>
          </c:val>
          <c:smooth val="0"/>
        </c:ser>
        <c:ser>
          <c:idx val="1"/>
          <c:order val="1"/>
          <c:tx>
            <c:strRef>
              <c:f>Sheet1!$C$1</c:f>
              <c:strCache>
                <c:ptCount val="1"/>
                <c:pt idx="0">
                  <c:v>L'avenir</c:v>
                </c:pt>
              </c:strCache>
            </c:strRef>
          </c:tx>
          <c:spPr>
            <a:solidFill>
              <a:srgbClr val="B8893B"/>
            </a:solidFill>
            <a:ln w="31750" cap="flat">
              <a:solidFill>
                <a:srgbClr val="B88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893B"/>
              </a:solidFill>
              <a:ln w="9525" cap="flat">
                <a:solidFill>
                  <a:srgbClr val="B8893B"/>
                </a:solidFill>
                <a:prstDash val="solid"/>
                <a:round/>
              </a:ln>
              <a:effectLst/>
            </c:spPr>
          </c:marker>
          <c:cat>
            <c:multiLvlStrRef>
              <c:f>Sheet1!$A$2:$A$29</c:f>
              <c:multiLvlStrCache>
                <c:ptCount val="28"/>
                <c:lvl>
                  <c:pt idx="0">
                    <c:v>M-3</c:v>
                  </c:pt>
                  <c:pt idx="1">
                    <c:v>M0</c:v>
                  </c:pt>
                  <c:pt idx="2">
                    <c:v>M3</c:v>
                  </c:pt>
                  <c:pt idx="3">
                    <c:v>M6</c:v>
                  </c:pt>
                  <c:pt idx="4">
                    <c:v>M9</c:v>
                  </c:pt>
                  <c:pt idx="5">
                    <c:v>M12</c:v>
                  </c:pt>
                  <c:pt idx="6">
                    <c:v>M15</c:v>
                  </c:pt>
                  <c:pt idx="7">
                    <c:v>M18</c:v>
                  </c:pt>
                  <c:pt idx="8">
                    <c:v>M21</c:v>
                  </c:pt>
                  <c:pt idx="9">
                    <c:v>M24</c:v>
                  </c:pt>
                  <c:pt idx="10">
                    <c:v>M27</c:v>
                  </c:pt>
                  <c:pt idx="11">
                    <c:v>M30</c:v>
                  </c:pt>
                  <c:pt idx="12">
                    <c:v>M33</c:v>
                  </c:pt>
                  <c:pt idx="13">
                    <c:v>M36</c:v>
                  </c:pt>
                  <c:pt idx="14">
                    <c:v>M39</c:v>
                  </c:pt>
                  <c:pt idx="15">
                    <c:v>M42</c:v>
                  </c:pt>
                  <c:pt idx="16">
                    <c:v>M45</c:v>
                  </c:pt>
                  <c:pt idx="17">
                    <c:v>M48</c:v>
                  </c:pt>
                  <c:pt idx="18">
                    <c:v>M51</c:v>
                  </c:pt>
                  <c:pt idx="19">
                    <c:v>M54</c:v>
                  </c:pt>
                  <c:pt idx="20">
                    <c:v>M57</c:v>
                  </c:pt>
                  <c:pt idx="21">
                    <c:v>M60</c:v>
                  </c:pt>
                  <c:pt idx="22">
                    <c:v>M63</c:v>
                  </c:pt>
                  <c:pt idx="23">
                    <c:v>M66</c:v>
                  </c:pt>
                  <c:pt idx="24">
                    <c:v>M69</c:v>
                  </c:pt>
                  <c:pt idx="25">
                    <c:v>M72</c:v>
                  </c:pt>
                  <c:pt idx="26">
                    <c:v>M75</c:v>
                  </c:pt>
                  <c:pt idx="27">
                    <c:v>M78</c:v>
                  </c:pt>
                </c:lvl>
              </c:multiLvlStrCache>
            </c:multiLvlStrRef>
          </c:cat>
          <c:val>
            <c:numRef>
              <c:f>Sheet1!$C$2:$C$29</c:f>
              <c:numCache>
                <c:formatCode>General</c:formatCode>
                <c:ptCount val="28"/>
                <c:pt idx="0">
                  <c:v>0</c:v>
                </c:pt>
                <c:pt idx="1">
                  <c:v>0</c:v>
                </c:pt>
                <c:pt idx="2">
                  <c:v>0</c:v>
                </c:pt>
                <c:pt idx="3">
                  <c:v>-85</c:v>
                </c:pt>
                <c:pt idx="4">
                  <c:v>-89.38435</c:v>
                </c:pt>
                <c:pt idx="5">
                  <c:v>-75.65305</c:v>
                </c:pt>
                <c:pt idx="6">
                  <c:v>-62.892224999999996</c:v>
                </c:pt>
                <c:pt idx="7">
                  <c:v>-46.733835</c:v>
                </c:pt>
                <c:pt idx="8">
                  <c:v>-85.13881</c:v>
                </c:pt>
                <c:pt idx="9">
                  <c:v>-102.0180625</c:v>
                </c:pt>
                <c:pt idx="10">
                  <c:v>-100.94194749999998</c:v>
                </c:pt>
                <c:pt idx="11">
                  <c:v>-77.89594749999998</c:v>
                </c:pt>
                <c:pt idx="12">
                  <c:v>-32.897631249999975</c:v>
                </c:pt>
                <c:pt idx="13">
                  <c:v>22.282351250000005</c:v>
                </c:pt>
                <c:pt idx="14">
                  <c:v>503.5783587499998</c:v>
                </c:pt>
                <c:pt idx="15">
                  <c:v>473.4240912499998</c:v>
                </c:pt>
                <c:pt idx="16">
                  <c:v>344.19036374999973</c:v>
                </c:pt>
                <c:pt idx="17">
                  <c:v>245.74703624999967</c:v>
                </c:pt>
                <c:pt idx="18">
                  <c:v>282.54702374999965</c:v>
                </c:pt>
                <c:pt idx="19">
                  <c:v>317.5354462499996</c:v>
                </c:pt>
                <c:pt idx="20">
                  <c:v>372.3149081249996</c:v>
                </c:pt>
                <c:pt idx="21">
                  <c:v>419.9683218749996</c:v>
                </c:pt>
                <c:pt idx="22">
                  <c:v>458.8061981249996</c:v>
                </c:pt>
                <c:pt idx="23">
                  <c:v>487.35244687499954</c:v>
                </c:pt>
                <c:pt idx="24">
                  <c:v>538.3986956249995</c:v>
                </c:pt>
                <c:pt idx="25">
                  <c:v>589.4449443749995</c:v>
                </c:pt>
                <c:pt idx="26">
                  <c:v>640.4911931249995</c:v>
                </c:pt>
                <c:pt idx="27">
                  <c:v>691.5374418749996</c:v>
                </c:pt>
              </c:numCache>
            </c:numRef>
          </c:val>
          <c:smooth val="0"/>
        </c:ser>
        <c:ser>
          <c:idx val="2"/>
          <c:order val="2"/>
          <c:tx>
            <c:strRef>
              <c:f>Sheet1!$D$1</c:f>
              <c:strCache>
                <c:ptCount val="1"/>
                <c:pt idx="0">
                  <c:v>Combined</c:v>
                </c:pt>
              </c:strCache>
            </c:strRef>
          </c:tx>
          <c:spPr>
            <a:solidFill>
              <a:srgbClr val="A23B3B"/>
            </a:solidFill>
            <a:ln w="31750" cap="flat">
              <a:solidFill>
                <a:srgbClr val="A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23B3B"/>
              </a:solidFill>
              <a:ln w="9525" cap="flat">
                <a:solidFill>
                  <a:srgbClr val="A23B3B"/>
                </a:solidFill>
                <a:prstDash val="solid"/>
                <a:round/>
              </a:ln>
              <a:effectLst/>
            </c:spPr>
          </c:marker>
          <c:cat>
            <c:multiLvlStrRef>
              <c:f>Sheet1!$A$2:$A$29</c:f>
              <c:multiLvlStrCache>
                <c:ptCount val="28"/>
                <c:lvl>
                  <c:pt idx="0">
                    <c:v>M-3</c:v>
                  </c:pt>
                  <c:pt idx="1">
                    <c:v>M0</c:v>
                  </c:pt>
                  <c:pt idx="2">
                    <c:v>M3</c:v>
                  </c:pt>
                  <c:pt idx="3">
                    <c:v>M6</c:v>
                  </c:pt>
                  <c:pt idx="4">
                    <c:v>M9</c:v>
                  </c:pt>
                  <c:pt idx="5">
                    <c:v>M12</c:v>
                  </c:pt>
                  <c:pt idx="6">
                    <c:v>M15</c:v>
                  </c:pt>
                  <c:pt idx="7">
                    <c:v>M18</c:v>
                  </c:pt>
                  <c:pt idx="8">
                    <c:v>M21</c:v>
                  </c:pt>
                  <c:pt idx="9">
                    <c:v>M24</c:v>
                  </c:pt>
                  <c:pt idx="10">
                    <c:v>M27</c:v>
                  </c:pt>
                  <c:pt idx="11">
                    <c:v>M30</c:v>
                  </c:pt>
                  <c:pt idx="12">
                    <c:v>M33</c:v>
                  </c:pt>
                  <c:pt idx="13">
                    <c:v>M36</c:v>
                  </c:pt>
                  <c:pt idx="14">
                    <c:v>M39</c:v>
                  </c:pt>
                  <c:pt idx="15">
                    <c:v>M42</c:v>
                  </c:pt>
                  <c:pt idx="16">
                    <c:v>M45</c:v>
                  </c:pt>
                  <c:pt idx="17">
                    <c:v>M48</c:v>
                  </c:pt>
                  <c:pt idx="18">
                    <c:v>M51</c:v>
                  </c:pt>
                  <c:pt idx="19">
                    <c:v>M54</c:v>
                  </c:pt>
                  <c:pt idx="20">
                    <c:v>M57</c:v>
                  </c:pt>
                  <c:pt idx="21">
                    <c:v>M60</c:v>
                  </c:pt>
                  <c:pt idx="22">
                    <c:v>M63</c:v>
                  </c:pt>
                  <c:pt idx="23">
                    <c:v>M66</c:v>
                  </c:pt>
                  <c:pt idx="24">
                    <c:v>M69</c:v>
                  </c:pt>
                  <c:pt idx="25">
                    <c:v>M72</c:v>
                  </c:pt>
                  <c:pt idx="26">
                    <c:v>M75</c:v>
                  </c:pt>
                  <c:pt idx="27">
                    <c:v>M78</c:v>
                  </c:pt>
                </c:lvl>
              </c:multiLvlStrCache>
            </c:multiLvlStrRef>
          </c:cat>
          <c:val>
            <c:numRef>
              <c:f>Sheet1!$D$2:$D$29</c:f>
              <c:numCache>
                <c:formatCode>General</c:formatCode>
                <c:ptCount val="28"/>
                <c:pt idx="0">
                  <c:v>-91.25</c:v>
                </c:pt>
                <c:pt idx="1">
                  <c:v>-102.5</c:v>
                </c:pt>
                <c:pt idx="2">
                  <c:v>-98.61076249999999</c:v>
                </c:pt>
                <c:pt idx="3">
                  <c:v>-164.5822875</c:v>
                </c:pt>
                <c:pt idx="4">
                  <c:v>-167.95463124999998</c:v>
                </c:pt>
                <c:pt idx="5">
                  <c:v>-144.33779375</c:v>
                </c:pt>
                <c:pt idx="6">
                  <c:v>-149.82265875</c:v>
                </c:pt>
                <c:pt idx="7">
                  <c:v>-135.16209937499997</c:v>
                </c:pt>
                <c:pt idx="8">
                  <c:v>-166.86948593749997</c:v>
                </c:pt>
                <c:pt idx="9">
                  <c:v>237.87383906250017</c:v>
                </c:pt>
                <c:pt idx="10">
                  <c:v>377.7166940625002</c:v>
                </c:pt>
                <c:pt idx="11">
                  <c:v>530.4856840625002</c:v>
                </c:pt>
                <c:pt idx="12">
                  <c:v>482.0967103125002</c:v>
                </c:pt>
                <c:pt idx="13">
                  <c:v>416.3258615625001</c:v>
                </c:pt>
                <c:pt idx="14">
                  <c:v>726.0710378125</c:v>
                </c:pt>
                <c:pt idx="15">
                  <c:v>577.7476059374999</c:v>
                </c:pt>
                <c:pt idx="16">
                  <c:v>464.7405181249999</c:v>
                </c:pt>
                <c:pt idx="17">
                  <c:v>381.0099065624998</c:v>
                </c:pt>
                <c:pt idx="18">
                  <c:v>426.53383874999975</c:v>
                </c:pt>
                <c:pt idx="19">
                  <c:v>465.9052059374997</c:v>
                </c:pt>
                <c:pt idx="20">
                  <c:v>547.5676124999998</c:v>
                </c:pt>
                <c:pt idx="21">
                  <c:v>614.8237521874997</c:v>
                </c:pt>
                <c:pt idx="22">
                  <c:v>673.2643543749997</c:v>
                </c:pt>
                <c:pt idx="23">
                  <c:v>721.4133290624997</c:v>
                </c:pt>
                <c:pt idx="24">
                  <c:v>808.7743037499996</c:v>
                </c:pt>
                <c:pt idx="25">
                  <c:v>892.8591799999997</c:v>
                </c:pt>
                <c:pt idx="26">
                  <c:v>973.3355999999997</c:v>
                </c:pt>
                <c:pt idx="27">
                  <c:v>1049.4710199999997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Projected investor IRR, combined (%)</a:t>
            </a:r>
          </a:p>
        </c:rich>
      </c:tx>
      <c:layout/>
      <c:overlay val="0"/>
    </c:title>
    <c:autoTitleDeleted val="0"/>
    <c:plotArea>
      <c:layout/>
      <c:barChart>
        <c:barDir val="col"/>
        <c:grouping val="clustered"/>
        <c:varyColors val="0"/>
        <c:ser>
          <c:idx val="0"/>
          <c:order val="0"/>
          <c:tx>
            <c:strRef>
              <c:f>Sheet1!$B$1</c:f>
              <c:strCache>
                <c:ptCount val="1"/>
                <c:pt idx="0">
                  <c:v>Investor IRR</c:v>
                </c:pt>
              </c:strCache>
            </c:strRef>
          </c:tx>
          <c:spPr>
            <a:solidFill>
              <a:srgbClr val="17324D"/>
            </a:solidFill>
            <a:effectLst/>
          </c:spPr>
          <c:invertIfNegative val="0"/>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Sheet1!$A$2:$A$5</c:f>
              <c:multiLvlStrCache>
                <c:ptCount val="4"/>
                <c:lvl>
                  <c:pt idx="0">
                    <c:v>Option A base</c:v>
                  </c:pt>
                  <c:pt idx="1">
                    <c:v>Option A downside</c:v>
                  </c:pt>
                  <c:pt idx="2">
                    <c:v>Option A upside</c:v>
                  </c:pt>
                  <c:pt idx="3">
                    <c:v>Option B (contractual)</c:v>
                  </c:pt>
                </c:lvl>
              </c:multiLvlStrCache>
            </c:multiLvlStrRef>
          </c:cat>
          <c:val>
            <c:numRef>
              <c:f>Sheet1!$B$2:$B$5</c:f>
              <c:numCache>
                <c:formatCode>General</c:formatCode>
                <c:ptCount val="4"/>
                <c:pt idx="0">
                  <c:v>27.67867231154117</c:v>
                </c:pt>
                <c:pt idx="1">
                  <c:v>19.457092504184793</c:v>
                </c:pt>
                <c:pt idx="2">
                  <c:v>30.571564372769423</c:v>
                </c:pt>
                <c:pt idx="3">
                  <c:v>26.546399483999465</c:v>
                </c:pt>
              </c:numCache>
            </c:numRef>
          </c:val>
        </c:ser>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(Combined_Summary and project Summary sheets).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contact details to be added by Jalour.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9601200" cy="274320"/>
          </a:xfrm>
          <a:prstGeom prst="rect">
            <a:avLst/>
          </a:prstGeom>
          <a:noFill/>
          <a:ln/>
        </p:spPr>
        <p:txBody>
          <a:bodyPr wrap="square" lIns="0" tIns="0" rIns="0" bIns="0" rtlCol="0" anchor="ctr"/>
          <a:lstStyle/>
          <a:p>
            <a:pPr indent="0" marL="0">
              <a:buNone/>
            </a:pPr>
            <a:r>
              <a:rPr lang="en-US" sz="900" dirty="0">
                <a:solidFill>
                  <a:srgbClr val="6B7280"/>
                </a:solidFill>
              </a:rPr>
              <a:t>Jalour Developments  |  Green Square and L'avenir  |  Strictly private and confidential.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2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7315200" cy="274320"/>
          </a:xfrm>
          <a:prstGeom prst="rect">
            <a:avLst/>
          </a:prstGeom>
          <a:noFill/>
          <a:ln/>
        </p:spPr>
        <p:txBody>
          <a:bodyPr wrap="square" lIns="0" tIns="0" rIns="0" bIns="0" rtlCol="0" anchor="ctr"/>
          <a:lstStyle/>
          <a:p>
            <a:pPr indent="0" marL="0">
              <a:buNone/>
            </a:pPr>
            <a:r>
              <a:rPr lang="en-US" sz="1100" b="1" spc="300" kern="0" dirty="0">
                <a:solidFill>
                  <a:srgbClr val="B8893B"/>
                </a:solidFill>
              </a:rPr>
              <a:t>STRICTLY PRIVATE AND CONFIDENTIAL</a:t>
            </a:r>
            <a:endParaRPr lang="en-US" sz="1100" dirty="0"/>
          </a:p>
        </p:txBody>
      </p:sp>
      <p:sp>
        <p:nvSpPr>
          <p:cNvPr id="3" name="Text 1"/>
          <p:cNvSpPr txBox="1"/>
          <p:nvPr/>
        </p:nvSpPr>
        <p:spPr>
          <a:xfrm>
            <a:off x="731520" y="1645920"/>
            <a:ext cx="10789920" cy="1097280"/>
          </a:xfrm>
          <a:prstGeom prst="rect">
            <a:avLst/>
          </a:prstGeom>
          <a:noFill/>
          <a:ln/>
        </p:spPr>
        <p:txBody>
          <a:bodyPr wrap="square" lIns="0" tIns="0" rIns="0" bIns="0" rtlCol="0" anchor="ctr">
            <a:normAutofit/>
          </a:bodyPr>
          <a:lstStyle/>
          <a:p>
            <a:pPr indent="0" marL="0">
              <a:buNone/>
            </a:pPr>
            <a:r>
              <a:rPr lang="en-US" sz="5000" b="1" dirty="0">
                <a:solidFill>
                  <a:srgbClr val="FFFFFF"/>
                </a:solidFill>
                <a:latin typeface="Cambria" pitchFamily="34" charset="0"/>
                <a:ea typeface="Cambria" pitchFamily="34" charset="-122"/>
                <a:cs typeface="Cambria" pitchFamily="34" charset="-120"/>
              </a:rPr>
              <a:t>Green Square and L'avenir</a:t>
            </a:r>
            <a:endParaRPr lang="en-US" sz="5000" dirty="0"/>
          </a:p>
        </p:txBody>
      </p:sp>
      <p:sp>
        <p:nvSpPr>
          <p:cNvPr id="4" name="Text 2"/>
          <p:cNvSpPr txBox="1"/>
          <p:nvPr/>
        </p:nvSpPr>
        <p:spPr>
          <a:xfrm>
            <a:off x="731520" y="2743200"/>
            <a:ext cx="10515600" cy="457200"/>
          </a:xfrm>
          <a:prstGeom prst="rect">
            <a:avLst/>
          </a:prstGeom>
          <a:noFill/>
          <a:ln/>
        </p:spPr>
        <p:txBody>
          <a:bodyPr wrap="square" lIns="0" tIns="0" rIns="0" bIns="0" rtlCol="0" anchor="ctr"/>
          <a:lstStyle/>
          <a:p>
            <a:pPr indent="0" marL="0">
              <a:buNone/>
            </a:pPr>
            <a:r>
              <a:rPr lang="en-US" sz="2200" dirty="0">
                <a:solidFill>
                  <a:srgbClr val="D5DAE1"/>
                </a:solidFill>
              </a:rPr>
              <a:t>Two commercial and office developments, El Mostakbal City, Cairo</a:t>
            </a:r>
            <a:endParaRPr lang="en-US" sz="2200" dirty="0"/>
          </a:p>
        </p:txBody>
      </p:sp>
      <p:sp>
        <p:nvSpPr>
          <p:cNvPr id="5" name="Text 3"/>
          <p:cNvSpPr txBox="1"/>
          <p:nvPr/>
        </p:nvSpPr>
        <p:spPr>
          <a:xfrm>
            <a:off x="731520" y="3657600"/>
            <a:ext cx="10789920" cy="457200"/>
          </a:xfrm>
          <a:prstGeom prst="rect">
            <a:avLst/>
          </a:prstGeom>
          <a:noFill/>
          <a:ln/>
        </p:spPr>
        <p:txBody>
          <a:bodyPr wrap="square" lIns="0" tIns="0" rIns="0" bIns="0" rtlCol="0" anchor="ctr"/>
          <a:lstStyle/>
          <a:p>
            <a:pPr indent="0" marL="0">
              <a:buNone/>
            </a:pPr>
            <a:r>
              <a:rPr lang="en-US" sz="2000" b="1" dirty="0">
                <a:solidFill>
                  <a:srgbClr val="B8893B"/>
                </a:solidFill>
              </a:rPr>
              <a:t>Private placement: combined investor ticket of EGP 125 million (EGP 62.5 million in each project)</a:t>
            </a:r>
            <a:endParaRPr lang="en-US" sz="2000" dirty="0"/>
          </a:p>
        </p:txBody>
      </p:sp>
      <p:sp>
        <p:nvSpPr>
          <p:cNvPr id="6" name="Text 4"/>
          <p:cNvSpPr txBox="1"/>
          <p:nvPr/>
        </p:nvSpPr>
        <p:spPr>
          <a:xfrm>
            <a:off x="731520" y="4937760"/>
            <a:ext cx="10515600" cy="548640"/>
          </a:xfrm>
          <a:prstGeom prst="rect">
            <a:avLst/>
          </a:prstGeom>
          <a:noFill/>
          <a:ln/>
        </p:spPr>
        <p:txBody>
          <a:bodyPr wrap="square" lIns="0" tIns="0" rIns="0" bIns="0" rtlCol="0" anchor="ctr"/>
          <a:lstStyle/>
          <a:p>
            <a:pPr indent="0" marL="0">
              <a:buNone/>
            </a:pPr>
            <a:r>
              <a:rPr lang="en-US" sz="1300" b="1" dirty="0">
                <a:solidFill>
                  <a:srgbClr val="B8893B"/>
                </a:solidFill>
              </a:rPr>
              <a:t>ALL INFORMATION IN THIS PRESENTATION IS CONFIDENTIAL AND SUBJECT TO THE NON-DISCLOSURE AGREEMENT. Do not copy, forward or disclose it.</a:t>
            </a:r>
            <a:endParaRPr lang="en-US" sz="1300" dirty="0"/>
          </a:p>
        </p:txBody>
      </p:sp>
      <p:sp>
        <p:nvSpPr>
          <p:cNvPr id="7" name="Text 5"/>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D5DAE1"/>
                </a:solidFill>
              </a:rPr>
              <a:t>Investment presentation  |  Jalour Developments, a subsidiary of Al Jalal Holding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Investment highlights</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26,442 m2</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Combined built-up area, G+2: 13,023 and 13,419 m2</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M42 and M42</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Handover months: Green Square and L'avenir</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EGP 4.93 bn</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Combined sales plan, at modelled prices</a:t>
            </a:r>
            <a:endParaRPr lang="en-US" sz="1200" dirty="0"/>
          </a:p>
        </p:txBody>
      </p:sp>
      <p:sp>
        <p:nvSpPr>
          <p:cNvPr id="13" name="Shape 10"/>
          <p:cNvSpPr/>
          <p:nvPr/>
        </p:nvSpPr>
        <p:spPr>
          <a:xfrm>
            <a:off x="8970264" y="1371600"/>
            <a:ext cx="2651760" cy="1417320"/>
          </a:xfrm>
          <a:prstGeom prst="rect">
            <a:avLst/>
          </a:prstGeom>
          <a:solidFill>
            <a:srgbClr val="17324D"/>
          </a:solidFill>
          <a:ln w="12700">
            <a:solidFill>
              <a:srgbClr val="17324D"/>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 / 65</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D5DAE1"/>
                </a:solidFill>
              </a:rPr>
              <a:t>Revenue split with the landowner (Al Ahly Sabbour) and Jalour, in both projects</a:t>
            </a:r>
            <a:endParaRPr lang="en-US" sz="1200" dirty="0"/>
          </a:p>
        </p:txBody>
      </p:sp>
      <p:sp>
        <p:nvSpPr>
          <p:cNvPr id="16" name="Text 13"/>
          <p:cNvSpPr txBox="1"/>
          <p:nvPr/>
        </p:nvSpPr>
        <p:spPr>
          <a:xfrm>
            <a:off x="548640" y="3200400"/>
            <a:ext cx="1106424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One investor, EGP 125 million: EGP 62.5 million in each project. The landowner owns the land; Jalour designs, permits, builds, markets, sells, collects and operates.</a:t>
            </a:r>
            <a:endParaRPr lang="en-US" sz="1600" dirty="0"/>
          </a:p>
          <a:p>
            <a:pPr marL="342900" indent="-342900">
              <a:spcAft>
                <a:spcPts val="600"/>
              </a:spcAft>
              <a:buSzPct val="100000"/>
              <a:buChar char="•"/>
            </a:pPr>
            <a:r>
              <a:rPr lang="en-US" sz="1600" dirty="0">
                <a:solidFill>
                  <a:srgbClr val="1B1F2A"/>
                </a:solidFill>
              </a:rPr>
              <a:t>Option A: units with a face value of EGP 250 million in total (2.0x) at launch list. Projected investor IRR 27.7% (base), 19.5% downside.</a:t>
            </a:r>
            <a:endParaRPr lang="en-US" sz="1600" dirty="0"/>
          </a:p>
          <a:p>
            <a:pPr marL="342900" indent="-342900">
              <a:spcAft>
                <a:spcPts val="600"/>
              </a:spcAft>
              <a:buSzPct val="100000"/>
              <a:buChar char="•"/>
            </a:pPr>
            <a:r>
              <a:rPr lang="en-US" sz="1600" dirty="0">
                <a:solidFill>
                  <a:srgbClr val="1B1F2A"/>
                </a:solidFill>
              </a:rPr>
              <a:t>Option B: cash of EGP 287.5 million (2.3x) in 12 quarterly instalments per project after a 24-month grace. Projected investor IRR 26.5%.</a:t>
            </a:r>
            <a:endParaRPr lang="en-US" sz="1600" dirty="0"/>
          </a:p>
          <a:p>
            <a:pPr marL="342900" indent="-342900">
              <a:spcAft>
                <a:spcPts val="600"/>
              </a:spcAft>
              <a:buSzPct val="100000"/>
              <a:buChar char="•"/>
            </a:pPr>
            <a:r>
              <a:rPr lang="en-US" sz="1600" dirty="0">
                <a:solidFill>
                  <a:srgbClr val="1B1F2A"/>
                </a:solidFill>
              </a:rPr>
              <a:t>Each project sits in its own company, with no cross-collateral and no cross-default.</a:t>
            </a:r>
            <a:endParaRPr lang="en-US" sz="1600" dirty="0"/>
          </a:p>
        </p:txBody>
      </p:sp>
      <p:sp>
        <p:nvSpPr>
          <p:cNvPr id="17" name="Text 14"/>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Combined_Summary sheet. IRRs are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Transaction overview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475488">
                <a:tc>
                  <a:txBody>
                    <a:bodyPr/>
                    <a:lstStyle/>
                    <a:p>
                      <a:pPr algn="l" indent="0" marL="0">
                        <a:buNone/>
                      </a:pPr>
                      <a:r>
                        <a:rPr lang="en-US" sz="1300" b="1" dirty="0">
                          <a:solidFill>
                            <a:srgbClr val="FFFFFF"/>
                          </a:solidFill>
                        </a:rPr>
                        <a:t>Term</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Summary</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300" b="1"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125 million in total (USD 2.6 million at EGP 48 per USD): EGP 62.5 million in Green Square and EGP 62.5 million in L'avenir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B1F2A"/>
                          </a:solidFill>
                        </a:rPr>
                        <a:t>Issuers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One project company for each development (names, jurisdiction and instrument to be confirmed by counsel)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300" b="1" dirty="0">
                          <a:solidFill>
                            <a:srgbClr val="1B1F2A"/>
                          </a:solidFill>
                        </a:rPr>
                        <a:t>Use of proceeds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Down payments to the landowner, guarantee instalments and working capital to each funding peak, and pre-construction costs (modelled need EGP 113.0 million and EGP 112.5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B1F2A"/>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Units with a face value of EGP 125 million in each project at launch list prices (EGP 250 million in total), from the first two sales tranches of each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300" b="1" dirty="0">
                          <a:solidFill>
                            <a:srgbClr val="1B1F2A"/>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143.75 million from each project (EGP 287.5 million in total) in 12 equal quarterly instalments of EGP 11.98 million each, after a 24-month grace period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B1F2A"/>
                          </a:solidFill>
                        </a:rPr>
                        <a:t>Choice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The investor chooses Option A or Option B at signing; the choice applies to both projects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300" b="1" dirty="0">
                          <a:solidFill>
                            <a:srgbClr val="1B1F2A"/>
                          </a:solidFill>
                        </a:rPr>
                        <a:t>Balance of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The balance of project funding is provided by Jalour sponsor equity, project collections and other capital sources. This applies in each project.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B1F2A"/>
                          </a:solidFill>
                        </a:rPr>
                        <a:t>Further capital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Jalour may raise further capital at project or holding level, subject to the investor's stated rights (ranking, collateral, information rights)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Term summary; final terms are set by the definitive agreements.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Cairo office and commercial supply and demand</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73%</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 Cairo office stock, current and future, is in New Cairo</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~9%</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vacancy, stable (Q1 2026); Grade A occupancy about 90%</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+82%</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pipeline to 2029 relative to current stock: supply is the main risk</a:t>
            </a:r>
            <a:endParaRPr lang="en-US" sz="1200" dirty="0"/>
          </a:p>
        </p:txBody>
      </p:sp>
      <p:sp>
        <p:nvSpPr>
          <p:cNvPr id="13" name="Shape 10"/>
          <p:cNvSpPr/>
          <p:nvPr/>
        </p:nvSpPr>
        <p:spPr>
          <a:xfrm>
            <a:off x="8970264" y="1371600"/>
            <a:ext cx="2651760" cy="1417320"/>
          </a:xfrm>
          <a:prstGeom prst="rect">
            <a:avLst/>
          </a:prstGeom>
          <a:solidFill>
            <a:srgbClr val="F2F4F7"/>
          </a:solidFill>
          <a:ln w="12700">
            <a:solidFill>
              <a:srgbClr val="F2F4F7"/>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USD 348</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Grade A rent per m2 per year in New Cairo business parks (Q2 2026)</a:t>
            </a:r>
            <a:endParaRPr lang="en-US" sz="1200" dirty="0"/>
          </a:p>
        </p:txBody>
      </p:sp>
      <p:sp>
        <p:nvSpPr>
          <p:cNvPr id="16" name="Text 13"/>
          <p:cNvSpPr txBox="1"/>
          <p:nvPr/>
        </p:nvSpPr>
        <p:spPr>
          <a:xfrm>
            <a:off x="548640" y="3063240"/>
            <a:ext cx="11064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Mostakbal City covers about 11,000 feddans, with a planned population of about 1 million; master developer is the state-linked Mostakbal for Urban Development (MIDAR).</a:t>
            </a:r>
            <a:endParaRPr lang="en-US" sz="1600" dirty="0"/>
          </a:p>
          <a:p>
            <a:pPr marL="342900" indent="-342900">
              <a:spcAft>
                <a:spcPts val="600"/>
              </a:spcAft>
              <a:buSzPct val="100000"/>
              <a:buChar char="•"/>
            </a:pPr>
            <a:r>
              <a:rPr lang="en-US" sz="1600" dirty="0">
                <a:solidFill>
                  <a:srgbClr val="1B1F2A"/>
                </a:solidFill>
              </a:rPr>
              <a:t>Connected by the Regional (Middle) Ring Road and the East Cairo monorail corridor to Shorouk, Obour, Badr and the New Administrative Capital.</a:t>
            </a:r>
            <a:endParaRPr lang="en-US" sz="1600" dirty="0"/>
          </a:p>
          <a:p>
            <a:pPr marL="342900" indent="-342900">
              <a:spcAft>
                <a:spcPts val="600"/>
              </a:spcAft>
              <a:buSzPct val="100000"/>
              <a:buChar char="•"/>
            </a:pPr>
            <a:r>
              <a:rPr lang="en-US" sz="1600" dirty="0">
                <a:solidFill>
                  <a:srgbClr val="1B1F2A"/>
                </a:solidFill>
              </a:rPr>
              <a:t>Cairo retail stock above 3.3 million m2 after about 89,000 m2 delivered in Q1 2026, mostly small malls in New Cairo and Giza; about 331,300 m2 more due by end 2026.</a:t>
            </a:r>
            <a:endParaRPr lang="en-US" sz="1600" dirty="0"/>
          </a:p>
          <a:p>
            <a:pPr marL="342900" indent="-342900">
              <a:spcAft>
                <a:spcPts val="600"/>
              </a:spcAft>
              <a:buSzPct val="100000"/>
              <a:buChar char="•"/>
            </a:pPr>
            <a:r>
              <a:rPr lang="en-US" sz="1600" dirty="0">
                <a:solidFill>
                  <a:srgbClr val="1B1F2A"/>
                </a:solidFill>
              </a:rPr>
              <a:t>Comparable commercial schemes are under way: Hassan Allam's HAPTOWN (offices G+1 to G+4, retail, healthcare) in Mostakbal City.</a:t>
            </a:r>
            <a:endParaRPr lang="en-US" sz="1600" dirty="0"/>
          </a:p>
        </p:txBody>
      </p:sp>
      <p:sp>
        <p:nvSpPr>
          <p:cNvPr id="17" name="Text 1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Knight Frank (via Arabian Business, Jul 2026; Enterprise, Jul 2026); JLL Q1 2026 (via Invest-Gate); MIDAR; Nawy; Bayut; Invest-Gate. Knight Frank and JLL use different office-stock definitions.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pricing evidence and demand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4754880"/>
                <a:gridCol w="4572000"/>
              </a:tblGrid>
              <a:tr h="566928">
                <a:tc>
                  <a:txBody>
                    <a:bodyPr/>
                    <a:lstStyle/>
                    <a:p>
                      <a:pPr algn="l" indent="0" marL="0">
                        <a:buNone/>
                      </a:pPr>
                      <a:r>
                        <a:rPr lang="en-US" sz="1200" b="1" dirty="0">
                          <a:solidFill>
                            <a:srgbClr val="FFFFFF"/>
                          </a:solidFill>
                        </a:rPr>
                        <a:t>Indicator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Evidence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Plan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66928">
                <a:tc>
                  <a:txBody>
                    <a:bodyPr/>
                    <a:lstStyle/>
                    <a:p>
                      <a:pPr algn="l" indent="0" marL="0">
                        <a:buNone/>
                      </a:pPr>
                      <a:r>
                        <a:rPr lang="en-US" sz="1200" b="1" dirty="0">
                          <a:solidFill>
                            <a:srgbClr val="1B1F2A"/>
                          </a:solidFill>
                        </a:rPr>
                        <a:t>Office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Mostakbal City listings: EGP 106,000 to 120,000 per m2 (asking)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EGP 135,000 (Green Square) and 160,000 (L'avenir); delivery list 200,000 and 240,000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1F2A"/>
                          </a:solidFill>
                        </a:rPr>
                        <a:t>Retail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New Cairo listings: EGP 139,000 to 325,000 per m2 (asking, individual listings)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Launch EGP 225,000 and 250,000; delivery list 300,000 and 360,000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66928">
                <a:tc>
                  <a:txBody>
                    <a:bodyPr/>
                    <a:lstStyle/>
                    <a:p>
                      <a:pPr algn="l" indent="0" marL="0">
                        <a:buNone/>
                      </a:pPr>
                      <a:r>
                        <a:rPr lang="en-US" sz="1200" b="1" dirty="0">
                          <a:solidFill>
                            <a:srgbClr val="1B1F2A"/>
                          </a:solidFill>
                        </a:rPr>
                        <a:t>Price growth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New Cairo secondary prices +3.1% y/y (Q1 2026); broker estimates 10 to 16% a year for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to delivery list: offices +48% / +50%; retail +33% / +44%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1F2A"/>
                          </a:solidFill>
                        </a:rPr>
                        <a:t>Offices vs today</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Asking prices today, mid-point EGP 113,000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Delivery list +77% (about 15% a year) and +112% (about 18% a year)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66928">
                <a:tc>
                  <a:txBody>
                    <a:bodyPr/>
                    <a:lstStyle/>
                    <a:p>
                      <a:pPr algn="l" indent="0" marL="0">
                        <a:buNone/>
                      </a:pPr>
                      <a:r>
                        <a:rPr lang="en-US" sz="1200" b="1" dirty="0">
                          <a:solidFill>
                            <a:srgbClr val="1B1F2A"/>
                          </a:solidFill>
                        </a:rPr>
                        <a:t>Interest rates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CBE overnight deposit rate 19.00% (Sep 2026); urban inflation 14.5% (Aug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Discount rate 14%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1F2A"/>
                          </a:solidFill>
                        </a:rPr>
                        <a:t>Developer sales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Top 10 developers EGP 670 bn in H1 2026, +2.9% y/y; units sold -5%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Sales over about 3 years from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300" dirty="0">
                <a:solidFill>
                  <a:srgbClr val="1B1F2A"/>
                </a:solidFill>
              </a:rPr>
              <a:t>Reading across: both plans need price growth at the upper end of recent evidence. The downside case on slide 15 tests lower prices and later sales.</a:t>
            </a:r>
            <a:endParaRPr lang="en-US" sz="1300" dirty="0"/>
          </a:p>
        </p:txBody>
      </p:sp>
      <p:sp>
        <p:nvSpPr>
          <p:cNvPr id="6" name="Text 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Property Finder listings (2026); JLL via Enterprise (2026); Sands of Wealth (2026); CBE via Bnok24; CAPMAS via Ahram Online; Daily News Egypt. Listings are asking prices, not transactions. Pricing growth is measured from today (assumed December 2026).</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The two projects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2743200"/>
                <a:gridCol w="1920240"/>
                <a:gridCol w="1920240"/>
              </a:tblGrid>
              <a:tr h="384048">
                <a:tc>
                  <a:txBody>
                    <a:bodyPr/>
                    <a:lstStyle/>
                    <a:p>
                      <a:pPr algn="l" indent="0" marL="0">
                        <a:buNone/>
                      </a:pPr>
                      <a:r>
                        <a:rPr lang="en-US" sz="1200" b="1" dirty="0">
                          <a:solidFill>
                            <a:srgbClr val="FFFFFF"/>
                          </a:solidFill>
                        </a:rPr>
                        <a:t>Item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Green Square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L'avenir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84048">
                <a:tc>
                  <a:txBody>
                    <a:bodyPr/>
                    <a:lstStyle/>
                    <a:p>
                      <a:pPr algn="l" indent="0" marL="0">
                        <a:buNone/>
                      </a:pPr>
                      <a:r>
                        <a:rPr lang="en-US" sz="1200" b="1" dirty="0">
                          <a:solidFill>
                            <a:srgbClr val="1B1F2A"/>
                          </a:solidFill>
                        </a:rPr>
                        <a:t>Land area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14,470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14,910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1F2A"/>
                          </a:solidFill>
                        </a:rPr>
                        <a:t>Footprint, 30%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4,341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4,473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b="1" dirty="0">
                          <a:solidFill>
                            <a:srgbClr val="1B1F2A"/>
                          </a:solidFill>
                        </a:rPr>
                        <a:t>Height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G+2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G+2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1F2A"/>
                          </a:solidFill>
                        </a:rPr>
                        <a:t>Retail built-up area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4,341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4,473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b="1" dirty="0">
                          <a:solidFill>
                            <a:srgbClr val="1B1F2A"/>
                          </a:solidFill>
                        </a:rPr>
                        <a:t>Office built-up area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8,682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8,946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1F2A"/>
                          </a:solidFill>
                        </a:rPr>
                        <a:t>Total built-up area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13,023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13,419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b="1" dirty="0">
                          <a:solidFill>
                            <a:srgbClr val="1B1F2A"/>
                          </a:solidFill>
                        </a:rPr>
                        <a:t>Finishing standard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Core and shell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Core and shell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1F2A"/>
                          </a:solidFill>
                        </a:rPr>
                        <a:t>Sales start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Month 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Month 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b="1" dirty="0">
                          <a:solidFill>
                            <a:srgbClr val="1B1F2A"/>
                          </a:solidFill>
                        </a:rPr>
                        <a:t>Construction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Months 7 to 42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Months 7 to 42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1F2A"/>
                          </a:solidFill>
                        </a:rPr>
                        <a:t>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Month 42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Month 42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5" name="Chart 0" descr=""/>
          <p:cNvGraphicFramePr/>
          <p:nvPr/>
        </p:nvGraphicFramePr>
        <p:xfrm>
          <a:off x="7406640" y="1280160"/>
          <a:ext cx="4206240" cy="402336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(project summaries).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Partnership with Al Ahly Sabbour and the revenue share</a:t>
            </a:r>
            <a:endParaRPr lang="en-US" sz="2800" dirty="0"/>
          </a:p>
        </p:txBody>
      </p:sp>
      <p:sp>
        <p:nvSpPr>
          <p:cNvPr id="4" name="Shape 1"/>
          <p:cNvSpPr/>
          <p:nvPr/>
        </p:nvSpPr>
        <p:spPr>
          <a:xfrm>
            <a:off x="548640" y="1371600"/>
            <a:ext cx="2743200" cy="1097280"/>
          </a:xfrm>
          <a:prstGeom prst="rect">
            <a:avLst/>
          </a:prstGeom>
          <a:solidFill>
            <a:srgbClr val="F2F4F7"/>
          </a:solidFill>
          <a:ln w="12700">
            <a:solidFill>
              <a:srgbClr val="F2F4F7"/>
            </a:solidFill>
            <a:prstDash val="solid"/>
          </a:ln>
        </p:spPr>
      </p:sp>
      <p:sp>
        <p:nvSpPr>
          <p:cNvPr id="5" name="Text 2"/>
          <p:cNvSpPr txBox="1"/>
          <p:nvPr/>
        </p:nvSpPr>
        <p:spPr>
          <a:xfrm>
            <a:off x="685800" y="1417320"/>
            <a:ext cx="2468880" cy="1005840"/>
          </a:xfrm>
          <a:prstGeom prst="rect">
            <a:avLst/>
          </a:prstGeom>
          <a:noFill/>
          <a:ln/>
        </p:spPr>
        <p:txBody>
          <a:bodyPr wrap="square" lIns="0" tIns="0" rIns="0" bIns="0" rtlCol="0" anchor="t"/>
          <a:lstStyle/>
          <a:p>
            <a:pPr indent="0" marL="0">
              <a:buNone/>
            </a:pPr>
            <a:r>
              <a:rPr lang="en-US" sz="1200" b="1" dirty="0">
                <a:solidFill>
                  <a:srgbClr val="1B1F2A"/>
                </a:solidFill>
              </a:rPr>
              <a:t>Al Ahly Sabbour</a:t>
            </a:r>
            <a:endParaRPr lang="en-US" sz="1200" dirty="0"/>
          </a:p>
          <a:p>
            <a:pPr indent="0" marL="0">
              <a:buNone/>
            </a:pPr>
            <a:r>
              <a:rPr lang="en-US" sz="1200" dirty="0">
                <a:solidFill>
                  <a:srgbClr val="1B1F2A"/>
                </a:solidFill>
              </a:rPr>
              <a:t>Landowner of both plots. Receives 35% of collections, subject to a minimum guarantee.</a:t>
            </a:r>
            <a:endParaRPr lang="en-US" sz="1200" dirty="0"/>
          </a:p>
        </p:txBody>
      </p:sp>
      <p:sp>
        <p:nvSpPr>
          <p:cNvPr id="6" name="Shape 3"/>
          <p:cNvSpPr/>
          <p:nvPr/>
        </p:nvSpPr>
        <p:spPr>
          <a:xfrm>
            <a:off x="548640" y="2606040"/>
            <a:ext cx="2743200" cy="1737360"/>
          </a:xfrm>
          <a:prstGeom prst="rect">
            <a:avLst/>
          </a:prstGeom>
          <a:solidFill>
            <a:srgbClr val="F2F4F7"/>
          </a:solidFill>
          <a:ln w="12700">
            <a:solidFill>
              <a:srgbClr val="F2F4F7"/>
            </a:solidFill>
            <a:prstDash val="solid"/>
          </a:ln>
        </p:spPr>
      </p:sp>
      <p:sp>
        <p:nvSpPr>
          <p:cNvPr id="7" name="Text 4"/>
          <p:cNvSpPr txBox="1"/>
          <p:nvPr/>
        </p:nvSpPr>
        <p:spPr>
          <a:xfrm>
            <a:off x="685800" y="2651760"/>
            <a:ext cx="2468880" cy="1645920"/>
          </a:xfrm>
          <a:prstGeom prst="rect">
            <a:avLst/>
          </a:prstGeom>
          <a:noFill/>
          <a:ln/>
        </p:spPr>
        <p:txBody>
          <a:bodyPr wrap="square" lIns="0" tIns="0" rIns="0" bIns="0" rtlCol="0" anchor="t"/>
          <a:lstStyle/>
          <a:p>
            <a:pPr indent="0" marL="0">
              <a:buNone/>
            </a:pPr>
            <a:r>
              <a:rPr lang="en-US" sz="1200" b="1" dirty="0">
                <a:solidFill>
                  <a:srgbClr val="1B1F2A"/>
                </a:solidFill>
              </a:rPr>
              <a:t>Jalour</a:t>
            </a:r>
            <a:endParaRPr lang="en-US" sz="1200" dirty="0"/>
          </a:p>
          <a:p>
            <a:pPr indent="0" marL="0">
              <a:buNone/>
            </a:pPr>
            <a:r>
              <a:rPr lang="en-US" sz="1200" dirty="0">
                <a:solidFill>
                  <a:srgbClr val="1B1F2A"/>
                </a:solidFill>
              </a:rPr>
              <a:t>Developer and operator. Keeps 65% of collections. Carries design, permits, core-and-shell construction, marketing, sales, collection and operation costs.</a:t>
            </a:r>
            <a:endParaRPr lang="en-US" sz="1200" dirty="0"/>
          </a:p>
        </p:txBody>
      </p:sp>
      <p:graphicFrame>
        <p:nvGraphicFramePr>
          <p:cNvPr id="8" name="Chart 0" descr=""/>
          <p:cNvGraphicFramePr/>
          <p:nvPr/>
        </p:nvGraphicFramePr>
        <p:xfrm>
          <a:off x="3657600" y="1280160"/>
          <a:ext cx="7955280" cy="32004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48640" y="457200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Minimum guarantee EGP 800 million (Green Square) and EGP 850 million (L'avenir) over six years; down payments EGP 80 and 85 million (10%) paid up front.</a:t>
            </a:r>
            <a:endParaRPr lang="en-US" sz="1200" dirty="0"/>
          </a:p>
          <a:p>
            <a:pPr marL="342900" indent="-342900">
              <a:spcAft>
                <a:spcPts val="600"/>
              </a:spcAft>
              <a:buSzPct val="100000"/>
              <a:buChar char="•"/>
            </a:pPr>
            <a:r>
              <a:rPr lang="en-US" sz="1200" dirty="0">
                <a:solidFill>
                  <a:srgbClr val="1B1F2A"/>
                </a:solidFill>
              </a:rPr>
              <a:t>Landlord share is 35% of collections or the guaranteed instalment, whichever is higher; any excess is settled from year 8.</a:t>
            </a:r>
            <a:endParaRPr lang="en-US" sz="1200" dirty="0"/>
          </a:p>
          <a:p>
            <a:pPr marL="342900" indent="-342900">
              <a:spcAft>
                <a:spcPts val="600"/>
              </a:spcAft>
              <a:buSzPct val="100000"/>
              <a:buChar char="•"/>
            </a:pPr>
            <a:r>
              <a:rPr lang="en-US" sz="1200" dirty="0">
                <a:solidFill>
                  <a:srgbClr val="1B1F2A"/>
                </a:solidFill>
              </a:rPr>
              <a:t>Allocation of units, assignment of collections or any encumbrance affecting the landlord share requires the landlord's written consent.</a:t>
            </a:r>
            <a:endParaRPr lang="en-US" sz="1200" dirty="0"/>
          </a:p>
        </p:txBody>
      </p:sp>
      <p:sp>
        <p:nvSpPr>
          <p:cNvPr id="10" name="Text 6"/>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(landlord terms); agreement terms to be confirmed in the data room.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Jalour Developments: role and track record</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Role in both projects</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Design and permits</a:t>
            </a:r>
            <a:endParaRPr lang="en-US" sz="1400" dirty="0"/>
          </a:p>
          <a:p>
            <a:pPr marL="342900" indent="-342900">
              <a:spcAft>
                <a:spcPts val="600"/>
              </a:spcAft>
              <a:buSzPct val="100000"/>
              <a:buChar char="•"/>
            </a:pPr>
            <a:r>
              <a:rPr lang="en-US" sz="1400" dirty="0">
                <a:solidFill>
                  <a:srgbClr val="1B1F2A"/>
                </a:solidFill>
              </a:rPr>
              <a:t>Construction to core-and-shell standard</a:t>
            </a:r>
            <a:endParaRPr lang="en-US" sz="1400" dirty="0"/>
          </a:p>
          <a:p>
            <a:pPr marL="342900" indent="-342900">
              <a:spcAft>
                <a:spcPts val="600"/>
              </a:spcAft>
              <a:buSzPct val="100000"/>
              <a:buChar char="•"/>
            </a:pPr>
            <a:r>
              <a:rPr lang="en-US" sz="1400" dirty="0">
                <a:solidFill>
                  <a:srgbClr val="1B1F2A"/>
                </a:solidFill>
              </a:rPr>
              <a:t>Marketing, branding and sales</a:t>
            </a:r>
            <a:endParaRPr lang="en-US" sz="1400" dirty="0"/>
          </a:p>
          <a:p>
            <a:pPr marL="342900" indent="-342900">
              <a:spcAft>
                <a:spcPts val="600"/>
              </a:spcAft>
              <a:buSzPct val="100000"/>
              <a:buChar char="•"/>
            </a:pPr>
            <a:r>
              <a:rPr lang="en-US" sz="1400" dirty="0">
                <a:solidFill>
                  <a:srgbClr val="1B1F2A"/>
                </a:solidFill>
              </a:rPr>
              <a:t>Collection of instalments</a:t>
            </a:r>
            <a:endParaRPr lang="en-US" sz="1400" dirty="0"/>
          </a:p>
          <a:p>
            <a:pPr marL="342900" indent="-342900">
              <a:spcAft>
                <a:spcPts val="600"/>
              </a:spcAft>
              <a:buSzPct val="100000"/>
              <a:buChar char="•"/>
            </a:pPr>
            <a:r>
              <a:rPr lang="en-US" sz="1400" dirty="0">
                <a:solidFill>
                  <a:srgbClr val="1B1F2A"/>
                </a:solidFill>
              </a:rPr>
              <a:t>Operation, management and maintenance, directly or through a facility management company</a:t>
            </a:r>
            <a:endParaRPr lang="en-US" sz="1400" dirty="0"/>
          </a:p>
          <a:p>
            <a:pPr marL="342900" indent="-342900">
              <a:spcAft>
                <a:spcPts val="600"/>
              </a:spcAft>
              <a:buSzPct val="100000"/>
              <a:buChar char="•"/>
            </a:pPr>
            <a:r>
              <a:rPr lang="en-US" sz="1400" dirty="0">
                <a:solidFill>
                  <a:srgbClr val="1B1F2A"/>
                </a:solidFill>
              </a:rPr>
              <a:t>Covers project funding gaps from its cash reserves and cash from other projects it is constructing (to be documented)</a:t>
            </a:r>
            <a:endParaRPr lang="en-US" sz="14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Track record and team</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Completed projects, area delivered and units handed over</a:t>
            </a:r>
            <a:endParaRPr lang="en-US" sz="1400" dirty="0"/>
          </a:p>
          <a:p>
            <a:pPr marL="342900" indent="-342900">
              <a:spcAft>
                <a:spcPts val="600"/>
              </a:spcAft>
              <a:buSzPct val="100000"/>
              <a:buChar char="•"/>
            </a:pPr>
            <a:r>
              <a:rPr lang="en-US" sz="1400" dirty="0">
                <a:solidFill>
                  <a:srgbClr val="1B1F2A"/>
                </a:solidFill>
              </a:rPr>
              <a:t>Management team biographies</a:t>
            </a:r>
            <a:endParaRPr lang="en-US" sz="1400" dirty="0"/>
          </a:p>
          <a:p>
            <a:pPr marL="342900" indent="-342900">
              <a:spcAft>
                <a:spcPts val="600"/>
              </a:spcAft>
              <a:buSzPct val="100000"/>
              <a:buChar char="•"/>
            </a:pPr>
            <a:r>
              <a:rPr lang="en-US" sz="1400" dirty="0">
                <a:solidFill>
                  <a:srgbClr val="1B1F2A"/>
                </a:solidFill>
              </a:rPr>
              <a:t>Audited financial statements of Jalour and Al Jalal Holding</a:t>
            </a:r>
            <a:endParaRPr lang="en-US" sz="1400" dirty="0"/>
          </a:p>
          <a:p>
            <a:pPr marL="342900" indent="-342900">
              <a:spcAft>
                <a:spcPts val="600"/>
              </a:spcAft>
              <a:buSzPct val="100000"/>
              <a:buChar char="•"/>
            </a:pPr>
            <a:r>
              <a:rPr lang="en-US" sz="1400" dirty="0">
                <a:solidFill>
                  <a:srgbClr val="1B1F2A"/>
                </a:solidFill>
              </a:rPr>
              <a:t>References from landlords, contractors and buyers</a:t>
            </a:r>
            <a:endParaRPr lang="en-US" sz="1400" dirty="0"/>
          </a:p>
          <a:p>
            <a:pPr marL="342900" indent="-342900">
              <a:spcAft>
                <a:spcPts val="600"/>
              </a:spcAft>
              <a:buSzPct val="100000"/>
              <a:buChar char="•"/>
            </a:pPr>
            <a:r>
              <a:rPr lang="en-US" sz="1400" dirty="0">
                <a:solidFill>
                  <a:srgbClr val="1B1F2A"/>
                </a:solidFill>
              </a:rPr>
              <a:t>All provided after the investor signs a non-disclosure agreement</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Developments is the real estate arm of Al Jalal Holding, Cairo. Sponsor materials are provided after the investor signs a non-disclosure agreement.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Sales plan and pricing</a:t>
            </a:r>
            <a:endParaRPr lang="en-US" sz="2800" dirty="0"/>
          </a:p>
        </p:txBody>
      </p:sp>
      <p:graphicFrame>
        <p:nvGraphicFramePr>
          <p:cNvPr id="4" name="Chart 0" descr=""/>
          <p:cNvGraphicFramePr/>
          <p:nvPr/>
        </p:nvGraphicFramePr>
        <p:xfrm>
          <a:off x="548640" y="1234440"/>
          <a:ext cx="54406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234440"/>
          <a:ext cx="544068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103120"/>
                <a:gridCol w="1463040"/>
                <a:gridCol w="1828800"/>
                <a:gridCol w="1463040"/>
                <a:gridCol w="1828800"/>
                <a:gridCol w="2377440"/>
              </a:tblGrid>
              <a:tr h="347472">
                <a:tc>
                  <a:txBody>
                    <a:bodyPr/>
                    <a:lstStyle/>
                    <a:p>
                      <a:pPr algn="l" indent="0" marL="0">
                        <a:buNone/>
                      </a:pPr>
                      <a:r>
                        <a:rPr lang="en-US" sz="1200" b="1" dirty="0">
                          <a:solidFill>
                            <a:srgbClr val="FFFFFF"/>
                          </a:solidFill>
                        </a:rPr>
                        <a:t>EGP thousand per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Retail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Retail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Offices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Offices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Sales plan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47472">
                <a:tc>
                  <a:txBody>
                    <a:bodyPr/>
                    <a:lstStyle/>
                    <a:p>
                      <a:pPr algn="l" indent="0" marL="0">
                        <a:buNone/>
                      </a:pPr>
                      <a:r>
                        <a:rPr lang="en-US" sz="1200" dirty="0">
                          <a:solidFill>
                            <a:srgbClr val="1B1F2A"/>
                          </a:solidFill>
                        </a:rPr>
                        <a:t>Green Square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135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2,253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B1F2A"/>
                          </a:solidFill>
                        </a:rPr>
                        <a:t>L'avenir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250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360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160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240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2,674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7" name="Text 1"/>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200" dirty="0">
                <a:solidFill>
                  <a:srgbClr val="1B1F2A"/>
                </a:solidFill>
              </a:rPr>
              <a:t>Payment plans: down payment 5% to 20%, equal second payment after three months, instalments of 2 to 8 years and a delivery payment of 20% to 25%, collected on a contractual milestone ahead of handover.</a:t>
            </a:r>
            <a:endParaRPr lang="en-US" sz="1200" dirty="0"/>
          </a:p>
        </p:txBody>
      </p:sp>
      <p:sp>
        <p:nvSpPr>
          <p:cNvPr id="8"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(sales sheets). Prices are model assumptions; see slide 5 for market evidence.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Collections, costs and cash flow</a:t>
            </a:r>
            <a:endParaRPr lang="en-US" sz="2800" dirty="0"/>
          </a:p>
        </p:txBody>
      </p:sp>
      <p:graphicFrame>
        <p:nvGraphicFramePr>
          <p:cNvPr id="4" name="Chart 0" descr=""/>
          <p:cNvGraphicFramePr/>
          <p:nvPr/>
        </p:nvGraphicFramePr>
        <p:xfrm>
          <a:off x="548640" y="128016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138160" y="1371600"/>
            <a:ext cx="3474720" cy="1417320"/>
          </a:xfrm>
          <a:prstGeom prst="rect">
            <a:avLst/>
          </a:prstGeom>
          <a:solidFill>
            <a:srgbClr val="F2F4F7"/>
          </a:solidFill>
          <a:ln w="12700">
            <a:solidFill>
              <a:srgbClr val="F2F4F7"/>
            </a:solidFill>
            <a:prstDash val="solid"/>
          </a:ln>
        </p:spPr>
      </p:sp>
      <p:sp>
        <p:nvSpPr>
          <p:cNvPr id="6" name="Text 2"/>
          <p:cNvSpPr txBox="1"/>
          <p:nvPr/>
        </p:nvSpPr>
        <p:spPr>
          <a:xfrm>
            <a:off x="8321040" y="1481328"/>
            <a:ext cx="310896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375 / 595</a:t>
            </a:r>
            <a:endParaRPr lang="en-US" sz="3000" dirty="0"/>
          </a:p>
        </p:txBody>
      </p:sp>
      <p:sp>
        <p:nvSpPr>
          <p:cNvPr id="7" name="Text 3"/>
          <p:cNvSpPr txBox="1"/>
          <p:nvPr/>
        </p:nvSpPr>
        <p:spPr>
          <a:xfrm>
            <a:off x="8321040" y="2212848"/>
            <a:ext cx="3108960" cy="502920"/>
          </a:xfrm>
          <a:prstGeom prst="rect">
            <a:avLst/>
          </a:prstGeom>
          <a:noFill/>
          <a:ln/>
        </p:spPr>
        <p:txBody>
          <a:bodyPr wrap="square" lIns="0" tIns="0" rIns="0" bIns="0" rtlCol="0" anchor="t"/>
          <a:lstStyle/>
          <a:p>
            <a:pPr indent="0" marL="0">
              <a:buNone/>
            </a:pPr>
            <a:r>
              <a:rPr lang="en-US" sz="1200" dirty="0">
                <a:solidFill>
                  <a:srgbClr val="6B7280"/>
                </a:solidFill>
              </a:rPr>
              <a:t>Net cash flow, nominal: Green Square / L'avenir (EGP million)</a:t>
            </a:r>
            <a:endParaRPr lang="en-US" sz="1200" dirty="0"/>
          </a:p>
        </p:txBody>
      </p:sp>
      <p:sp>
        <p:nvSpPr>
          <p:cNvPr id="8" name="Shape 4"/>
          <p:cNvSpPr/>
          <p:nvPr/>
        </p:nvSpPr>
        <p:spPr>
          <a:xfrm>
            <a:off x="8138160" y="2926080"/>
            <a:ext cx="3474720" cy="1417320"/>
          </a:xfrm>
          <a:prstGeom prst="rect">
            <a:avLst/>
          </a:prstGeom>
          <a:solidFill>
            <a:srgbClr val="F2F4F7"/>
          </a:solidFill>
          <a:ln w="12700">
            <a:solidFill>
              <a:srgbClr val="F2F4F7"/>
            </a:solidFill>
            <a:prstDash val="solid"/>
          </a:ln>
        </p:spPr>
      </p:sp>
      <p:sp>
        <p:nvSpPr>
          <p:cNvPr id="9" name="Text 5"/>
          <p:cNvSpPr txBox="1"/>
          <p:nvPr/>
        </p:nvSpPr>
        <p:spPr>
          <a:xfrm>
            <a:off x="8321040" y="3035808"/>
            <a:ext cx="310896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230 / 351</a:t>
            </a:r>
            <a:endParaRPr lang="en-US" sz="3000" dirty="0"/>
          </a:p>
        </p:txBody>
      </p:sp>
      <p:sp>
        <p:nvSpPr>
          <p:cNvPr id="10" name="Text 6"/>
          <p:cNvSpPr txBox="1"/>
          <p:nvPr/>
        </p:nvSpPr>
        <p:spPr>
          <a:xfrm>
            <a:off x="8321040" y="3767328"/>
            <a:ext cx="3108960" cy="502920"/>
          </a:xfrm>
          <a:prstGeom prst="rect">
            <a:avLst/>
          </a:prstGeom>
          <a:noFill/>
          <a:ln/>
        </p:spPr>
        <p:txBody>
          <a:bodyPr wrap="square" lIns="0" tIns="0" rIns="0" bIns="0" rtlCol="0" anchor="t"/>
          <a:lstStyle/>
          <a:p>
            <a:pPr indent="0" marL="0">
              <a:buNone/>
            </a:pPr>
            <a:r>
              <a:rPr lang="en-US" sz="1200" dirty="0">
                <a:solidFill>
                  <a:srgbClr val="6B7280"/>
                </a:solidFill>
              </a:rPr>
              <a:t>NPV at 14% (EGP million)</a:t>
            </a:r>
            <a:endParaRPr lang="en-US" sz="1200" dirty="0"/>
          </a:p>
        </p:txBody>
      </p:sp>
      <p:sp>
        <p:nvSpPr>
          <p:cNvPr id="11" name="Shape 7"/>
          <p:cNvSpPr/>
          <p:nvPr/>
        </p:nvSpPr>
        <p:spPr>
          <a:xfrm>
            <a:off x="8138160" y="4480560"/>
            <a:ext cx="3474720" cy="1417320"/>
          </a:xfrm>
          <a:prstGeom prst="rect">
            <a:avLst/>
          </a:prstGeom>
          <a:solidFill>
            <a:srgbClr val="F2F4F7"/>
          </a:solidFill>
          <a:ln w="12700">
            <a:solidFill>
              <a:srgbClr val="F2F4F7"/>
            </a:solidFill>
            <a:prstDash val="solid"/>
          </a:ln>
        </p:spPr>
      </p:sp>
      <p:sp>
        <p:nvSpPr>
          <p:cNvPr id="12" name="Text 8"/>
          <p:cNvSpPr txBox="1"/>
          <p:nvPr/>
        </p:nvSpPr>
        <p:spPr>
          <a:xfrm>
            <a:off x="8321040" y="4590288"/>
            <a:ext cx="310896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102.5 / 102.0</a:t>
            </a:r>
            <a:endParaRPr lang="en-US" sz="3000" dirty="0"/>
          </a:p>
        </p:txBody>
      </p:sp>
      <p:sp>
        <p:nvSpPr>
          <p:cNvPr id="13" name="Text 9"/>
          <p:cNvSpPr txBox="1"/>
          <p:nvPr/>
        </p:nvSpPr>
        <p:spPr>
          <a:xfrm>
            <a:off x="8321040" y="5321808"/>
            <a:ext cx="3108960" cy="502920"/>
          </a:xfrm>
          <a:prstGeom prst="rect">
            <a:avLst/>
          </a:prstGeom>
          <a:noFill/>
          <a:ln/>
        </p:spPr>
        <p:txBody>
          <a:bodyPr wrap="square" lIns="0" tIns="0" rIns="0" bIns="0" rtlCol="0" anchor="t"/>
          <a:lstStyle/>
          <a:p>
            <a:pPr indent="0" marL="0">
              <a:buNone/>
            </a:pPr>
            <a:r>
              <a:rPr lang="en-US" sz="1200" dirty="0">
                <a:solidFill>
                  <a:srgbClr val="6B7280"/>
                </a:solidFill>
              </a:rPr>
              <a:t>Peak cumulative shortage (EGP million)</a:t>
            </a:r>
            <a:endParaRPr lang="en-US" sz="1200" dirty="0"/>
          </a:p>
        </p:txBody>
      </p:sp>
      <p:sp>
        <p:nvSpPr>
          <p:cNvPr id="14" name="Text 1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GS_Project_CF and LA_Project_CF sheets. Project years: Y1 = months 1 to 12.</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Combined cash position: Green Square and L'avenir</a:t>
            </a:r>
            <a:endParaRPr lang="en-US" sz="2800" dirty="0"/>
          </a:p>
        </p:txBody>
      </p:sp>
      <p:graphicFrame>
        <p:nvGraphicFramePr>
          <p:cNvPr id="4" name="Chart 0" descr=""/>
          <p:cNvGraphicFramePr/>
          <p:nvPr/>
        </p:nvGraphicFramePr>
        <p:xfrm>
          <a:off x="548640" y="1234440"/>
          <a:ext cx="58521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2194560"/>
                <a:gridCol w="914400"/>
                <a:gridCol w="914400"/>
                <a:gridCol w="914400"/>
              </a:tblGrid>
              <a:tr h="310896">
                <a:tc>
                  <a:txBody>
                    <a:bodyPr/>
                    <a:lstStyle/>
                    <a:p>
                      <a:pPr algn="l" indent="0" marL="0">
                        <a:buNone/>
                      </a:pPr>
                      <a:r>
                        <a:rPr lang="en-US" sz="1100" b="1" dirty="0">
                          <a:solidFill>
                            <a:srgbClr val="FFFFFF"/>
                          </a:solidFill>
                        </a:rPr>
                        <a:t>Peak shortage (EGP m)</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Green</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L'avenir</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Combined</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10896">
                <a:tc>
                  <a:txBody>
                    <a:bodyPr/>
                    <a:lstStyle/>
                    <a:p>
                      <a:pPr algn="l" indent="0" marL="0">
                        <a:buNone/>
                      </a:pPr>
                      <a:r>
                        <a:rPr lang="en-US" sz="1100" dirty="0">
                          <a:solidFill>
                            <a:srgbClr val="1B1F2A"/>
                          </a:solidFill>
                        </a:rPr>
                        <a:t>Base</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102</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168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B1F2A"/>
                          </a:solidFill>
                        </a:rPr>
                        <a:t>Delivery payments at handover</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269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244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318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10896">
                <a:tc>
                  <a:txBody>
                    <a:bodyPr/>
                    <a:lstStyle/>
                    <a:p>
                      <a:pPr algn="l" indent="0" marL="0">
                        <a:buNone/>
                      </a:pPr>
                      <a:r>
                        <a:rPr lang="en-US" sz="1100" dirty="0">
                          <a:solidFill>
                            <a:srgbClr val="1B1F2A"/>
                          </a:solidFill>
                        </a:rPr>
                        <a:t>Collections slip 2 quarters</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236</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381</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478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B1F2A"/>
                          </a:solidFill>
                        </a:rPr>
                        <a:t>Sales +12 months, prices -10%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441</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849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1,089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675120" y="3429000"/>
          <a:ext cx="4937760" cy="914400"/>
        </p:xfrm>
        <a:graphic>
          <a:graphicData uri="http://schemas.openxmlformats.org/drawingml/2006/table">
            <a:tbl>
              <a:tblPr/>
              <a:tblGrid>
                <a:gridCol w="4023360"/>
                <a:gridCol w="914400"/>
              </a:tblGrid>
              <a:tr h="310896">
                <a:tc>
                  <a:txBody>
                    <a:bodyPr/>
                    <a:lstStyle/>
                    <a:p>
                      <a:pPr algn="l" indent="0" marL="0">
                        <a:buNone/>
                      </a:pPr>
                      <a:r>
                        <a:rPr lang="en-US" sz="1100" b="1" dirty="0">
                          <a:solidFill>
                            <a:srgbClr val="FFFFFF"/>
                          </a:solidFill>
                        </a:rPr>
                        <a:t>Investor pooled cash after tickets and payouts (Option B)</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EGP m</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10896">
                <a:tc>
                  <a:txBody>
                    <a:bodyPr/>
                    <a:lstStyle/>
                    <a:p>
                      <a:pPr algn="l" indent="0" marL="0">
                        <a:buNone/>
                      </a:pPr>
                      <a:r>
                        <a:rPr lang="en-US" sz="1100" dirty="0">
                          <a:solidFill>
                            <a:srgbClr val="1B1F2A"/>
                          </a:solidFill>
                        </a:rPr>
                        <a:t>Base, lowest</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-43.0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B1F2A"/>
                          </a:solidFill>
                        </a:rPr>
                        <a:t>Delivery payments at handover, lowest</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-301</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10896">
                <a:tc>
                  <a:txBody>
                    <a:bodyPr/>
                    <a:lstStyle/>
                    <a:p>
                      <a:pPr algn="l" indent="0" marL="0">
                        <a:buNone/>
                      </a:pPr>
                      <a:r>
                        <a:rPr lang="en-US" sz="1100" dirty="0">
                          <a:solidFill>
                            <a:srgbClr val="1B1F2A"/>
                          </a:solidFill>
                        </a:rPr>
                        <a:t>Sales +12 months, prices -10%, lowest</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-1,144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7" name="Text 1"/>
          <p:cNvSpPr txBox="1"/>
          <p:nvPr/>
        </p:nvSpPr>
        <p:spPr>
          <a:xfrm>
            <a:off x="548640" y="5029200"/>
            <a:ext cx="11064240" cy="1005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Base case: the combined position is lowest at EGP 168.0 million in month 9 and turns positive in month 24.</a:t>
            </a:r>
            <a:endParaRPr lang="en-US" sz="1200" dirty="0"/>
          </a:p>
          <a:p>
            <a:pPr marL="342900" indent="-342900">
              <a:spcAft>
                <a:spcPts val="600"/>
              </a:spcAft>
              <a:buSzPct val="100000"/>
              <a:buChar char="•"/>
            </a:pPr>
            <a:r>
              <a:rPr lang="en-US" sz="1200" dirty="0">
                <a:solidFill>
                  <a:srgbClr val="1B1F2A"/>
                </a:solidFill>
              </a:rPr>
              <a:t>In the stress cases both projects are short at the same time, so one project's cash cannot be assumed to fund the other. No cross-collateral or cross-default between the projects.</a:t>
            </a:r>
            <a:endParaRPr lang="en-US" sz="1200" dirty="0"/>
          </a:p>
        </p:txBody>
      </p:sp>
      <p:sp>
        <p:nvSpPr>
          <p:cNvPr id="8"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Combined_Position and Combined_Summary sheets. Months on the common calendar: Green Square launch = month 1, L'avenir launch = month 7.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Sources and uses of funds, by project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49240" cy="914400"/>
        </p:xfrm>
        <a:graphic>
          <a:graphicData uri="http://schemas.openxmlformats.org/drawingml/2006/table">
            <a:tbl>
              <a:tblPr/>
              <a:tblGrid>
                <a:gridCol w="3886200"/>
                <a:gridCol w="1463040"/>
              </a:tblGrid>
              <a:tr h="420624">
                <a:tc>
                  <a:txBody>
                    <a:bodyPr/>
                    <a:lstStyle/>
                    <a:p>
                      <a:pPr algn="l" indent="0" marL="0">
                        <a:buNone/>
                      </a:pPr>
                      <a:r>
                        <a:rPr lang="en-US" sz="1200" b="1" dirty="0">
                          <a:solidFill>
                            <a:srgbClr val="FFFFFF"/>
                          </a:solidFill>
                        </a:rPr>
                        <a:t>Green Square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EGP million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20624">
                <a:tc>
                  <a:txBody>
                    <a:bodyPr/>
                    <a:lstStyle/>
                    <a:p>
                      <a:pPr algn="l" indent="0" marL="0">
                        <a:buNone/>
                      </a:pPr>
                      <a:r>
                        <a:rPr lang="en-US" sz="1200" dirty="0">
                          <a:solidFill>
                            <a:srgbClr val="1B1F2A"/>
                          </a:solidFill>
                        </a:rPr>
                        <a:t>Down payment to landowner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80.0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Guarantee instalments and working capital to the peak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20624">
                <a:tc>
                  <a:txBody>
                    <a:bodyPr/>
                    <a:lstStyle/>
                    <a:p>
                      <a:pPr algn="l" indent="0" marL="0">
                        <a:buNone/>
                      </a:pPr>
                      <a:r>
                        <a:rPr lang="en-US" sz="1200" dirty="0">
                          <a:solidFill>
                            <a:srgbClr val="1B1F2A"/>
                          </a:solidFill>
                        </a:rPr>
                        <a:t>Design, permits, pre-construction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Total uses at peak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113.0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20624">
                <a:tc>
                  <a:txBody>
                    <a:bodyPr/>
                    <a:lstStyle/>
                    <a:p>
                      <a:pPr algn="l" indent="0" marL="0">
                        <a:buNone/>
                      </a:pPr>
                      <a:r>
                        <a:rPr lang="en-US" sz="1200" dirty="0">
                          <a:solidFill>
                            <a:srgbClr val="1B1F2A"/>
                          </a:solidFill>
                        </a:rPr>
                        <a:t>Investor ticket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62.5 (55%)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Balance of project funding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50.5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63640" y="1371600"/>
          <a:ext cx="5349240" cy="914400"/>
        </p:xfrm>
        <a:graphic>
          <a:graphicData uri="http://schemas.openxmlformats.org/drawingml/2006/table">
            <a:tbl>
              <a:tblPr/>
              <a:tblGrid>
                <a:gridCol w="3886200"/>
                <a:gridCol w="1463040"/>
              </a:tblGrid>
              <a:tr h="420624">
                <a:tc>
                  <a:txBody>
                    <a:bodyPr/>
                    <a:lstStyle/>
                    <a:p>
                      <a:pPr algn="l" indent="0" marL="0">
                        <a:buNone/>
                      </a:pPr>
                      <a:r>
                        <a:rPr lang="en-US" sz="1200" b="1" dirty="0">
                          <a:solidFill>
                            <a:srgbClr val="FFFFFF"/>
                          </a:solidFill>
                        </a:rPr>
                        <a:t>L'avenir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EGP million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20624">
                <a:tc>
                  <a:txBody>
                    <a:bodyPr/>
                    <a:lstStyle/>
                    <a:p>
                      <a:pPr algn="l" indent="0" marL="0">
                        <a:buNone/>
                      </a:pPr>
                      <a:r>
                        <a:rPr lang="en-US" sz="1200" dirty="0">
                          <a:solidFill>
                            <a:srgbClr val="1B1F2A"/>
                          </a:solidFill>
                        </a:rPr>
                        <a:t>Down payment to landowner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85.0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Guarantee instalments and working capital to the peak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17.0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20624">
                <a:tc>
                  <a:txBody>
                    <a:bodyPr/>
                    <a:lstStyle/>
                    <a:p>
                      <a:pPr algn="l" indent="0" marL="0">
                        <a:buNone/>
                      </a:pPr>
                      <a:r>
                        <a:rPr lang="en-US" sz="1200" dirty="0">
                          <a:solidFill>
                            <a:srgbClr val="1B1F2A"/>
                          </a:solidFill>
                        </a:rPr>
                        <a:t>Design, permits, pre-construction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Total uses at peak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20624">
                <a:tc>
                  <a:txBody>
                    <a:bodyPr/>
                    <a:lstStyle/>
                    <a:p>
                      <a:pPr algn="l" indent="0" marL="0">
                        <a:buNone/>
                      </a:pPr>
                      <a:r>
                        <a:rPr lang="en-US" sz="1200" dirty="0">
                          <a:solidFill>
                            <a:srgbClr val="1B1F2A"/>
                          </a:solidFill>
                        </a:rPr>
                        <a:t>Investor ticket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62.5 (56%)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B1F2A"/>
                          </a:solidFill>
                        </a:rPr>
                        <a:t>Balance of project funding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50.0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6" name="Text 1"/>
          <p:cNvSpPr txBox="1"/>
          <p:nvPr/>
        </p:nvSpPr>
        <p:spPr>
          <a:xfrm>
            <a:off x="548640" y="4480560"/>
            <a:ext cx="11064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The balance of project funding is provided by Jalour sponsor equity, project collections and other capital sources.</a:t>
            </a:r>
            <a:endParaRPr lang="en-US" sz="1300" dirty="0"/>
          </a:p>
          <a:p>
            <a:pPr marL="342900" indent="-342900">
              <a:spcAft>
                <a:spcPts val="600"/>
              </a:spcAft>
              <a:buSzPct val="100000"/>
              <a:buChar char="•"/>
            </a:pPr>
            <a:r>
              <a:rPr lang="en-US" sz="1300" dirty="0">
                <a:solidFill>
                  <a:srgbClr val="1B1F2A"/>
                </a:solidFill>
              </a:rPr>
              <a:t>Modelled peak cumulative shortage: Green Square EGP 102.5 million (ticket 61% of it); L'avenir EGP 102.0 million (ticket 61%).</a:t>
            </a:r>
            <a:endParaRPr lang="en-US" sz="1300" dirty="0"/>
          </a:p>
          <a:p>
            <a:pPr marL="342900" indent="-342900">
              <a:spcAft>
                <a:spcPts val="600"/>
              </a:spcAft>
              <a:buSzPct val="100000"/>
              <a:buChar char="•"/>
            </a:pPr>
            <a:r>
              <a:rPr lang="en-US" sz="1300" dirty="0">
                <a:solidFill>
                  <a:srgbClr val="1B1F2A"/>
                </a:solidFill>
              </a:rPr>
              <a:t>If delivery payments arrive at handover the peak shortage is EGP 269 million and EGP 244 million. Jalour will cover gaps above project cash from its cash reserves and cash from other projects it is constructing.</a:t>
            </a:r>
            <a:endParaRPr lang="en-US" sz="1300" dirty="0"/>
          </a:p>
          <a:p>
            <a:pPr marL="342900" indent="-342900">
              <a:spcAft>
                <a:spcPts val="600"/>
              </a:spcAft>
              <a:buSzPct val="100000"/>
              <a:buChar char="•"/>
            </a:pPr>
            <a:r>
              <a:rPr lang="en-US" sz="1300" dirty="0">
                <a:solidFill>
                  <a:srgbClr val="1B1F2A"/>
                </a:solidFill>
              </a:rPr>
              <a:t>Nothing in this structure is ring-fenced: each ticket is project funding.</a:t>
            </a:r>
            <a:endParaRPr lang="en-US" sz="13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GS_Sources_Uses and LA_Sources_Uses sheets. Pre-construction cost is an assumption pending Jalour's budget.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Option A (units) and Option B (cash) side by side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4572000"/>
                <a:gridCol w="4389120"/>
              </a:tblGrid>
              <a:tr h="457200">
                <a:tc>
                  <a:txBody>
                    <a:bodyPr/>
                    <a:lstStyle/>
                    <a:p>
                      <a:pPr algn="l" indent="0" marL="0">
                        <a:buNone/>
                      </a:pPr>
                      <a:r>
                        <a:rPr lang="en-US" sz="1200" b="1" dirty="0">
                          <a:solidFill>
                            <a:srgbClr val="FFFFFF"/>
                          </a:solidFill>
                        </a:rPr>
                        <a:t>EGP 125 million combined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Option A: units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Option B: cash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200" b="1" dirty="0">
                          <a:solidFill>
                            <a:srgbClr val="1B1F2A"/>
                          </a:solidFill>
                        </a:rPr>
                        <a:t>Entitlement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Units with a face value of EGP 250 million (2.0x): EGP 125 million in each project, at launch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EGP 287.5 million (2.3x): EGP 143.75 million from each project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B1F2A"/>
                          </a:solidFill>
                        </a:rPr>
                        <a:t>Timing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Allocation at signing; handover months 42 and 42; resale from three months later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Grace 24 months; 12 quarterly instalments per project, months 24 to 57 and 27 to 60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200" b="1" dirty="0">
                          <a:solidFill>
                            <a:srgbClr val="1B1F2A"/>
                          </a:solidFill>
                        </a:rPr>
                        <a:t>Price exposure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Yes: value moves with Mostakbal City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No unit price exposure; fixed instalments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B1F2A"/>
                          </a:solidFill>
                        </a:rPr>
                        <a:t>Projected IRR, 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27.7%</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26.5%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200" b="1" dirty="0">
                          <a:solidFill>
                            <a:srgbClr val="1B1F2A"/>
                          </a:solidFill>
                        </a:rPr>
                        <a:t>Projected multiple, 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2.83x</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2.30x</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B1F2A"/>
                          </a:solidFill>
                        </a:rPr>
                        <a:t>Upside IRR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30.6% (3.11x)</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26.5% if paid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200" b="1" dirty="0">
                          <a:solidFill>
                            <a:srgbClr val="1B1F2A"/>
                          </a:solidFill>
                        </a:rPr>
                        <a:t>Downside IRR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19.5% (2.54x)</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Contractual: 26.5% if paid; depends on Jalour funding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B1F2A"/>
                          </a:solidFill>
                        </a:rPr>
                        <a:t>Payback (month)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51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42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200" b="1" dirty="0">
                          <a:solidFill>
                            <a:srgbClr val="1B1F2A"/>
                          </a:solidFill>
                        </a:rPr>
                        <a:t>Main 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Resale price and timing; consents to assign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Payment capacity during the construction peaks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Combined_Summary sheet. Projections; downside = sales delayed 12 months and prices 10% lower. One option applies to both projects.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Security package and investor protections</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Proposed base package, in each project</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Option A: a registered allocation of specific units from the first two sales tranches; the units are the investor's asset</a:t>
            </a:r>
            <a:endParaRPr lang="en-US" sz="1300" dirty="0"/>
          </a:p>
          <a:p>
            <a:pPr marL="342900" indent="-342900">
              <a:spcAft>
                <a:spcPts val="600"/>
              </a:spcAft>
              <a:buSzPct val="100000"/>
              <a:buChar char="•"/>
            </a:pPr>
            <a:r>
              <a:rPr lang="en-US" sz="1300" dirty="0">
                <a:solidFill>
                  <a:srgbClr val="1B1F2A"/>
                </a:solidFill>
              </a:rPr>
              <a:t>Option B: earmark of specific unsold units with a list value of at least the ticket, with a right to substitute equal value</a:t>
            </a:r>
            <a:endParaRPr lang="en-US" sz="1300" dirty="0"/>
          </a:p>
          <a:p>
            <a:pPr marL="342900" indent="-342900">
              <a:spcAft>
                <a:spcPts val="600"/>
              </a:spcAft>
              <a:buSzPct val="100000"/>
              <a:buChar char="•"/>
            </a:pPr>
            <a:r>
              <a:rPr lang="en-US" sz="1300" dirty="0">
                <a:solidFill>
                  <a:srgbClr val="1B1F2A"/>
                </a:solidFill>
              </a:rPr>
              <a:t>Payment priority covenant: no shareholder distributions or shareholder-loan repayments while an instalment is overdue</a:t>
            </a:r>
            <a:endParaRPr lang="en-US" sz="1300" dirty="0"/>
          </a:p>
          <a:p>
            <a:pPr marL="342900" indent="-342900">
              <a:spcAft>
                <a:spcPts val="600"/>
              </a:spcAft>
              <a:buSzPct val="100000"/>
              <a:buChar char="•"/>
            </a:pPr>
            <a:r>
              <a:rPr lang="en-US" sz="1300" dirty="0">
                <a:solidFill>
                  <a:srgbClr val="1B1F2A"/>
                </a:solidFill>
              </a:rPr>
              <a:t>Negative pledge on the earmarked units</a:t>
            </a:r>
            <a:endParaRPr lang="en-US" sz="1300" dirty="0"/>
          </a:p>
          <a:p>
            <a:pPr marL="342900" indent="-342900">
              <a:spcAft>
                <a:spcPts val="600"/>
              </a:spcAft>
              <a:buSzPct val="100000"/>
              <a:buChar char="•"/>
            </a:pPr>
            <a:r>
              <a:rPr lang="en-US" sz="1300" dirty="0">
                <a:solidFill>
                  <a:srgbClr val="1B1F2A"/>
                </a:solidFill>
              </a:rPr>
              <a:t>Information rights: monthly reporting and audit rights</a:t>
            </a:r>
            <a:endParaRPr lang="en-US" sz="1300" dirty="0"/>
          </a:p>
          <a:p>
            <a:pPr marL="342900" indent="-342900">
              <a:spcAft>
                <a:spcPts val="600"/>
              </a:spcAft>
              <a:buSzPct val="100000"/>
              <a:buChar char="•"/>
            </a:pPr>
            <a:r>
              <a:rPr lang="en-US" sz="1300" dirty="0">
                <a:solidFill>
                  <a:srgbClr val="1B1F2A"/>
                </a:solidFill>
              </a:rPr>
              <a:t>Sponsor funding undertaking for project gaps from Jalour cash reserves and other projects' cash; no guarantee of return</a:t>
            </a:r>
            <a:endParaRPr lang="en-US" sz="13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Optional and for counsel</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Promissory note or post-dated cheques for each Option B instalment (common practice in Egypt)</a:t>
            </a:r>
            <a:endParaRPr lang="en-US" sz="1300" dirty="0"/>
          </a:p>
          <a:p>
            <a:pPr marL="342900" indent="-342900">
              <a:spcAft>
                <a:spcPts val="600"/>
              </a:spcAft>
              <a:buSzPct val="100000"/>
              <a:buChar char="•"/>
            </a:pPr>
            <a:r>
              <a:rPr lang="en-US" sz="1300" dirty="0">
                <a:solidFill>
                  <a:srgbClr val="1B1F2A"/>
                </a:solidFill>
              </a:rPr>
              <a:t>Independent engineer reporting on construction progress</a:t>
            </a:r>
            <a:endParaRPr lang="en-US" sz="1300" dirty="0"/>
          </a:p>
          <a:p>
            <a:pPr marL="342900" indent="-342900">
              <a:spcAft>
                <a:spcPts val="600"/>
              </a:spcAft>
              <a:buSzPct val="100000"/>
              <a:buChar char="•"/>
            </a:pPr>
            <a:r>
              <a:rPr lang="en-US" sz="1300" dirty="0">
                <a:solidFill>
                  <a:srgbClr val="1B1F2A"/>
                </a:solidFill>
              </a:rPr>
              <a:t>Step-in right to market the earmarked units after a payment default</a:t>
            </a:r>
            <a:endParaRPr lang="en-US" sz="1300" dirty="0"/>
          </a:p>
          <a:p>
            <a:pPr marL="342900" indent="-342900">
              <a:spcAft>
                <a:spcPts val="600"/>
              </a:spcAft>
              <a:buSzPct val="100000"/>
              <a:buChar char="•"/>
            </a:pPr>
            <a:r>
              <a:rPr lang="en-US" sz="1300" dirty="0">
                <a:solidFill>
                  <a:srgbClr val="1B1F2A"/>
                </a:solidFill>
              </a:rPr>
              <a:t>Landlord acknowledgement of the unit allocation</a:t>
            </a:r>
            <a:endParaRPr lang="en-US" sz="1300" dirty="0"/>
          </a:p>
          <a:p>
            <a:pPr marL="342900" indent="-342900">
              <a:spcAft>
                <a:spcPts val="600"/>
              </a:spcAft>
              <a:buSzPct val="100000"/>
              <a:buChar char="•"/>
            </a:pPr>
            <a:r>
              <a:rPr lang="en-US" sz="1300" dirty="0">
                <a:solidFill>
                  <a:srgbClr val="1B1F2A"/>
                </a:solidFill>
              </a:rPr>
              <a:t>Parent guarantee: not offered in this structure</a:t>
            </a:r>
            <a:endParaRPr lang="en-US" sz="1300" dirty="0"/>
          </a:p>
          <a:p>
            <a:pPr marL="342900" indent="-342900">
              <a:spcAft>
                <a:spcPts val="600"/>
              </a:spcAft>
              <a:buSzPct val="100000"/>
              <a:buChar char="•"/>
            </a:pPr>
            <a:r>
              <a:rPr lang="en-US" sz="1300" dirty="0">
                <a:solidFill>
                  <a:srgbClr val="1B1F2A"/>
                </a:solidFill>
              </a:rPr>
              <a:t>Each project has its own security; there is no cross-collateral or cross-default</a:t>
            </a:r>
            <a:endParaRPr lang="en-US" sz="13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Proposal for review by Jalour's lawyers. Landlord consent is required for any allocation or encumbrance affecting its 35% share.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Returns and sensitivity</a:t>
            </a:r>
            <a:endParaRPr lang="en-US" sz="2800" dirty="0"/>
          </a:p>
        </p:txBody>
      </p:sp>
      <p:graphicFrame>
        <p:nvGraphicFramePr>
          <p:cNvPr id="4" name="Chart 0" descr=""/>
          <p:cNvGraphicFramePr/>
          <p:nvPr/>
        </p:nvGraphicFramePr>
        <p:xfrm>
          <a:off x="548640" y="1280160"/>
          <a:ext cx="512064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0" y="1371600"/>
          <a:ext cx="5669280" cy="914400"/>
        </p:xfrm>
        <a:graphic>
          <a:graphicData uri="http://schemas.openxmlformats.org/drawingml/2006/table">
            <a:tbl>
              <a:tblPr/>
              <a:tblGrid>
                <a:gridCol w="2377440"/>
                <a:gridCol w="822960"/>
                <a:gridCol w="731520"/>
                <a:gridCol w="914400"/>
                <a:gridCol w="822960"/>
              </a:tblGrid>
              <a:tr h="365760">
                <a:tc>
                  <a:txBody>
                    <a:bodyPr/>
                    <a:lstStyle/>
                    <a:p>
                      <a:pPr algn="l" indent="0" marL="0">
                        <a:buNone/>
                      </a:pPr>
                      <a:r>
                        <a:rPr lang="en-US" sz="1100" b="1" dirty="0">
                          <a:solidFill>
                            <a:srgbClr val="FFFFFF"/>
                          </a:solidFill>
                        </a:rPr>
                        <a:t>Project case</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Green NPV</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Peak</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L'avenir NPV</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100" b="1" dirty="0">
                          <a:solidFill>
                            <a:srgbClr val="FFFFFF"/>
                          </a:solidFill>
                        </a:rPr>
                        <a:t>Peak</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65760">
                <a:tc>
                  <a:txBody>
                    <a:bodyPr/>
                    <a:lstStyle/>
                    <a:p>
                      <a:pPr algn="l" indent="0" marL="0">
                        <a:buNone/>
                      </a:pPr>
                      <a:r>
                        <a:rPr lang="en-US" sz="1100" dirty="0">
                          <a:solidFill>
                            <a:srgbClr val="1B1F2A"/>
                          </a:solidFill>
                        </a:rPr>
                        <a:t>Base</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230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351</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102</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B1F2A"/>
                          </a:solidFill>
                        </a:rPr>
                        <a:t>Prices -10%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124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114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232</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138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65760">
                <a:tc>
                  <a:txBody>
                    <a:bodyPr/>
                    <a:lstStyle/>
                    <a:p>
                      <a:pPr algn="l" indent="0" marL="0">
                        <a:buNone/>
                      </a:pPr>
                      <a:r>
                        <a:rPr lang="en-US" sz="1100" dirty="0">
                          <a:solidFill>
                            <a:srgbClr val="1B1F2A"/>
                          </a:solidFill>
                        </a:rPr>
                        <a:t>Prices +10%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336</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469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88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B1F2A"/>
                          </a:solidFill>
                        </a:rPr>
                        <a:t>Sales delay 12 months</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52</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408</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143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779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65760">
                <a:tc>
                  <a:txBody>
                    <a:bodyPr/>
                    <a:lstStyle/>
                    <a:p>
                      <a:pPr algn="l" indent="0" marL="0">
                        <a:buNone/>
                      </a:pPr>
                      <a:r>
                        <a:rPr lang="en-US" sz="1100" dirty="0">
                          <a:solidFill>
                            <a:srgbClr val="1B1F2A"/>
                          </a:solidFill>
                        </a:rPr>
                        <a:t>Cost overrun +10%</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173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103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294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117</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B1F2A"/>
                          </a:solidFill>
                        </a:rPr>
                        <a:t>Collections slip 2 quarters</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134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236</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239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100" dirty="0">
                          <a:solidFill>
                            <a:srgbClr val="1B1F2A"/>
                          </a:solidFill>
                        </a:rPr>
                        <a:t>381</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65760">
                <a:tc>
                  <a:txBody>
                    <a:bodyPr/>
                    <a:lstStyle/>
                    <a:p>
                      <a:pPr algn="l" indent="0" marL="0">
                        <a:buNone/>
                      </a:pPr>
                      <a:r>
                        <a:rPr lang="en-US" sz="1100" dirty="0">
                          <a:solidFill>
                            <a:srgbClr val="1B1F2A"/>
                          </a:solidFill>
                        </a:rPr>
                        <a:t>Delivery payments at handover</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166</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269</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313</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F2A"/>
                          </a:solidFill>
                        </a:rPr>
                        <a:t>244</a:t>
                      </a:r>
                      <a:endParaRPr lang="en-US" sz="11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66344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Option A break-even: the units can fall to 36% (Green Square) and 35% (L'avenir) of the delivery list price before the ticket is lost.</a:t>
            </a:r>
            <a:endParaRPr lang="en-US" sz="1200" dirty="0"/>
          </a:p>
          <a:p>
            <a:pPr marL="342900" indent="-342900">
              <a:spcAft>
                <a:spcPts val="600"/>
              </a:spcAft>
              <a:buSzPct val="100000"/>
              <a:buChar char="•"/>
            </a:pPr>
            <a:r>
              <a:rPr lang="en-US" sz="1200" dirty="0">
                <a:solidFill>
                  <a:srgbClr val="1B1F2A"/>
                </a:solidFill>
              </a:rPr>
              <a:t>Option B: pooled cash covers each instalment at least 2.5x; net cash flow alone covers it in 4 of 12 quarters (Green Square) and 9 of 12 (L'avenir) because of the construction peaks.</a:t>
            </a:r>
            <a:endParaRPr lang="en-US" sz="1200" dirty="0"/>
          </a:p>
          <a:p>
            <a:pPr marL="342900" indent="-342900">
              <a:spcAft>
                <a:spcPts val="600"/>
              </a:spcAft>
              <a:buSzPct val="100000"/>
              <a:buChar char="•"/>
            </a:pPr>
            <a:r>
              <a:rPr lang="en-US" sz="1200" dirty="0">
                <a:solidFill>
                  <a:srgbClr val="1B1F2A"/>
                </a:solidFill>
              </a:rPr>
              <a:t>Returns are projections, not guarantees.</a:t>
            </a:r>
            <a:endParaRPr lang="en-US" sz="12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Combined_Summary, Scenarios and Sensitivity sheets. NPV and peak shortage in EGP million, before any investor instrument.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Risks and mitigants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6126480"/>
              </a:tblGrid>
              <a:tr h="475488">
                <a:tc>
                  <a:txBody>
                    <a:bodyPr/>
                    <a:lstStyle/>
                    <a:p>
                      <a:pPr algn="l" indent="0" marL="0">
                        <a:buNone/>
                      </a:pPr>
                      <a:r>
                        <a:rPr lang="en-US" sz="1200" b="1" dirty="0">
                          <a:solidFill>
                            <a:srgbClr val="FFFFFF"/>
                          </a:solidFill>
                        </a:rPr>
                        <a:t>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Mitigant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200" dirty="0">
                          <a:solidFill>
                            <a:srgbClr val="1B1F2A"/>
                          </a:solidFill>
                        </a:rPr>
                        <a:t>Market and price: plans assume list-price rises of 33% to 50% over the sales windows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Downside case shown; Option B has no unit price exposure; price evidence in the data room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Delivery payments collected ahead of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milestone; Jalour covers any gap from cash reserves and other projects' cash; stress case shown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Both projects short at the same time in stress cases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Combined view disclosed; funding capacity beyond these two projects evidenced after NDA</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Construction cost and inflation (costs flat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Cost +10% case; fixed-price contracting to be sought; contingency 5%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Landlord: consent and minimum guarantee payments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Written consent as a condition precedent; guarantee schedules funded in the plans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Legal and regulatory: private placement, off-plan rules, assignment of contracts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Counsel review before signing; developer and landlord consent mechanics defined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Currency: EGP returns; USD value may fall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USD equivalents shown at EGP 48; foreign investors take FX advice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Concentration: two projects, one city, one landowner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Each project has its own company, security and reporting; no cross-collateral or cross-default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full risk factors in the Investment Memorandum and the Due Diligence Memorandum.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Timeline and milestones</a:t>
            </a:r>
            <a:endParaRPr lang="en-US" sz="2800" dirty="0"/>
          </a:p>
        </p:txBody>
      </p:sp>
      <p:sp>
        <p:nvSpPr>
          <p:cNvPr id="4" name="Text 1"/>
          <p:cNvSpPr txBox="1"/>
          <p:nvPr/>
        </p:nvSpPr>
        <p:spPr>
          <a:xfrm>
            <a:off x="548640" y="1828800"/>
            <a:ext cx="1737360" cy="365760"/>
          </a:xfrm>
          <a:prstGeom prst="rect">
            <a:avLst/>
          </a:prstGeom>
          <a:noFill/>
          <a:ln/>
        </p:spPr>
        <p:txBody>
          <a:bodyPr wrap="square" lIns="0" tIns="0" rIns="0" bIns="0" rtlCol="0" anchor="ctr"/>
          <a:lstStyle/>
          <a:p>
            <a:pPr indent="0" marL="0">
              <a:buNone/>
            </a:pPr>
            <a:r>
              <a:rPr lang="en-US" sz="1400" b="1" dirty="0">
                <a:solidFill>
                  <a:srgbClr val="17324D"/>
                </a:solidFill>
              </a:rPr>
              <a:t>Green Square</a:t>
            </a:r>
            <a:endParaRPr lang="en-US" sz="1400" dirty="0"/>
          </a:p>
        </p:txBody>
      </p:sp>
      <p:sp>
        <p:nvSpPr>
          <p:cNvPr id="5" name="Shape 2"/>
          <p:cNvSpPr/>
          <p:nvPr/>
        </p:nvSpPr>
        <p:spPr>
          <a:xfrm>
            <a:off x="2377440" y="2011680"/>
            <a:ext cx="9052560" cy="0"/>
          </a:xfrm>
          <a:prstGeom prst="line">
            <a:avLst/>
          </a:prstGeom>
          <a:noFill/>
          <a:ln w="25400">
            <a:solidFill>
              <a:srgbClr val="17324D"/>
            </a:solidFill>
            <a:prstDash val="solid"/>
          </a:ln>
        </p:spPr>
      </p:sp>
      <p:sp>
        <p:nvSpPr>
          <p:cNvPr id="6" name="Shape 3"/>
          <p:cNvSpPr/>
          <p:nvPr/>
        </p:nvSpPr>
        <p:spPr>
          <a:xfrm>
            <a:off x="2694522" y="1929384"/>
            <a:ext cx="164592" cy="164592"/>
          </a:xfrm>
          <a:prstGeom prst="ellipse">
            <a:avLst/>
          </a:prstGeom>
          <a:solidFill>
            <a:srgbClr val="B8893B"/>
          </a:solidFill>
          <a:ln w="12700">
            <a:solidFill>
              <a:srgbClr val="FFFFFF"/>
            </a:solidFill>
            <a:prstDash val="solid"/>
          </a:ln>
        </p:spPr>
      </p:sp>
      <p:sp>
        <p:nvSpPr>
          <p:cNvPr id="7" name="Text 4"/>
          <p:cNvSpPr txBox="1"/>
          <p:nvPr/>
        </p:nvSpPr>
        <p:spPr>
          <a:xfrm>
            <a:off x="2136738" y="114300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Funding</a:t>
            </a:r>
            <a:endParaRPr lang="en-US" sz="1000" dirty="0"/>
          </a:p>
          <a:p>
            <a:pPr algn="ctr" indent="0" marL="0">
              <a:buNone/>
            </a:pPr>
            <a:r>
              <a:rPr lang="en-US" sz="1000" dirty="0">
                <a:solidFill>
                  <a:srgbClr val="1B1F2A"/>
                </a:solidFill>
              </a:rPr>
              <a:t>Month -3</a:t>
            </a:r>
            <a:endParaRPr lang="en-US" sz="1000" dirty="0"/>
          </a:p>
        </p:txBody>
      </p:sp>
      <p:sp>
        <p:nvSpPr>
          <p:cNvPr id="8" name="Shape 5"/>
          <p:cNvSpPr/>
          <p:nvPr/>
        </p:nvSpPr>
        <p:spPr>
          <a:xfrm>
            <a:off x="3227025" y="1929384"/>
            <a:ext cx="164592" cy="164592"/>
          </a:xfrm>
          <a:prstGeom prst="ellipse">
            <a:avLst/>
          </a:prstGeom>
          <a:solidFill>
            <a:srgbClr val="B8893B"/>
          </a:solidFill>
          <a:ln w="12700">
            <a:solidFill>
              <a:srgbClr val="FFFFFF"/>
            </a:solidFill>
            <a:prstDash val="solid"/>
          </a:ln>
        </p:spPr>
      </p:sp>
      <p:sp>
        <p:nvSpPr>
          <p:cNvPr id="9" name="Text 6"/>
          <p:cNvSpPr txBox="1"/>
          <p:nvPr/>
        </p:nvSpPr>
        <p:spPr>
          <a:xfrm>
            <a:off x="2669241" y="214884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Sales start</a:t>
            </a:r>
            <a:endParaRPr lang="en-US" sz="1000" dirty="0"/>
          </a:p>
          <a:p>
            <a:pPr algn="ctr" indent="0" marL="0">
              <a:buNone/>
            </a:pPr>
            <a:r>
              <a:rPr lang="en-US" sz="1000" dirty="0">
                <a:solidFill>
                  <a:srgbClr val="1B1F2A"/>
                </a:solidFill>
              </a:rPr>
              <a:t>Month 1</a:t>
            </a:r>
            <a:endParaRPr lang="en-US" sz="1000" dirty="0"/>
          </a:p>
        </p:txBody>
      </p:sp>
      <p:sp>
        <p:nvSpPr>
          <p:cNvPr id="10" name="Shape 7"/>
          <p:cNvSpPr/>
          <p:nvPr/>
        </p:nvSpPr>
        <p:spPr>
          <a:xfrm>
            <a:off x="4025780" y="1929384"/>
            <a:ext cx="164592" cy="164592"/>
          </a:xfrm>
          <a:prstGeom prst="ellipse">
            <a:avLst/>
          </a:prstGeom>
          <a:solidFill>
            <a:srgbClr val="B8893B"/>
          </a:solidFill>
          <a:ln w="12700">
            <a:solidFill>
              <a:srgbClr val="FFFFFF"/>
            </a:solidFill>
            <a:prstDash val="solid"/>
          </a:ln>
        </p:spPr>
      </p:sp>
      <p:sp>
        <p:nvSpPr>
          <p:cNvPr id="11" name="Text 8"/>
          <p:cNvSpPr txBox="1"/>
          <p:nvPr/>
        </p:nvSpPr>
        <p:spPr>
          <a:xfrm>
            <a:off x="3467996" y="114300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Construction</a:t>
            </a:r>
            <a:endParaRPr lang="en-US" sz="1000" dirty="0"/>
          </a:p>
          <a:p>
            <a:pPr algn="ctr" indent="0" marL="0">
              <a:buNone/>
            </a:pPr>
            <a:r>
              <a:rPr lang="en-US" sz="1000" dirty="0">
                <a:solidFill>
                  <a:srgbClr val="1B1F2A"/>
                </a:solidFill>
              </a:rPr>
              <a:t>Month 7</a:t>
            </a:r>
            <a:endParaRPr lang="en-US" sz="1000" dirty="0"/>
          </a:p>
        </p:txBody>
      </p:sp>
      <p:sp>
        <p:nvSpPr>
          <p:cNvPr id="12" name="Shape 9"/>
          <p:cNvSpPr/>
          <p:nvPr/>
        </p:nvSpPr>
        <p:spPr>
          <a:xfrm>
            <a:off x="6288920" y="1929384"/>
            <a:ext cx="164592" cy="164592"/>
          </a:xfrm>
          <a:prstGeom prst="ellipse">
            <a:avLst/>
          </a:prstGeom>
          <a:solidFill>
            <a:srgbClr val="B8893B"/>
          </a:solidFill>
          <a:ln w="12700">
            <a:solidFill>
              <a:srgbClr val="FFFFFF"/>
            </a:solidFill>
            <a:prstDash val="solid"/>
          </a:ln>
        </p:spPr>
      </p:sp>
      <p:sp>
        <p:nvSpPr>
          <p:cNvPr id="13" name="Text 10"/>
          <p:cNvSpPr txBox="1"/>
          <p:nvPr/>
        </p:nvSpPr>
        <p:spPr>
          <a:xfrm>
            <a:off x="5731136" y="214884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First Option B</a:t>
            </a:r>
            <a:endParaRPr lang="en-US" sz="1000" dirty="0"/>
          </a:p>
          <a:p>
            <a:pPr algn="ctr" indent="0" marL="0">
              <a:buNone/>
            </a:pPr>
            <a:r>
              <a:rPr lang="en-US" sz="1000" dirty="0">
                <a:solidFill>
                  <a:srgbClr val="1B1F2A"/>
                </a:solidFill>
              </a:rPr>
              <a:t>Month 24</a:t>
            </a:r>
            <a:endParaRPr lang="en-US" sz="1000" dirty="0"/>
          </a:p>
        </p:txBody>
      </p:sp>
      <p:sp>
        <p:nvSpPr>
          <p:cNvPr id="14" name="Shape 11"/>
          <p:cNvSpPr/>
          <p:nvPr/>
        </p:nvSpPr>
        <p:spPr>
          <a:xfrm>
            <a:off x="8685186" y="1929384"/>
            <a:ext cx="164592" cy="164592"/>
          </a:xfrm>
          <a:prstGeom prst="ellipse">
            <a:avLst/>
          </a:prstGeom>
          <a:solidFill>
            <a:srgbClr val="B8893B"/>
          </a:solidFill>
          <a:ln w="12700">
            <a:solidFill>
              <a:srgbClr val="FFFFFF"/>
            </a:solidFill>
            <a:prstDash val="solid"/>
          </a:ln>
        </p:spPr>
      </p:sp>
      <p:sp>
        <p:nvSpPr>
          <p:cNvPr id="15" name="Text 12"/>
          <p:cNvSpPr txBox="1"/>
          <p:nvPr/>
        </p:nvSpPr>
        <p:spPr>
          <a:xfrm>
            <a:off x="8127402" y="114300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Handover</a:t>
            </a:r>
            <a:endParaRPr lang="en-US" sz="1000" dirty="0"/>
          </a:p>
          <a:p>
            <a:pPr algn="ctr" indent="0" marL="0">
              <a:buNone/>
            </a:pPr>
            <a:r>
              <a:rPr lang="en-US" sz="1000" dirty="0">
                <a:solidFill>
                  <a:srgbClr val="1B1F2A"/>
                </a:solidFill>
              </a:rPr>
              <a:t>Month 42</a:t>
            </a:r>
            <a:endParaRPr lang="en-US" sz="1000" dirty="0"/>
          </a:p>
        </p:txBody>
      </p:sp>
      <p:sp>
        <p:nvSpPr>
          <p:cNvPr id="16" name="Shape 13"/>
          <p:cNvSpPr/>
          <p:nvPr/>
        </p:nvSpPr>
        <p:spPr>
          <a:xfrm>
            <a:off x="10682075" y="1929384"/>
            <a:ext cx="164592" cy="164592"/>
          </a:xfrm>
          <a:prstGeom prst="ellipse">
            <a:avLst/>
          </a:prstGeom>
          <a:solidFill>
            <a:srgbClr val="B8893B"/>
          </a:solidFill>
          <a:ln w="12700">
            <a:solidFill>
              <a:srgbClr val="FFFFFF"/>
            </a:solidFill>
            <a:prstDash val="solid"/>
          </a:ln>
        </p:spPr>
      </p:sp>
      <p:sp>
        <p:nvSpPr>
          <p:cNvPr id="17" name="Text 14"/>
          <p:cNvSpPr txBox="1"/>
          <p:nvPr/>
        </p:nvSpPr>
        <p:spPr>
          <a:xfrm>
            <a:off x="10124291" y="214884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Last Option B</a:t>
            </a:r>
            <a:endParaRPr lang="en-US" sz="1000" dirty="0"/>
          </a:p>
          <a:p>
            <a:pPr algn="ctr" indent="0" marL="0">
              <a:buNone/>
            </a:pPr>
            <a:r>
              <a:rPr lang="en-US" sz="1000" dirty="0">
                <a:solidFill>
                  <a:srgbClr val="1B1F2A"/>
                </a:solidFill>
              </a:rPr>
              <a:t>Month 57</a:t>
            </a:r>
            <a:endParaRPr lang="en-US" sz="1000" dirty="0"/>
          </a:p>
        </p:txBody>
      </p:sp>
      <p:sp>
        <p:nvSpPr>
          <p:cNvPr id="18" name="Text 15"/>
          <p:cNvSpPr txBox="1"/>
          <p:nvPr/>
        </p:nvSpPr>
        <p:spPr>
          <a:xfrm>
            <a:off x="548640" y="3840480"/>
            <a:ext cx="1737360" cy="365760"/>
          </a:xfrm>
          <a:prstGeom prst="rect">
            <a:avLst/>
          </a:prstGeom>
          <a:noFill/>
          <a:ln/>
        </p:spPr>
        <p:txBody>
          <a:bodyPr wrap="square" lIns="0" tIns="0" rIns="0" bIns="0" rtlCol="0" anchor="ctr"/>
          <a:lstStyle/>
          <a:p>
            <a:pPr indent="0" marL="0">
              <a:buNone/>
            </a:pPr>
            <a:r>
              <a:rPr lang="en-US" sz="1400" b="1" dirty="0">
                <a:solidFill>
                  <a:srgbClr val="17324D"/>
                </a:solidFill>
              </a:rPr>
              <a:t>L'avenir</a:t>
            </a:r>
            <a:endParaRPr lang="en-US" sz="1400" dirty="0"/>
          </a:p>
        </p:txBody>
      </p:sp>
      <p:sp>
        <p:nvSpPr>
          <p:cNvPr id="19" name="Shape 16"/>
          <p:cNvSpPr/>
          <p:nvPr/>
        </p:nvSpPr>
        <p:spPr>
          <a:xfrm>
            <a:off x="2377440" y="4023360"/>
            <a:ext cx="9052560" cy="0"/>
          </a:xfrm>
          <a:prstGeom prst="line">
            <a:avLst/>
          </a:prstGeom>
          <a:noFill/>
          <a:ln w="25400">
            <a:solidFill>
              <a:srgbClr val="17324D"/>
            </a:solidFill>
            <a:prstDash val="solid"/>
          </a:ln>
        </p:spPr>
      </p:sp>
      <p:sp>
        <p:nvSpPr>
          <p:cNvPr id="20" name="Shape 17"/>
          <p:cNvSpPr/>
          <p:nvPr/>
        </p:nvSpPr>
        <p:spPr>
          <a:xfrm>
            <a:off x="3093899" y="3941064"/>
            <a:ext cx="164592" cy="164592"/>
          </a:xfrm>
          <a:prstGeom prst="ellipse">
            <a:avLst/>
          </a:prstGeom>
          <a:solidFill>
            <a:srgbClr val="B8893B"/>
          </a:solidFill>
          <a:ln w="12700">
            <a:solidFill>
              <a:srgbClr val="FFFFFF"/>
            </a:solidFill>
            <a:prstDash val="solid"/>
          </a:ln>
        </p:spPr>
      </p:sp>
      <p:sp>
        <p:nvSpPr>
          <p:cNvPr id="21" name="Text 18"/>
          <p:cNvSpPr txBox="1"/>
          <p:nvPr/>
        </p:nvSpPr>
        <p:spPr>
          <a:xfrm>
            <a:off x="2536115" y="315468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Funding</a:t>
            </a:r>
            <a:endParaRPr lang="en-US" sz="1000" dirty="0"/>
          </a:p>
          <a:p>
            <a:pPr algn="ctr" indent="0" marL="0">
              <a:buNone/>
            </a:pPr>
            <a:r>
              <a:rPr lang="en-US" sz="1000" dirty="0">
                <a:solidFill>
                  <a:srgbClr val="1B1F2A"/>
                </a:solidFill>
              </a:rPr>
              <a:t>Month 0</a:t>
            </a:r>
            <a:endParaRPr lang="en-US" sz="1000" dirty="0"/>
          </a:p>
        </p:txBody>
      </p:sp>
      <p:sp>
        <p:nvSpPr>
          <p:cNvPr id="22" name="Shape 19"/>
          <p:cNvSpPr/>
          <p:nvPr/>
        </p:nvSpPr>
        <p:spPr>
          <a:xfrm>
            <a:off x="3227025" y="3941064"/>
            <a:ext cx="164592" cy="164592"/>
          </a:xfrm>
          <a:prstGeom prst="ellipse">
            <a:avLst/>
          </a:prstGeom>
          <a:solidFill>
            <a:srgbClr val="B8893B"/>
          </a:solidFill>
          <a:ln w="12700">
            <a:solidFill>
              <a:srgbClr val="FFFFFF"/>
            </a:solidFill>
            <a:prstDash val="solid"/>
          </a:ln>
        </p:spPr>
      </p:sp>
      <p:sp>
        <p:nvSpPr>
          <p:cNvPr id="23" name="Text 20"/>
          <p:cNvSpPr txBox="1"/>
          <p:nvPr/>
        </p:nvSpPr>
        <p:spPr>
          <a:xfrm>
            <a:off x="2669241" y="416052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Sales start</a:t>
            </a:r>
            <a:endParaRPr lang="en-US" sz="1000" dirty="0"/>
          </a:p>
          <a:p>
            <a:pPr algn="ctr" indent="0" marL="0">
              <a:buNone/>
            </a:pPr>
            <a:r>
              <a:rPr lang="en-US" sz="1000" dirty="0">
                <a:solidFill>
                  <a:srgbClr val="1B1F2A"/>
                </a:solidFill>
              </a:rPr>
              <a:t>Month 1</a:t>
            </a:r>
            <a:endParaRPr lang="en-US" sz="1000" dirty="0"/>
          </a:p>
        </p:txBody>
      </p:sp>
      <p:sp>
        <p:nvSpPr>
          <p:cNvPr id="24" name="Shape 21"/>
          <p:cNvSpPr/>
          <p:nvPr/>
        </p:nvSpPr>
        <p:spPr>
          <a:xfrm>
            <a:off x="4025780" y="3941064"/>
            <a:ext cx="164592" cy="164592"/>
          </a:xfrm>
          <a:prstGeom prst="ellipse">
            <a:avLst/>
          </a:prstGeom>
          <a:solidFill>
            <a:srgbClr val="B8893B"/>
          </a:solidFill>
          <a:ln w="12700">
            <a:solidFill>
              <a:srgbClr val="FFFFFF"/>
            </a:solidFill>
            <a:prstDash val="solid"/>
          </a:ln>
        </p:spPr>
      </p:sp>
      <p:sp>
        <p:nvSpPr>
          <p:cNvPr id="25" name="Text 22"/>
          <p:cNvSpPr txBox="1"/>
          <p:nvPr/>
        </p:nvSpPr>
        <p:spPr>
          <a:xfrm>
            <a:off x="3467996" y="315468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Construction</a:t>
            </a:r>
            <a:endParaRPr lang="en-US" sz="1000" dirty="0"/>
          </a:p>
          <a:p>
            <a:pPr algn="ctr" indent="0" marL="0">
              <a:buNone/>
            </a:pPr>
            <a:r>
              <a:rPr lang="en-US" sz="1000" dirty="0">
                <a:solidFill>
                  <a:srgbClr val="1B1F2A"/>
                </a:solidFill>
              </a:rPr>
              <a:t>Month 7</a:t>
            </a:r>
            <a:endParaRPr lang="en-US" sz="1000" dirty="0"/>
          </a:p>
        </p:txBody>
      </p:sp>
      <p:sp>
        <p:nvSpPr>
          <p:cNvPr id="26" name="Shape 23"/>
          <p:cNvSpPr/>
          <p:nvPr/>
        </p:nvSpPr>
        <p:spPr>
          <a:xfrm>
            <a:off x="6688298" y="3941064"/>
            <a:ext cx="164592" cy="164592"/>
          </a:xfrm>
          <a:prstGeom prst="ellipse">
            <a:avLst/>
          </a:prstGeom>
          <a:solidFill>
            <a:srgbClr val="B8893B"/>
          </a:solidFill>
          <a:ln w="12700">
            <a:solidFill>
              <a:srgbClr val="FFFFFF"/>
            </a:solidFill>
            <a:prstDash val="solid"/>
          </a:ln>
        </p:spPr>
      </p:sp>
      <p:sp>
        <p:nvSpPr>
          <p:cNvPr id="27" name="Text 24"/>
          <p:cNvSpPr txBox="1"/>
          <p:nvPr/>
        </p:nvSpPr>
        <p:spPr>
          <a:xfrm>
            <a:off x="6130514" y="416052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First Option B</a:t>
            </a:r>
            <a:endParaRPr lang="en-US" sz="1000" dirty="0"/>
          </a:p>
          <a:p>
            <a:pPr algn="ctr" indent="0" marL="0">
              <a:buNone/>
            </a:pPr>
            <a:r>
              <a:rPr lang="en-US" sz="1000" dirty="0">
                <a:solidFill>
                  <a:srgbClr val="1B1F2A"/>
                </a:solidFill>
              </a:rPr>
              <a:t>Month 27</a:t>
            </a:r>
            <a:endParaRPr lang="en-US" sz="1000" dirty="0"/>
          </a:p>
        </p:txBody>
      </p:sp>
      <p:sp>
        <p:nvSpPr>
          <p:cNvPr id="28" name="Shape 25"/>
          <p:cNvSpPr/>
          <p:nvPr/>
        </p:nvSpPr>
        <p:spPr>
          <a:xfrm>
            <a:off x="8685186" y="3941064"/>
            <a:ext cx="164592" cy="164592"/>
          </a:xfrm>
          <a:prstGeom prst="ellipse">
            <a:avLst/>
          </a:prstGeom>
          <a:solidFill>
            <a:srgbClr val="B8893B"/>
          </a:solidFill>
          <a:ln w="12700">
            <a:solidFill>
              <a:srgbClr val="FFFFFF"/>
            </a:solidFill>
            <a:prstDash val="solid"/>
          </a:ln>
        </p:spPr>
      </p:sp>
      <p:sp>
        <p:nvSpPr>
          <p:cNvPr id="29" name="Text 26"/>
          <p:cNvSpPr txBox="1"/>
          <p:nvPr/>
        </p:nvSpPr>
        <p:spPr>
          <a:xfrm>
            <a:off x="8127402" y="3154680"/>
            <a:ext cx="1280160" cy="731520"/>
          </a:xfrm>
          <a:prstGeom prst="rect">
            <a:avLst/>
          </a:prstGeom>
          <a:noFill/>
          <a:ln/>
        </p:spPr>
        <p:txBody>
          <a:bodyPr wrap="square" lIns="0" tIns="0" rIns="0" bIns="0" rtlCol="0" anchor="b"/>
          <a:lstStyle/>
          <a:p>
            <a:pPr algn="ctr" indent="0" marL="0">
              <a:buNone/>
            </a:pPr>
            <a:r>
              <a:rPr lang="en-US" sz="1000" b="1" dirty="0">
                <a:solidFill>
                  <a:srgbClr val="1B1F2A"/>
                </a:solidFill>
              </a:rPr>
              <a:t>Handover</a:t>
            </a:r>
            <a:endParaRPr lang="en-US" sz="1000" dirty="0"/>
          </a:p>
          <a:p>
            <a:pPr algn="ctr" indent="0" marL="0">
              <a:buNone/>
            </a:pPr>
            <a:r>
              <a:rPr lang="en-US" sz="1000" dirty="0">
                <a:solidFill>
                  <a:srgbClr val="1B1F2A"/>
                </a:solidFill>
              </a:rPr>
              <a:t>Month 42</a:t>
            </a:r>
            <a:endParaRPr lang="en-US" sz="1000" dirty="0"/>
          </a:p>
        </p:txBody>
      </p:sp>
      <p:sp>
        <p:nvSpPr>
          <p:cNvPr id="30" name="Shape 27"/>
          <p:cNvSpPr/>
          <p:nvPr/>
        </p:nvSpPr>
        <p:spPr>
          <a:xfrm>
            <a:off x="11081452" y="3941064"/>
            <a:ext cx="164592" cy="164592"/>
          </a:xfrm>
          <a:prstGeom prst="ellipse">
            <a:avLst/>
          </a:prstGeom>
          <a:solidFill>
            <a:srgbClr val="B8893B"/>
          </a:solidFill>
          <a:ln w="12700">
            <a:solidFill>
              <a:srgbClr val="FFFFFF"/>
            </a:solidFill>
            <a:prstDash val="solid"/>
          </a:ln>
        </p:spPr>
      </p:sp>
      <p:sp>
        <p:nvSpPr>
          <p:cNvPr id="31" name="Text 28"/>
          <p:cNvSpPr txBox="1"/>
          <p:nvPr/>
        </p:nvSpPr>
        <p:spPr>
          <a:xfrm>
            <a:off x="10523668" y="4160520"/>
            <a:ext cx="1280160" cy="731520"/>
          </a:xfrm>
          <a:prstGeom prst="rect">
            <a:avLst/>
          </a:prstGeom>
          <a:noFill/>
          <a:ln/>
        </p:spPr>
        <p:txBody>
          <a:bodyPr wrap="square" lIns="0" tIns="0" rIns="0" bIns="0" rtlCol="0" anchor="t"/>
          <a:lstStyle/>
          <a:p>
            <a:pPr algn="ctr" indent="0" marL="0">
              <a:buNone/>
            </a:pPr>
            <a:r>
              <a:rPr lang="en-US" sz="1000" b="1" dirty="0">
                <a:solidFill>
                  <a:srgbClr val="1B1F2A"/>
                </a:solidFill>
              </a:rPr>
              <a:t>Last Option B</a:t>
            </a:r>
            <a:endParaRPr lang="en-US" sz="1000" dirty="0"/>
          </a:p>
          <a:p>
            <a:pPr algn="ctr" indent="0" marL="0">
              <a:buNone/>
            </a:pPr>
            <a:r>
              <a:rPr lang="en-US" sz="1000" dirty="0">
                <a:solidFill>
                  <a:srgbClr val="1B1F2A"/>
                </a:solidFill>
              </a:rPr>
              <a:t>Month 60</a:t>
            </a:r>
            <a:endParaRPr lang="en-US" sz="1000" dirty="0"/>
          </a:p>
        </p:txBody>
      </p:sp>
      <p:sp>
        <p:nvSpPr>
          <p:cNvPr id="32" name="Text 29"/>
          <p:cNvSpPr txBox="1"/>
          <p:nvPr/>
        </p:nvSpPr>
        <p:spPr>
          <a:xfrm>
            <a:off x="548640" y="5303520"/>
            <a:ext cx="11064240" cy="822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Funding: Green Square in month -3 and L'avenir in month 0, each when the landlord down payment falls due. Months are counted on each project's own timeline (month 1 = its sales launch).</a:t>
            </a:r>
            <a:endParaRPr lang="en-US" sz="1200" dirty="0"/>
          </a:p>
          <a:p>
            <a:pPr marL="342900" indent="-342900">
              <a:spcAft>
                <a:spcPts val="600"/>
              </a:spcAft>
              <a:buSzPct val="100000"/>
              <a:buChar char="•"/>
            </a:pPr>
            <a:r>
              <a:rPr lang="en-US" sz="1200" dirty="0">
                <a:solidFill>
                  <a:srgbClr val="1B1F2A"/>
                </a:solidFill>
              </a:rPr>
              <a:t>Option A: units allocated at signing and delivered at each handover; resale after consents.</a:t>
            </a:r>
            <a:endParaRPr lang="en-US" sz="1200" dirty="0"/>
          </a:p>
          <a:p>
            <a:pPr marL="342900" indent="-342900">
              <a:spcAft>
                <a:spcPts val="600"/>
              </a:spcAft>
              <a:buSzPct val="100000"/>
              <a:buChar char="•"/>
            </a:pPr>
            <a:r>
              <a:rPr lang="en-US" sz="1200" dirty="0">
                <a:solidFill>
                  <a:srgbClr val="1B1F2A"/>
                </a:solidFill>
              </a:rPr>
              <a:t>Option B: 24-month grace, then 12 quarterly instalments per project.</a:t>
            </a:r>
            <a:endParaRPr lang="en-US" sz="1200" dirty="0"/>
          </a:p>
        </p:txBody>
      </p:sp>
      <p:sp>
        <p:nvSpPr>
          <p:cNvPr id="33" name="Text 30"/>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Months count from the start of the model timeline.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ask and next steps</a:t>
            </a:r>
            <a:endParaRPr lang="en-US" sz="3400" dirty="0"/>
          </a:p>
        </p:txBody>
      </p:sp>
      <p:sp>
        <p:nvSpPr>
          <p:cNvPr id="3" name="Text 1"/>
          <p:cNvSpPr txBox="1"/>
          <p:nvPr/>
        </p:nvSpPr>
        <p:spPr>
          <a:xfrm>
            <a:off x="731520" y="1645920"/>
            <a:ext cx="10515600" cy="1188720"/>
          </a:xfrm>
          <a:prstGeom prst="rect">
            <a:avLst/>
          </a:prstGeom>
          <a:noFill/>
          <a:ln/>
        </p:spPr>
        <p:txBody>
          <a:bodyPr wrap="square" lIns="0" tIns="0" rIns="0" bIns="0" rtlCol="0" anchor="ctr"/>
          <a:lstStyle/>
          <a:p>
            <a:pPr indent="0" marL="0">
              <a:buNone/>
            </a:pPr>
            <a:r>
              <a:rPr lang="en-US" sz="1800" dirty="0">
                <a:solidFill>
                  <a:srgbClr val="D5DAE1"/>
                </a:solidFill>
              </a:rPr>
              <a:t>Jalour invites a combined investment of EGP 125 million: EGP 62.5 million in Green Square and EGP 62.5 million in L'avenir, with the choice of Option A (units, 2.0x face value) or Option B (cash, 2.3x over 3 years after a 24-month grace period).</a:t>
            </a:r>
            <a:endParaRPr lang="en-US" sz="1800" dirty="0"/>
          </a:p>
        </p:txBody>
      </p:sp>
      <p:sp>
        <p:nvSpPr>
          <p:cNvPr id="4" name="Shape 2"/>
          <p:cNvSpPr/>
          <p:nvPr/>
        </p:nvSpPr>
        <p:spPr>
          <a:xfrm>
            <a:off x="731520" y="3017520"/>
            <a:ext cx="384048" cy="384048"/>
          </a:xfrm>
          <a:prstGeom prst="ellipse">
            <a:avLst/>
          </a:prstGeom>
          <a:solidFill>
            <a:srgbClr val="B8893B"/>
          </a:solidFill>
          <a:ln w="12700">
            <a:solidFill>
              <a:srgbClr val="B8893B"/>
            </a:solidFill>
            <a:prstDash val="solid"/>
          </a:ln>
        </p:spPr>
      </p:sp>
      <p:sp>
        <p:nvSpPr>
          <p:cNvPr id="5" name="Text 3"/>
          <p:cNvSpPr txBox="1"/>
          <p:nvPr/>
        </p:nvSpPr>
        <p:spPr>
          <a:xfrm>
            <a:off x="7315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25880" y="3017520"/>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 the non-disclosure agreement (template provided)</a:t>
            </a:r>
            <a:endParaRPr lang="en-US" sz="1600" dirty="0"/>
          </a:p>
        </p:txBody>
      </p:sp>
      <p:sp>
        <p:nvSpPr>
          <p:cNvPr id="7" name="Shape 5"/>
          <p:cNvSpPr/>
          <p:nvPr/>
        </p:nvSpPr>
        <p:spPr>
          <a:xfrm>
            <a:off x="731520" y="3584448"/>
            <a:ext cx="384048" cy="384048"/>
          </a:xfrm>
          <a:prstGeom prst="ellipse">
            <a:avLst/>
          </a:prstGeom>
          <a:solidFill>
            <a:srgbClr val="B8893B"/>
          </a:solidFill>
          <a:ln w="12700">
            <a:solidFill>
              <a:srgbClr val="B8893B"/>
            </a:solidFill>
            <a:prstDash val="solid"/>
          </a:ln>
        </p:spPr>
      </p:sp>
      <p:sp>
        <p:nvSpPr>
          <p:cNvPr id="8" name="Text 6"/>
          <p:cNvSpPr txBox="1"/>
          <p:nvPr/>
        </p:nvSpPr>
        <p:spPr>
          <a:xfrm>
            <a:off x="73152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25880" y="3584448"/>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Review the investment presentation, memorandum and financial annex</a:t>
            </a:r>
            <a:endParaRPr lang="en-US" sz="1600" dirty="0"/>
          </a:p>
        </p:txBody>
      </p:sp>
      <p:sp>
        <p:nvSpPr>
          <p:cNvPr id="10" name="Shape 8"/>
          <p:cNvSpPr/>
          <p:nvPr/>
        </p:nvSpPr>
        <p:spPr>
          <a:xfrm>
            <a:off x="731520" y="4151376"/>
            <a:ext cx="384048" cy="384048"/>
          </a:xfrm>
          <a:prstGeom prst="ellipse">
            <a:avLst/>
          </a:prstGeom>
          <a:solidFill>
            <a:srgbClr val="B8893B"/>
          </a:solidFill>
          <a:ln w="12700">
            <a:solidFill>
              <a:srgbClr val="B8893B"/>
            </a:solidFill>
            <a:prstDash val="solid"/>
          </a:ln>
        </p:spPr>
      </p:sp>
      <p:sp>
        <p:nvSpPr>
          <p:cNvPr id="11" name="Text 9"/>
          <p:cNvSpPr txBox="1"/>
          <p:nvPr/>
        </p:nvSpPr>
        <p:spPr>
          <a:xfrm>
            <a:off x="731520" y="4151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25880" y="4151376"/>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Receive sponsor, permit and landlord documents; select Option A or Option B</a:t>
            </a:r>
            <a:endParaRPr lang="en-US" sz="1600" dirty="0"/>
          </a:p>
        </p:txBody>
      </p:sp>
      <p:sp>
        <p:nvSpPr>
          <p:cNvPr id="13" name="Shape 11"/>
          <p:cNvSpPr/>
          <p:nvPr/>
        </p:nvSpPr>
        <p:spPr>
          <a:xfrm>
            <a:off x="731520" y="4718304"/>
            <a:ext cx="384048" cy="384048"/>
          </a:xfrm>
          <a:prstGeom prst="ellipse">
            <a:avLst/>
          </a:prstGeom>
          <a:solidFill>
            <a:srgbClr val="B8893B"/>
          </a:solidFill>
          <a:ln w="12700">
            <a:solidFill>
              <a:srgbClr val="B8893B"/>
            </a:solidFill>
            <a:prstDash val="solid"/>
          </a:ln>
        </p:spPr>
      </p:sp>
      <p:sp>
        <p:nvSpPr>
          <p:cNvPr id="14" name="Text 12"/>
          <p:cNvSpPr txBox="1"/>
          <p:nvPr/>
        </p:nvSpPr>
        <p:spPr>
          <a:xfrm>
            <a:off x="731520" y="4718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25880" y="4718304"/>
            <a:ext cx="9875520" cy="384048"/>
          </a:xfrm>
          <a:prstGeom prst="rect">
            <a:avLst/>
          </a:prstGeom>
          <a:noFill/>
          <a:ln/>
        </p:spPr>
        <p:txBody>
          <a:bodyPr wrap="square" lIns="0" tIns="0" rIns="0" bIns="0" rtlCol="0" anchor="ctr"/>
          <a:lstStyle/>
          <a:p>
            <a:pPr indent="0" marL="0">
              <a:buNone/>
            </a:pPr>
            <a:r>
              <a:rPr lang="en-US" sz="1600" dirty="0">
                <a:solidFill>
                  <a:srgbClr val="FFFFFF"/>
                </a:solidFill>
              </a:rPr>
              <a:t>Due diligence, landlord consent and definitive documents</a:t>
            </a:r>
            <a:endParaRPr lang="en-US" sz="1600" dirty="0"/>
          </a:p>
        </p:txBody>
      </p:sp>
      <p:sp>
        <p:nvSpPr>
          <p:cNvPr id="16" name="Shape 14"/>
          <p:cNvSpPr/>
          <p:nvPr/>
        </p:nvSpPr>
        <p:spPr>
          <a:xfrm>
            <a:off x="731520" y="5285232"/>
            <a:ext cx="384048" cy="384048"/>
          </a:xfrm>
          <a:prstGeom prst="ellipse">
            <a:avLst/>
          </a:prstGeom>
          <a:solidFill>
            <a:srgbClr val="B8893B"/>
          </a:solidFill>
          <a:ln w="12700">
            <a:solidFill>
              <a:srgbClr val="B8893B"/>
            </a:solidFill>
            <a:prstDash val="solid"/>
          </a:ln>
        </p:spPr>
      </p:sp>
      <p:sp>
        <p:nvSpPr>
          <p:cNvPr id="17" name="Text 15"/>
          <p:cNvSpPr txBox="1"/>
          <p:nvPr/>
        </p:nvSpPr>
        <p:spPr>
          <a:xfrm>
            <a:off x="731520" y="5285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25880" y="5285232"/>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Signing and funding</a:t>
            </a:r>
            <a:endParaRPr lang="en-US" sz="1600" dirty="0"/>
          </a:p>
        </p:txBody>
      </p:sp>
      <p:sp>
        <p:nvSpPr>
          <p:cNvPr id="19" name="Text 17"/>
          <p:cNvSpPr txBox="1"/>
          <p:nvPr/>
        </p:nvSpPr>
        <p:spPr>
          <a:xfrm>
            <a:off x="731520" y="5989320"/>
            <a:ext cx="10515600" cy="548640"/>
          </a:xfrm>
          <a:prstGeom prst="rect">
            <a:avLst/>
          </a:prstGeom>
          <a:noFill/>
          <a:ln/>
        </p:spPr>
        <p:txBody>
          <a:bodyPr wrap="square" lIns="0" tIns="0" rIns="0" bIns="0" rtlCol="0" anchor="ctr"/>
          <a:lstStyle/>
          <a:p>
            <a:pPr indent="0" marL="0">
              <a:buNone/>
            </a:pPr>
            <a:r>
              <a:rPr lang="en-US" sz="1100" dirty="0">
                <a:solidFill>
                  <a:srgbClr val="AAB2BD"/>
                </a:solidFill>
              </a:rPr>
              <a:t>Jalour may raise further capital at project or holding level, subject to the investor's stated rights. Projections are not guarantees. All information in this presentation and in the other documents of this pack is confidential and subject to the non-disclosure agreement.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Jalour Developments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Square and L'avenir - Investment Presentation (EGP 125 million combined)</dc:title>
  <dc:subject>Strictly private and confidential</dc:subject>
  <dc:creator>Jalour Developments</dc:creator>
  <cp:lastModifiedBy>Jalour Developments</cp:lastModifiedBy>
  <cp:revision>1</cp:revision>
  <dcterms:created xsi:type="dcterms:W3CDTF">2026-10-08T10:32:33Z</dcterms:created>
  <dcterms:modified xsi:type="dcterms:W3CDTF">2026-10-08T10:32:33Z</dcterms:modified>
</cp:coreProperties>
</file>