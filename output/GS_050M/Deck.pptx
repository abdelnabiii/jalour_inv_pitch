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26.40299067196127</c:v>
                </c:pt>
                <c:pt idx="1">
                  <c:v>18.640160567240756</c:v>
                </c:pt>
                <c:pt idx="2">
                  <c:v>29.19928386686741</c:v>
                </c:pt>
                <c:pt idx="3">
                  <c:v>26.546399483999462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50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100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115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50 million (USD 1.0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100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115 million in 12 equal quarterly instalments of EGP 9.58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delivery list: +33% retail, +48% offices; offices +77% on today's asking, about 15% a year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Covers project funding gaps from its cash reserves and cash from other projects it is constructing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Completed projects, area delivered and units handed over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Management team biographies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Audited financial statements of Jalour and Al Jalal Holding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References from landlords, contractors and buyers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All provided after the investor signs a non-disclosure agreement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Sponsor materials are provided after the investor signs a non-disclosure agreement.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50.0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49%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269 million; if sales slip 12 months with prices 10% lower it is EGP 441 million. Jalour will cover gaps above project cash from its cash reserves and cash from other projects it is constructing.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100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115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(delivery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gaps from Jalour cash reserves and other projects' cash;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delivery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10.1x on a pooled-cash basis; net cash flow alone covers it in 6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covers any gap from cash reserves and other projects' cash;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50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50 million)</dc:title>
  <dc:subject>Strictly private and confidential</dc:subject>
  <dc:creator>Jalour Developments</dc:creator>
  <cp:lastModifiedBy>Jalour Developments</cp:lastModifiedBy>
  <cp:revision>1</cp:revision>
  <dcterms:created xsi:type="dcterms:W3CDTF">2026-10-08T07:54:33Z</dcterms:created>
  <dcterms:modified xsi:type="dcterms:W3CDTF">2026-10-08T07:54:33Z</dcterms:modified>
</cp:coreProperties>
</file>