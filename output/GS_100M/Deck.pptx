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4341</c:v>
                </c:pt>
                <c:pt idx="1">
                  <c:v>8682</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80</c:v>
                </c:pt>
                <c:pt idx="1">
                  <c:v>45</c:v>
                </c:pt>
                <c:pt idx="2">
                  <c:v>90</c:v>
                </c:pt>
                <c:pt idx="3">
                  <c:v>135</c:v>
                </c:pt>
                <c:pt idx="4">
                  <c:v>180</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 80% of units)</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Sheet1!$B$2:$B$11</c:f>
              <c:numCache>
                <c:formatCode>General</c:formatCode>
                <c:ptCount val="10"/>
                <c:pt idx="0">
                  <c:v>97.6725</c:v>
                </c:pt>
                <c:pt idx="1">
                  <c:v>97.6725</c:v>
                </c:pt>
                <c:pt idx="2">
                  <c:v>75.9675</c:v>
                </c:pt>
                <c:pt idx="3">
                  <c:v>75.9675</c:v>
                </c:pt>
                <c:pt idx="4">
                  <c:v>83.56425000000002</c:v>
                </c:pt>
                <c:pt idx="5">
                  <c:v>83.56425000000002</c:v>
                </c:pt>
                <c:pt idx="6">
                  <c:v>91.16100000000002</c:v>
                </c:pt>
                <c:pt idx="7">
                  <c:v>130.23</c:v>
                </c:pt>
                <c:pt idx="8">
                  <c:v>130.23</c:v>
                </c:pt>
                <c:pt idx="9">
                  <c:v>65.115</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M9</c:v>
                  </c:pt>
                  <c:pt idx="1">
                    <c:v>M12</c:v>
                  </c:pt>
                  <c:pt idx="2">
                    <c:v>M15</c:v>
                  </c:pt>
                  <c:pt idx="3">
                    <c:v>M18</c:v>
                  </c:pt>
                  <c:pt idx="4">
                    <c:v>M21</c:v>
                  </c:pt>
                  <c:pt idx="5">
                    <c:v>M24</c:v>
                  </c:pt>
                  <c:pt idx="6">
                    <c:v>M27</c:v>
                  </c:pt>
                  <c:pt idx="7">
                    <c:v>M30</c:v>
                  </c:pt>
                  <c:pt idx="8">
                    <c:v>M33</c:v>
                  </c:pt>
                  <c:pt idx="9">
                    <c:v>M36</c:v>
                  </c:pt>
                </c:lvl>
              </c:multiLvlStrCache>
            </c:multiLvlStrRef>
          </c:cat>
          <c:val>
            <c:numRef>
              <c:f>Sheet1!$C$2:$C$11</c:f>
              <c:numCache>
                <c:formatCode>General</c:formatCode>
                <c:ptCount val="10"/>
                <c:pt idx="0">
                  <c:v>205.11225</c:v>
                </c:pt>
                <c:pt idx="1">
                  <c:v>205.11225</c:v>
                </c:pt>
                <c:pt idx="2">
                  <c:v>162.064</c:v>
                </c:pt>
                <c:pt idx="3">
                  <c:v>162.064</c:v>
                </c:pt>
                <c:pt idx="4">
                  <c:v>91.161</c:v>
                </c:pt>
                <c:pt idx="5">
                  <c:v>91.161</c:v>
                </c:pt>
                <c:pt idx="6">
                  <c:v>101.29</c:v>
                </c:pt>
                <c:pt idx="7">
                  <c:v>101.29</c:v>
                </c:pt>
                <c:pt idx="8">
                  <c:v>101.29</c:v>
                </c:pt>
                <c:pt idx="9">
                  <c:v>101.29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45.4177125</c:v>
                </c:pt>
                <c:pt idx="1">
                  <c:v>235.096803125</c:v>
                </c:pt>
                <c:pt idx="2">
                  <c:v>937.6944359375001</c:v>
                </c:pt>
                <c:pt idx="3">
                  <c:v>307.96772312499996</c:v>
                </c:pt>
                <c:pt idx="4">
                  <c:v>224.046245</c:v>
                </c:pt>
                <c:pt idx="5">
                  <c:v>175.6911225</c:v>
                </c:pt>
                <c:pt idx="6">
                  <c:v>123.8726959375</c:v>
                </c:pt>
                <c:pt idx="7">
                  <c:v>100.356685</c:v>
                </c:pt>
                <c:pt idx="8">
                  <c:v>89.638936875</c:v>
                </c:pt>
                <c:pt idx="9">
                  <c:v>13.196639999999999</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-125</c:v>
                </c:pt>
                <c:pt idx="1">
                  <c:v>-90</c:v>
                </c:pt>
                <c:pt idx="2">
                  <c:v>-135</c:v>
                </c:pt>
                <c:pt idx="3">
                  <c:v>-180</c:v>
                </c:pt>
                <c:pt idx="4">
                  <c:v>-180</c:v>
                </c:pt>
                <c:pt idx="5">
                  <c:v>-90</c:v>
                </c:pt>
                <c:pt idx="6">
                  <c:v>0</c:v>
                </c:pt>
                <c:pt idx="7">
                  <c:v>-140.68774761718748</c:v>
                </c:pt>
                <c:pt idx="8">
                  <c:v>-39.217034882812456</c:v>
                </c:pt>
                <c:pt idx="9">
                  <c:v>-5.773529999999993</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Sheet1!$D$2:$D$11</c:f>
              <c:numCache>
                <c:formatCode>General</c:formatCode>
                <c:ptCount val="10"/>
                <c:pt idx="0">
                  <c:v>0</c:v>
                </c:pt>
                <c:pt idx="1">
                  <c:v>-153.94278</c:v>
                </c:pt>
                <c:pt idx="2">
                  <c:v>-105.88453999999999</c:v>
                </c:pt>
                <c:pt idx="3">
                  <c:v>-632.02584</c:v>
                </c:pt>
                <c:pt idx="4">
                  <c:v>0</c:v>
                </c:pt>
                <c:pt idx="5">
                  <c:v>0</c:v>
                </c:pt>
                <c:pt idx="6">
                  <c:v>0</c:v>
                </c:pt>
                <c:pt idx="7">
                  <c:v>0</c:v>
                </c:pt>
                <c:pt idx="8">
                  <c:v>0</c:v>
                </c:pt>
                <c:pt idx="9">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Sheet1!$E$2:$E$11</c:f>
              <c:numCache>
                <c:formatCode>General</c:formatCode>
                <c:ptCount val="10"/>
                <c:pt idx="0">
                  <c:v>-79.58228749999999</c:v>
                </c:pt>
                <c:pt idx="1">
                  <c:v>-88.42826437499998</c:v>
                </c:pt>
                <c:pt idx="2">
                  <c:v>608.3816315625002</c:v>
                </c:pt>
                <c:pt idx="3">
                  <c:v>104.32351468750014</c:v>
                </c:pt>
                <c:pt idx="4">
                  <c:v>148.3697596875001</c:v>
                </c:pt>
                <c:pt idx="5">
                  <c:v>234.0608821875001</c:v>
                </c:pt>
                <c:pt idx="6">
                  <c:v>357.9335781250001</c:v>
                </c:pt>
                <c:pt idx="7">
                  <c:v>317.6025155078126</c:v>
                </c:pt>
                <c:pt idx="8">
                  <c:v>368.02441750000014</c:v>
                </c:pt>
                <c:pt idx="9">
                  <c:v>375.44752750000015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26.40299067196127</c:v>
                </c:pt>
                <c:pt idx="1">
                  <c:v>18.640160567240756</c:v>
                </c:pt>
                <c:pt idx="2">
                  <c:v>29.19928386686741</c:v>
                </c:pt>
                <c:pt idx="3">
                  <c:v>26.546399483999462</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Green Square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Green Square</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100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13,023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4,341 m2 retail and 8,682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48</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7, construction from month 13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2.25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80% of units sold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800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200 million (2.0x the ticket) at launch list prices. Projected investor IRR 26.4% (base).</a:t>
            </a:r>
            <a:endParaRPr lang="en-US" sz="1700" dirty="0"/>
          </a:p>
          <a:p>
            <a:pPr marL="342900" indent="-342900">
              <a:spcAft>
                <a:spcPts val="600"/>
              </a:spcAft>
              <a:buSzPct val="100000"/>
              <a:buChar char="•"/>
            </a:pPr>
            <a:r>
              <a:rPr lang="en-US" sz="1700" dirty="0">
                <a:solidFill>
                  <a:srgbClr val="1B1F2A"/>
                </a:solidFill>
              </a:rPr>
              <a:t>Option B: cash return of EGP 230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100 million (USD 2.1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113.0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200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230 million in 12 equal quarterly instalments of EGP 19.17 million; first payment month 30, last month 63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135,000 per m2, rising to 200,000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225,000 per m2, rising to 300,000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+33% retail, +48% offices; offices +77% on today's asking, about 15%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14,470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8,682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13,023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7</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13 to 48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48</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 Jalour retains 20% of units, outside the sales plan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800 million over six years; down payment EGP 80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Total sales at 100% of units: EGP 2,816 million; plan sells 80%: EGP 2,253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375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215</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102.5</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6)</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22.5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89%</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102.5 million; the ticket is 98%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269 million; if sales slip 12 months with prices 10% lower it is EGP 441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200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230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48; resale from month 51</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30 to 63</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1.43x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2.78x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 (3.06x)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18.6% (2.50x)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54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215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315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162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155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36%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3.0x on a pooled-cash basis; net cash flow alone covers it in 3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33% to 48%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740664"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45720"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Model start</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1855955"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161011"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7</a:t>
            </a:r>
            <a:endParaRPr lang="en-US" sz="1100" dirty="0"/>
          </a:p>
        </p:txBody>
      </p:sp>
      <p:sp>
        <p:nvSpPr>
          <p:cNvPr id="9" name="Shape 6"/>
          <p:cNvSpPr/>
          <p:nvPr/>
        </p:nvSpPr>
        <p:spPr>
          <a:xfrm>
            <a:off x="2811919"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116975"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13</a:t>
            </a:r>
            <a:endParaRPr lang="en-US" sz="1100" dirty="0"/>
          </a:p>
        </p:txBody>
      </p:sp>
      <p:sp>
        <p:nvSpPr>
          <p:cNvPr id="11" name="Shape 8"/>
          <p:cNvSpPr/>
          <p:nvPr/>
        </p:nvSpPr>
        <p:spPr>
          <a:xfrm>
            <a:off x="5042500"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434755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27</a:t>
            </a:r>
            <a:endParaRPr lang="en-US" sz="1100" dirty="0"/>
          </a:p>
        </p:txBody>
      </p:sp>
      <p:sp>
        <p:nvSpPr>
          <p:cNvPr id="13" name="Shape 10"/>
          <p:cNvSpPr/>
          <p:nvPr/>
        </p:nvSpPr>
        <p:spPr>
          <a:xfrm>
            <a:off x="5520482"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4825538"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30</a:t>
            </a:r>
            <a:endParaRPr lang="en-US" sz="1100" dirty="0"/>
          </a:p>
        </p:txBody>
      </p:sp>
      <p:sp>
        <p:nvSpPr>
          <p:cNvPr id="15" name="Shape 12"/>
          <p:cNvSpPr/>
          <p:nvPr/>
        </p:nvSpPr>
        <p:spPr>
          <a:xfrm>
            <a:off x="8388373"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93429"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48</a:t>
            </a:r>
            <a:endParaRPr lang="en-US" sz="1100" dirty="0"/>
          </a:p>
        </p:txBody>
      </p:sp>
      <p:sp>
        <p:nvSpPr>
          <p:cNvPr id="17" name="Shape 14"/>
          <p:cNvSpPr/>
          <p:nvPr/>
        </p:nvSpPr>
        <p:spPr>
          <a:xfrm>
            <a:off x="8866355"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171411"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51</a:t>
            </a:r>
            <a:endParaRPr lang="en-US" sz="1100" dirty="0"/>
          </a:p>
        </p:txBody>
      </p:sp>
      <p:sp>
        <p:nvSpPr>
          <p:cNvPr id="19" name="Shape 16"/>
          <p:cNvSpPr/>
          <p:nvPr/>
        </p:nvSpPr>
        <p:spPr>
          <a:xfrm>
            <a:off x="10778282"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08333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63</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3 (ticket due when the down payment of EGP 80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48);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30.</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100 million in Green Square,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Square - Investment Presentation (EGP 100 million)</dc:title>
  <dc:subject>Strictly private and confidential</dc:subject>
  <dc:creator>Jalour Developments</dc:creator>
  <cp:lastModifiedBy>Jalour Developments</cp:lastModifiedBy>
  <cp:revision>1</cp:revision>
  <dcterms:created xsi:type="dcterms:W3CDTF">2026-10-08T08:56:41Z</dcterms:created>
  <dcterms:modified xsi:type="dcterms:W3CDTF">2026-10-08T08:56:41Z</dcterms:modified>
</cp:coreProperties>
</file>