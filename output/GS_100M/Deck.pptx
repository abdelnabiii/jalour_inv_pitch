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Built-up area mix (m2)</a:t>
            </a:r>
          </a:p>
        </c:rich>
      </c:tx>
      <c:layout/>
      <c:overlay val="0"/>
    </c:title>
    <c:autoTitleDeleted val="0"/>
    <c:plotArea>
      <c:layout/>
      <c:doughnutChart>
        <c:varyColors val="1"/>
        <c:ser>
          <c:idx val="0"/>
          <c:order val="0"/>
          <c:tx>
            <c:strRef>
              <c:f>Sheet1!$B$1</c:f>
              <c:strCache>
                <c:ptCount val="1"/>
                <c:pt idx="0">
                  <c:v>Built-up area</c:v>
                </c:pt>
              </c:strCache>
            </c:strRef>
          </c:tx>
          <c:spPr>
            <a:solidFill>
              <a:schemeClr val="accent1"/>
            </a:solidFill>
            <a:ln w="9525" cap="flat">
              <a:solidFill>
                <a:srgbClr val="F9F9F9"/>
              </a:solidFill>
              <a:prstDash val="solid"/>
              <a:round/>
            </a:ln>
            <a:effectLst/>
          </c:spPr>
          <c:dPt>
            <c:idx val="0"/>
            <c:bubble3D val="0"/>
            <c:spPr>
              <a:solidFill>
                <a:srgbClr val="B8893B"/>
              </a:solidFill>
              <a:effectLst/>
            </c:spPr>
          </c:dPt>
          <c:dPt>
            <c:idx val="1"/>
            <c:bubble3D val="0"/>
            <c:spPr>
              <a:solidFill>
                <a:srgbClr val="17324D"/>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Retail</c:v>
                </c:pt>
                <c:pt idx="1">
                  <c:v>Offices</c:v>
                </c:pt>
              </c:strCache>
            </c:strRef>
          </c:cat>
          <c:val>
            <c:numRef>
              <c:f>Sheet1!$B$2:$B$3</c:f>
              <c:numCache>
                <c:ptCount val="2"/>
                <c:pt idx="0">
                  <c:v>4341</c:v>
                </c:pt>
                <c:pt idx="1">
                  <c:v>8682</c:v>
                </c:pt>
              </c:numCache>
            </c:numRef>
          </c:val>
        </c:ser>
        <c:firstSliceAng val="0"/>
        <c:holeSize val="55"/>
      </c:doughnutChart>
      <c:spPr>
        <a:noFill/>
        <a:ln>
          <a:noFill/>
        </a:ln>
        <a:effectLst/>
      </c:spPr>
    </c:plotArea>
    <c:legend>
      <c:legendPos val="b"/>
      <c:overlay val="0"/>
      <c:txPr>
        <a:bodyPr/>
        <a:lstStyle/>
        <a:p>
          <a:pPr>
            <a:defRPr sz="12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Minimum guarantee schedule (EGP million)</a:t>
            </a:r>
          </a:p>
        </c:rich>
      </c:tx>
      <c:layout/>
      <c:overlay val="0"/>
    </c:title>
    <c:autoTitleDeleted val="0"/>
    <c:plotArea>
      <c:layout/>
      <c:barChart>
        <c:barDir val="col"/>
        <c:grouping val="clustered"/>
        <c:varyColors val="0"/>
        <c:ser>
          <c:idx val="0"/>
          <c:order val="0"/>
          <c:tx>
            <c:strRef>
              <c:f>Sheet1!$B$1</c:f>
              <c:strCache>
                <c:ptCount val="1"/>
                <c:pt idx="0">
                  <c:v>Guaranteed payment to landlord (EGP m)</c:v>
                </c:pt>
              </c:strCache>
            </c:strRef>
          </c:tx>
          <c:spPr>
            <a:solidFill>
              <a:srgbClr val="17324D"/>
            </a:solidFill>
            <a:effectLst/>
          </c:spPr>
          <c:invertIfNegative val="0"/>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Sheet1!$A$2:$A$8</c:f>
              <c:multiLvlStrCache>
                <c:ptCount val="7"/>
                <c:lvl>
                  <c:pt idx="0">
                    <c:v>Down payment</c:v>
                  </c:pt>
                  <c:pt idx="1">
                    <c:v>Year 1</c:v>
                  </c:pt>
                  <c:pt idx="2">
                    <c:v>Year 2</c:v>
                  </c:pt>
                  <c:pt idx="3">
                    <c:v>Year 3</c:v>
                  </c:pt>
                  <c:pt idx="4">
                    <c:v>Year 4</c:v>
                  </c:pt>
                  <c:pt idx="5">
                    <c:v>Year 5</c:v>
                  </c:pt>
                  <c:pt idx="6">
                    <c:v>Year 6</c:v>
                  </c:pt>
                </c:lvl>
              </c:multiLvlStrCache>
            </c:multiLvlStrRef>
          </c:cat>
          <c:val>
            <c:numRef>
              <c:f>Sheet1!$B$2:$B$8</c:f>
              <c:numCache>
                <c:formatCode>General</c:formatCode>
                <c:ptCount val="7"/>
                <c:pt idx="0">
                  <c:v>80</c:v>
                </c:pt>
                <c:pt idx="1">
                  <c:v>45</c:v>
                </c:pt>
                <c:pt idx="2">
                  <c:v>90</c:v>
                </c:pt>
                <c:pt idx="3">
                  <c:v>135</c:v>
                </c:pt>
                <c:pt idx="4">
                  <c:v>180</c:v>
                </c:pt>
                <c:pt idx="5">
                  <c:v>180</c:v>
                </c:pt>
                <c:pt idx="6">
                  <c:v>90</c:v>
                </c:pt>
              </c:numCache>
            </c:numRef>
          </c:val>
        </c:ser>
        <c:dLbls>
          <c:numFmt formatCode="#,##0"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Sales value by quarter of sale (EGP million)</a:t>
            </a:r>
          </a:p>
        </c:rich>
      </c:tx>
      <c:layout/>
      <c:overlay val="0"/>
    </c:title>
    <c:autoTitleDeleted val="0"/>
    <c:plotArea>
      <c:layout/>
      <c:barChart>
        <c:barDir val="col"/>
        <c:grouping val="stacked"/>
        <c:varyColors val="0"/>
        <c:ser>
          <c:idx val="0"/>
          <c:order val="0"/>
          <c:tx>
            <c:strRef>
              <c:f>Sheet1!$B$1</c:f>
              <c:strCache>
                <c:ptCount val="1"/>
                <c:pt idx="0">
                  <c:v>Retail</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M3</c:v>
                  </c:pt>
                  <c:pt idx="1">
                    <c:v>M6</c:v>
                  </c:pt>
                  <c:pt idx="2">
                    <c:v>M9</c:v>
                  </c:pt>
                  <c:pt idx="3">
                    <c:v>M12</c:v>
                  </c:pt>
                  <c:pt idx="4">
                    <c:v>M15</c:v>
                  </c:pt>
                  <c:pt idx="5">
                    <c:v>M18</c:v>
                  </c:pt>
                  <c:pt idx="6">
                    <c:v>M21</c:v>
                  </c:pt>
                  <c:pt idx="7">
                    <c:v>M24</c:v>
                  </c:pt>
                  <c:pt idx="8">
                    <c:v>M27</c:v>
                  </c:pt>
                  <c:pt idx="9">
                    <c:v>M30</c:v>
                  </c:pt>
                </c:lvl>
              </c:multiLvlStrCache>
            </c:multiLvlStrRef>
          </c:cat>
          <c:val>
            <c:numRef>
              <c:f>Sheet1!$B$2:$B$11</c:f>
              <c:numCache>
                <c:formatCode>General</c:formatCode>
                <c:ptCount val="10"/>
                <c:pt idx="0">
                  <c:v>97.6725</c:v>
                </c:pt>
                <c:pt idx="1">
                  <c:v>97.6725</c:v>
                </c:pt>
                <c:pt idx="2">
                  <c:v>75.9675</c:v>
                </c:pt>
                <c:pt idx="3">
                  <c:v>75.9675</c:v>
                </c:pt>
                <c:pt idx="4">
                  <c:v>83.56425000000002</c:v>
                </c:pt>
                <c:pt idx="5">
                  <c:v>83.56425000000002</c:v>
                </c:pt>
                <c:pt idx="6">
                  <c:v>91.16100000000002</c:v>
                </c:pt>
                <c:pt idx="7">
                  <c:v>130.23</c:v>
                </c:pt>
                <c:pt idx="8">
                  <c:v>130.23</c:v>
                </c:pt>
                <c:pt idx="9">
                  <c:v>65.115</c:v>
                </c:pt>
              </c:numCache>
            </c:numRef>
          </c:val>
        </c:ser>
        <c:ser>
          <c:idx val="1"/>
          <c:order val="1"/>
          <c:tx>
            <c:strRef>
              <c:f>Sheet1!$C$1</c:f>
              <c:strCache>
                <c:ptCount val="1"/>
                <c:pt idx="0">
                  <c:v>Offices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M3</c:v>
                  </c:pt>
                  <c:pt idx="1">
                    <c:v>M6</c:v>
                  </c:pt>
                  <c:pt idx="2">
                    <c:v>M9</c:v>
                  </c:pt>
                  <c:pt idx="3">
                    <c:v>M12</c:v>
                  </c:pt>
                  <c:pt idx="4">
                    <c:v>M15</c:v>
                  </c:pt>
                  <c:pt idx="5">
                    <c:v>M18</c:v>
                  </c:pt>
                  <c:pt idx="6">
                    <c:v>M21</c:v>
                  </c:pt>
                  <c:pt idx="7">
                    <c:v>M24</c:v>
                  </c:pt>
                  <c:pt idx="8">
                    <c:v>M27</c:v>
                  </c:pt>
                  <c:pt idx="9">
                    <c:v>M30</c:v>
                  </c:pt>
                </c:lvl>
              </c:multiLvlStrCache>
            </c:multiLvlStrRef>
          </c:cat>
          <c:val>
            <c:numRef>
              <c:f>Sheet1!$C$2:$C$11</c:f>
              <c:numCache>
                <c:formatCode>General</c:formatCode>
                <c:ptCount val="10"/>
                <c:pt idx="0">
                  <c:v>205.11225</c:v>
                </c:pt>
                <c:pt idx="1">
                  <c:v>205.11225</c:v>
                </c:pt>
                <c:pt idx="2">
                  <c:v>162.064</c:v>
                </c:pt>
                <c:pt idx="3">
                  <c:v>162.064</c:v>
                </c:pt>
                <c:pt idx="4">
                  <c:v>91.161</c:v>
                </c:pt>
                <c:pt idx="5">
                  <c:v>91.161</c:v>
                </c:pt>
                <c:pt idx="6">
                  <c:v>101.29</c:v>
                </c:pt>
                <c:pt idx="7">
                  <c:v>101.29</c:v>
                </c:pt>
                <c:pt idx="8">
                  <c:v>101.29</c:v>
                </c:pt>
                <c:pt idx="9">
                  <c:v>101.29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 cash flow by project year (EGP million)</a:t>
            </a:r>
          </a:p>
        </c:rich>
      </c:tx>
      <c:layout/>
      <c:overlay val="0"/>
    </c:title>
    <c:autoTitleDeleted val="0"/>
    <c:plotArea>
      <c:layout/>
      <c:barChart>
        <c:barDir val="col"/>
        <c:grouping val="clustered"/>
        <c:varyColors val="0"/>
        <c:ser>
          <c:idx val="0"/>
          <c:order val="0"/>
          <c:tx>
            <c:strRef>
              <c:f>Sheet1!$B$1</c:f>
              <c:strCache>
                <c:ptCount val="1"/>
                <c:pt idx="0">
                  <c:v>Collections</c:v>
                </c:pt>
              </c:strCache>
            </c:strRef>
          </c:tx>
          <c:spPr>
            <a:solidFill>
              <a:srgbClr val="17324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Sheet1!$B$2:$B$12</c:f>
              <c:numCache>
                <c:formatCode>General</c:formatCode>
                <c:ptCount val="11"/>
                <c:pt idx="0">
                  <c:v>0</c:v>
                </c:pt>
                <c:pt idx="1">
                  <c:v>154.67525625000002</c:v>
                </c:pt>
                <c:pt idx="2">
                  <c:v>701.4219453125</c:v>
                </c:pt>
                <c:pt idx="3">
                  <c:v>530.73246875</c:v>
                </c:pt>
                <c:pt idx="4">
                  <c:v>260.28635999999995</c:v>
                </c:pt>
                <c:pt idx="5">
                  <c:v>194.59256</c:v>
                </c:pt>
                <c:pt idx="6">
                  <c:v>153.5588053125</c:v>
                </c:pt>
                <c:pt idx="7">
                  <c:v>104.697685</c:v>
                </c:pt>
                <c:pt idx="8">
                  <c:v>98.17261937500001</c:v>
                </c:pt>
                <c:pt idx="9">
                  <c:v>54.841300000000004</c:v>
                </c:pt>
                <c:pt idx="10">
                  <c:v>0</c:v>
                </c:pt>
              </c:numCache>
            </c:numRef>
          </c:val>
        </c:ser>
        <c:ser>
          <c:idx val="1"/>
          <c:order val="1"/>
          <c:tx>
            <c:strRef>
              <c:f>Sheet1!$C$1</c:f>
              <c:strCache>
                <c:ptCount val="1"/>
                <c:pt idx="0">
                  <c:v>Landlord payments</c:v>
                </c:pt>
              </c:strCache>
            </c:strRef>
          </c:tx>
          <c:spPr>
            <a:solidFill>
              <a:srgbClr val="B8893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Sheet1!$C$2:$C$12</c:f>
              <c:numCache>
                <c:formatCode>General</c:formatCode>
                <c:ptCount val="11"/>
                <c:pt idx="0">
                  <c:v>-102.5</c:v>
                </c:pt>
                <c:pt idx="1">
                  <c:v>-67.5</c:v>
                </c:pt>
                <c:pt idx="2">
                  <c:v>-112.5</c:v>
                </c:pt>
                <c:pt idx="3">
                  <c:v>-157.5</c:v>
                </c:pt>
                <c:pt idx="4">
                  <c:v>-180</c:v>
                </c:pt>
                <c:pt idx="5">
                  <c:v>-135</c:v>
                </c:pt>
                <c:pt idx="6">
                  <c:v>-45</c:v>
                </c:pt>
                <c:pt idx="7">
                  <c:v>-118.73472277343753</c:v>
                </c:pt>
                <c:pt idx="8">
                  <c:v>-42.950520976562444</c:v>
                </c:pt>
                <c:pt idx="9">
                  <c:v>-23.993068749999974</c:v>
                </c:pt>
                <c:pt idx="10">
                  <c:v>0</c:v>
                </c:pt>
              </c:numCache>
            </c:numRef>
          </c:val>
        </c:ser>
        <c:ser>
          <c:idx val="2"/>
          <c:order val="2"/>
          <c:tx>
            <c:strRef>
              <c:f>Sheet1!$D$1</c:f>
              <c:strCache>
                <c:ptCount val="1"/>
                <c:pt idx="0">
                  <c:v>Construction, commission, SG&amp;A</c:v>
                </c:pt>
              </c:strCache>
            </c:strRef>
          </c:tx>
          <c:spPr>
            <a:solidFill>
              <a:srgbClr val="6B728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Sheet1!$D$2:$D$12</c:f>
              <c:numCache>
                <c:formatCode>General</c:formatCode>
                <c:ptCount val="11"/>
                <c:pt idx="0">
                  <c:v>0</c:v>
                </c:pt>
                <c:pt idx="1">
                  <c:v>-53.36</c:v>
                </c:pt>
                <c:pt idx="2">
                  <c:v>-180.3453</c:v>
                </c:pt>
                <c:pt idx="3">
                  <c:v>-319.08086000000003</c:v>
                </c:pt>
                <c:pt idx="4">
                  <c:v>-339.067</c:v>
                </c:pt>
                <c:pt idx="5">
                  <c:v>0</c:v>
                </c:pt>
                <c:pt idx="6">
                  <c:v>0</c:v>
                </c:pt>
                <c:pt idx="7">
                  <c:v>0</c:v>
                </c:pt>
                <c:pt idx="8">
                  <c:v>0</c:v>
                </c:pt>
                <c:pt idx="9">
                  <c:v>0</c:v>
                </c:pt>
                <c:pt idx="10">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3"/>
          <c:order val="3"/>
          <c:tx>
            <c:strRef>
              <c:f>Sheet1!$E$1</c:f>
              <c:strCache>
                <c:ptCount val="1"/>
                <c:pt idx="0">
                  <c:v>Cumulative net cash flow</c:v>
                </c:pt>
              </c:strCache>
            </c:strRef>
          </c:tx>
          <c:spPr>
            <a:solidFill>
              <a:srgbClr val="A23B3B"/>
            </a:solidFill>
            <a:ln w="38100" cap="flat">
              <a:solidFill>
                <a:srgbClr val="A23B3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23B3B"/>
              </a:solidFill>
              <a:ln w="9525" cap="flat">
                <a:solidFill>
                  <a:srgbClr val="A23B3B"/>
                </a:solidFill>
                <a:prstDash val="solid"/>
                <a:round/>
              </a:ln>
              <a:effectLst/>
            </c:spPr>
          </c:marker>
          <c:cat>
            <c:multiLvlStrRef>
              <c:f>Sheet1!$A$2:$A$12</c:f>
              <c:multiLvlStrCache>
                <c:ptCount val="11"/>
                <c:lvl>
                  <c:pt idx="0">
                    <c:v>Pre-launch</c:v>
                  </c:pt>
                  <c:pt idx="1">
                    <c:v>Y1</c:v>
                  </c:pt>
                  <c:pt idx="2">
                    <c:v>Y2</c:v>
                  </c:pt>
                  <c:pt idx="3">
                    <c:v>Y3</c:v>
                  </c:pt>
                  <c:pt idx="4">
                    <c:v>Y4</c:v>
                  </c:pt>
                  <c:pt idx="5">
                    <c:v>Y5</c:v>
                  </c:pt>
                  <c:pt idx="6">
                    <c:v>Y6</c:v>
                  </c:pt>
                  <c:pt idx="7">
                    <c:v>Y7</c:v>
                  </c:pt>
                  <c:pt idx="8">
                    <c:v>Y8</c:v>
                  </c:pt>
                  <c:pt idx="9">
                    <c:v>Y9</c:v>
                  </c:pt>
                  <c:pt idx="10">
                    <c:v>Y10</c:v>
                  </c:pt>
                </c:lvl>
              </c:multiLvlStrCache>
            </c:multiLvlStrRef>
          </c:cat>
          <c:val>
            <c:numRef>
              <c:f>Sheet1!$E$2:$E$12</c:f>
              <c:numCache>
                <c:formatCode>General</c:formatCode>
                <c:ptCount val="11"/>
                <c:pt idx="0">
                  <c:v>-102.5</c:v>
                </c:pt>
                <c:pt idx="1">
                  <c:v>-68.68474375</c:v>
                </c:pt>
                <c:pt idx="2">
                  <c:v>339.89190156250015</c:v>
                </c:pt>
                <c:pt idx="3">
                  <c:v>394.04351031250013</c:v>
                </c:pt>
                <c:pt idx="4">
                  <c:v>135.26287031250013</c:v>
                </c:pt>
                <c:pt idx="5">
                  <c:v>194.85543031250012</c:v>
                </c:pt>
                <c:pt idx="6">
                  <c:v>303.4142356250001</c:v>
                </c:pt>
                <c:pt idx="7">
                  <c:v>289.3771978515626</c:v>
                </c:pt>
                <c:pt idx="8">
                  <c:v>344.5992962500001</c:v>
                </c:pt>
                <c:pt idx="9">
                  <c:v>375.44752750000015</c:v>
                </c:pt>
                <c:pt idx="10">
                  <c:v>375.44752750000015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1F2A"/>
                </a:solidFill>
                <a:latin typeface="Arial"/>
              </a:defRPr>
            </a:pPr>
            <a:r>
              <a:rPr sz="1300" b="0" i="0" u="none" strike="noStrike">
                <a:solidFill>
                  <a:srgbClr val="1B1F2A"/>
                </a:solidFill>
                <a:latin typeface="Arial"/>
              </a:rPr>
              <a:t>Projected investor IRR (%)</a:t>
            </a:r>
          </a:p>
        </c:rich>
      </c:tx>
      <c:layout/>
      <c:overlay val="0"/>
    </c:title>
    <c:autoTitleDeleted val="0"/>
    <c:plotArea>
      <c:layout/>
      <c:barChart>
        <c:barDir val="col"/>
        <c:grouping val="clustered"/>
        <c:varyColors val="0"/>
        <c:ser>
          <c:idx val="0"/>
          <c:order val="0"/>
          <c:tx>
            <c:strRef>
              <c:f>Sheet1!$B$1</c:f>
              <c:strCache>
                <c:ptCount val="1"/>
                <c:pt idx="0">
                  <c:v>Investor IRR</c:v>
                </c:pt>
              </c:strCache>
            </c:strRef>
          </c:tx>
          <c:spPr>
            <a:solidFill>
              <a:srgbClr val="17324D"/>
            </a:solidFill>
            <a:effectLst/>
          </c:spPr>
          <c:invertIfNegative val="0"/>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cat>
            <c:multiLvlStrRef>
              <c:f>Sheet1!$A$2:$A$5</c:f>
              <c:multiLvlStrCache>
                <c:ptCount val="4"/>
                <c:lvl>
                  <c:pt idx="0">
                    <c:v>Option A base</c:v>
                  </c:pt>
                  <c:pt idx="1">
                    <c:v>Option A downside</c:v>
                  </c:pt>
                  <c:pt idx="2">
                    <c:v>Option A upside</c:v>
                  </c:pt>
                  <c:pt idx="3">
                    <c:v>Option B (contractual)</c:v>
                  </c:pt>
                </c:lvl>
              </c:multiLvlStrCache>
            </c:multiLvlStrRef>
          </c:cat>
          <c:val>
            <c:numRef>
              <c:f>Sheet1!$B$2:$B$5</c:f>
              <c:numCache>
                <c:formatCode>General</c:formatCode>
                <c:ptCount val="4"/>
                <c:pt idx="0">
                  <c:v>26.40299067196127</c:v>
                </c:pt>
                <c:pt idx="1">
                  <c:v>18.640160567240756</c:v>
                </c:pt>
                <c:pt idx="2">
                  <c:v>29.19928386686741</c:v>
                </c:pt>
                <c:pt idx="3">
                  <c:v>26.546399483999462</c:v>
                </c:pt>
              </c:numCache>
            </c:numRef>
          </c:val>
        </c:ser>
        <c:dLbls>
          <c:numFmt formatCode="0.0&quot;%&quot;" sourceLinked="0"/>
          <c:txPr>
            <a:bodyPr/>
            <a:lstStyle/>
            <a:p>
              <a:pPr>
                <a:defRPr b="0" i="0" strike="noStrike" sz="1100" u="none">
                  <a:solidFill>
                    <a:srgbClr val="1B1F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All figures are projections based on the Jalour financial model; see the Financial Annex.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taken from the Financial Annex (Summary sheet). All returns are projections.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and contact details to be added by Jalour.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9144000" cy="274320"/>
          </a:xfrm>
          <a:prstGeom prst="rect">
            <a:avLst/>
          </a:prstGeom>
          <a:noFill/>
          <a:ln/>
        </p:spPr>
        <p:txBody>
          <a:bodyPr wrap="square" lIns="0" tIns="0" rIns="0" bIns="0" rtlCol="0" anchor="ctr"/>
          <a:lstStyle/>
          <a:p>
            <a:pPr indent="0" marL="0">
              <a:buNone/>
            </a:pPr>
            <a:r>
              <a:rPr lang="en-US" sz="900" dirty="0">
                <a:solidFill>
                  <a:srgbClr val="6B7280"/>
                </a:solidFill>
              </a:rPr>
              <a:t>Jalour Developments  |  Green Square  |  Strictly private and confidential.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324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7315200" cy="274320"/>
          </a:xfrm>
          <a:prstGeom prst="rect">
            <a:avLst/>
          </a:prstGeom>
          <a:noFill/>
          <a:ln/>
        </p:spPr>
        <p:txBody>
          <a:bodyPr wrap="square" lIns="0" tIns="0" rIns="0" bIns="0" rtlCol="0" anchor="ctr"/>
          <a:lstStyle/>
          <a:p>
            <a:pPr indent="0" marL="0">
              <a:buNone/>
            </a:pPr>
            <a:r>
              <a:rPr lang="en-US" sz="1100" b="1" spc="300" kern="0" dirty="0">
                <a:solidFill>
                  <a:srgbClr val="B8893B"/>
                </a:solidFill>
              </a:rPr>
              <a:t>STRICTLY PRIVATE AND CONFIDENTIAL</a:t>
            </a:r>
            <a:endParaRPr lang="en-US" sz="1100" dirty="0"/>
          </a:p>
        </p:txBody>
      </p:sp>
      <p:sp>
        <p:nvSpPr>
          <p:cNvPr id="3" name="Text 1"/>
          <p:cNvSpPr txBox="1"/>
          <p:nvPr/>
        </p:nvSpPr>
        <p:spPr>
          <a:xfrm>
            <a:off x="731520" y="182880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Green Square</a:t>
            </a:r>
            <a:endParaRPr lang="en-US" sz="5400" dirty="0"/>
          </a:p>
        </p:txBody>
      </p:sp>
      <p:sp>
        <p:nvSpPr>
          <p:cNvPr id="4" name="Text 2"/>
          <p:cNvSpPr txBox="1"/>
          <p:nvPr/>
        </p:nvSpPr>
        <p:spPr>
          <a:xfrm>
            <a:off x="731520" y="2926080"/>
            <a:ext cx="10515600" cy="457200"/>
          </a:xfrm>
          <a:prstGeom prst="rect">
            <a:avLst/>
          </a:prstGeom>
          <a:noFill/>
          <a:ln/>
        </p:spPr>
        <p:txBody>
          <a:bodyPr wrap="square" lIns="0" tIns="0" rIns="0" bIns="0" rtlCol="0" anchor="ctr"/>
          <a:lstStyle/>
          <a:p>
            <a:pPr indent="0" marL="0">
              <a:buNone/>
            </a:pPr>
            <a:r>
              <a:rPr lang="en-US" sz="2200" dirty="0">
                <a:solidFill>
                  <a:srgbClr val="D5DAE1"/>
                </a:solidFill>
              </a:rPr>
              <a:t>Commercial and office development, El Mostakbal City, Cairo</a:t>
            </a:r>
            <a:endParaRPr lang="en-US" sz="2200" dirty="0"/>
          </a:p>
        </p:txBody>
      </p:sp>
      <p:sp>
        <p:nvSpPr>
          <p:cNvPr id="5" name="Text 3"/>
          <p:cNvSpPr txBox="1"/>
          <p:nvPr/>
        </p:nvSpPr>
        <p:spPr>
          <a:xfrm>
            <a:off x="731520" y="3931920"/>
            <a:ext cx="10515600" cy="457200"/>
          </a:xfrm>
          <a:prstGeom prst="rect">
            <a:avLst/>
          </a:prstGeom>
          <a:noFill/>
          <a:ln/>
        </p:spPr>
        <p:txBody>
          <a:bodyPr wrap="square" lIns="0" tIns="0" rIns="0" bIns="0" rtlCol="0" anchor="ctr"/>
          <a:lstStyle/>
          <a:p>
            <a:pPr indent="0" marL="0">
              <a:buNone/>
            </a:pPr>
            <a:r>
              <a:rPr lang="en-US" sz="2000" b="1" dirty="0">
                <a:solidFill>
                  <a:srgbClr val="B8893B"/>
                </a:solidFill>
              </a:rPr>
              <a:t>Private placement: investor ticket of EGP 100 million</a:t>
            </a:r>
            <a:endParaRPr lang="en-US" sz="2000" dirty="0"/>
          </a:p>
        </p:txBody>
      </p:sp>
      <p:sp>
        <p:nvSpPr>
          <p:cNvPr id="6" name="Text 4"/>
          <p:cNvSpPr txBox="1"/>
          <p:nvPr/>
        </p:nvSpPr>
        <p:spPr>
          <a:xfrm>
            <a:off x="731520" y="5074920"/>
            <a:ext cx="10515600" cy="548640"/>
          </a:xfrm>
          <a:prstGeom prst="rect">
            <a:avLst/>
          </a:prstGeom>
          <a:noFill/>
          <a:ln/>
        </p:spPr>
        <p:txBody>
          <a:bodyPr wrap="square" lIns="0" tIns="0" rIns="0" bIns="0" rtlCol="0" anchor="ctr"/>
          <a:lstStyle/>
          <a:p>
            <a:pPr indent="0" marL="0">
              <a:buNone/>
            </a:pPr>
            <a:r>
              <a:rPr lang="en-US" sz="1300" b="1" dirty="0">
                <a:solidFill>
                  <a:srgbClr val="B8893B"/>
                </a:solidFill>
              </a:rPr>
              <a:t>ALL INFORMATION IN THIS PRESENTATION IS CONFIDENTIAL AND SUBJECT TO THE NON-DISCLOSURE AGREEMENT. Do not copy, forward or disclose it.</a:t>
            </a:r>
            <a:endParaRPr lang="en-US" sz="1300" dirty="0"/>
          </a:p>
        </p:txBody>
      </p:sp>
      <p:sp>
        <p:nvSpPr>
          <p:cNvPr id="7" name="Text 5"/>
          <p:cNvSpPr txBox="1"/>
          <p:nvPr/>
        </p:nvSpPr>
        <p:spPr>
          <a:xfrm>
            <a:off x="731520" y="5852160"/>
            <a:ext cx="10515600" cy="365760"/>
          </a:xfrm>
          <a:prstGeom prst="rect">
            <a:avLst/>
          </a:prstGeom>
          <a:noFill/>
          <a:ln/>
        </p:spPr>
        <p:txBody>
          <a:bodyPr wrap="square" lIns="0" tIns="0" rIns="0" bIns="0" rtlCol="0" anchor="ctr"/>
          <a:lstStyle/>
          <a:p>
            <a:pPr indent="0" marL="0">
              <a:buNone/>
            </a:pPr>
            <a:r>
              <a:rPr lang="en-US" sz="1300" dirty="0">
                <a:solidFill>
                  <a:srgbClr val="D5DAE1"/>
                </a:solidFill>
              </a:rPr>
              <a:t>Investment presentation  |  Jalour Developments, a subsidiary of Al Jalal Holding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Investment highlights</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13,023 m2</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Built-up area, G+2: 4,341 m2 retail and 8,682 m2 offices</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Month 42</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Handover; sales from month 1, construction from month 7 for 36 months</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EGP 2.25 bn</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Sales plan over the sales window, at modelled prices</a:t>
            </a:r>
            <a:endParaRPr lang="en-US" sz="1200" dirty="0"/>
          </a:p>
        </p:txBody>
      </p:sp>
      <p:sp>
        <p:nvSpPr>
          <p:cNvPr id="13" name="Shape 10"/>
          <p:cNvSpPr/>
          <p:nvPr/>
        </p:nvSpPr>
        <p:spPr>
          <a:xfrm>
            <a:off x="8970264" y="1371600"/>
            <a:ext cx="2651760" cy="1417320"/>
          </a:xfrm>
          <a:prstGeom prst="rect">
            <a:avLst/>
          </a:prstGeom>
          <a:solidFill>
            <a:srgbClr val="17324D"/>
          </a:solidFill>
          <a:ln w="12700">
            <a:solidFill>
              <a:srgbClr val="17324D"/>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FFFFFF"/>
                </a:solidFill>
                <a:latin typeface="Cambria" pitchFamily="34" charset="0"/>
                <a:ea typeface="Cambria" pitchFamily="34" charset="-122"/>
                <a:cs typeface="Cambria" pitchFamily="34" charset="-120"/>
              </a:rPr>
              <a:t>35 / 65</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D5DAE1"/>
                </a:solidFill>
              </a:rPr>
              <a:t>Revenue split between the landowner (Al Ahly Sabbour) and Jalour</a:t>
            </a:r>
            <a:endParaRPr lang="en-US" sz="1200" dirty="0"/>
          </a:p>
        </p:txBody>
      </p:sp>
      <p:sp>
        <p:nvSpPr>
          <p:cNvPr id="16" name="Text 13"/>
          <p:cNvSpPr txBox="1"/>
          <p:nvPr/>
        </p:nvSpPr>
        <p:spPr>
          <a:xfrm>
            <a:off x="548640" y="3200400"/>
            <a:ext cx="11064240" cy="274320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B1F2A"/>
                </a:solidFill>
              </a:rPr>
              <a:t>Land owned by Al Ahly Sabbour; Jalour designs, permits, builds (core and shell), markets, sells, collects and operates.</a:t>
            </a:r>
            <a:endParaRPr lang="en-US" sz="1700" dirty="0"/>
          </a:p>
          <a:p>
            <a:pPr marL="342900" indent="-342900">
              <a:spcAft>
                <a:spcPts val="600"/>
              </a:spcAft>
              <a:buSzPct val="100000"/>
              <a:buChar char="•"/>
            </a:pPr>
            <a:r>
              <a:rPr lang="en-US" sz="1700" dirty="0">
                <a:solidFill>
                  <a:srgbClr val="1B1F2A"/>
                </a:solidFill>
              </a:rPr>
              <a:t>Landlord receives 35% of collections with a minimum guarantee of EGP 800 million over six years; Jalour keeps 65%.</a:t>
            </a:r>
            <a:endParaRPr lang="en-US" sz="1700" dirty="0"/>
          </a:p>
          <a:p>
            <a:pPr marL="342900" indent="-342900">
              <a:spcAft>
                <a:spcPts val="600"/>
              </a:spcAft>
              <a:buSzPct val="100000"/>
              <a:buChar char="•"/>
            </a:pPr>
            <a:r>
              <a:rPr lang="en-US" sz="1700" dirty="0">
                <a:solidFill>
                  <a:srgbClr val="1B1F2A"/>
                </a:solidFill>
              </a:rPr>
              <a:t>Option A: units with a face value of EGP 200 million (2.0x the ticket) at launch list prices. Projected investor IRR 26.4% (base).</a:t>
            </a:r>
            <a:endParaRPr lang="en-US" sz="1700" dirty="0"/>
          </a:p>
          <a:p>
            <a:pPr marL="342900" indent="-342900">
              <a:spcAft>
                <a:spcPts val="600"/>
              </a:spcAft>
              <a:buSzPct val="100000"/>
              <a:buChar char="•"/>
            </a:pPr>
            <a:r>
              <a:rPr lang="en-US" sz="1700" dirty="0">
                <a:solidFill>
                  <a:srgbClr val="1B1F2A"/>
                </a:solidFill>
              </a:rPr>
              <a:t>Option B: cash return of EGP 230 million (2.3x the ticket) in 12 quarterly instalments after a 24-month grace period. Projected investor IRR 26.5%.</a:t>
            </a:r>
            <a:endParaRPr lang="en-US" sz="1700" dirty="0"/>
          </a:p>
          <a:p>
            <a:pPr marL="342900" indent="-342900">
              <a:spcAft>
                <a:spcPts val="600"/>
              </a:spcAft>
              <a:buSzPct val="100000"/>
              <a:buChar char="•"/>
            </a:pPr>
            <a:r>
              <a:rPr lang="en-US" sz="1700" dirty="0">
                <a:solidFill>
                  <a:srgbClr val="1B1F2A"/>
                </a:solidFill>
              </a:rPr>
              <a:t>Project-level exposure only: the investment has no exposure to other Jalour projects.</a:t>
            </a:r>
            <a:endParaRPr lang="en-US" sz="1700" dirty="0"/>
          </a:p>
        </p:txBody>
      </p:sp>
      <p:sp>
        <p:nvSpPr>
          <p:cNvPr id="17" name="Text 14"/>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Summary sheet. IRRs are projections, not guarantees.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Transaction overview</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94560"/>
                <a:gridCol w="8869680"/>
              </a:tblGrid>
              <a:tr h="457200">
                <a:tc>
                  <a:txBody>
                    <a:bodyPr/>
                    <a:lstStyle/>
                    <a:p>
                      <a:pPr algn="l" indent="0" marL="0">
                        <a:buNone/>
                      </a:pPr>
                      <a:r>
                        <a:rPr lang="en-US" sz="1300" b="1" dirty="0">
                          <a:solidFill>
                            <a:srgbClr val="FFFFFF"/>
                          </a:solidFill>
                        </a:rPr>
                        <a:t>Term</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Summary</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100 million (USD 2.1 million at EGP 48 per USD)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Issuer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Project company for this development (name, jurisdiction and instrument to be confirmed by counsel)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Use of proceeds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Down payment to the landowner, guarantee instalments and working capital to the funding peak, and pre-construction costs (total modelled need EGP 113.0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Units with a face value of EGP 200 million at launch list prices, allocated from the first two sales tranches; resale rights subject to consents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230 million in 12 equal quarterly instalments of EGP 19.17 million; first payment month 24, last month 57</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Choice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The investor chooses Option A or Option B at signing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Balance of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The balance of project funding is provided by Jalour sponsor equity, project collections and other capital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Further capital</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Jalour may raise further capital at project or holding level, subject to the investor's stated rights (ranking, collateral, information rights)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144768"/>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Term summary; final terms are set by the definitive agreements.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Cairo office and commercial supply and demand</a:t>
            </a:r>
            <a:endParaRPr lang="en-US" sz="2800" dirty="0"/>
          </a:p>
        </p:txBody>
      </p:sp>
      <p:sp>
        <p:nvSpPr>
          <p:cNvPr id="4" name="Shape 1"/>
          <p:cNvSpPr/>
          <p:nvPr/>
        </p:nvSpPr>
        <p:spPr>
          <a:xfrm>
            <a:off x="548640" y="1371600"/>
            <a:ext cx="2651760" cy="1417320"/>
          </a:xfrm>
          <a:prstGeom prst="rect">
            <a:avLst/>
          </a:prstGeom>
          <a:solidFill>
            <a:srgbClr val="F2F4F7"/>
          </a:solidFill>
          <a:ln w="12700">
            <a:solidFill>
              <a:srgbClr val="F2F4F7"/>
            </a:solidFill>
            <a:prstDash val="solid"/>
          </a:ln>
        </p:spPr>
      </p:sp>
      <p:sp>
        <p:nvSpPr>
          <p:cNvPr id="5" name="Text 2"/>
          <p:cNvSpPr txBox="1"/>
          <p:nvPr/>
        </p:nvSpPr>
        <p:spPr>
          <a:xfrm>
            <a:off x="731520"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73%</a:t>
            </a:r>
            <a:endParaRPr lang="en-US" sz="3000" dirty="0"/>
          </a:p>
        </p:txBody>
      </p:sp>
      <p:sp>
        <p:nvSpPr>
          <p:cNvPr id="6" name="Text 3"/>
          <p:cNvSpPr txBox="1"/>
          <p:nvPr/>
        </p:nvSpPr>
        <p:spPr>
          <a:xfrm>
            <a:off x="731520"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 Cairo office stock, current and future, is in New Cairo</a:t>
            </a:r>
            <a:endParaRPr lang="en-US" sz="1200" dirty="0"/>
          </a:p>
        </p:txBody>
      </p:sp>
      <p:sp>
        <p:nvSpPr>
          <p:cNvPr id="7" name="Shape 4"/>
          <p:cNvSpPr/>
          <p:nvPr/>
        </p:nvSpPr>
        <p:spPr>
          <a:xfrm>
            <a:off x="3355848" y="1371600"/>
            <a:ext cx="2651760" cy="1417320"/>
          </a:xfrm>
          <a:prstGeom prst="rect">
            <a:avLst/>
          </a:prstGeom>
          <a:solidFill>
            <a:srgbClr val="F2F4F7"/>
          </a:solidFill>
          <a:ln w="12700">
            <a:solidFill>
              <a:srgbClr val="F2F4F7"/>
            </a:solidFill>
            <a:prstDash val="solid"/>
          </a:ln>
        </p:spPr>
      </p:sp>
      <p:sp>
        <p:nvSpPr>
          <p:cNvPr id="8" name="Text 5"/>
          <p:cNvSpPr txBox="1"/>
          <p:nvPr/>
        </p:nvSpPr>
        <p:spPr>
          <a:xfrm>
            <a:off x="3538728"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~9%</a:t>
            </a:r>
            <a:endParaRPr lang="en-US" sz="3000" dirty="0"/>
          </a:p>
        </p:txBody>
      </p:sp>
      <p:sp>
        <p:nvSpPr>
          <p:cNvPr id="9" name="Text 6"/>
          <p:cNvSpPr txBox="1"/>
          <p:nvPr/>
        </p:nvSpPr>
        <p:spPr>
          <a:xfrm>
            <a:off x="3538728"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vacancy, stable (Q1 2026); Grade A occupancy about 90%</a:t>
            </a:r>
            <a:endParaRPr lang="en-US" sz="1200" dirty="0"/>
          </a:p>
        </p:txBody>
      </p:sp>
      <p:sp>
        <p:nvSpPr>
          <p:cNvPr id="10" name="Shape 7"/>
          <p:cNvSpPr/>
          <p:nvPr/>
        </p:nvSpPr>
        <p:spPr>
          <a:xfrm>
            <a:off x="6163056" y="1371600"/>
            <a:ext cx="2651760" cy="1417320"/>
          </a:xfrm>
          <a:prstGeom prst="rect">
            <a:avLst/>
          </a:prstGeom>
          <a:solidFill>
            <a:srgbClr val="F2F4F7"/>
          </a:solidFill>
          <a:ln w="12700">
            <a:solidFill>
              <a:srgbClr val="F2F4F7"/>
            </a:solidFill>
            <a:prstDash val="solid"/>
          </a:ln>
        </p:spPr>
      </p:sp>
      <p:sp>
        <p:nvSpPr>
          <p:cNvPr id="11" name="Text 8"/>
          <p:cNvSpPr txBox="1"/>
          <p:nvPr/>
        </p:nvSpPr>
        <p:spPr>
          <a:xfrm>
            <a:off x="6345936"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+82%</a:t>
            </a:r>
            <a:endParaRPr lang="en-US" sz="3000" dirty="0"/>
          </a:p>
        </p:txBody>
      </p:sp>
      <p:sp>
        <p:nvSpPr>
          <p:cNvPr id="12" name="Text 9"/>
          <p:cNvSpPr txBox="1"/>
          <p:nvPr/>
        </p:nvSpPr>
        <p:spPr>
          <a:xfrm>
            <a:off x="6345936"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office pipeline to 2029 relative to current stock: supply is the main risk</a:t>
            </a:r>
            <a:endParaRPr lang="en-US" sz="1200" dirty="0"/>
          </a:p>
        </p:txBody>
      </p:sp>
      <p:sp>
        <p:nvSpPr>
          <p:cNvPr id="13" name="Shape 10"/>
          <p:cNvSpPr/>
          <p:nvPr/>
        </p:nvSpPr>
        <p:spPr>
          <a:xfrm>
            <a:off x="8970264" y="1371600"/>
            <a:ext cx="2651760" cy="1417320"/>
          </a:xfrm>
          <a:prstGeom prst="rect">
            <a:avLst/>
          </a:prstGeom>
          <a:solidFill>
            <a:srgbClr val="F2F4F7"/>
          </a:solidFill>
          <a:ln w="12700">
            <a:solidFill>
              <a:srgbClr val="F2F4F7"/>
            </a:solidFill>
            <a:prstDash val="solid"/>
          </a:ln>
        </p:spPr>
      </p:sp>
      <p:sp>
        <p:nvSpPr>
          <p:cNvPr id="14" name="Text 11"/>
          <p:cNvSpPr txBox="1"/>
          <p:nvPr/>
        </p:nvSpPr>
        <p:spPr>
          <a:xfrm>
            <a:off x="9153144" y="1481328"/>
            <a:ext cx="228600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USD 348</a:t>
            </a:r>
            <a:endParaRPr lang="en-US" sz="3000" dirty="0"/>
          </a:p>
        </p:txBody>
      </p:sp>
      <p:sp>
        <p:nvSpPr>
          <p:cNvPr id="15" name="Text 12"/>
          <p:cNvSpPr txBox="1"/>
          <p:nvPr/>
        </p:nvSpPr>
        <p:spPr>
          <a:xfrm>
            <a:off x="9153144" y="2212848"/>
            <a:ext cx="2286000" cy="502920"/>
          </a:xfrm>
          <a:prstGeom prst="rect">
            <a:avLst/>
          </a:prstGeom>
          <a:noFill/>
          <a:ln/>
        </p:spPr>
        <p:txBody>
          <a:bodyPr wrap="square" lIns="0" tIns="0" rIns="0" bIns="0" rtlCol="0" anchor="t"/>
          <a:lstStyle/>
          <a:p>
            <a:pPr indent="0" marL="0">
              <a:buNone/>
            </a:pPr>
            <a:r>
              <a:rPr lang="en-US" sz="1200" dirty="0">
                <a:solidFill>
                  <a:srgbClr val="6B7280"/>
                </a:solidFill>
              </a:rPr>
              <a:t>Grade A rent per m2 per year in New Cairo business parks (Q2 2026)</a:t>
            </a:r>
            <a:endParaRPr lang="en-US" sz="1200" dirty="0"/>
          </a:p>
        </p:txBody>
      </p:sp>
      <p:sp>
        <p:nvSpPr>
          <p:cNvPr id="16" name="Text 13"/>
          <p:cNvSpPr txBox="1"/>
          <p:nvPr/>
        </p:nvSpPr>
        <p:spPr>
          <a:xfrm>
            <a:off x="548640" y="3063240"/>
            <a:ext cx="11064240" cy="29260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1B1F2A"/>
                </a:solidFill>
              </a:rPr>
              <a:t>Mostakbal City covers about 11,000 feddans, with a planned population of about 1 million; master developer is the state-linked Mostakbal for Urban Development (MIDAR).</a:t>
            </a:r>
            <a:endParaRPr lang="en-US" sz="1600" dirty="0"/>
          </a:p>
          <a:p>
            <a:pPr marL="342900" indent="-342900">
              <a:spcAft>
                <a:spcPts val="600"/>
              </a:spcAft>
              <a:buSzPct val="100000"/>
              <a:buChar char="•"/>
            </a:pPr>
            <a:r>
              <a:rPr lang="en-US" sz="1600" dirty="0">
                <a:solidFill>
                  <a:srgbClr val="1B1F2A"/>
                </a:solidFill>
              </a:rPr>
              <a:t>Connected by the Regional (Middle) Ring Road and the East Cairo monorail corridor to Shorouk, Obour, Badr and the New Administrative Capital.</a:t>
            </a:r>
            <a:endParaRPr lang="en-US" sz="1600" dirty="0"/>
          </a:p>
          <a:p>
            <a:pPr marL="342900" indent="-342900">
              <a:spcAft>
                <a:spcPts val="600"/>
              </a:spcAft>
              <a:buSzPct val="100000"/>
              <a:buChar char="•"/>
            </a:pPr>
            <a:r>
              <a:rPr lang="en-US" sz="1600" dirty="0">
                <a:solidFill>
                  <a:srgbClr val="1B1F2A"/>
                </a:solidFill>
              </a:rPr>
              <a:t>Cairo retail stock above 3.3 million m2 after about 89,000 m2 delivered in Q1 2026, mostly small malls in New Cairo and Giza; about 331,300 m2 more due by end 2026.</a:t>
            </a:r>
            <a:endParaRPr lang="en-US" sz="1600" dirty="0"/>
          </a:p>
          <a:p>
            <a:pPr marL="342900" indent="-342900">
              <a:spcAft>
                <a:spcPts val="600"/>
              </a:spcAft>
              <a:buSzPct val="100000"/>
              <a:buChar char="•"/>
            </a:pPr>
            <a:r>
              <a:rPr lang="en-US" sz="1600" dirty="0">
                <a:solidFill>
                  <a:srgbClr val="1B1F2A"/>
                </a:solidFill>
              </a:rPr>
              <a:t>Comparable commercial schemes are under way: Hassan Allam's HAPTOWN (offices G+1 to G+4, retail, healthcare) in Mostakbal City.</a:t>
            </a:r>
            <a:endParaRPr lang="en-US" sz="1600" dirty="0"/>
          </a:p>
        </p:txBody>
      </p:sp>
      <p:sp>
        <p:nvSpPr>
          <p:cNvPr id="17" name="Text 1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Knight Frank (via Arabian Business, Jul 2026; Enterprise, Jul 2026); JLL Q1 2026 (via Invest-Gate); MIDAR; Nawy; Bayut; Invest-Gate. Knight Frank and JLL use different office-stock definitions.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Market: pricing evidence and demand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5120640"/>
                <a:gridCol w="4206240"/>
              </a:tblGrid>
              <a:tr h="548640">
                <a:tc>
                  <a:txBody>
                    <a:bodyPr/>
                    <a:lstStyle/>
                    <a:p>
                      <a:pPr algn="l" indent="0" marL="0">
                        <a:buNone/>
                      </a:pPr>
                      <a:r>
                        <a:rPr lang="en-US" sz="1200" b="1" dirty="0">
                          <a:solidFill>
                            <a:srgbClr val="FFFFFF"/>
                          </a:solidFill>
                        </a:rPr>
                        <a:t>Indicator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Evidence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Model assumption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48640">
                <a:tc>
                  <a:txBody>
                    <a:bodyPr/>
                    <a:lstStyle/>
                    <a:p>
                      <a:pPr algn="l" indent="0" marL="0">
                        <a:buNone/>
                      </a:pPr>
                      <a:r>
                        <a:rPr lang="en-US" sz="1200" b="1" dirty="0">
                          <a:solidFill>
                            <a:srgbClr val="1B1F2A"/>
                          </a:solidFill>
                        </a:rPr>
                        <a:t>Office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Mostakbal City listings: EGP 106,000 to 120,000 per m2 (asking)</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EGP 135,000 per m2, rising to 200,000 at the 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Retail prices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New Cairo listings: EGP 139,000 to 325,000 per m2 (asking, individual listings)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Launch EGP 225,000 per m2, rising to 300,000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Price growth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New Cairo secondary prices +3.1% y/y (Q1 2026); broker estimates 10 to 16% a year for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Launch to delivery list: +33% retail, +48% offices; offices +77% on today's asking, about 15% a year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Interest rates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CBE overnight deposit rate 19.00% (Sep 2026); urban inflation 14.5% (Aug 2026)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Discount rate 14%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48640">
                <a:tc>
                  <a:txBody>
                    <a:bodyPr/>
                    <a:lstStyle/>
                    <a:p>
                      <a:pPr algn="l" indent="0" marL="0">
                        <a:buNone/>
                      </a:pPr>
                      <a:r>
                        <a:rPr lang="en-US" sz="1200" b="1" dirty="0">
                          <a:solidFill>
                            <a:srgbClr val="1B1F2A"/>
                          </a:solidFill>
                        </a:rPr>
                        <a:t>Developer sales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Top 10 developers EGP 670 bn in H1 2026, +2.9% y/y; units sold -5%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Sales over about 3 years from 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48640">
                <a:tc>
                  <a:txBody>
                    <a:bodyPr/>
                    <a:lstStyle/>
                    <a:p>
                      <a:pPr algn="l" indent="0" marL="0">
                        <a:buNone/>
                      </a:pPr>
                      <a:r>
                        <a:rPr lang="en-US" sz="1200" b="1" dirty="0">
                          <a:solidFill>
                            <a:srgbClr val="1B1F2A"/>
                          </a:solidFill>
                        </a:rPr>
                        <a:t>Payment plans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Typically 8 to 12 years with 1.5% to 10% down payment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Down payments 5% to 20%; instalments 2 to 8 years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5166360"/>
            <a:ext cx="11064240" cy="640080"/>
          </a:xfrm>
          <a:prstGeom prst="rect">
            <a:avLst/>
          </a:prstGeom>
          <a:noFill/>
          <a:ln/>
        </p:spPr>
        <p:txBody>
          <a:bodyPr wrap="square" lIns="0" tIns="0" rIns="0" bIns="0" rtlCol="0" anchor="ctr"/>
          <a:lstStyle/>
          <a:p>
            <a:pPr indent="0" marL="0">
              <a:buNone/>
            </a:pPr>
            <a:r>
              <a:rPr lang="en-US" sz="1300" dirty="0">
                <a:solidFill>
                  <a:srgbClr val="1B1F2A"/>
                </a:solidFill>
              </a:rPr>
              <a:t>Reading across: the sales plan needs price growth that sits at the upper end of recent evidence. The downside case on slide 14 tests lower prices and later sales.</a:t>
            </a:r>
            <a:endParaRPr lang="en-US" sz="1300" dirty="0"/>
          </a:p>
        </p:txBody>
      </p:sp>
      <p:sp>
        <p:nvSpPr>
          <p:cNvPr id="6" name="Text 2"/>
          <p:cNvSpPr txBox="1"/>
          <p:nvPr/>
        </p:nvSpPr>
        <p:spPr>
          <a:xfrm>
            <a:off x="548640" y="598932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Property Finder listings (2026); JLL via Enterprise (2026); Sands of Wealth (2026); CBE via Bnok24; CAPMAS via Ahram Online; Daily News Egypt; Bayut. Listings are asking prices, not transactions.</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The project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2651760"/>
                <a:gridCol w="3383280"/>
              </a:tblGrid>
              <a:tr h="411480">
                <a:tc>
                  <a:txBody>
                    <a:bodyPr/>
                    <a:lstStyle/>
                    <a:p>
                      <a:pPr algn="l" indent="0" marL="0">
                        <a:buNone/>
                      </a:pPr>
                      <a:r>
                        <a:rPr lang="en-US" sz="1400" b="1" dirty="0">
                          <a:solidFill>
                            <a:srgbClr val="FFFFFF"/>
                          </a:solidFill>
                        </a:rPr>
                        <a:t>Item</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400" b="1" dirty="0">
                          <a:solidFill>
                            <a:srgbClr val="FFFFFF"/>
                          </a:solidFill>
                        </a:rPr>
                        <a:t>Detail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400" b="1" dirty="0">
                          <a:solidFill>
                            <a:srgbClr val="1B1F2A"/>
                          </a:solidFill>
                        </a:rPr>
                        <a:t>Land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14,470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Footprint (30%)</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4,341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Height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G+2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Retail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4,341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Office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8,682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Total built-up area</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13,023 m2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Finishing standard</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Core and shell</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Sales start</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1</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11480">
                <a:tc>
                  <a:txBody>
                    <a:bodyPr/>
                    <a:lstStyle/>
                    <a:p>
                      <a:pPr algn="l" indent="0" marL="0">
                        <a:buNone/>
                      </a:pPr>
                      <a:r>
                        <a:rPr lang="en-US" sz="1400" b="1" dirty="0">
                          <a:solidFill>
                            <a:srgbClr val="1B1F2A"/>
                          </a:solidFill>
                        </a:rPr>
                        <a:t>Construction</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1F2A"/>
                          </a:solidFill>
                        </a:rPr>
                        <a:t>Month 7 to 42 (36 months)</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400" b="1" dirty="0">
                          <a:solidFill>
                            <a:srgbClr val="1B1F2A"/>
                          </a:solidFill>
                        </a:rPr>
                        <a:t>Handover</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400" dirty="0">
                          <a:solidFill>
                            <a:srgbClr val="1B1F2A"/>
                          </a:solidFill>
                        </a:rPr>
                        <a:t>Month 42</a:t>
                      </a:r>
                      <a:endParaRPr lang="en-US" sz="14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5" name="Chart 0" descr=""/>
          <p:cNvGraphicFramePr/>
          <p:nvPr/>
        </p:nvGraphicFramePr>
        <p:xfrm>
          <a:off x="6949440" y="1371600"/>
          <a:ext cx="4663440" cy="3840480"/>
        </p:xfrm>
        <a:graphic xmlns:a="http://schemas.openxmlformats.org/drawingml/2006/main">
          <a:graphicData uri="http://schemas.openxmlformats.org/drawingml/2006/chart">
            <c:chart xmlns:c="http://schemas.openxmlformats.org/drawingml/2006/chart" r:id="rId1"/>
          </a:graphicData>
        </a:graphic>
      </p:graphicFrame>
      <p:sp>
        <p:nvSpPr>
          <p:cNvPr id="6"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(project summary).</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Partnership with Al Ahly Sabbour and the revenue share</a:t>
            </a:r>
            <a:endParaRPr lang="en-US" sz="2800" dirty="0"/>
          </a:p>
        </p:txBody>
      </p:sp>
      <p:sp>
        <p:nvSpPr>
          <p:cNvPr id="4" name="Shape 1"/>
          <p:cNvSpPr/>
          <p:nvPr/>
        </p:nvSpPr>
        <p:spPr>
          <a:xfrm>
            <a:off x="548640" y="1371600"/>
            <a:ext cx="2743200" cy="1188720"/>
          </a:xfrm>
          <a:prstGeom prst="rect">
            <a:avLst/>
          </a:prstGeom>
          <a:solidFill>
            <a:srgbClr val="F2F4F7"/>
          </a:solidFill>
          <a:ln w="12700">
            <a:solidFill>
              <a:srgbClr val="F2F4F7"/>
            </a:solidFill>
            <a:prstDash val="solid"/>
          </a:ln>
        </p:spPr>
      </p:sp>
      <p:sp>
        <p:nvSpPr>
          <p:cNvPr id="5" name="Text 2"/>
          <p:cNvSpPr txBox="1"/>
          <p:nvPr/>
        </p:nvSpPr>
        <p:spPr>
          <a:xfrm>
            <a:off x="685800" y="1417320"/>
            <a:ext cx="2468880" cy="1097280"/>
          </a:xfrm>
          <a:prstGeom prst="rect">
            <a:avLst/>
          </a:prstGeom>
          <a:noFill/>
          <a:ln/>
        </p:spPr>
        <p:txBody>
          <a:bodyPr wrap="square" lIns="0" tIns="0" rIns="0" bIns="0" rtlCol="0" anchor="t"/>
          <a:lstStyle/>
          <a:p>
            <a:pPr indent="0" marL="0">
              <a:buNone/>
            </a:pPr>
            <a:r>
              <a:rPr lang="en-US" sz="1200" b="1" dirty="0">
                <a:solidFill>
                  <a:srgbClr val="1B1F2A"/>
                </a:solidFill>
              </a:rPr>
              <a:t>Al Ahly Sabbour</a:t>
            </a:r>
            <a:endParaRPr lang="en-US" sz="1200" dirty="0"/>
          </a:p>
          <a:p>
            <a:pPr indent="0" marL="0">
              <a:buNone/>
            </a:pPr>
            <a:r>
              <a:rPr lang="en-US" sz="1200" dirty="0">
                <a:solidFill>
                  <a:srgbClr val="1B1F2A"/>
                </a:solidFill>
              </a:rPr>
              <a:t>Landowner. Receives 35% of collections, subject to a minimum guarantee.</a:t>
            </a:r>
            <a:endParaRPr lang="en-US" sz="1200" dirty="0"/>
          </a:p>
        </p:txBody>
      </p:sp>
      <p:sp>
        <p:nvSpPr>
          <p:cNvPr id="6" name="Shape 3"/>
          <p:cNvSpPr/>
          <p:nvPr/>
        </p:nvSpPr>
        <p:spPr>
          <a:xfrm>
            <a:off x="548640" y="2743200"/>
            <a:ext cx="2743200" cy="1554480"/>
          </a:xfrm>
          <a:prstGeom prst="rect">
            <a:avLst/>
          </a:prstGeom>
          <a:solidFill>
            <a:srgbClr val="F2F4F7"/>
          </a:solidFill>
          <a:ln w="12700">
            <a:solidFill>
              <a:srgbClr val="F2F4F7"/>
            </a:solidFill>
            <a:prstDash val="solid"/>
          </a:ln>
        </p:spPr>
      </p:sp>
      <p:sp>
        <p:nvSpPr>
          <p:cNvPr id="7" name="Text 4"/>
          <p:cNvSpPr txBox="1"/>
          <p:nvPr/>
        </p:nvSpPr>
        <p:spPr>
          <a:xfrm>
            <a:off x="685800" y="2788920"/>
            <a:ext cx="2468880" cy="1463040"/>
          </a:xfrm>
          <a:prstGeom prst="rect">
            <a:avLst/>
          </a:prstGeom>
          <a:noFill/>
          <a:ln/>
        </p:spPr>
        <p:txBody>
          <a:bodyPr wrap="square" lIns="0" tIns="0" rIns="0" bIns="0" rtlCol="0" anchor="t"/>
          <a:lstStyle/>
          <a:p>
            <a:pPr indent="0" marL="0">
              <a:buNone/>
            </a:pPr>
            <a:r>
              <a:rPr lang="en-US" sz="1200" b="1" dirty="0">
                <a:solidFill>
                  <a:srgbClr val="1B1F2A"/>
                </a:solidFill>
              </a:rPr>
              <a:t>Jalour</a:t>
            </a:r>
            <a:endParaRPr lang="en-US" sz="1200" dirty="0"/>
          </a:p>
          <a:p>
            <a:pPr indent="0" marL="0">
              <a:buNone/>
            </a:pPr>
            <a:r>
              <a:rPr lang="en-US" sz="1200" dirty="0">
                <a:solidFill>
                  <a:srgbClr val="1B1F2A"/>
                </a:solidFill>
              </a:rPr>
              <a:t>Developer and operator. Keeps 65% of collections. Carries design, permits, core-and-shell construction, marketing, sales, collection and operation costs.</a:t>
            </a:r>
            <a:endParaRPr lang="en-US" sz="1200" dirty="0"/>
          </a:p>
        </p:txBody>
      </p:sp>
      <p:sp>
        <p:nvSpPr>
          <p:cNvPr id="8" name="Text 5"/>
          <p:cNvSpPr txBox="1"/>
          <p:nvPr/>
        </p:nvSpPr>
        <p:spPr>
          <a:xfrm>
            <a:off x="548640" y="4434840"/>
            <a:ext cx="11064240" cy="1645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Minimum guarantee EGP 800 million over six years; down payment EGP 80 million (10%) paid up front.</a:t>
            </a:r>
            <a:endParaRPr lang="en-US" sz="1300" dirty="0"/>
          </a:p>
          <a:p>
            <a:pPr marL="342900" indent="-342900">
              <a:spcAft>
                <a:spcPts val="600"/>
              </a:spcAft>
              <a:buSzPct val="100000"/>
              <a:buChar char="•"/>
            </a:pPr>
            <a:r>
              <a:rPr lang="en-US" sz="1300" dirty="0">
                <a:solidFill>
                  <a:srgbClr val="1B1F2A"/>
                </a:solidFill>
              </a:rPr>
              <a:t>Landlord share is 35% of collections or the guaranteed instalment, whichever is higher.</a:t>
            </a:r>
            <a:endParaRPr lang="en-US" sz="1300" dirty="0"/>
          </a:p>
          <a:p>
            <a:pPr marL="342900" indent="-342900">
              <a:spcAft>
                <a:spcPts val="600"/>
              </a:spcAft>
              <a:buSzPct val="100000"/>
              <a:buChar char="•"/>
            </a:pPr>
            <a:r>
              <a:rPr lang="en-US" sz="1300" dirty="0">
                <a:solidFill>
                  <a:srgbClr val="1B1F2A"/>
                </a:solidFill>
              </a:rPr>
              <a:t>Any excess of 35% over the guarantee is settled from year 8.</a:t>
            </a:r>
            <a:endParaRPr lang="en-US" sz="1300" dirty="0"/>
          </a:p>
          <a:p>
            <a:pPr marL="342900" indent="-342900">
              <a:spcAft>
                <a:spcPts val="600"/>
              </a:spcAft>
              <a:buSzPct val="100000"/>
              <a:buChar char="•"/>
            </a:pPr>
            <a:r>
              <a:rPr lang="en-US" sz="1300" dirty="0">
                <a:solidFill>
                  <a:srgbClr val="1B1F2A"/>
                </a:solidFill>
              </a:rPr>
              <a:t>Allocation of units, assignment of collections or any encumbrance affecting the landlord share requires the landlord's written consent.</a:t>
            </a:r>
            <a:endParaRPr lang="en-US" sz="1300" dirty="0"/>
          </a:p>
        </p:txBody>
      </p:sp>
      <p:graphicFrame>
        <p:nvGraphicFramePr>
          <p:cNvPr id="9" name="Chart 0" descr=""/>
          <p:cNvGraphicFramePr/>
          <p:nvPr/>
        </p:nvGraphicFramePr>
        <p:xfrm>
          <a:off x="3657600" y="1280160"/>
          <a:ext cx="7955280" cy="31089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(landlord terms); agreement terms to be confirmed in the data room.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Jalour Developments: role and track record</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Role in this project</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Design and permits</a:t>
            </a:r>
            <a:endParaRPr lang="en-US" sz="1400" dirty="0"/>
          </a:p>
          <a:p>
            <a:pPr marL="342900" indent="-342900">
              <a:spcAft>
                <a:spcPts val="600"/>
              </a:spcAft>
              <a:buSzPct val="100000"/>
              <a:buChar char="•"/>
            </a:pPr>
            <a:r>
              <a:rPr lang="en-US" sz="1400" dirty="0">
                <a:solidFill>
                  <a:srgbClr val="1B1F2A"/>
                </a:solidFill>
              </a:rPr>
              <a:t>Construction to core-and-shell standard</a:t>
            </a:r>
            <a:endParaRPr lang="en-US" sz="1400" dirty="0"/>
          </a:p>
          <a:p>
            <a:pPr marL="342900" indent="-342900">
              <a:spcAft>
                <a:spcPts val="600"/>
              </a:spcAft>
              <a:buSzPct val="100000"/>
              <a:buChar char="•"/>
            </a:pPr>
            <a:r>
              <a:rPr lang="en-US" sz="1400" dirty="0">
                <a:solidFill>
                  <a:srgbClr val="1B1F2A"/>
                </a:solidFill>
              </a:rPr>
              <a:t>Marketing, branding and sales</a:t>
            </a:r>
            <a:endParaRPr lang="en-US" sz="1400" dirty="0"/>
          </a:p>
          <a:p>
            <a:pPr marL="342900" indent="-342900">
              <a:spcAft>
                <a:spcPts val="600"/>
              </a:spcAft>
              <a:buSzPct val="100000"/>
              <a:buChar char="•"/>
            </a:pPr>
            <a:r>
              <a:rPr lang="en-US" sz="1400" dirty="0">
                <a:solidFill>
                  <a:srgbClr val="1B1F2A"/>
                </a:solidFill>
              </a:rPr>
              <a:t>Collection of instalments</a:t>
            </a:r>
            <a:endParaRPr lang="en-US" sz="1400" dirty="0"/>
          </a:p>
          <a:p>
            <a:pPr marL="342900" indent="-342900">
              <a:spcAft>
                <a:spcPts val="600"/>
              </a:spcAft>
              <a:buSzPct val="100000"/>
              <a:buChar char="•"/>
            </a:pPr>
            <a:r>
              <a:rPr lang="en-US" sz="1400" dirty="0">
                <a:solidFill>
                  <a:srgbClr val="1B1F2A"/>
                </a:solidFill>
              </a:rPr>
              <a:t>Operation, management and maintenance, directly or through a facility management company</a:t>
            </a:r>
            <a:endParaRPr lang="en-US" sz="1400" dirty="0"/>
          </a:p>
          <a:p>
            <a:pPr marL="342900" indent="-342900">
              <a:spcAft>
                <a:spcPts val="600"/>
              </a:spcAft>
              <a:buSzPct val="100000"/>
              <a:buChar char="•"/>
            </a:pPr>
            <a:r>
              <a:rPr lang="en-US" sz="1400" dirty="0">
                <a:solidFill>
                  <a:srgbClr val="1B1F2A"/>
                </a:solidFill>
              </a:rPr>
              <a:t>Covers project funding gaps from its cash reserves and cash from other projects it is constructing (to be documented)</a:t>
            </a:r>
            <a:endParaRPr lang="en-US" sz="14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Track record and team</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B1F2A"/>
                </a:solidFill>
              </a:rPr>
              <a:t>Completed projects, area delivered and units handed over</a:t>
            </a:r>
            <a:endParaRPr lang="en-US" sz="1400" dirty="0"/>
          </a:p>
          <a:p>
            <a:pPr marL="342900" indent="-342900">
              <a:spcAft>
                <a:spcPts val="600"/>
              </a:spcAft>
              <a:buSzPct val="100000"/>
              <a:buChar char="•"/>
            </a:pPr>
            <a:r>
              <a:rPr lang="en-US" sz="1400" dirty="0">
                <a:solidFill>
                  <a:srgbClr val="1B1F2A"/>
                </a:solidFill>
              </a:rPr>
              <a:t>Management team biographies</a:t>
            </a:r>
            <a:endParaRPr lang="en-US" sz="1400" dirty="0"/>
          </a:p>
          <a:p>
            <a:pPr marL="342900" indent="-342900">
              <a:spcAft>
                <a:spcPts val="600"/>
              </a:spcAft>
              <a:buSzPct val="100000"/>
              <a:buChar char="•"/>
            </a:pPr>
            <a:r>
              <a:rPr lang="en-US" sz="1400" dirty="0">
                <a:solidFill>
                  <a:srgbClr val="1B1F2A"/>
                </a:solidFill>
              </a:rPr>
              <a:t>Audited financial statements of Jalour and Al Jalal Holding</a:t>
            </a:r>
            <a:endParaRPr lang="en-US" sz="1400" dirty="0"/>
          </a:p>
          <a:p>
            <a:pPr marL="342900" indent="-342900">
              <a:spcAft>
                <a:spcPts val="600"/>
              </a:spcAft>
              <a:buSzPct val="100000"/>
              <a:buChar char="•"/>
            </a:pPr>
            <a:r>
              <a:rPr lang="en-US" sz="1400" dirty="0">
                <a:solidFill>
                  <a:srgbClr val="1B1F2A"/>
                </a:solidFill>
              </a:rPr>
              <a:t>References from landlords, contractors and buyers</a:t>
            </a:r>
            <a:endParaRPr lang="en-US" sz="1400" dirty="0"/>
          </a:p>
          <a:p>
            <a:pPr marL="342900" indent="-342900">
              <a:spcAft>
                <a:spcPts val="600"/>
              </a:spcAft>
              <a:buSzPct val="100000"/>
              <a:buChar char="•"/>
            </a:pPr>
            <a:r>
              <a:rPr lang="en-US" sz="1400" dirty="0">
                <a:solidFill>
                  <a:srgbClr val="1B1F2A"/>
                </a:solidFill>
              </a:rPr>
              <a:t>All provided after the investor signs a non-disclosure agreement</a:t>
            </a:r>
            <a:endParaRPr lang="en-US" sz="14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Developments is the real estate arm of Al Jalal Holding, Cairo. Sponsor materials are provided after the investor signs a non-disclosure agreement.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Sales plan and pricing</a:t>
            </a:r>
            <a:endParaRPr lang="en-US" sz="2800" dirty="0"/>
          </a:p>
        </p:txBody>
      </p:sp>
      <p:graphicFrame>
        <p:nvGraphicFramePr>
          <p:cNvPr id="4" name="Chart 0" descr=""/>
          <p:cNvGraphicFramePr/>
          <p:nvPr/>
        </p:nvGraphicFramePr>
        <p:xfrm>
          <a:off x="548640" y="1280160"/>
          <a:ext cx="6766560" cy="4023360"/>
        </p:xfrm>
        <a:graphic xmlns:a="http://schemas.openxmlformats.org/drawingml/2006/main">
          <a:graphicData uri="http://schemas.openxmlformats.org/drawingml/2006/chart">
            <c:chart xmlns:c="http://schemas.openxmlformats.org/drawingml/2006/chart" r:id="rId1"/>
          </a:graphicData>
        </a:graphic>
      </p:graphicFrame>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89520" y="1463040"/>
          <a:ext cx="4023360" cy="914400"/>
        </p:xfrm>
        <a:graphic>
          <a:graphicData uri="http://schemas.openxmlformats.org/drawingml/2006/table">
            <a:tbl>
              <a:tblPr/>
              <a:tblGrid>
                <a:gridCol w="1645920"/>
                <a:gridCol w="777240"/>
                <a:gridCol w="777240"/>
                <a:gridCol w="822960"/>
              </a:tblGrid>
              <a:tr h="411480">
                <a:tc>
                  <a:txBody>
                    <a:bodyPr/>
                    <a:lstStyle/>
                    <a:p>
                      <a:pPr algn="l" indent="0" marL="0">
                        <a:buNone/>
                      </a:pPr>
                      <a:r>
                        <a:rPr lang="en-US" sz="1200" b="1" dirty="0">
                          <a:solidFill>
                            <a:srgbClr val="FFFFFF"/>
                          </a:solidFill>
                        </a:rPr>
                        <a:t>EGP thousand per m2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Launch</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Delivery list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Average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11480">
                <a:tc>
                  <a:txBody>
                    <a:bodyPr/>
                    <a:lstStyle/>
                    <a:p>
                      <a:pPr algn="l" indent="0" marL="0">
                        <a:buNone/>
                      </a:pPr>
                      <a:r>
                        <a:rPr lang="en-US" sz="1200" dirty="0">
                          <a:solidFill>
                            <a:srgbClr val="1B1F2A"/>
                          </a:solidFill>
                        </a:rPr>
                        <a:t>Retail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225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268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11480">
                <a:tc>
                  <a:txBody>
                    <a:bodyPr/>
                    <a:lstStyle/>
                    <a:p>
                      <a:pPr algn="l" indent="0" marL="0">
                        <a:buNone/>
                      </a:pPr>
                      <a:r>
                        <a:rPr lang="en-US" sz="1200" dirty="0">
                          <a:solidFill>
                            <a:srgbClr val="1B1F2A"/>
                          </a:solidFill>
                        </a:rPr>
                        <a:t>Offices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135</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200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163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6" name="Text 1"/>
          <p:cNvSpPr txBox="1"/>
          <p:nvPr/>
        </p:nvSpPr>
        <p:spPr>
          <a:xfrm>
            <a:off x="7589520" y="2926080"/>
            <a:ext cx="4023360" cy="31089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Sales plan: EGP 2,253 million at modelled prices; the landlord share is calculated on the full project sales value of EGP 2,816 million.</a:t>
            </a:r>
            <a:endParaRPr lang="en-US" sz="1200" dirty="0"/>
          </a:p>
          <a:p>
            <a:pPr marL="342900" indent="-342900">
              <a:spcAft>
                <a:spcPts val="600"/>
              </a:spcAft>
              <a:buSzPct val="100000"/>
              <a:buChar char="•"/>
            </a:pPr>
            <a:r>
              <a:rPr lang="en-US" sz="1200" dirty="0">
                <a:solidFill>
                  <a:srgbClr val="1B1F2A"/>
                </a:solidFill>
              </a:rPr>
              <a:t>Payment plans: down payment 5% to 20%, a second equal payment three months later, instalments of 2 to 8 years and a delivery payment of 20% to 25%.</a:t>
            </a:r>
            <a:endParaRPr lang="en-US" sz="1200" dirty="0"/>
          </a:p>
          <a:p>
            <a:pPr marL="342900" indent="-342900">
              <a:spcAft>
                <a:spcPts val="600"/>
              </a:spcAft>
              <a:buSzPct val="100000"/>
              <a:buChar char="•"/>
            </a:pPr>
            <a:r>
              <a:rPr lang="en-US" sz="1200" dirty="0">
                <a:solidFill>
                  <a:srgbClr val="1B1F2A"/>
                </a:solidFill>
              </a:rPr>
              <a:t>Delivery payments are collected on a contractual milestone ahead of handover (see risks).</a:t>
            </a:r>
            <a:endParaRPr lang="en-US" sz="1200" dirty="0"/>
          </a:p>
        </p:txBody>
      </p:sp>
      <p:sp>
        <p:nvSpPr>
          <p:cNvPr id="7" name="Text 2"/>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(sales sheet). Prices are model assumptions; see slide 5 for market evidence.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Collections, costs and cash flow</a:t>
            </a:r>
            <a:endParaRPr lang="en-US" sz="2800" dirty="0"/>
          </a:p>
        </p:txBody>
      </p:sp>
      <p:graphicFrame>
        <p:nvGraphicFramePr>
          <p:cNvPr id="4" name="Chart 0" descr=""/>
          <p:cNvGraphicFramePr/>
          <p:nvPr/>
        </p:nvGraphicFramePr>
        <p:xfrm>
          <a:off x="548640" y="1280160"/>
          <a:ext cx="7498080" cy="4572000"/>
        </p:xfrm>
        <a:graphic xmlns:a="http://schemas.openxmlformats.org/drawingml/2006/main">
          <a:graphicData uri="http://schemas.openxmlformats.org/drawingml/2006/chart">
            <c:chart xmlns:c="http://schemas.openxmlformats.org/drawingml/2006/chart" r:id="rId1"/>
          </a:graphicData>
        </a:graphic>
      </p:graphicFrame>
      <p:sp>
        <p:nvSpPr>
          <p:cNvPr id="5" name="Shape 1"/>
          <p:cNvSpPr/>
          <p:nvPr/>
        </p:nvSpPr>
        <p:spPr>
          <a:xfrm>
            <a:off x="8321040" y="1371600"/>
            <a:ext cx="3291840" cy="1417320"/>
          </a:xfrm>
          <a:prstGeom prst="rect">
            <a:avLst/>
          </a:prstGeom>
          <a:solidFill>
            <a:srgbClr val="F2F4F7"/>
          </a:solidFill>
          <a:ln w="12700">
            <a:solidFill>
              <a:srgbClr val="F2F4F7"/>
            </a:solidFill>
            <a:prstDash val="solid"/>
          </a:ln>
        </p:spPr>
      </p:sp>
      <p:sp>
        <p:nvSpPr>
          <p:cNvPr id="6" name="Text 2"/>
          <p:cNvSpPr txBox="1"/>
          <p:nvPr/>
        </p:nvSpPr>
        <p:spPr>
          <a:xfrm>
            <a:off x="8503920" y="148132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375</a:t>
            </a:r>
            <a:endParaRPr lang="en-US" sz="3000" dirty="0"/>
          </a:p>
        </p:txBody>
      </p:sp>
      <p:sp>
        <p:nvSpPr>
          <p:cNvPr id="7" name="Text 3"/>
          <p:cNvSpPr txBox="1"/>
          <p:nvPr/>
        </p:nvSpPr>
        <p:spPr>
          <a:xfrm>
            <a:off x="8503920" y="2212848"/>
            <a:ext cx="2926080" cy="502920"/>
          </a:xfrm>
          <a:prstGeom prst="rect">
            <a:avLst/>
          </a:prstGeom>
          <a:noFill/>
          <a:ln/>
        </p:spPr>
        <p:txBody>
          <a:bodyPr wrap="square" lIns="0" tIns="0" rIns="0" bIns="0" rtlCol="0" anchor="t"/>
          <a:lstStyle/>
          <a:p>
            <a:pPr indent="0" marL="0">
              <a:buNone/>
            </a:pPr>
            <a:r>
              <a:rPr lang="en-US" sz="1200" dirty="0">
                <a:solidFill>
                  <a:srgbClr val="6B7280"/>
                </a:solidFill>
              </a:rPr>
              <a:t>Jalour net cash flow, nominal, EGP million</a:t>
            </a:r>
            <a:endParaRPr lang="en-US" sz="1200" dirty="0"/>
          </a:p>
        </p:txBody>
      </p:sp>
      <p:sp>
        <p:nvSpPr>
          <p:cNvPr id="8" name="Shape 4"/>
          <p:cNvSpPr/>
          <p:nvPr/>
        </p:nvSpPr>
        <p:spPr>
          <a:xfrm>
            <a:off x="8321040" y="2926080"/>
            <a:ext cx="3291840" cy="1417320"/>
          </a:xfrm>
          <a:prstGeom prst="rect">
            <a:avLst/>
          </a:prstGeom>
          <a:solidFill>
            <a:srgbClr val="F2F4F7"/>
          </a:solidFill>
          <a:ln w="12700">
            <a:solidFill>
              <a:srgbClr val="F2F4F7"/>
            </a:solidFill>
            <a:prstDash val="solid"/>
          </a:ln>
        </p:spPr>
      </p:sp>
      <p:sp>
        <p:nvSpPr>
          <p:cNvPr id="9" name="Text 5"/>
          <p:cNvSpPr txBox="1"/>
          <p:nvPr/>
        </p:nvSpPr>
        <p:spPr>
          <a:xfrm>
            <a:off x="8503920" y="303580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230</a:t>
            </a:r>
            <a:endParaRPr lang="en-US" sz="3000" dirty="0"/>
          </a:p>
        </p:txBody>
      </p:sp>
      <p:sp>
        <p:nvSpPr>
          <p:cNvPr id="10" name="Text 6"/>
          <p:cNvSpPr txBox="1"/>
          <p:nvPr/>
        </p:nvSpPr>
        <p:spPr>
          <a:xfrm>
            <a:off x="8503920" y="3767328"/>
            <a:ext cx="2926080" cy="502920"/>
          </a:xfrm>
          <a:prstGeom prst="rect">
            <a:avLst/>
          </a:prstGeom>
          <a:noFill/>
          <a:ln/>
        </p:spPr>
        <p:txBody>
          <a:bodyPr wrap="square" lIns="0" tIns="0" rIns="0" bIns="0" rtlCol="0" anchor="t"/>
          <a:lstStyle/>
          <a:p>
            <a:pPr indent="0" marL="0">
              <a:buNone/>
            </a:pPr>
            <a:r>
              <a:rPr lang="en-US" sz="1200" dirty="0">
                <a:solidFill>
                  <a:srgbClr val="6B7280"/>
                </a:solidFill>
              </a:rPr>
              <a:t>NPV at 14%, EGP million</a:t>
            </a:r>
            <a:endParaRPr lang="en-US" sz="1200" dirty="0"/>
          </a:p>
        </p:txBody>
      </p:sp>
      <p:sp>
        <p:nvSpPr>
          <p:cNvPr id="11" name="Shape 7"/>
          <p:cNvSpPr/>
          <p:nvPr/>
        </p:nvSpPr>
        <p:spPr>
          <a:xfrm>
            <a:off x="8321040" y="4480560"/>
            <a:ext cx="3291840" cy="1417320"/>
          </a:xfrm>
          <a:prstGeom prst="rect">
            <a:avLst/>
          </a:prstGeom>
          <a:solidFill>
            <a:srgbClr val="F2F4F7"/>
          </a:solidFill>
          <a:ln w="12700">
            <a:solidFill>
              <a:srgbClr val="F2F4F7"/>
            </a:solidFill>
            <a:prstDash val="solid"/>
          </a:ln>
        </p:spPr>
      </p:sp>
      <p:sp>
        <p:nvSpPr>
          <p:cNvPr id="12" name="Text 8"/>
          <p:cNvSpPr txBox="1"/>
          <p:nvPr/>
        </p:nvSpPr>
        <p:spPr>
          <a:xfrm>
            <a:off x="8503920" y="4590288"/>
            <a:ext cx="2926080" cy="731520"/>
          </a:xfrm>
          <a:prstGeom prst="rect">
            <a:avLst/>
          </a:prstGeom>
          <a:noFill/>
          <a:ln/>
        </p:spPr>
        <p:txBody>
          <a:bodyPr wrap="square" lIns="0" tIns="0" rIns="0" bIns="0" rtlCol="0" anchor="ctr">
            <a:normAutofit/>
          </a:bodyPr>
          <a:lstStyle/>
          <a:p>
            <a:pPr indent="0" marL="0">
              <a:buNone/>
            </a:pPr>
            <a:r>
              <a:rPr lang="en-US" sz="3000" b="1" dirty="0">
                <a:solidFill>
                  <a:srgbClr val="17324D"/>
                </a:solidFill>
                <a:latin typeface="Cambria" pitchFamily="34" charset="0"/>
                <a:ea typeface="Cambria" pitchFamily="34" charset="-122"/>
                <a:cs typeface="Cambria" pitchFamily="34" charset="-120"/>
              </a:rPr>
              <a:t>102.5</a:t>
            </a:r>
            <a:endParaRPr lang="en-US" sz="3000" dirty="0"/>
          </a:p>
        </p:txBody>
      </p:sp>
      <p:sp>
        <p:nvSpPr>
          <p:cNvPr id="13" name="Text 9"/>
          <p:cNvSpPr txBox="1"/>
          <p:nvPr/>
        </p:nvSpPr>
        <p:spPr>
          <a:xfrm>
            <a:off x="8503920" y="5321808"/>
            <a:ext cx="2926080" cy="502920"/>
          </a:xfrm>
          <a:prstGeom prst="rect">
            <a:avLst/>
          </a:prstGeom>
          <a:noFill/>
          <a:ln/>
        </p:spPr>
        <p:txBody>
          <a:bodyPr wrap="square" lIns="0" tIns="0" rIns="0" bIns="0" rtlCol="0" anchor="t"/>
          <a:lstStyle/>
          <a:p>
            <a:pPr indent="0" marL="0">
              <a:buNone/>
            </a:pPr>
            <a:r>
              <a:rPr lang="en-US" sz="1200" dirty="0">
                <a:solidFill>
                  <a:srgbClr val="6B7280"/>
                </a:solidFill>
              </a:rPr>
              <a:t>Peak cumulative shortage, EGP million (month 0)</a:t>
            </a:r>
            <a:endParaRPr lang="en-US" sz="1200" dirty="0"/>
          </a:p>
        </p:txBody>
      </p:sp>
      <p:sp>
        <p:nvSpPr>
          <p:cNvPr id="14" name="Text 10"/>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Project_CF sheet. Project years: Y1 = months 1 to 12; Pre-launch = before month 1.</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Sources and uses of funds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86400" cy="914400"/>
        </p:xfrm>
        <a:graphic>
          <a:graphicData uri="http://schemas.openxmlformats.org/drawingml/2006/table">
            <a:tbl>
              <a:tblPr/>
              <a:tblGrid>
                <a:gridCol w="3931920"/>
                <a:gridCol w="1554480"/>
              </a:tblGrid>
              <a:tr h="502920">
                <a:tc>
                  <a:txBody>
                    <a:bodyPr/>
                    <a:lstStyle/>
                    <a:p>
                      <a:pPr algn="l" indent="0" marL="0">
                        <a:buNone/>
                      </a:pPr>
                      <a:r>
                        <a:rPr lang="en-US" sz="1300" b="1" dirty="0">
                          <a:solidFill>
                            <a:srgbClr val="FFFFFF"/>
                          </a:solidFill>
                        </a:rPr>
                        <a:t>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Down payment to landowner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80.0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Guarantee instalments and working capital to the funding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22.5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Design, permits and pre-construction (assumption)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Total uses at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113.0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6309360" y="1371600"/>
          <a:ext cx="5303520" cy="914400"/>
        </p:xfrm>
        <a:graphic>
          <a:graphicData uri="http://schemas.openxmlformats.org/drawingml/2006/table">
            <a:tbl>
              <a:tblPr/>
              <a:tblGrid>
                <a:gridCol w="3108960"/>
                <a:gridCol w="1097280"/>
                <a:gridCol w="1097280"/>
              </a:tblGrid>
              <a:tr h="502920">
                <a:tc>
                  <a:txBody>
                    <a:bodyPr/>
                    <a:lstStyle/>
                    <a:p>
                      <a:pPr algn="l" indent="0" marL="0">
                        <a:buNone/>
                      </a:pPr>
                      <a:r>
                        <a:rPr lang="en-US" sz="1300" b="1" dirty="0">
                          <a:solidFill>
                            <a:srgbClr val="FFFFFF"/>
                          </a:solidFill>
                        </a:rPr>
                        <a:t>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EGP million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300" b="1" dirty="0">
                          <a:solidFill>
                            <a:srgbClr val="FFFFFF"/>
                          </a:solidFill>
                        </a:rPr>
                        <a:t>% of uses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502920">
                <a:tc>
                  <a:txBody>
                    <a:bodyPr/>
                    <a:lstStyle/>
                    <a:p>
                      <a:pPr algn="l" indent="0" marL="0">
                        <a:buNone/>
                      </a:pPr>
                      <a:r>
                        <a:rPr lang="en-US" sz="1300" dirty="0">
                          <a:solidFill>
                            <a:srgbClr val="1B1F2A"/>
                          </a:solidFill>
                        </a:rPr>
                        <a:t>Investor ticket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89%</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502920">
                <a:tc>
                  <a:txBody>
                    <a:bodyPr/>
                    <a:lstStyle/>
                    <a:p>
                      <a:pPr algn="l" indent="0" marL="0">
                        <a:buNone/>
                      </a:pPr>
                      <a:r>
                        <a:rPr lang="en-US" sz="1300" dirty="0">
                          <a:solidFill>
                            <a:srgbClr val="1B1F2A"/>
                          </a:solidFill>
                        </a:rPr>
                        <a:t>Balance of project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300" dirty="0">
                          <a:solidFill>
                            <a:srgbClr val="1B1F2A"/>
                          </a:solidFill>
                        </a:rPr>
                        <a:t>11%</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502920">
                <a:tc>
                  <a:txBody>
                    <a:bodyPr/>
                    <a:lstStyle/>
                    <a:p>
                      <a:pPr algn="l" indent="0" marL="0">
                        <a:buNone/>
                      </a:pPr>
                      <a:r>
                        <a:rPr lang="en-US" sz="1300" dirty="0">
                          <a:solidFill>
                            <a:srgbClr val="1B1F2A"/>
                          </a:solidFill>
                        </a:rPr>
                        <a:t>Total sources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113.0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300" dirty="0">
                          <a:solidFill>
                            <a:srgbClr val="1B1F2A"/>
                          </a:solidFill>
                        </a:rPr>
                        <a:t>100%</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206240"/>
            <a:ext cx="11064240"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The balance of project funding is provided by Jalour sponsor equity, project collections and other capital sources.</a:t>
            </a:r>
            <a:endParaRPr lang="en-US" sz="1300" dirty="0"/>
          </a:p>
          <a:p>
            <a:pPr marL="342900" indent="-342900">
              <a:spcAft>
                <a:spcPts val="600"/>
              </a:spcAft>
              <a:buSzPct val="100000"/>
              <a:buChar char="•"/>
            </a:pPr>
            <a:r>
              <a:rPr lang="en-US" sz="1300" dirty="0">
                <a:solidFill>
                  <a:srgbClr val="1B1F2A"/>
                </a:solidFill>
              </a:rPr>
              <a:t>Modelled peak cumulative shortage EGP 102.5 million; the ticket is 98% of it.</a:t>
            </a:r>
            <a:endParaRPr lang="en-US" sz="1300" dirty="0"/>
          </a:p>
          <a:p>
            <a:pPr marL="342900" indent="-342900">
              <a:spcAft>
                <a:spcPts val="600"/>
              </a:spcAft>
              <a:buSzPct val="100000"/>
              <a:buChar char="•"/>
            </a:pPr>
            <a:r>
              <a:rPr lang="en-US" sz="1300" dirty="0">
                <a:solidFill>
                  <a:srgbClr val="1B1F2A"/>
                </a:solidFill>
              </a:rPr>
              <a:t>If delivery payments arrive at handover the peak shortage is EGP 269 million; if sales slip 12 months with prices 10% lower it is EGP 441 million. Jalour will cover gaps above project cash from its cash reserves and cash from other projects it is constructing.</a:t>
            </a:r>
            <a:endParaRPr lang="en-US" sz="1300" dirty="0"/>
          </a:p>
          <a:p>
            <a:pPr marL="342900" indent="-342900">
              <a:spcAft>
                <a:spcPts val="600"/>
              </a:spcAft>
              <a:buSzPct val="100000"/>
              <a:buChar char="•"/>
            </a:pPr>
            <a:r>
              <a:rPr lang="en-US" sz="1300" dirty="0">
                <a:solidFill>
                  <a:srgbClr val="1B1F2A"/>
                </a:solidFill>
              </a:rPr>
              <a:t>Nothing in this structure is ring-fenced: the ticket is project funding.</a:t>
            </a:r>
            <a:endParaRPr lang="en-US" sz="13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Sources_Uses sheet. Pre-construction cost is an assumption pending Jalour's budget.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Option A (units) and Option B (cash) side by side</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4572000"/>
                <a:gridCol w="4480560"/>
              </a:tblGrid>
              <a:tr h="457200">
                <a:tc>
                  <a:txBody>
                    <a:bodyPr/>
                    <a:lstStyle/>
                    <a:p>
                      <a:pPr algn="l" indent="0" marL="0">
                        <a:buNone/>
                      </a:pP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A: units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300" b="1" dirty="0">
                          <a:solidFill>
                            <a:srgbClr val="FFFFFF"/>
                          </a:solidFill>
                        </a:rPr>
                        <a:t>Option B: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57200">
                <a:tc>
                  <a:txBody>
                    <a:bodyPr/>
                    <a:lstStyle/>
                    <a:p>
                      <a:pPr algn="l" indent="0" marL="0">
                        <a:buNone/>
                      </a:pPr>
                      <a:r>
                        <a:rPr lang="en-US" sz="1300" b="1" dirty="0">
                          <a:solidFill>
                            <a:srgbClr val="1B1F2A"/>
                          </a:solidFill>
                        </a:rPr>
                        <a:t>Entitlement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Units with a face value of EGP 200 million (2.0x) at launch list</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EGP 230 million (2.3x) in cash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Timing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Allocation at signing; handover month 42; resale from month 45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Grace 24 months; 12 quarterly instalments, months 24 to 57</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Price exposure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Yes: value moves with Mostakbal City prices (delivery list 1.43x launch)</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No unit price exposure; fixed instalments</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Projected IRR,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26.4%</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26.5%</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Projected multiple, base</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2.78x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2.30x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Upside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29.2% (3.06x)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Contractual: 26.5% if paid</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Downside IRR</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18.6% (2.50x)</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Contractual: 26.5% if paid; depends on Jalour funding</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57200">
                <a:tc>
                  <a:txBody>
                    <a:bodyPr/>
                    <a:lstStyle/>
                    <a:p>
                      <a:pPr algn="l" indent="0" marL="0">
                        <a:buNone/>
                      </a:pPr>
                      <a:r>
                        <a:rPr lang="en-US" sz="1300" b="1" dirty="0">
                          <a:solidFill>
                            <a:srgbClr val="1B1F2A"/>
                          </a:solidFill>
                        </a:rPr>
                        <a:t>Payback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48</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300" dirty="0">
                          <a:solidFill>
                            <a:srgbClr val="1B1F2A"/>
                          </a:solidFill>
                        </a:rPr>
                        <a:t>Month 39</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57200">
                <a:tc>
                  <a:txBody>
                    <a:bodyPr/>
                    <a:lstStyle/>
                    <a:p>
                      <a:pPr algn="l" indent="0" marL="0">
                        <a:buNone/>
                      </a:pPr>
                      <a:r>
                        <a:rPr lang="en-US" sz="1300" b="1" dirty="0">
                          <a:solidFill>
                            <a:srgbClr val="1B1F2A"/>
                          </a:solidFill>
                        </a:rPr>
                        <a:t>Main risk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Resale price and timing; consents to assign</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1F2A"/>
                          </a:solidFill>
                        </a:rPr>
                        <a:t>Payment capacity during the construction peak</a:t>
                      </a:r>
                      <a:endParaRPr lang="en-US" sz="13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Option_A and Option_B sheets. Projections; downside = sales delayed 12 months and prices 10% lower.</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Security package and investor protections</a:t>
            </a:r>
            <a:endParaRPr lang="en-US" sz="2800" dirty="0"/>
          </a:p>
        </p:txBody>
      </p:sp>
      <p:sp>
        <p:nvSpPr>
          <p:cNvPr id="4" name="Shape 1"/>
          <p:cNvSpPr/>
          <p:nvPr/>
        </p:nvSpPr>
        <p:spPr>
          <a:xfrm>
            <a:off x="548640" y="1371600"/>
            <a:ext cx="5394960" cy="4480560"/>
          </a:xfrm>
          <a:prstGeom prst="rect">
            <a:avLst/>
          </a:prstGeom>
          <a:solidFill>
            <a:srgbClr val="F2F4F7"/>
          </a:solidFill>
          <a:ln w="12700">
            <a:solidFill>
              <a:srgbClr val="F2F4F7"/>
            </a:solidFill>
            <a:prstDash val="solid"/>
          </a:ln>
        </p:spPr>
      </p:sp>
      <p:sp>
        <p:nvSpPr>
          <p:cNvPr id="5" name="Text 2"/>
          <p:cNvSpPr txBox="1"/>
          <p:nvPr/>
        </p:nvSpPr>
        <p:spPr>
          <a:xfrm>
            <a:off x="731520" y="1463040"/>
            <a:ext cx="5029200" cy="365760"/>
          </a:xfrm>
          <a:prstGeom prst="rect">
            <a:avLst/>
          </a:prstGeom>
          <a:noFill/>
          <a:ln/>
        </p:spPr>
        <p:txBody>
          <a:bodyPr wrap="square" lIns="0" tIns="0" rIns="0" bIns="0" rtlCol="0" anchor="ctr"/>
          <a:lstStyle/>
          <a:p>
            <a:pPr indent="0" marL="0">
              <a:buNone/>
            </a:pPr>
            <a:r>
              <a:rPr lang="en-US" sz="1600" b="1" dirty="0">
                <a:solidFill>
                  <a:srgbClr val="17324D"/>
                </a:solidFill>
              </a:rPr>
              <a:t>Proposed base package</a:t>
            </a:r>
            <a:endParaRPr lang="en-US" sz="1600" dirty="0"/>
          </a:p>
        </p:txBody>
      </p:sp>
      <p:sp>
        <p:nvSpPr>
          <p:cNvPr id="6" name="Text 3"/>
          <p:cNvSpPr txBox="1"/>
          <p:nvPr/>
        </p:nvSpPr>
        <p:spPr>
          <a:xfrm>
            <a:off x="73152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Option A: a registered allocation of specific units from the first two sales tranches; the units are the investor's asset</a:t>
            </a:r>
            <a:endParaRPr lang="en-US" sz="1300" dirty="0"/>
          </a:p>
          <a:p>
            <a:pPr marL="342900" indent="-342900">
              <a:spcAft>
                <a:spcPts val="600"/>
              </a:spcAft>
              <a:buSzPct val="100000"/>
              <a:buChar char="•"/>
            </a:pPr>
            <a:r>
              <a:rPr lang="en-US" sz="1300" dirty="0">
                <a:solidFill>
                  <a:srgbClr val="1B1F2A"/>
                </a:solidFill>
              </a:rPr>
              <a:t>Option B: earmark of specific unsold units with a list value of at least the ticket, with a right to substitute equal value</a:t>
            </a:r>
            <a:endParaRPr lang="en-US" sz="1300" dirty="0"/>
          </a:p>
          <a:p>
            <a:pPr marL="342900" indent="-342900">
              <a:spcAft>
                <a:spcPts val="600"/>
              </a:spcAft>
              <a:buSzPct val="100000"/>
              <a:buChar char="•"/>
            </a:pPr>
            <a:r>
              <a:rPr lang="en-US" sz="1300" dirty="0">
                <a:solidFill>
                  <a:srgbClr val="1B1F2A"/>
                </a:solidFill>
              </a:rPr>
              <a:t>Payment priority covenant: no shareholder distributions or shareholder-loan repayments while an instalment is overdue</a:t>
            </a:r>
            <a:endParaRPr lang="en-US" sz="1300" dirty="0"/>
          </a:p>
          <a:p>
            <a:pPr marL="342900" indent="-342900">
              <a:spcAft>
                <a:spcPts val="600"/>
              </a:spcAft>
              <a:buSzPct val="100000"/>
              <a:buChar char="•"/>
            </a:pPr>
            <a:r>
              <a:rPr lang="en-US" sz="1300" dirty="0">
                <a:solidFill>
                  <a:srgbClr val="1B1F2A"/>
                </a:solidFill>
              </a:rPr>
              <a:t>Negative pledge on the earmarked units</a:t>
            </a:r>
            <a:endParaRPr lang="en-US" sz="1300" dirty="0"/>
          </a:p>
          <a:p>
            <a:pPr marL="342900" indent="-342900">
              <a:spcAft>
                <a:spcPts val="600"/>
              </a:spcAft>
              <a:buSzPct val="100000"/>
              <a:buChar char="•"/>
            </a:pPr>
            <a:r>
              <a:rPr lang="en-US" sz="1300" dirty="0">
                <a:solidFill>
                  <a:srgbClr val="1B1F2A"/>
                </a:solidFill>
              </a:rPr>
              <a:t>Information rights: monthly reporting and audit rights</a:t>
            </a:r>
            <a:endParaRPr lang="en-US" sz="1300" dirty="0"/>
          </a:p>
          <a:p>
            <a:pPr marL="342900" indent="-342900">
              <a:spcAft>
                <a:spcPts val="600"/>
              </a:spcAft>
              <a:buSzPct val="100000"/>
              <a:buChar char="•"/>
            </a:pPr>
            <a:r>
              <a:rPr lang="en-US" sz="1300" dirty="0">
                <a:solidFill>
                  <a:srgbClr val="1B1F2A"/>
                </a:solidFill>
              </a:rPr>
              <a:t>Sponsor funding undertaking for project gaps from Jalour cash reserves and other projects' cash; no guarantee of return</a:t>
            </a:r>
            <a:endParaRPr lang="en-US" sz="1300" dirty="0"/>
          </a:p>
        </p:txBody>
      </p:sp>
      <p:sp>
        <p:nvSpPr>
          <p:cNvPr id="7" name="Shape 4"/>
          <p:cNvSpPr/>
          <p:nvPr/>
        </p:nvSpPr>
        <p:spPr>
          <a:xfrm>
            <a:off x="6217920" y="1371600"/>
            <a:ext cx="5394960" cy="4480560"/>
          </a:xfrm>
          <a:prstGeom prst="rect">
            <a:avLst/>
          </a:prstGeom>
          <a:solidFill>
            <a:srgbClr val="FBF3E4"/>
          </a:solidFill>
          <a:ln w="12700">
            <a:solidFill>
              <a:srgbClr val="FBF3E4"/>
            </a:solidFill>
            <a:prstDash val="solid"/>
          </a:ln>
        </p:spPr>
      </p:sp>
      <p:sp>
        <p:nvSpPr>
          <p:cNvPr id="8" name="Text 5"/>
          <p:cNvSpPr txBox="1"/>
          <p:nvPr/>
        </p:nvSpPr>
        <p:spPr>
          <a:xfrm>
            <a:off x="6400800" y="1463040"/>
            <a:ext cx="5029200" cy="365760"/>
          </a:xfrm>
          <a:prstGeom prst="rect">
            <a:avLst/>
          </a:prstGeom>
          <a:noFill/>
          <a:ln/>
        </p:spPr>
        <p:txBody>
          <a:bodyPr wrap="square" lIns="0" tIns="0" rIns="0" bIns="0" rtlCol="0" anchor="ctr"/>
          <a:lstStyle/>
          <a:p>
            <a:pPr indent="0" marL="0">
              <a:buNone/>
            </a:pPr>
            <a:r>
              <a:rPr lang="en-US" sz="1600" b="1" dirty="0">
                <a:solidFill>
                  <a:srgbClr val="B8893B"/>
                </a:solidFill>
              </a:rPr>
              <a:t>Optional and for counsel</a:t>
            </a:r>
            <a:endParaRPr lang="en-US" sz="1600" dirty="0"/>
          </a:p>
        </p:txBody>
      </p:sp>
      <p:sp>
        <p:nvSpPr>
          <p:cNvPr id="9" name="Text 6"/>
          <p:cNvSpPr txBox="1"/>
          <p:nvPr/>
        </p:nvSpPr>
        <p:spPr>
          <a:xfrm>
            <a:off x="6400800" y="1920240"/>
            <a:ext cx="5029200" cy="3840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Promissory note or post-dated cheques for each Option B instalment (common practice in Egypt)</a:t>
            </a:r>
            <a:endParaRPr lang="en-US" sz="1300" dirty="0"/>
          </a:p>
          <a:p>
            <a:pPr marL="342900" indent="-342900">
              <a:spcAft>
                <a:spcPts val="600"/>
              </a:spcAft>
              <a:buSzPct val="100000"/>
              <a:buChar char="•"/>
            </a:pPr>
            <a:r>
              <a:rPr lang="en-US" sz="1300" dirty="0">
                <a:solidFill>
                  <a:srgbClr val="1B1F2A"/>
                </a:solidFill>
              </a:rPr>
              <a:t>Independent engineer reporting on construction progress</a:t>
            </a:r>
            <a:endParaRPr lang="en-US" sz="1300" dirty="0"/>
          </a:p>
          <a:p>
            <a:pPr marL="342900" indent="-342900">
              <a:spcAft>
                <a:spcPts val="600"/>
              </a:spcAft>
              <a:buSzPct val="100000"/>
              <a:buChar char="•"/>
            </a:pPr>
            <a:r>
              <a:rPr lang="en-US" sz="1300" dirty="0">
                <a:solidFill>
                  <a:srgbClr val="1B1F2A"/>
                </a:solidFill>
              </a:rPr>
              <a:t>Step-in right to market the earmarked units after a payment default</a:t>
            </a:r>
            <a:endParaRPr lang="en-US" sz="1300" dirty="0"/>
          </a:p>
          <a:p>
            <a:pPr marL="342900" indent="-342900">
              <a:spcAft>
                <a:spcPts val="600"/>
              </a:spcAft>
              <a:buSzPct val="100000"/>
              <a:buChar char="•"/>
            </a:pPr>
            <a:r>
              <a:rPr lang="en-US" sz="1300" dirty="0">
                <a:solidFill>
                  <a:srgbClr val="1B1F2A"/>
                </a:solidFill>
              </a:rPr>
              <a:t>Landlord acknowledgement of the unit allocation</a:t>
            </a:r>
            <a:endParaRPr lang="en-US" sz="1300" dirty="0"/>
          </a:p>
          <a:p>
            <a:pPr marL="342900" indent="-342900">
              <a:spcAft>
                <a:spcPts val="600"/>
              </a:spcAft>
              <a:buSzPct val="100000"/>
              <a:buChar char="•"/>
            </a:pPr>
            <a:r>
              <a:rPr lang="en-US" sz="1300" dirty="0">
                <a:solidFill>
                  <a:srgbClr val="1B1F2A"/>
                </a:solidFill>
              </a:rPr>
              <a:t>Parent guarantee: not offered in this structure</a:t>
            </a:r>
            <a:endParaRPr lang="en-US" sz="1300" dirty="0"/>
          </a:p>
        </p:txBody>
      </p:sp>
      <p:sp>
        <p:nvSpPr>
          <p:cNvPr id="10" name="Text 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Proposal for review by Jalour's lawyers. Landlord consent is required for any allocation or encumbrance affecting its 35% share.</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Returns and sensitivity</a:t>
            </a:r>
            <a:endParaRPr lang="en-US" sz="2800" dirty="0"/>
          </a:p>
        </p:txBody>
      </p:sp>
      <p:graphicFrame>
        <p:nvGraphicFramePr>
          <p:cNvPr id="4" name="Chart 0" descr=""/>
          <p:cNvGraphicFramePr/>
          <p:nvPr/>
        </p:nvGraphicFramePr>
        <p:xfrm>
          <a:off x="548640" y="1280160"/>
          <a:ext cx="53949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394960" cy="914400"/>
        </p:xfrm>
        <a:graphic>
          <a:graphicData uri="http://schemas.openxmlformats.org/drawingml/2006/table">
            <a:tbl>
              <a:tblPr/>
              <a:tblGrid>
                <a:gridCol w="2743200"/>
                <a:gridCol w="1234440"/>
                <a:gridCol w="1417320"/>
              </a:tblGrid>
              <a:tr h="384048">
                <a:tc>
                  <a:txBody>
                    <a:bodyPr/>
                    <a:lstStyle/>
                    <a:p>
                      <a:pPr algn="l" indent="0" marL="0">
                        <a:buNone/>
                      </a:pPr>
                      <a:r>
                        <a:rPr lang="en-US" sz="1200" b="1" dirty="0">
                          <a:solidFill>
                            <a:srgbClr val="FFFFFF"/>
                          </a:solidFill>
                        </a:rPr>
                        <a:t>Project case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NPV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r" indent="0" marL="0">
                        <a:buNone/>
                      </a:pPr>
                      <a:r>
                        <a:rPr lang="en-US" sz="1200" b="1" dirty="0">
                          <a:solidFill>
                            <a:srgbClr val="FFFFFF"/>
                          </a:solidFill>
                        </a:rPr>
                        <a:t>Peak shortage (EGP 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384048">
                <a:tc>
                  <a:txBody>
                    <a:bodyPr/>
                    <a:lstStyle/>
                    <a:p>
                      <a:pPr algn="l" indent="0" marL="0">
                        <a:buNone/>
                      </a:pPr>
                      <a:r>
                        <a:rPr lang="en-US" sz="1200" dirty="0">
                          <a:solidFill>
                            <a:srgbClr val="1B1F2A"/>
                          </a:solidFill>
                        </a:rPr>
                        <a:t>Base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230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124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114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Prices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336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Sales delay 12 months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52</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408</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Cost overrun +10%</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173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103</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384048">
                <a:tc>
                  <a:txBody>
                    <a:bodyPr/>
                    <a:lstStyle/>
                    <a:p>
                      <a:pPr algn="l" indent="0" marL="0">
                        <a:buNone/>
                      </a:pPr>
                      <a:r>
                        <a:rPr lang="en-US" sz="1200" dirty="0">
                          <a:solidFill>
                            <a:srgbClr val="1B1F2A"/>
                          </a:solidFill>
                        </a:rPr>
                        <a:t>Collections slip 2 quarters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134</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r" indent="0" marL="0">
                        <a:buNone/>
                      </a:pPr>
                      <a:r>
                        <a:rPr lang="en-US" sz="1200" dirty="0">
                          <a:solidFill>
                            <a:srgbClr val="1B1F2A"/>
                          </a:solidFill>
                        </a:rPr>
                        <a:t>236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384048">
                <a:tc>
                  <a:txBody>
                    <a:bodyPr/>
                    <a:lstStyle/>
                    <a:p>
                      <a:pPr algn="l" indent="0" marL="0">
                        <a:buNone/>
                      </a:pPr>
                      <a:r>
                        <a:rPr lang="en-US" sz="1200" dirty="0">
                          <a:solidFill>
                            <a:srgbClr val="1B1F2A"/>
                          </a:solidFill>
                        </a:rPr>
                        <a:t>Delivery payments at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166</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1F2A"/>
                          </a:solidFill>
                        </a:rPr>
                        <a:t>269</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548640" y="4663440"/>
            <a:ext cx="11064240" cy="137160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B1F2A"/>
                </a:solidFill>
              </a:rPr>
              <a:t>Option A break-even: the units could be resold at 36% of the delivery list price before the ticket is lost.</a:t>
            </a:r>
            <a:endParaRPr lang="en-US" sz="1200" dirty="0"/>
          </a:p>
          <a:p>
            <a:pPr marL="342900" indent="-342900">
              <a:spcAft>
                <a:spcPts val="600"/>
              </a:spcAft>
              <a:buSzPct val="100000"/>
              <a:buChar char="•"/>
            </a:pPr>
            <a:r>
              <a:rPr lang="en-US" sz="1200" dirty="0">
                <a:solidFill>
                  <a:srgbClr val="1B1F2A"/>
                </a:solidFill>
              </a:rPr>
              <a:t>Option B: cash available covers each instalment at least 3.0x on a pooled-cash basis; net cash flow alone covers it in 3 of 12 quarters because of the construction peak.</a:t>
            </a:r>
            <a:endParaRPr lang="en-US" sz="1200" dirty="0"/>
          </a:p>
          <a:p>
            <a:pPr marL="342900" indent="-342900">
              <a:spcAft>
                <a:spcPts val="600"/>
              </a:spcAft>
              <a:buSzPct val="100000"/>
              <a:buChar char="•"/>
            </a:pPr>
            <a:r>
              <a:rPr lang="en-US" sz="1200" dirty="0">
                <a:solidFill>
                  <a:srgbClr val="1B1F2A"/>
                </a:solidFill>
              </a:rPr>
              <a:t>Returns are projections, not guarantees.</a:t>
            </a:r>
            <a:endParaRPr lang="en-US" sz="1200" dirty="0"/>
          </a:p>
        </p:txBody>
      </p:sp>
      <p:sp>
        <p:nvSpPr>
          <p:cNvPr id="7" name="Text 2"/>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Financial Annex, Scenarios, Sensitivity and Option sheets. Project cases show Jalour net cash flow before any investor instrument.</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Risks and mitigants</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4937760"/>
                <a:gridCol w="6126480"/>
              </a:tblGrid>
              <a:tr h="475488">
                <a:tc>
                  <a:txBody>
                    <a:bodyPr/>
                    <a:lstStyle/>
                    <a:p>
                      <a:pPr algn="l" indent="0" marL="0">
                        <a:buNone/>
                      </a:pPr>
                      <a:r>
                        <a:rPr lang="en-US" sz="1200" b="1" dirty="0">
                          <a:solidFill>
                            <a:srgbClr val="FFFFFF"/>
                          </a:solidFill>
                        </a:rPr>
                        <a:t>Risk</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c>
                  <a:txBody>
                    <a:bodyPr/>
                    <a:lstStyle/>
                    <a:p>
                      <a:pPr algn="l" indent="0" marL="0">
                        <a:buNone/>
                      </a:pPr>
                      <a:r>
                        <a:rPr lang="en-US" sz="1200" b="1" dirty="0">
                          <a:solidFill>
                            <a:srgbClr val="FFFFFF"/>
                          </a:solidFill>
                        </a:rPr>
                        <a:t>Mitigant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17324D"/>
                    </a:solidFill>
                  </a:tcPr>
                </a:tc>
              </a:tr>
              <a:tr h="475488">
                <a:tc>
                  <a:txBody>
                    <a:bodyPr/>
                    <a:lstStyle/>
                    <a:p>
                      <a:pPr algn="l" indent="0" marL="0">
                        <a:buNone/>
                      </a:pPr>
                      <a:r>
                        <a:rPr lang="en-US" sz="1200" dirty="0">
                          <a:solidFill>
                            <a:srgbClr val="1B1F2A"/>
                          </a:solidFill>
                        </a:rPr>
                        <a:t>Market and price: sales plan assumes list-price rises of 33% to 48% over the sales window</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Downside case shown; Option B has no unit price exposure; price evidence in the data room</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Delivery payments collected ahead of handover</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Contractual milestone; Jalour covers any gap from cash reserves and other projects' cash; stress case shown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Construction cost and inflation (costs flat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Cost +10% case; fixed-price contracting to be sought; contingency 5% in the model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Landlord: consent and minimum guarantee payments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Written consent as a condition precedent; guarantee schedule fully funded in the plan</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Delivery and permits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Permit status in the data room; independent engineer (optional)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Legal and regulatory: private placement, off-plan rules, assignment of contracts</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Counsel review before signing; developer and landlord consent mechanics defined</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r h="475488">
                <a:tc>
                  <a:txBody>
                    <a:bodyPr/>
                    <a:lstStyle/>
                    <a:p>
                      <a:pPr algn="l" indent="0" marL="0">
                        <a:buNone/>
                      </a:pPr>
                      <a:r>
                        <a:rPr lang="en-US" sz="1200" dirty="0">
                          <a:solidFill>
                            <a:srgbClr val="1B1F2A"/>
                          </a:solidFill>
                        </a:rPr>
                        <a:t>Currency and FX: EGP returns; USD value may fall</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1F2A"/>
                          </a:solidFill>
                        </a:rPr>
                        <a:t>USD equivalents shown at EGP 48; foreign investors take FX advice</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FFFFF"/>
                    </a:solidFill>
                  </a:tcPr>
                </a:tc>
              </a:tr>
              <a:tr h="475488">
                <a:tc>
                  <a:txBody>
                    <a:bodyPr/>
                    <a:lstStyle/>
                    <a:p>
                      <a:pPr algn="l" indent="0" marL="0">
                        <a:buNone/>
                      </a:pPr>
                      <a:r>
                        <a:rPr lang="en-US" sz="1200" dirty="0">
                          <a:solidFill>
                            <a:srgbClr val="1B1F2A"/>
                          </a:solidFill>
                        </a:rPr>
                        <a:t>Concentration: single project</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c>
                  <a:txBody>
                    <a:bodyPr/>
                    <a:lstStyle/>
                    <a:p>
                      <a:pPr algn="l" indent="0" marL="0">
                        <a:buNone/>
                      </a:pPr>
                      <a:r>
                        <a:rPr lang="en-US" sz="1200" dirty="0">
                          <a:solidFill>
                            <a:srgbClr val="1B1F2A"/>
                          </a:solidFill>
                        </a:rPr>
                        <a:t>No cross-collateral or cross-default with other Jalour projects; investor exposed to this project only</a:t>
                      </a:r>
                      <a:endParaRPr lang="en-US" sz="1200" dirty="0"/>
                    </a:p>
                  </a:txBody>
                  <a:tcPr marL="73152" marR="73152" marT="36576" marB="36576" anchor="ctr">
                    <a:lnL w="6350" cap="flat" cmpd="sng" algn="ctr">
                      <a:solidFill>
                        <a:srgbClr val="D5DAE1"/>
                      </a:solidFill>
                      <a:prstDash val="solid"/>
                      <a:round/>
                      <a:headEnd type="none" w="med" len="med"/>
                      <a:tailEnd type="none" w="med" len="med"/>
                    </a:lnL>
                    <a:lnR w="6350" cap="flat" cmpd="sng" algn="ctr">
                      <a:solidFill>
                        <a:srgbClr val="D5DAE1"/>
                      </a:solidFill>
                      <a:prstDash val="solid"/>
                      <a:round/>
                      <a:headEnd type="none" w="med" len="med"/>
                      <a:tailEnd type="none" w="med" len="med"/>
                    </a:lnR>
                    <a:lnT w="6350" cap="flat" cmpd="sng" algn="ctr">
                      <a:solidFill>
                        <a:srgbClr val="D5DAE1"/>
                      </a:solidFill>
                      <a:prstDash val="solid"/>
                      <a:round/>
                      <a:headEnd type="none" w="med" len="med"/>
                      <a:tailEnd type="none" w="med" len="med"/>
                    </a:lnT>
                    <a:lnB w="6350" cap="flat" cmpd="sng" algn="ctr">
                      <a:solidFill>
                        <a:srgbClr val="D5DAE1"/>
                      </a:solidFill>
                      <a:prstDash val="solid"/>
                      <a:round/>
                      <a:headEnd type="none" w="med" len="med"/>
                      <a:tailEnd type="none" w="med" len="med"/>
                    </a:lnB>
                    <a:solidFill>
                      <a:srgbClr val="F2F4F7"/>
                    </a:solidFill>
                  </a:tcPr>
                </a:tc>
              </a:tr>
            </a:tbl>
          </a:graphicData>
        </a:graphic>
      </p:graphicFrame>
      <p:sp>
        <p:nvSpPr>
          <p:cNvPr id="5" name="Text 1"/>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full risk factors in the Investment Memorandum and the Due Diligence Memorandum.</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normAutofit/>
          </a:bodyPr>
          <a:lstStyle/>
          <a:p>
            <a:pPr indent="0" marL="0">
              <a:buNone/>
            </a:pPr>
            <a:r>
              <a:rPr lang="en-US" sz="2800" b="1" dirty="0">
                <a:solidFill>
                  <a:srgbClr val="17324D"/>
                </a:solidFill>
                <a:latin typeface="Cambria" pitchFamily="34" charset="0"/>
                <a:ea typeface="Cambria" pitchFamily="34" charset="-122"/>
                <a:cs typeface="Cambria" pitchFamily="34" charset="-120"/>
              </a:rPr>
              <a:t>Timeline and milestones</a:t>
            </a:r>
            <a:endParaRPr lang="en-US" sz="2800" dirty="0"/>
          </a:p>
        </p:txBody>
      </p:sp>
      <p:sp>
        <p:nvSpPr>
          <p:cNvPr id="4" name="Shape 1"/>
          <p:cNvSpPr/>
          <p:nvPr/>
        </p:nvSpPr>
        <p:spPr>
          <a:xfrm>
            <a:off x="822960" y="3108960"/>
            <a:ext cx="10515600" cy="0"/>
          </a:xfrm>
          <a:prstGeom prst="line">
            <a:avLst/>
          </a:prstGeom>
          <a:noFill/>
          <a:ln w="25400">
            <a:solidFill>
              <a:srgbClr val="17324D"/>
            </a:solidFill>
            <a:prstDash val="solid"/>
          </a:ln>
        </p:spPr>
      </p:sp>
      <p:sp>
        <p:nvSpPr>
          <p:cNvPr id="5" name="Shape 2"/>
          <p:cNvSpPr/>
          <p:nvPr/>
        </p:nvSpPr>
        <p:spPr>
          <a:xfrm>
            <a:off x="1218646" y="3026664"/>
            <a:ext cx="164592" cy="164592"/>
          </a:xfrm>
          <a:prstGeom prst="ellipse">
            <a:avLst/>
          </a:prstGeom>
          <a:solidFill>
            <a:srgbClr val="B8893B"/>
          </a:solidFill>
          <a:ln w="12700">
            <a:solidFill>
              <a:srgbClr val="FFFFFF"/>
            </a:solidFill>
            <a:prstDash val="solid"/>
          </a:ln>
        </p:spPr>
      </p:sp>
      <p:sp>
        <p:nvSpPr>
          <p:cNvPr id="6" name="Text 3"/>
          <p:cNvSpPr txBox="1"/>
          <p:nvPr/>
        </p:nvSpPr>
        <p:spPr>
          <a:xfrm>
            <a:off x="523702"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Funding</a:t>
            </a:r>
            <a:endParaRPr lang="en-US" sz="1100" dirty="0"/>
          </a:p>
          <a:p>
            <a:pPr algn="ctr" indent="0" marL="0">
              <a:buNone/>
            </a:pPr>
            <a:r>
              <a:rPr lang="en-US" sz="1100" dirty="0">
                <a:solidFill>
                  <a:srgbClr val="1B1F2A"/>
                </a:solidFill>
              </a:rPr>
              <a:t>Month -3</a:t>
            </a:r>
            <a:endParaRPr lang="en-US" sz="1100" dirty="0"/>
          </a:p>
        </p:txBody>
      </p:sp>
      <p:sp>
        <p:nvSpPr>
          <p:cNvPr id="7" name="Shape 4"/>
          <p:cNvSpPr/>
          <p:nvPr/>
        </p:nvSpPr>
        <p:spPr>
          <a:xfrm>
            <a:off x="1855955" y="3026664"/>
            <a:ext cx="164592" cy="164592"/>
          </a:xfrm>
          <a:prstGeom prst="ellipse">
            <a:avLst/>
          </a:prstGeom>
          <a:solidFill>
            <a:srgbClr val="B8893B"/>
          </a:solidFill>
          <a:ln w="12700">
            <a:solidFill>
              <a:srgbClr val="FFFFFF"/>
            </a:solidFill>
            <a:prstDash val="solid"/>
          </a:ln>
        </p:spPr>
      </p:sp>
      <p:sp>
        <p:nvSpPr>
          <p:cNvPr id="8" name="Text 5"/>
          <p:cNvSpPr txBox="1"/>
          <p:nvPr/>
        </p:nvSpPr>
        <p:spPr>
          <a:xfrm>
            <a:off x="1161011"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Sales start</a:t>
            </a:r>
            <a:endParaRPr lang="en-US" sz="1100" dirty="0"/>
          </a:p>
          <a:p>
            <a:pPr algn="ctr" indent="0" marL="0">
              <a:buNone/>
            </a:pPr>
            <a:r>
              <a:rPr lang="en-US" sz="1100" dirty="0">
                <a:solidFill>
                  <a:srgbClr val="1B1F2A"/>
                </a:solidFill>
              </a:rPr>
              <a:t>Month 1</a:t>
            </a:r>
            <a:endParaRPr lang="en-US" sz="1100" dirty="0"/>
          </a:p>
        </p:txBody>
      </p:sp>
      <p:sp>
        <p:nvSpPr>
          <p:cNvPr id="9" name="Shape 6"/>
          <p:cNvSpPr/>
          <p:nvPr/>
        </p:nvSpPr>
        <p:spPr>
          <a:xfrm>
            <a:off x="2811919" y="3026664"/>
            <a:ext cx="164592" cy="164592"/>
          </a:xfrm>
          <a:prstGeom prst="ellipse">
            <a:avLst/>
          </a:prstGeom>
          <a:solidFill>
            <a:srgbClr val="B8893B"/>
          </a:solidFill>
          <a:ln w="12700">
            <a:solidFill>
              <a:srgbClr val="FFFFFF"/>
            </a:solidFill>
            <a:prstDash val="solid"/>
          </a:ln>
        </p:spPr>
      </p:sp>
      <p:sp>
        <p:nvSpPr>
          <p:cNvPr id="10" name="Text 7"/>
          <p:cNvSpPr txBox="1"/>
          <p:nvPr/>
        </p:nvSpPr>
        <p:spPr>
          <a:xfrm>
            <a:off x="2116975"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Construction start</a:t>
            </a:r>
            <a:endParaRPr lang="en-US" sz="1100" dirty="0"/>
          </a:p>
          <a:p>
            <a:pPr algn="ctr" indent="0" marL="0">
              <a:buNone/>
            </a:pPr>
            <a:r>
              <a:rPr lang="en-US" sz="1100" dirty="0">
                <a:solidFill>
                  <a:srgbClr val="1B1F2A"/>
                </a:solidFill>
              </a:rPr>
              <a:t>Month 7</a:t>
            </a:r>
            <a:endParaRPr lang="en-US" sz="1100" dirty="0"/>
          </a:p>
        </p:txBody>
      </p:sp>
      <p:sp>
        <p:nvSpPr>
          <p:cNvPr id="11" name="Shape 8"/>
          <p:cNvSpPr/>
          <p:nvPr/>
        </p:nvSpPr>
        <p:spPr>
          <a:xfrm>
            <a:off x="5042500" y="3026664"/>
            <a:ext cx="164592" cy="164592"/>
          </a:xfrm>
          <a:prstGeom prst="ellipse">
            <a:avLst/>
          </a:prstGeom>
          <a:solidFill>
            <a:srgbClr val="B8893B"/>
          </a:solidFill>
          <a:ln w="12700">
            <a:solidFill>
              <a:srgbClr val="FFFFFF"/>
            </a:solidFill>
            <a:prstDash val="solid"/>
          </a:ln>
        </p:spPr>
      </p:sp>
      <p:sp>
        <p:nvSpPr>
          <p:cNvPr id="12" name="Text 9"/>
          <p:cNvSpPr txBox="1"/>
          <p:nvPr/>
        </p:nvSpPr>
        <p:spPr>
          <a:xfrm>
            <a:off x="4347556"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Grace ends</a:t>
            </a:r>
            <a:endParaRPr lang="en-US" sz="1100" dirty="0"/>
          </a:p>
          <a:p>
            <a:pPr algn="ctr" indent="0" marL="0">
              <a:buNone/>
            </a:pPr>
            <a:r>
              <a:rPr lang="en-US" sz="1100" dirty="0">
                <a:solidFill>
                  <a:srgbClr val="1B1F2A"/>
                </a:solidFill>
              </a:rPr>
              <a:t>Month 21</a:t>
            </a:r>
            <a:endParaRPr lang="en-US" sz="1100" dirty="0"/>
          </a:p>
        </p:txBody>
      </p:sp>
      <p:sp>
        <p:nvSpPr>
          <p:cNvPr id="13" name="Shape 10"/>
          <p:cNvSpPr/>
          <p:nvPr/>
        </p:nvSpPr>
        <p:spPr>
          <a:xfrm>
            <a:off x="5520482" y="3026664"/>
            <a:ext cx="164592" cy="164592"/>
          </a:xfrm>
          <a:prstGeom prst="ellipse">
            <a:avLst/>
          </a:prstGeom>
          <a:solidFill>
            <a:srgbClr val="B8893B"/>
          </a:solidFill>
          <a:ln w="12700">
            <a:solidFill>
              <a:srgbClr val="FFFFFF"/>
            </a:solidFill>
            <a:prstDash val="solid"/>
          </a:ln>
        </p:spPr>
      </p:sp>
      <p:sp>
        <p:nvSpPr>
          <p:cNvPr id="14" name="Text 11"/>
          <p:cNvSpPr txBox="1"/>
          <p:nvPr/>
        </p:nvSpPr>
        <p:spPr>
          <a:xfrm>
            <a:off x="4825538"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Option B payment</a:t>
            </a:r>
            <a:endParaRPr lang="en-US" sz="1100" dirty="0"/>
          </a:p>
          <a:p>
            <a:pPr algn="ctr" indent="0" marL="0">
              <a:buNone/>
            </a:pPr>
            <a:r>
              <a:rPr lang="en-US" sz="1100" dirty="0">
                <a:solidFill>
                  <a:srgbClr val="1B1F2A"/>
                </a:solidFill>
              </a:rPr>
              <a:t>Month 24</a:t>
            </a:r>
            <a:endParaRPr lang="en-US" sz="1100" dirty="0"/>
          </a:p>
        </p:txBody>
      </p:sp>
      <p:sp>
        <p:nvSpPr>
          <p:cNvPr id="15" name="Shape 12"/>
          <p:cNvSpPr/>
          <p:nvPr/>
        </p:nvSpPr>
        <p:spPr>
          <a:xfrm>
            <a:off x="8388373" y="3026664"/>
            <a:ext cx="164592" cy="164592"/>
          </a:xfrm>
          <a:prstGeom prst="ellipse">
            <a:avLst/>
          </a:prstGeom>
          <a:solidFill>
            <a:srgbClr val="B8893B"/>
          </a:solidFill>
          <a:ln w="12700">
            <a:solidFill>
              <a:srgbClr val="FFFFFF"/>
            </a:solidFill>
            <a:prstDash val="solid"/>
          </a:ln>
        </p:spPr>
      </p:sp>
      <p:sp>
        <p:nvSpPr>
          <p:cNvPr id="16" name="Text 13"/>
          <p:cNvSpPr txBox="1"/>
          <p:nvPr/>
        </p:nvSpPr>
        <p:spPr>
          <a:xfrm>
            <a:off x="7693429"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Handover</a:t>
            </a:r>
            <a:endParaRPr lang="en-US" sz="1100" dirty="0"/>
          </a:p>
          <a:p>
            <a:pPr algn="ctr" indent="0" marL="0">
              <a:buNone/>
            </a:pPr>
            <a:r>
              <a:rPr lang="en-US" sz="1100" dirty="0">
                <a:solidFill>
                  <a:srgbClr val="1B1F2A"/>
                </a:solidFill>
              </a:rPr>
              <a:t>Month 42</a:t>
            </a:r>
            <a:endParaRPr lang="en-US" sz="1100" dirty="0"/>
          </a:p>
        </p:txBody>
      </p:sp>
      <p:sp>
        <p:nvSpPr>
          <p:cNvPr id="17" name="Shape 14"/>
          <p:cNvSpPr/>
          <p:nvPr/>
        </p:nvSpPr>
        <p:spPr>
          <a:xfrm>
            <a:off x="8866355" y="3026664"/>
            <a:ext cx="164592" cy="164592"/>
          </a:xfrm>
          <a:prstGeom prst="ellipse">
            <a:avLst/>
          </a:prstGeom>
          <a:solidFill>
            <a:srgbClr val="B8893B"/>
          </a:solidFill>
          <a:ln w="12700">
            <a:solidFill>
              <a:srgbClr val="FFFFFF"/>
            </a:solidFill>
            <a:prstDash val="solid"/>
          </a:ln>
        </p:spPr>
      </p:sp>
      <p:sp>
        <p:nvSpPr>
          <p:cNvPr id="18" name="Text 15"/>
          <p:cNvSpPr txBox="1"/>
          <p:nvPr/>
        </p:nvSpPr>
        <p:spPr>
          <a:xfrm>
            <a:off x="8171411" y="2103120"/>
            <a:ext cx="1554480" cy="822960"/>
          </a:xfrm>
          <a:prstGeom prst="rect">
            <a:avLst/>
          </a:prstGeom>
          <a:noFill/>
          <a:ln/>
        </p:spPr>
        <p:txBody>
          <a:bodyPr wrap="square" lIns="0" tIns="0" rIns="0" bIns="0" rtlCol="0" anchor="b"/>
          <a:lstStyle/>
          <a:p>
            <a:pPr algn="ctr" indent="0" marL="0">
              <a:buNone/>
            </a:pPr>
            <a:r>
              <a:rPr lang="en-US" sz="1100" b="1" dirty="0">
                <a:solidFill>
                  <a:srgbClr val="1B1F2A"/>
                </a:solidFill>
              </a:rPr>
              <a:t>First resales</a:t>
            </a:r>
            <a:endParaRPr lang="en-US" sz="1100" dirty="0"/>
          </a:p>
          <a:p>
            <a:pPr algn="ctr" indent="0" marL="0">
              <a:buNone/>
            </a:pPr>
            <a:r>
              <a:rPr lang="en-US" sz="1100" dirty="0">
                <a:solidFill>
                  <a:srgbClr val="1B1F2A"/>
                </a:solidFill>
              </a:rPr>
              <a:t>Month 45</a:t>
            </a:r>
            <a:endParaRPr lang="en-US" sz="1100" dirty="0"/>
          </a:p>
        </p:txBody>
      </p:sp>
      <p:sp>
        <p:nvSpPr>
          <p:cNvPr id="19" name="Shape 16"/>
          <p:cNvSpPr/>
          <p:nvPr/>
        </p:nvSpPr>
        <p:spPr>
          <a:xfrm>
            <a:off x="10778282" y="3026664"/>
            <a:ext cx="164592" cy="164592"/>
          </a:xfrm>
          <a:prstGeom prst="ellipse">
            <a:avLst/>
          </a:prstGeom>
          <a:solidFill>
            <a:srgbClr val="B8893B"/>
          </a:solidFill>
          <a:ln w="12700">
            <a:solidFill>
              <a:srgbClr val="FFFFFF"/>
            </a:solidFill>
            <a:prstDash val="solid"/>
          </a:ln>
        </p:spPr>
      </p:sp>
      <p:sp>
        <p:nvSpPr>
          <p:cNvPr id="20" name="Text 17"/>
          <p:cNvSpPr txBox="1"/>
          <p:nvPr/>
        </p:nvSpPr>
        <p:spPr>
          <a:xfrm>
            <a:off x="10083338" y="3337560"/>
            <a:ext cx="1554480" cy="822960"/>
          </a:xfrm>
          <a:prstGeom prst="rect">
            <a:avLst/>
          </a:prstGeom>
          <a:noFill/>
          <a:ln/>
        </p:spPr>
        <p:txBody>
          <a:bodyPr wrap="square" lIns="0" tIns="0" rIns="0" bIns="0" rtlCol="0" anchor="t"/>
          <a:lstStyle/>
          <a:p>
            <a:pPr algn="ctr" indent="0" marL="0">
              <a:buNone/>
            </a:pPr>
            <a:r>
              <a:rPr lang="en-US" sz="1100" b="1" dirty="0">
                <a:solidFill>
                  <a:srgbClr val="1B1F2A"/>
                </a:solidFill>
              </a:rPr>
              <a:t>Last Option B payment</a:t>
            </a:r>
            <a:endParaRPr lang="en-US" sz="1100" dirty="0"/>
          </a:p>
          <a:p>
            <a:pPr algn="ctr" indent="0" marL="0">
              <a:buNone/>
            </a:pPr>
            <a:r>
              <a:rPr lang="en-US" sz="1100" dirty="0">
                <a:solidFill>
                  <a:srgbClr val="1B1F2A"/>
                </a:solidFill>
              </a:rPr>
              <a:t>Month 57</a:t>
            </a:r>
            <a:endParaRPr lang="en-US" sz="1100" dirty="0"/>
          </a:p>
        </p:txBody>
      </p:sp>
      <p:sp>
        <p:nvSpPr>
          <p:cNvPr id="21" name="Text 18"/>
          <p:cNvSpPr txBox="1"/>
          <p:nvPr/>
        </p:nvSpPr>
        <p:spPr>
          <a:xfrm>
            <a:off x="548640" y="4480560"/>
            <a:ext cx="1106424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B1F2A"/>
                </a:solidFill>
              </a:rPr>
              <a:t>Funding and signing: month -3 (ticket due when the down payment of EGP 80 million falls due).</a:t>
            </a:r>
            <a:endParaRPr lang="en-US" sz="1300" dirty="0"/>
          </a:p>
          <a:p>
            <a:pPr marL="342900" indent="-342900">
              <a:spcAft>
                <a:spcPts val="600"/>
              </a:spcAft>
              <a:buSzPct val="100000"/>
              <a:buChar char="•"/>
            </a:pPr>
            <a:r>
              <a:rPr lang="en-US" sz="1300" dirty="0">
                <a:solidFill>
                  <a:srgbClr val="1B1F2A"/>
                </a:solidFill>
              </a:rPr>
              <a:t>Option A: units are allocated at signing and delivered at handover (month 42); the investor may resell after consents.</a:t>
            </a:r>
            <a:endParaRPr lang="en-US" sz="1300" dirty="0"/>
          </a:p>
          <a:p>
            <a:pPr marL="342900" indent="-342900">
              <a:spcAft>
                <a:spcPts val="600"/>
              </a:spcAft>
              <a:buSzPct val="100000"/>
              <a:buChar char="•"/>
            </a:pPr>
            <a:r>
              <a:rPr lang="en-US" sz="1300" dirty="0">
                <a:solidFill>
                  <a:srgbClr val="1B1F2A"/>
                </a:solidFill>
              </a:rPr>
              <a:t>Option B: 24-month grace, then 12 quarterly instalments from month 24.</a:t>
            </a:r>
            <a:endParaRPr lang="en-US" sz="1300" dirty="0"/>
          </a:p>
        </p:txBody>
      </p:sp>
      <p:sp>
        <p:nvSpPr>
          <p:cNvPr id="22" name="Text 19"/>
          <p:cNvSpPr txBox="1"/>
          <p:nvPr/>
        </p:nvSpPr>
        <p:spPr>
          <a:xfrm>
            <a:off x="548640" y="6080760"/>
            <a:ext cx="11064240" cy="274320"/>
          </a:xfrm>
          <a:prstGeom prst="rect">
            <a:avLst/>
          </a:prstGeom>
          <a:noFill/>
          <a:ln/>
        </p:spPr>
        <p:txBody>
          <a:bodyPr wrap="square" lIns="0" tIns="0" rIns="0" bIns="0" rtlCol="0" anchor="ctr"/>
          <a:lstStyle/>
          <a:p>
            <a:pPr indent="0" marL="0">
              <a:buNone/>
            </a:pPr>
            <a:r>
              <a:rPr lang="en-US" sz="900" i="1" dirty="0">
                <a:solidFill>
                  <a:srgbClr val="6B7280"/>
                </a:solidFill>
              </a:rPr>
              <a:t>Source: Jalour financial model; Financial Annex. Months count from this project's sales launch (month 1).</a:t>
            </a:r>
            <a:endParaRPr lang="en-US" sz="900" dirty="0"/>
          </a:p>
        </p:txBody>
      </p:sp>
      <p:sp>
        <p:nvSpPr>
          <p:cNvPr id="25" name="Slide Number Placeholder 0"/>
          <p:cNvSpPr>
            <a:spLocks noGrp="1"/>
          </p:cNvSpPr>
          <p:nvPr>
            <p:ph type="sldNum" sz="quarter" idx="4294967295"/>
          </p:nvPr>
        </p:nvSpPr>
        <p:spPr>
          <a:xfrm>
            <a:off x="1115568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ask and next steps</a:t>
            </a:r>
            <a:endParaRPr lang="en-US" sz="3400" dirty="0"/>
          </a:p>
        </p:txBody>
      </p:sp>
      <p:sp>
        <p:nvSpPr>
          <p:cNvPr id="3" name="Text 1"/>
          <p:cNvSpPr txBox="1"/>
          <p:nvPr/>
        </p:nvSpPr>
        <p:spPr>
          <a:xfrm>
            <a:off x="731520" y="1645920"/>
            <a:ext cx="10515600" cy="1097280"/>
          </a:xfrm>
          <a:prstGeom prst="rect">
            <a:avLst/>
          </a:prstGeom>
          <a:noFill/>
          <a:ln/>
        </p:spPr>
        <p:txBody>
          <a:bodyPr wrap="square" lIns="0" tIns="0" rIns="0" bIns="0" rtlCol="0" anchor="ctr"/>
          <a:lstStyle/>
          <a:p>
            <a:pPr indent="0" marL="0">
              <a:buNone/>
            </a:pPr>
            <a:r>
              <a:rPr lang="en-US" sz="1800" dirty="0">
                <a:solidFill>
                  <a:srgbClr val="D5DAE1"/>
                </a:solidFill>
              </a:rPr>
              <a:t>Jalour invites an investment of EGP 100 million in Green Square, with the choice of Option A (units, 2.0x face value) or Option B (cash, 2.3x over 3 years after a 24-month grace period).</a:t>
            </a:r>
            <a:endParaRPr lang="en-US" sz="1800" dirty="0"/>
          </a:p>
        </p:txBody>
      </p:sp>
      <p:sp>
        <p:nvSpPr>
          <p:cNvPr id="4" name="Shape 2"/>
          <p:cNvSpPr/>
          <p:nvPr/>
        </p:nvSpPr>
        <p:spPr>
          <a:xfrm>
            <a:off x="731520" y="3017520"/>
            <a:ext cx="384048" cy="384048"/>
          </a:xfrm>
          <a:prstGeom prst="ellipse">
            <a:avLst/>
          </a:prstGeom>
          <a:solidFill>
            <a:srgbClr val="B8893B"/>
          </a:solidFill>
          <a:ln w="12700">
            <a:solidFill>
              <a:srgbClr val="B8893B"/>
            </a:solidFill>
            <a:prstDash val="solid"/>
          </a:ln>
        </p:spPr>
      </p:sp>
      <p:sp>
        <p:nvSpPr>
          <p:cNvPr id="5" name="Text 3"/>
          <p:cNvSpPr txBox="1"/>
          <p:nvPr/>
        </p:nvSpPr>
        <p:spPr>
          <a:xfrm>
            <a:off x="731520" y="30175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325880" y="3017520"/>
            <a:ext cx="9875520" cy="384048"/>
          </a:xfrm>
          <a:prstGeom prst="rect">
            <a:avLst/>
          </a:prstGeom>
          <a:noFill/>
          <a:ln/>
        </p:spPr>
        <p:txBody>
          <a:bodyPr wrap="square" lIns="0" tIns="0" rIns="0" bIns="0" rtlCol="0" anchor="ctr"/>
          <a:lstStyle/>
          <a:p>
            <a:pPr indent="0" marL="0">
              <a:buNone/>
            </a:pPr>
            <a:r>
              <a:rPr lang="en-US" sz="1600" dirty="0">
                <a:solidFill>
                  <a:srgbClr val="FFFFFF"/>
                </a:solidFill>
              </a:rPr>
              <a:t>Review this presentation, the Investment Memorandum and the Financial Annex</a:t>
            </a:r>
            <a:endParaRPr lang="en-US" sz="1600" dirty="0"/>
          </a:p>
        </p:txBody>
      </p:sp>
      <p:sp>
        <p:nvSpPr>
          <p:cNvPr id="7" name="Shape 5"/>
          <p:cNvSpPr/>
          <p:nvPr/>
        </p:nvSpPr>
        <p:spPr>
          <a:xfrm>
            <a:off x="731520" y="3584448"/>
            <a:ext cx="384048" cy="384048"/>
          </a:xfrm>
          <a:prstGeom prst="ellipse">
            <a:avLst/>
          </a:prstGeom>
          <a:solidFill>
            <a:srgbClr val="B8893B"/>
          </a:solidFill>
          <a:ln w="12700">
            <a:solidFill>
              <a:srgbClr val="B8893B"/>
            </a:solidFill>
            <a:prstDash val="solid"/>
          </a:ln>
        </p:spPr>
      </p:sp>
      <p:sp>
        <p:nvSpPr>
          <p:cNvPr id="8" name="Text 6"/>
          <p:cNvSpPr txBox="1"/>
          <p:nvPr/>
        </p:nvSpPr>
        <p:spPr>
          <a:xfrm>
            <a:off x="731520" y="3584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325880" y="3584448"/>
            <a:ext cx="9875520" cy="384048"/>
          </a:xfrm>
          <a:prstGeom prst="rect">
            <a:avLst/>
          </a:prstGeom>
          <a:noFill/>
          <a:ln/>
        </p:spPr>
        <p:txBody>
          <a:bodyPr wrap="square" lIns="0" tIns="0" rIns="0" bIns="0" rtlCol="0" anchor="ctr"/>
          <a:lstStyle/>
          <a:p>
            <a:pPr indent="0" marL="0">
              <a:buNone/>
            </a:pPr>
            <a:r>
              <a:rPr lang="en-US" sz="1600" dirty="0">
                <a:solidFill>
                  <a:srgbClr val="FFFFFF"/>
                </a:solidFill>
              </a:rPr>
              <a:t>Select Option A or Option B and confirm the ticket</a:t>
            </a:r>
            <a:endParaRPr lang="en-US" sz="1600" dirty="0"/>
          </a:p>
        </p:txBody>
      </p:sp>
      <p:sp>
        <p:nvSpPr>
          <p:cNvPr id="10" name="Shape 8"/>
          <p:cNvSpPr/>
          <p:nvPr/>
        </p:nvSpPr>
        <p:spPr>
          <a:xfrm>
            <a:off x="731520" y="4151376"/>
            <a:ext cx="384048" cy="384048"/>
          </a:xfrm>
          <a:prstGeom prst="ellipse">
            <a:avLst/>
          </a:prstGeom>
          <a:solidFill>
            <a:srgbClr val="B8893B"/>
          </a:solidFill>
          <a:ln w="12700">
            <a:solidFill>
              <a:srgbClr val="B8893B"/>
            </a:solidFill>
            <a:prstDash val="solid"/>
          </a:ln>
        </p:spPr>
      </p:sp>
      <p:sp>
        <p:nvSpPr>
          <p:cNvPr id="11" name="Text 9"/>
          <p:cNvSpPr txBox="1"/>
          <p:nvPr/>
        </p:nvSpPr>
        <p:spPr>
          <a:xfrm>
            <a:off x="731520" y="415137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2" name="Text 10"/>
          <p:cNvSpPr txBox="1"/>
          <p:nvPr/>
        </p:nvSpPr>
        <p:spPr>
          <a:xfrm>
            <a:off x="1325880" y="4151376"/>
            <a:ext cx="9875520" cy="384048"/>
          </a:xfrm>
          <a:prstGeom prst="rect">
            <a:avLst/>
          </a:prstGeom>
          <a:noFill/>
          <a:ln/>
        </p:spPr>
        <p:txBody>
          <a:bodyPr wrap="square" lIns="0" tIns="0" rIns="0" bIns="0" rtlCol="0" anchor="ctr"/>
          <a:lstStyle/>
          <a:p>
            <a:pPr indent="0" marL="0">
              <a:buNone/>
            </a:pPr>
            <a:r>
              <a:rPr lang="en-US" sz="1600" dirty="0">
                <a:solidFill>
                  <a:srgbClr val="FFFFFF"/>
                </a:solidFill>
              </a:rPr>
              <a:t>Due diligence: data room, legal and technical review</a:t>
            </a:r>
            <a:endParaRPr lang="en-US" sz="1600" dirty="0"/>
          </a:p>
        </p:txBody>
      </p:sp>
      <p:sp>
        <p:nvSpPr>
          <p:cNvPr id="13" name="Shape 11"/>
          <p:cNvSpPr/>
          <p:nvPr/>
        </p:nvSpPr>
        <p:spPr>
          <a:xfrm>
            <a:off x="731520" y="4718304"/>
            <a:ext cx="384048" cy="384048"/>
          </a:xfrm>
          <a:prstGeom prst="ellipse">
            <a:avLst/>
          </a:prstGeom>
          <a:solidFill>
            <a:srgbClr val="B8893B"/>
          </a:solidFill>
          <a:ln w="12700">
            <a:solidFill>
              <a:srgbClr val="B8893B"/>
            </a:solidFill>
            <a:prstDash val="solid"/>
          </a:ln>
        </p:spPr>
      </p:sp>
      <p:sp>
        <p:nvSpPr>
          <p:cNvPr id="14" name="Text 12"/>
          <p:cNvSpPr txBox="1"/>
          <p:nvPr/>
        </p:nvSpPr>
        <p:spPr>
          <a:xfrm>
            <a:off x="731520" y="47183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5" name="Text 13"/>
          <p:cNvSpPr txBox="1"/>
          <p:nvPr/>
        </p:nvSpPr>
        <p:spPr>
          <a:xfrm>
            <a:off x="1325880" y="4718304"/>
            <a:ext cx="9875520" cy="384048"/>
          </a:xfrm>
          <a:prstGeom prst="rect">
            <a:avLst/>
          </a:prstGeom>
          <a:noFill/>
          <a:ln/>
        </p:spPr>
        <p:txBody>
          <a:bodyPr wrap="square" lIns="0" tIns="0" rIns="0" bIns="0" rtlCol="0" anchor="ctr"/>
          <a:lstStyle/>
          <a:p>
            <a:pPr indent="0" marL="0">
              <a:buNone/>
            </a:pPr>
            <a:r>
              <a:rPr lang="en-US" sz="1600" dirty="0">
                <a:solidFill>
                  <a:srgbClr val="FFFFFF"/>
                </a:solidFill>
              </a:rPr>
              <a:t>Landlord consent and definitive documents</a:t>
            </a:r>
            <a:endParaRPr lang="en-US" sz="1600" dirty="0"/>
          </a:p>
        </p:txBody>
      </p:sp>
      <p:sp>
        <p:nvSpPr>
          <p:cNvPr id="16" name="Shape 14"/>
          <p:cNvSpPr/>
          <p:nvPr/>
        </p:nvSpPr>
        <p:spPr>
          <a:xfrm>
            <a:off x="731520" y="5285232"/>
            <a:ext cx="384048" cy="384048"/>
          </a:xfrm>
          <a:prstGeom prst="ellipse">
            <a:avLst/>
          </a:prstGeom>
          <a:solidFill>
            <a:srgbClr val="B8893B"/>
          </a:solidFill>
          <a:ln w="12700">
            <a:solidFill>
              <a:srgbClr val="B8893B"/>
            </a:solidFill>
            <a:prstDash val="solid"/>
          </a:ln>
        </p:spPr>
      </p:sp>
      <p:sp>
        <p:nvSpPr>
          <p:cNvPr id="17" name="Text 15"/>
          <p:cNvSpPr txBox="1"/>
          <p:nvPr/>
        </p:nvSpPr>
        <p:spPr>
          <a:xfrm>
            <a:off x="731520" y="52852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18" name="Text 16"/>
          <p:cNvSpPr txBox="1"/>
          <p:nvPr/>
        </p:nvSpPr>
        <p:spPr>
          <a:xfrm>
            <a:off x="1325880" y="5285232"/>
            <a:ext cx="9875520" cy="384048"/>
          </a:xfrm>
          <a:prstGeom prst="rect">
            <a:avLst/>
          </a:prstGeom>
          <a:noFill/>
          <a:ln/>
        </p:spPr>
        <p:txBody>
          <a:bodyPr wrap="square" lIns="0" tIns="0" rIns="0" bIns="0" rtlCol="0" anchor="ctr"/>
          <a:lstStyle/>
          <a:p>
            <a:pPr indent="0" marL="0">
              <a:buNone/>
            </a:pPr>
            <a:r>
              <a:rPr lang="en-US" sz="1600" dirty="0">
                <a:solidFill>
                  <a:srgbClr val="FFFFFF"/>
                </a:solidFill>
              </a:rPr>
              <a:t>Signing and funding</a:t>
            </a:r>
            <a:endParaRPr lang="en-US" sz="1600" dirty="0"/>
          </a:p>
        </p:txBody>
      </p:sp>
      <p:sp>
        <p:nvSpPr>
          <p:cNvPr id="19" name="Text 17"/>
          <p:cNvSpPr txBox="1"/>
          <p:nvPr/>
        </p:nvSpPr>
        <p:spPr>
          <a:xfrm>
            <a:off x="731520" y="5989320"/>
            <a:ext cx="10515600" cy="457200"/>
          </a:xfrm>
          <a:prstGeom prst="rect">
            <a:avLst/>
          </a:prstGeom>
          <a:noFill/>
          <a:ln/>
        </p:spPr>
        <p:txBody>
          <a:bodyPr wrap="square" lIns="0" tIns="0" rIns="0" bIns="0" rtlCol="0" anchor="ctr"/>
          <a:lstStyle/>
          <a:p>
            <a:pPr indent="0" marL="0">
              <a:buNone/>
            </a:pPr>
            <a:r>
              <a:rPr lang="en-US" sz="1100" dirty="0">
                <a:solidFill>
                  <a:srgbClr val="AAB2BD"/>
                </a:solidFill>
              </a:rPr>
              <a:t>Jalour may raise further capital at project or holding level, subject to the investor's stated rights. Projections are not guarantees. All information in this presentation and in the other documents of this pack is confidential and subject to the non-disclosure agreement.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Jalour Developments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Square - Investment Presentation (EGP 100 million)</dc:title>
  <dc:subject>Strictly private and confidential</dc:subject>
  <dc:creator>Jalour Developments</dc:creator>
  <cp:lastModifiedBy>Jalour Developments</cp:lastModifiedBy>
  <cp:revision>1</cp:revision>
  <dcterms:created xsi:type="dcterms:W3CDTF">2026-10-08T10:34:59Z</dcterms:created>
  <dcterms:modified xsi:type="dcterms:W3CDTF">2026-10-08T10:34:59Z</dcterms:modified>
</cp:coreProperties>
</file>