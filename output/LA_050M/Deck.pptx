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5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Built-up area mix (m2)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Built-up area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8893B"/>
              </a:solidFill>
              <a:effectLst/>
            </c:spPr>
          </c:dPt>
          <c:dPt>
            <c:idx val="1"/>
            <c:bubble3D val="0"/>
            <c:spPr>
              <a:solidFill>
                <a:srgbClr val="17324D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Retail</c:v>
                </c:pt>
                <c:pt idx="1">
                  <c:v>Offices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4473</c:v>
                </c:pt>
                <c:pt idx="1">
                  <c:v>8946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Minimum guarantee schedule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Guaranteed payment to landlord (EGP m)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Down payment</c:v>
                  </c:pt>
                  <c:pt idx="1">
                    <c:v>Year 1</c:v>
                  </c:pt>
                  <c:pt idx="2">
                    <c:v>Year 2</c:v>
                  </c:pt>
                  <c:pt idx="3">
                    <c:v>Year 3</c:v>
                  </c:pt>
                  <c:pt idx="4">
                    <c:v>Year 4</c:v>
                  </c:pt>
                  <c:pt idx="5">
                    <c:v>Year 5</c:v>
                  </c:pt>
                  <c:pt idx="6">
                    <c:v>Year 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0</c:v>
                </c:pt>
                <c:pt idx="2">
                  <c:v>90</c:v>
                </c:pt>
                <c:pt idx="3">
                  <c:v>180</c:v>
                </c:pt>
                <c:pt idx="4">
                  <c:v>225</c:v>
                </c:pt>
                <c:pt idx="5">
                  <c:v>180</c:v>
                </c:pt>
                <c:pt idx="6">
                  <c:v>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Sales value by quarter of sale (EGP million, 80% of units)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Retail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M15</c:v>
                  </c:pt>
                  <c:pt idx="1">
                    <c:v>M18</c:v>
                  </c:pt>
                  <c:pt idx="2">
                    <c:v>M21</c:v>
                  </c:pt>
                  <c:pt idx="3">
                    <c:v>M24</c:v>
                  </c:pt>
                  <c:pt idx="4">
                    <c:v>M27</c:v>
                  </c:pt>
                  <c:pt idx="5">
                    <c:v>M30</c:v>
                  </c:pt>
                  <c:pt idx="6">
                    <c:v>M33</c:v>
                  </c:pt>
                  <c:pt idx="7">
                    <c:v>M36</c:v>
                  </c:pt>
                  <c:pt idx="8">
                    <c:v>M39</c:v>
                  </c:pt>
                  <c:pt idx="9">
                    <c:v>M42</c:v>
                  </c:pt>
                  <c:pt idx="10">
                    <c:v>M45</c:v>
                  </c:pt>
                  <c:pt idx="11">
                    <c:v>M48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111.825</c:v>
                </c:pt>
                <c:pt idx="1">
                  <c:v>111.825</c:v>
                </c:pt>
                <c:pt idx="2">
                  <c:v>123.0075</c:v>
                </c:pt>
                <c:pt idx="3">
                  <c:v>86.10525000000001</c:v>
                </c:pt>
                <c:pt idx="4">
                  <c:v>93.93300000000002</c:v>
                </c:pt>
                <c:pt idx="5">
                  <c:v>80.514</c:v>
                </c:pt>
                <c:pt idx="6">
                  <c:v>73.8045</c:v>
                </c:pt>
                <c:pt idx="7">
                  <c:v>73.8045</c:v>
                </c:pt>
                <c:pt idx="8">
                  <c:v>80.514</c:v>
                </c:pt>
                <c:pt idx="9">
                  <c:v>80.514</c:v>
                </c:pt>
                <c:pt idx="10">
                  <c:v>80.514</c:v>
                </c:pt>
                <c:pt idx="11">
                  <c:v>80.514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Offices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M15</c:v>
                  </c:pt>
                  <c:pt idx="1">
                    <c:v>M18</c:v>
                  </c:pt>
                  <c:pt idx="2">
                    <c:v>M21</c:v>
                  </c:pt>
                  <c:pt idx="3">
                    <c:v>M24</c:v>
                  </c:pt>
                  <c:pt idx="4">
                    <c:v>M27</c:v>
                  </c:pt>
                  <c:pt idx="5">
                    <c:v>M30</c:v>
                  </c:pt>
                  <c:pt idx="6">
                    <c:v>M33</c:v>
                  </c:pt>
                  <c:pt idx="7">
                    <c:v>M36</c:v>
                  </c:pt>
                  <c:pt idx="8">
                    <c:v>M39</c:v>
                  </c:pt>
                  <c:pt idx="9">
                    <c:v>M42</c:v>
                  </c:pt>
                  <c:pt idx="10">
                    <c:v>M45</c:v>
                  </c:pt>
                  <c:pt idx="11">
                    <c:v>M48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250.488</c:v>
                </c:pt>
                <c:pt idx="1">
                  <c:v>250.488</c:v>
                </c:pt>
                <c:pt idx="2">
                  <c:v>187.866</c:v>
                </c:pt>
                <c:pt idx="3">
                  <c:v>93.933</c:v>
                </c:pt>
                <c:pt idx="4">
                  <c:v>104.37</c:v>
                </c:pt>
                <c:pt idx="5">
                  <c:v>104.37</c:v>
                </c:pt>
                <c:pt idx="6">
                  <c:v>114.807</c:v>
                </c:pt>
                <c:pt idx="7">
                  <c:v>114.807</c:v>
                </c:pt>
                <c:pt idx="8">
                  <c:v>125.244</c:v>
                </c:pt>
                <c:pt idx="9">
                  <c:v>125.244</c:v>
                </c:pt>
                <c:pt idx="10">
                  <c:v>62.622</c:v>
                </c:pt>
                <c:pt idx="11">
                  <c:v>62.622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 cash flow by project year (EGP million)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Collections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181.62616500000001</c:v>
                </c:pt>
                <c:pt idx="2">
                  <c:v>334.5393975</c:v>
                </c:pt>
                <c:pt idx="3">
                  <c:v>1094.88043875</c:v>
                </c:pt>
                <c:pt idx="4">
                  <c:v>375.1728749999998</c:v>
                </c:pt>
                <c:pt idx="5">
                  <c:v>259.817000625</c:v>
                </c:pt>
                <c:pt idx="6">
                  <c:v>204.18499499999993</c:v>
                </c:pt>
                <c:pt idx="7">
                  <c:v>142.80704812499997</c:v>
                </c:pt>
                <c:pt idx="8">
                  <c:v>66.21531</c:v>
                </c:pt>
                <c:pt idx="9">
                  <c:v>14.49252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Landlord payments</c:v>
                </c:pt>
              </c:strCache>
            </c:strRef>
          </c:tx>
          <c:spPr>
            <a:solidFill>
              <a:srgbClr val="B889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-85</c:v>
                </c:pt>
                <c:pt idx="1">
                  <c:v>-90</c:v>
                </c:pt>
                <c:pt idx="2">
                  <c:v>-180</c:v>
                </c:pt>
                <c:pt idx="3">
                  <c:v>-225</c:v>
                </c:pt>
                <c:pt idx="4">
                  <c:v>-180</c:v>
                </c:pt>
                <c:pt idx="5">
                  <c:v>-90</c:v>
                </c:pt>
                <c:pt idx="6">
                  <c:v>0</c:v>
                </c:pt>
                <c:pt idx="7">
                  <c:v>-284.44971499999986</c:v>
                </c:pt>
                <c:pt idx="8">
                  <c:v>-28.969198125000045</c:v>
                </c:pt>
                <c:pt idx="9">
                  <c:v>-6.34047750000001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Construction, commission, SG&amp;A</c:v>
                </c:pt>
              </c:strCache>
            </c:strRef>
          </c:tx>
          <c:spPr>
            <a:solidFill>
              <a:srgbClr val="6B72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Sheet1!$D$2:$D$11</c:f>
              <c:numCache>
                <c:formatCode>General</c:formatCode>
                <c:ptCount val="10"/>
                <c:pt idx="0">
                  <c:v>0</c:v>
                </c:pt>
                <c:pt idx="1">
                  <c:v>-53.36</c:v>
                </c:pt>
                <c:pt idx="2">
                  <c:v>-185.70151</c:v>
                </c:pt>
                <c:pt idx="3">
                  <c:v>-318.5604</c:v>
                </c:pt>
                <c:pt idx="4">
                  <c:v>-351.06152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lineChart>
        <c:varyColors val="0"/>
        <c:ser>
          <c:idx val="3"/>
          <c:order val="3"/>
          <c:tx>
            <c:strRef>
              <c:f>Sheet1!$E$1</c:f>
              <c:strCache>
                <c:ptCount val="1"/>
                <c:pt idx="0">
                  <c:v>Cumulative net cash flow</c:v>
                </c:pt>
              </c:strCache>
            </c:strRef>
          </c:tx>
          <c:spPr>
            <a:solidFill>
              <a:srgbClr val="A23B3B"/>
            </a:solidFill>
            <a:ln w="38100" cap="flat">
              <a:solidFill>
                <a:srgbClr val="A23B3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A23B3B"/>
              </a:solidFill>
              <a:ln w="9525" cap="flat">
                <a:solidFill>
                  <a:srgbClr val="A23B3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  <c:pt idx="5">
                    <c:v>Y6</c:v>
                  </c:pt>
                  <c:pt idx="6">
                    <c:v>Y7</c:v>
                  </c:pt>
                  <c:pt idx="7">
                    <c:v>Y8</c:v>
                  </c:pt>
                  <c:pt idx="8">
                    <c:v>Y9</c:v>
                  </c:pt>
                  <c:pt idx="9">
                    <c:v>Y10</c:v>
                  </c:pt>
                </c:lvl>
              </c:multiLvlStrCache>
            </c:multiLvlStrRef>
          </c:cat>
          <c:val>
            <c:numRef>
              <c:f>Sheet1!$E$2:$E$11</c:f>
              <c:numCache>
                <c:formatCode>General</c:formatCode>
                <c:ptCount val="10"/>
                <c:pt idx="0">
                  <c:v>-85</c:v>
                </c:pt>
                <c:pt idx="1">
                  <c:v>-46.733835</c:v>
                </c:pt>
                <c:pt idx="2">
                  <c:v>-77.89594749999998</c:v>
                </c:pt>
                <c:pt idx="3">
                  <c:v>473.4240912499998</c:v>
                </c:pt>
                <c:pt idx="4">
                  <c:v>317.5354462499996</c:v>
                </c:pt>
                <c:pt idx="5">
                  <c:v>487.35244687499954</c:v>
                </c:pt>
                <c:pt idx="6">
                  <c:v>691.5374418749996</c:v>
                </c:pt>
                <c:pt idx="7">
                  <c:v>549.8947749999996</c:v>
                </c:pt>
                <c:pt idx="8">
                  <c:v>587.1408868749996</c:v>
                </c:pt>
                <c:pt idx="9">
                  <c:v>595.2929293749995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1F2A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1F2A"/>
                </a:solidFill>
                <a:latin typeface="Arial"/>
              </a:rPr>
              <a:t>Projected investor IRR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Investor IRR</c:v>
                </c:pt>
              </c:strCache>
            </c:strRef>
          </c:tx>
          <c:spPr>
            <a:solidFill>
              <a:srgbClr val="17324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1F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Option A base</c:v>
                  </c:pt>
                  <c:pt idx="1">
                    <c:v>Option A downside</c:v>
                  </c:pt>
                  <c:pt idx="2">
                    <c:v>Option A upside</c:v>
                  </c:pt>
                  <c:pt idx="3">
                    <c:v>Option B (contractual)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29.247325055002815</c:v>
                </c:pt>
                <c:pt idx="1">
                  <c:v>20.406197386547248</c:v>
                </c:pt>
                <c:pt idx="2">
                  <c:v>32.28399853457024</c:v>
                </c:pt>
                <c:pt idx="3">
                  <c:v>26.54639948399945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B1F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5DAE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All figures are projections based on the Jalour financial model; see the Financial Annex.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Financial Annex (Summary sheet). All returns are projections.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Next steps and contact details to be added by Jalour.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Jalour Developments  |  L'avenir  |  Strictly private and confidential.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8893B"/>
                </a:solidFill>
              </a:rPr>
              <a:t>STRICTLY PRIVATE AND CONFIDENTIAL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L'avenir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260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5DAE1"/>
                </a:solidFill>
              </a:rPr>
              <a:t>Commercial and office development, El Mostakbal City, Cairo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9319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893B"/>
                </a:solidFill>
              </a:rPr>
              <a:t>Private placement: investor ticket of EGP 50 million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5DAE1"/>
                </a:solidFill>
              </a:rPr>
              <a:t>Investment presentation  |  Jalour Developments, a subsidiary of Al Jalal Holding  |  October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Investment highlights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13,419 m2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Built-up area, G+2: 4,473 m2 retail and 8,946 m2 offices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 54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Handover; sales from month 13, construction from month 19 for 36 months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EGP 2.67 bn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Sales plan: 80% of units sold over the sales window, at modelled prices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 / 65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AE1"/>
                </a:solidFill>
              </a:rPr>
              <a:t>Revenue split between the landowner (Al Ahly Sabbour) and Jalour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200400"/>
            <a:ext cx="11064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 owned by Al Ahly Sabbour; Jalour designs, permits, builds (core and shell), markets, sells, collects and operates.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Landlord receives 35% of collections with a minimum guarantee of EGP 850 million over six years; Jalour keeps 65%.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A: units with a face value of EGP 100 million (2.0x the ticket) at launch list prices. Projected investor IRR 29.2% (base).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Option B: cash return of EGP 115 million (2.3x the ticket) in 12 quarterly instalments after a 24-month grace period. Projected investor IRR 26.5%.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B1F2A"/>
                </a:solidFill>
              </a:rPr>
              <a:t>Project-level exposure only: the investment has no exposure to other Jalour projects.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Summary sheet. IRRs are projections, not guarantees.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Transaction overview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886968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Summary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Investor ticket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50 million (USD 1.0 million at EGP 48 per USD)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Issuer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Project company for this development (name, jurisdiction and instrument to be confirmed by counsel)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Use of proceeds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the landowner, guarantee instalments and working capital to the funding peak, and pre-construction costs (total modelled need EGP 112.5 million)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100 million at launch list prices, allocated from the first two sales tranches; resale rights subject to consents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115 million in 12 equal quarterly instalments of EGP 9.58 million; first payment month 39, last month 72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Choice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investor chooses Option A or Option B at signing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Balance of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The balance of project funding is provided by Jalour sponsor equity, project collections and other capital sources.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Further capital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Jalour may raise further capital at project or holding level, subject to the investor's stated rights (ranking, collateral, information rights)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1447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Term summary; final terms are set by the definitive agreements.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Cairo office and commercial supply and demand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73%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 Cairo office stock, current and future, is in New Cairo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355848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38728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~9%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3538728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vacancy, stable (Q1 2026); Grade A occupancy about 90%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63056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45936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+82%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6345936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office pipeline to 2029 relative to current stock: supply is the main risk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8970264" y="1371600"/>
            <a:ext cx="265176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153144" y="148132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348</a:t>
            </a:r>
            <a:endParaRPr lang="en-US" sz="3000" dirty="0"/>
          </a:p>
        </p:txBody>
      </p:sp>
      <p:sp>
        <p:nvSpPr>
          <p:cNvPr id="15" name="Text 12"/>
          <p:cNvSpPr txBox="1"/>
          <p:nvPr/>
        </p:nvSpPr>
        <p:spPr>
          <a:xfrm>
            <a:off x="9153144" y="221284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Grade A rent per m2 per year in New Cairo business parks (Q2 2026)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3063240"/>
            <a:ext cx="11064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Mostakbal City covers about 11,000 feddans, with a planned population of about 1 million; master developer is the state-linked Mostakbal for Urban Development (MIDAR).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Connected by the Regional (Middle) Ring Road and the East Cairo monorail corridor to Shorouk, Obour, Badr and the New Administrative Capital.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Cairo retail stock above 3.3 million m2 after about 89,000 m2 delivered in Q1 2026, mostly small malls in New Cairo and Giza; about 331,300 m2 more due by end 2026.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B1F2A"/>
                </a:solidFill>
              </a:rPr>
              <a:t>Comparable commercial schemes are under way: Hassan Allam's HAPTOWN (offices G+1 to G+4, retail, healthcare) in Mostakbal City.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Knight Frank (via Arabian Business, Jul 2026; Enterprise, Jul 2026); JLL Q1 2026 (via Invest-Gate); MIDAR; Nawy; Bayut; Invest-Gate. Knight Frank and JLL use different office-stock definitions.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Market: pricing evidence and demand drivers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5120640"/>
                <a:gridCol w="4206240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Indicator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Evidence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Model assumption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Office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Mostakbal City listings: EGP 106,000 to 120,000 per m2 (asking)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160,000 per m2, rising to 240,000 at the 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Retail prices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listings: EGP 139,000 to 325,000 per m2 (asking, individual listings)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EGP 250,000 per m2, rising to 360,000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Price growth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New Cairo secondary prices +3.1% y/y (Q1 2026); broker estimates 10 to 16% a year for 2026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Launch to delivery list: +44% retail, +50% offices; offices +112% on today's asking, about 18% a year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Interest rates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CBE overnight deposit rate 19.00% (Sep 2026); urban inflation 14.5% (Aug 2026)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Discount rate 14%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Developer sales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Top 10 developers EGP 670 bn in H1 2026, +2.9% y/y; units sold -5%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over about 3 years from 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B1F2A"/>
                          </a:solidFill>
                        </a:rPr>
                        <a:t>Payment plans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Typically 8 to 12 years with 1.5% to 10% down payment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 payments 5% to 20%; instalments 2 to 8 years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516636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F2A"/>
                </a:solidFill>
              </a:rPr>
              <a:t>Reading across: the sales plan needs price growth that sits at the upper end of recent evidence. The downside case on slide 14 tests lower prices and later sales.</a:t>
            </a:r>
            <a:endParaRPr lang="en-US" sz="13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598932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Property Finder listings (2026); JLL via Enterprise (2026); Sands of Wealth (2026); CBE via Bnok24; CAPMAS via Ahram Online; Daily News Egypt; Bayut. Listings are asking prices, not transactions.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603504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Detail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Land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14,910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Footprint (30%)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4,473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Height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G+2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Retail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4,473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Office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8,946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Total built-up area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13,419 m2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Finishing standard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Core and shell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Sales start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13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Construction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19 to 54 (36 months)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1F2A"/>
                          </a:solidFill>
                        </a:rPr>
                        <a:t>Handover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1F2A"/>
                          </a:solidFill>
                        </a:rPr>
                        <a:t>Month 54</a:t>
                      </a:r>
                      <a:endParaRPr lang="en-US" sz="14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6949440" y="1371600"/>
          <a:ext cx="4663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(project summary). Jalour retains 20% of units, outside the sales plan and outside this offering.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Partnership with Al Ahly Sabbour and the revenue share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2743200" cy="11887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41732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Al Ahly Sabbour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Landowner. Receives 35% of collections, subject to a minimum guarantee.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2743200" cy="155448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2788920"/>
            <a:ext cx="2468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F2A"/>
                </a:solidFill>
              </a:rPr>
              <a:t>Jalour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B1F2A"/>
                </a:solidFill>
              </a:rPr>
              <a:t>Developer and operator. Keeps 65% of collections. Carries design, permits, core-and-shell construction, marketing, sales, collection and operation costs.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434840"/>
            <a:ext cx="11064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Minimum guarantee EGP 850 million over six years; down payment EGP 85 million (10%) paid up front.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share is 35% of collections or the guaranteed instalment, whichever is higher.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Any excess of 35% over the guarantee is settled from year 8.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Allocation of units, assignment of collections or any encumbrance affecting the landlord share requires the landlord's written consent.</a:t>
            </a:r>
            <a:endParaRPr lang="en-US" sz="13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3657600" y="1280160"/>
          <a:ext cx="79552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(landlord terms); agreement terms to be confirmed in the data room.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Jalour Developments: role and track record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Role in this project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Design and permits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Construction to core-and-shell standard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Marketing, branding and sales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Collection of instalments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Operation, management and maintenance, directly or through a facility management company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Covers project funding gaps from its cash reserves and cash from other projects it is constructing (to be documented)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Track record and team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Completed projects, area delivered and units handed over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Management team biographies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Audited financial statements of Jalour and Al Jalal Holding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References from landlords, contractors and buyers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1F2A"/>
                </a:solidFill>
              </a:rPr>
              <a:t>All provided after the investor signs a non-disclosure agreement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Developments is the real estate arm of Al Jalal Holding, Cairo. Sponsor materials are provided after the investor signs a non-disclosure agreement.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plan and pricing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67665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463040"/>
          <a:ext cx="40233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777240"/>
                <a:gridCol w="777240"/>
                <a:gridCol w="8229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EGP thousand per m2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Launch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Delivery list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Average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Retail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250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301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Offices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160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240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191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7589520" y="2926080"/>
            <a:ext cx="40233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Total sales at 100% of units: EGP 3,342 million; plan sells 80%: EGP 2,674 million.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Payment plans: down payment 5% to 20%, a second equal payment three months later, instalments of 2 to 8 years and a delivery payment of 20% to 25%.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Delivery payments are collected on a contractual milestone ahead of handover (see risks).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 (sales sheet). Prices are model assumptions; see slide 5 for market evidence.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Collections, costs and cash flow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8321040" y="137160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8503920" y="148132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595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8503920" y="221284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Jalour net cash flow, nominal, EGP million</a:t>
            </a:r>
            <a:endParaRPr lang="en-US" sz="1200" dirty="0"/>
          </a:p>
        </p:txBody>
      </p:sp>
      <p:sp>
        <p:nvSpPr>
          <p:cNvPr id="8" name="Shape 4"/>
          <p:cNvSpPr/>
          <p:nvPr/>
        </p:nvSpPr>
        <p:spPr>
          <a:xfrm>
            <a:off x="8321040" y="292608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503920" y="303580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308</a:t>
            </a:r>
            <a:endParaRPr lang="en-US" sz="3000" dirty="0"/>
          </a:p>
        </p:txBody>
      </p:sp>
      <p:sp>
        <p:nvSpPr>
          <p:cNvPr id="10" name="Text 6"/>
          <p:cNvSpPr txBox="1"/>
          <p:nvPr/>
        </p:nvSpPr>
        <p:spPr>
          <a:xfrm>
            <a:off x="8503920" y="376732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NPV at 14%, EGP million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8321040" y="4480560"/>
            <a:ext cx="3291840" cy="141732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503920" y="4590288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102.0</a:t>
            </a:r>
            <a:endParaRPr lang="en-US" sz="3000" dirty="0"/>
          </a:p>
        </p:txBody>
      </p:sp>
      <p:sp>
        <p:nvSpPr>
          <p:cNvPr id="13" name="Text 9"/>
          <p:cNvSpPr txBox="1"/>
          <p:nvPr/>
        </p:nvSpPr>
        <p:spPr>
          <a:xfrm>
            <a:off x="8503920" y="5321808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Peak cumulative shortage, EGP million (month 30)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Annex, Project_CF sheet. Project years: Y1 = months 1 to 12. Excludes the 20% of units retained by Jalour.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uses of funds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548640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5544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Down payment to landowner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85.0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Guarantee instalments and working capital to the funding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17.0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Design, permits and pre-construction (assumption)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uses at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371600"/>
          <a:ext cx="530352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1097280"/>
                <a:gridCol w="109728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EGP million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% of uses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Investor ticket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50.0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44%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Balance of project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62.5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56%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Total sources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112.5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100%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206240"/>
            <a:ext cx="11064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The balance of project funding is provided by Jalour sponsor equity, project collections and other capital sources.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Modelled peak cumulative shortage EGP 102.0 million; the ticket is 49% of it.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If delivery payments arrive at handover the peak shortage is EGP 244 million; if sales slip 12 months with prices 10% lower it is EGP 849 million. Jalour will cover gaps above project cash from its cash reserves and cash from other projects it is constructing.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Nothing in this structure is ring-fenced: the ticket is project funding.</a:t>
            </a:r>
            <a:endParaRPr lang="en-US" sz="13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Sources_Uses sheet. Pre-construction cost is an assumption pending Jalour's budget.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A (units) and Option B (cash) side by side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57200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A: units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Option B: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Entitlement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Units with a face value of EGP 100 million (2.0x) at launch list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EGP 115 million (2.3x) in cash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Timing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Allocation at signing; handover month 54; resale from month 57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Grace 24 months; 12 quarterly instalments, months 39 to 72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Price exposure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Yes: value moves with Mostakbal City prices (delivery list 1.48x launch)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No unit price exposure; fixed instalments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IRR,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29.2%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26.5%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Projected multiple, base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2.87x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2.30x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Upside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32.3% (3.16x)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Downside IRR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20.4% (2.59x)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Contractual: 26.5% if paid; depends on Jalour funding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Payback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60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Month 54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B1F2A"/>
                          </a:solidFill>
                        </a:rPr>
                        <a:t>Main risk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Resale price and timing; consents to assign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B1F2A"/>
                          </a:solidFill>
                        </a:rPr>
                        <a:t>Payment capacity during the construction peak</a:t>
                      </a:r>
                      <a:endParaRPr lang="en-US" sz="13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Option_A and Option_B sheets. Projections; downside = sales delayed 12 months and prices 10% lower.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package and investor protections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548640" y="1371600"/>
            <a:ext cx="5394960" cy="4480560"/>
          </a:xfrm>
          <a:prstGeom prst="rect">
            <a:avLst/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</a:rPr>
              <a:t>Proposed base package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a registered allocation of specific units from the first two sales tranches; the units are the investor's asset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earmark of specific unsold units with a list value of at least the ticket, with a right to substitute equal value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Payment priority covenant: no shareholder distributions or shareholder-loan repayments while an instalment is overdue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Negative pledge on the earmarked units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Information rights: monthly reporting and audit rights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Sponsor funding undertaking for project gaps from Jalour cash reserves and other projects' cash; no guarantee of return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17920" y="1371600"/>
            <a:ext cx="5394960" cy="4480560"/>
          </a:xfrm>
          <a:prstGeom prst="rect">
            <a:avLst/>
          </a:prstGeom>
          <a:solidFill>
            <a:srgbClr val="FBF3E4"/>
          </a:solidFill>
          <a:ln w="12700">
            <a:solidFill>
              <a:srgbClr val="FBF3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93B"/>
                </a:solidFill>
              </a:rPr>
              <a:t>Optional and for counsel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920240"/>
            <a:ext cx="50292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Promissory note or post-dated cheques for each Option B instalment (common practice in Egypt)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Independent engineer reporting on construction progress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Step-in right to market the earmarked units after a payment default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Landlord acknowledgement of the unit allocation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Parent guarantee: not offered in this structure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60350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Proposal for review by Jalour's lawyers. Landlord consent is required for any allocation or encumbrance affecting its 35% share.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Returns and sensitivity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28016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1792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234440"/>
                <a:gridCol w="14173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Project case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NPV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Peak shortage (EGP m)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308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102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-10%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138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Prices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412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88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Sales delay 12 months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126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779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overrun +10%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258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117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Collections slip 2 quarters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209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381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at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275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244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1"/>
          <p:cNvSpPr txBox="1"/>
          <p:nvPr/>
        </p:nvSpPr>
        <p:spPr>
          <a:xfrm>
            <a:off x="548640" y="466344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A break-even: the units could be resold at 35% of the delivery list price before the ticket is lost.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Option B: cash available covers each instalment at least 1.8x on a pooled-cash basis; net cash flow alone covers it in 9 of 12 quarters because of the construction peak.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B1F2A"/>
                </a:solidFill>
              </a:rPr>
              <a:t>Returns are projections, not guarantees.</a:t>
            </a:r>
            <a:endParaRPr lang="en-US" sz="1200" dirty="0"/>
          </a:p>
        </p:txBody>
      </p:sp>
      <p:sp>
        <p:nvSpPr>
          <p:cNvPr id="7" name="Text 2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Financial Annex, Scenarios, Sensitivity and Option sheets. Project cases show Jalour net cash flow before any investor instrument.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Risks and mitigants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6424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61264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Risk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Mitigant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Market and price: sales plan assumes list-price rises of 44% to 50% over the sales window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Downside case shown; Option B has no unit price exposure; price evidence in the data room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payments collected ahead of handover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Contractual milestone; Jalour covers any gap from cash reserves and other projects' cash; stress case shown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Construction cost and inflation (costs flat in the model)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Cost +10% case; fixed-price contracting to be sought; contingency 5% in the model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Landlord: consent and minimum guarantee payments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Written consent as a condition precedent; guarantee schedule fully funded in the plan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Delivery and permits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Permit status in the data room; independent engineer (optional)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Legal and regulatory: private placement, off-plan rules, assignment of contracts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Counsel review before signing; developer and landlord consent mechanics defined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Currency and FX: EGP returns; USD value may fall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USD equivalents shown at EGP 48; foreign investors take FX advice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Concentration: single project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1F2A"/>
                          </a:solidFill>
                        </a:rPr>
                        <a:t>No cross-collateral or cross-default with other Jalour projects; investor exposed to this project only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A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Jalour; full risk factors in the Investment Memorandum and the Due Diligence Memorandum.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732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Timeline and milestones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822960" y="3108960"/>
            <a:ext cx="10515600" cy="0"/>
          </a:xfrm>
          <a:prstGeom prst="line">
            <a:avLst/>
          </a:prstGeom>
          <a:noFill/>
          <a:ln w="25400">
            <a:solidFill>
              <a:srgbClr val="17324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40664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Model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0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3368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868424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Sales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13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0461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70967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Construction start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19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788152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093208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Grace ends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36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0877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513832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39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11896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16952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Handover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54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732520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037576" y="210312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First resales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57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0835640" y="3026664"/>
            <a:ext cx="164592" cy="164592"/>
          </a:xfrm>
          <a:prstGeom prst="ellipse">
            <a:avLst/>
          </a:prstGeom>
          <a:solidFill>
            <a:srgbClr val="B8893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140696" y="333756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1F2A"/>
                </a:solidFill>
              </a:rPr>
              <a:t>Last Option B payment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B1F2A"/>
                </a:solidFill>
              </a:rPr>
              <a:t>Month 72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4480560"/>
            <a:ext cx="11064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Funding and signing: month 12 (ticket due when the down payment of EGP 85 million falls due).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A: units are allocated at signing and delivered at handover (month 54); the investor may resell after consents.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B1F2A"/>
                </a:solidFill>
              </a:rPr>
              <a:t>Option B: 24-month grace, then 12 quarterly instalments from month 39.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0807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</a:rPr>
              <a:t>Source: Jalour financial model; Financial Annex. Months count from the start of the model timeline.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640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ask and next steps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5DAE1"/>
                </a:solidFill>
              </a:rPr>
              <a:t>Jalour invites an investment of EGP 50 million in L'avenir, with the choice of Option A (units, 2.0x face value) or Option B (cash, 2.3x over 3 years after a 24-month grace period).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017520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017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30175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Review this presentation, the Investment Memorandum and the Financial Annex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3584448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3584448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Select Option A or Option B and confirm the ticket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4151376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4151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4151376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Due diligence: data room, legal and technical review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31520" y="4718304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47183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718304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Landlord consent and definitive documents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5285232"/>
            <a:ext cx="384048" cy="384048"/>
          </a:xfrm>
          <a:prstGeom prst="ellipse">
            <a:avLst/>
          </a:prstGeom>
          <a:solidFill>
            <a:srgbClr val="B8893B"/>
          </a:solidFill>
          <a:ln w="12700">
            <a:solidFill>
              <a:srgbClr val="B8893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52852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5285232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Signing and funding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9893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AB2BD"/>
                </a:solidFill>
              </a:rPr>
              <a:t>Jalour may raise further capital at project or holding level, subject to the investor's stated rights. Projections are not guarantees. Strictly private and confidential.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Jalour Developments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L'avenir - Investment Presentation (EGP 50 million)</dc:title>
  <dc:subject>Strictly private and confidential</dc:subject>
  <dc:creator>Jalour Developments</dc:creator>
  <cp:lastModifiedBy>Jalour Developments</cp:lastModifiedBy>
  <cp:revision>1</cp:revision>
  <dcterms:created xsi:type="dcterms:W3CDTF">2026-10-08T07:56:10Z</dcterms:created>
  <dcterms:modified xsi:type="dcterms:W3CDTF">2026-10-08T07:56:10Z</dcterms:modified>
</cp:coreProperties>
</file>