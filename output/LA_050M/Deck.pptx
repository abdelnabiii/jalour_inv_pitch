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4.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5.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1F2A"/>
                </a:solidFill>
                <a:latin typeface="Arial"/>
              </a:defRPr>
            </a:pPr>
            <a:r>
              <a:rPr sz="1300" b="0" i="0" u="none" strike="noStrike">
                <a:solidFill>
                  <a:srgbClr val="1B1F2A"/>
                </a:solidFill>
                <a:latin typeface="Arial"/>
              </a:rPr>
              <a:t>Built-up area mix (m2)</a:t>
            </a:r>
          </a:p>
        </c:rich>
      </c:tx>
      <c:layout/>
      <c:overlay val="0"/>
    </c:title>
    <c:autoTitleDeleted val="0"/>
    <c:plotArea>
      <c:layout/>
      <c:doughnutChart>
        <c:varyColors val="1"/>
        <c:ser>
          <c:idx val="0"/>
          <c:order val="0"/>
          <c:tx>
            <c:strRef>
              <c:f>Sheet1!$B$1</c:f>
              <c:strCache>
                <c:ptCount val="1"/>
                <c:pt idx="0">
                  <c:v>Built-up area</c:v>
                </c:pt>
              </c:strCache>
            </c:strRef>
          </c:tx>
          <c:spPr>
            <a:solidFill>
              <a:schemeClr val="accent1"/>
            </a:solidFill>
            <a:ln w="9525" cap="flat">
              <a:solidFill>
                <a:srgbClr val="F9F9F9"/>
              </a:solidFill>
              <a:prstDash val="solid"/>
              <a:round/>
            </a:ln>
            <a:effectLst/>
          </c:spPr>
          <c:dPt>
            <c:idx val="0"/>
            <c:bubble3D val="0"/>
            <c:spPr>
              <a:solidFill>
                <a:srgbClr val="B8893B"/>
              </a:solidFill>
              <a:effectLst/>
            </c:spPr>
          </c:dPt>
          <c:dPt>
            <c:idx val="1"/>
            <c:bubble3D val="0"/>
            <c:spPr>
              <a:solidFill>
                <a:srgbClr val="17324D"/>
              </a:solidFill>
              <a:effectLst/>
            </c:spPr>
          </c:dPt>
          <c:dLbls>
            <c:dLbl>
              <c:idx val="0"/>
              <c:numFmt formatCode="0%" sourceLinked="0"/>
              <c:spPr/>
              <c:txPr>
                <a:bodyPr/>
                <a:lstStyle/>
                <a:p>
                  <a:pPr>
                    <a:defRPr sz="12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2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Retail</c:v>
                </c:pt>
                <c:pt idx="1">
                  <c:v>Offices</c:v>
                </c:pt>
              </c:strCache>
            </c:strRef>
          </c:cat>
          <c:val>
            <c:numRef>
              <c:f>Sheet1!$B$2:$B$3</c:f>
              <c:numCache>
                <c:ptCount val="2"/>
                <c:pt idx="0">
                  <c:v>4473</c:v>
                </c:pt>
                <c:pt idx="1">
                  <c:v>8946</c:v>
                </c:pt>
              </c:numCache>
            </c:numRef>
          </c:val>
        </c:ser>
        <c:firstSliceAng val="0"/>
        <c:holeSize val="55"/>
      </c:doughnutChart>
      <c:spPr>
        <a:noFill/>
        <a:ln>
          <a:noFill/>
        </a:ln>
        <a:effectLst/>
      </c:spPr>
    </c:plotArea>
    <c:legend>
      <c:legendPos val="b"/>
      <c:overlay val="0"/>
      <c:txPr>
        <a:bodyPr/>
        <a:lstStyle/>
        <a:p>
          <a:pPr>
            <a:defRPr sz="12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1F2A"/>
                </a:solidFill>
                <a:latin typeface="Arial"/>
              </a:defRPr>
            </a:pPr>
            <a:r>
              <a:rPr sz="1300" b="0" i="0" u="none" strike="noStrike">
                <a:solidFill>
                  <a:srgbClr val="1B1F2A"/>
                </a:solidFill>
                <a:latin typeface="Arial"/>
              </a:rPr>
              <a:t>Minimum guarantee schedule (EGP million)</a:t>
            </a:r>
          </a:p>
        </c:rich>
      </c:tx>
      <c:layout/>
      <c:overlay val="0"/>
    </c:title>
    <c:autoTitleDeleted val="0"/>
    <c:plotArea>
      <c:layout/>
      <c:barChart>
        <c:barDir val="col"/>
        <c:grouping val="clustered"/>
        <c:varyColors val="0"/>
        <c:ser>
          <c:idx val="0"/>
          <c:order val="0"/>
          <c:tx>
            <c:strRef>
              <c:f>Sheet1!$B$1</c:f>
              <c:strCache>
                <c:ptCount val="1"/>
                <c:pt idx="0">
                  <c:v>Guaranteed payment to landlord (EGP m)</c:v>
                </c:pt>
              </c:strCache>
            </c:strRef>
          </c:tx>
          <c:spPr>
            <a:solidFill>
              <a:srgbClr val="17324D"/>
            </a:solidFill>
            <a:effectLst/>
          </c:spPr>
          <c:invertIfNegative val="0"/>
          <c:dLbls>
            <c:numFmt formatCode="#,##0" sourceLinked="0"/>
            <c:txPr>
              <a:bodyPr/>
              <a:lstStyle/>
              <a:p>
                <a:pPr>
                  <a:defRPr b="0" i="0" strike="noStrike" sz="1100" u="none">
                    <a:solidFill>
                      <a:srgbClr val="1B1F2A"/>
                    </a:solidFill>
                    <a:latin typeface="Arial"/>
                  </a:defRPr>
                </a:pPr>
              </a:p>
            </c:txPr>
            <c:showLegendKey val="0"/>
            <c:showVal val="1"/>
            <c:showCatName val="0"/>
            <c:showSerName val="0"/>
            <c:showPercent val="0"/>
            <c:showBubbleSize val="0"/>
            <c:showLeaderLines val="0"/>
          </c:dLbls>
          <c:cat>
            <c:multiLvlStrRef>
              <c:f>Sheet1!$A$2:$A$8</c:f>
              <c:multiLvlStrCache>
                <c:ptCount val="7"/>
                <c:lvl>
                  <c:pt idx="0">
                    <c:v>Down payment</c:v>
                  </c:pt>
                  <c:pt idx="1">
                    <c:v>Year 1</c:v>
                  </c:pt>
                  <c:pt idx="2">
                    <c:v>Year 2</c:v>
                  </c:pt>
                  <c:pt idx="3">
                    <c:v>Year 3</c:v>
                  </c:pt>
                  <c:pt idx="4">
                    <c:v>Year 4</c:v>
                  </c:pt>
                  <c:pt idx="5">
                    <c:v>Year 5</c:v>
                  </c:pt>
                  <c:pt idx="6">
                    <c:v>Year 6</c:v>
                  </c:pt>
                </c:lvl>
              </c:multiLvlStrCache>
            </c:multiLvlStrRef>
          </c:cat>
          <c:val>
            <c:numRef>
              <c:f>Sheet1!$B$2:$B$8</c:f>
              <c:numCache>
                <c:formatCode>General</c:formatCode>
                <c:ptCount val="7"/>
                <c:pt idx="0">
                  <c:v>85</c:v>
                </c:pt>
                <c:pt idx="1">
                  <c:v>0</c:v>
                </c:pt>
                <c:pt idx="2">
                  <c:v>90</c:v>
                </c:pt>
                <c:pt idx="3">
                  <c:v>180</c:v>
                </c:pt>
                <c:pt idx="4">
                  <c:v>225</c:v>
                </c:pt>
                <c:pt idx="5">
                  <c:v>180</c:v>
                </c:pt>
                <c:pt idx="6">
                  <c:v>90</c:v>
                </c:pt>
              </c:numCache>
            </c:numRef>
          </c:val>
        </c:ser>
        <c:dLbls>
          <c:numFmt formatCode="#,##0" sourceLinked="0"/>
          <c:txPr>
            <a:bodyPr/>
            <a:lstStyle/>
            <a:p>
              <a:pPr>
                <a:defRPr b="0" i="0" strike="noStrike" sz="1100" u="none">
                  <a:solidFill>
                    <a:srgbClr val="1B1F2A"/>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5DAE1"/>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1F2A"/>
                </a:solidFill>
                <a:latin typeface="Arial"/>
              </a:defRPr>
            </a:pPr>
            <a:r>
              <a:rPr sz="1300" b="0" i="0" u="none" strike="noStrike">
                <a:solidFill>
                  <a:srgbClr val="1B1F2A"/>
                </a:solidFill>
                <a:latin typeface="Arial"/>
              </a:rPr>
              <a:t>Sales value by quarter of sale (EGP million, 80% of units)</a:t>
            </a:r>
          </a:p>
        </c:rich>
      </c:tx>
      <c:layout/>
      <c:overlay val="0"/>
    </c:title>
    <c:autoTitleDeleted val="0"/>
    <c:plotArea>
      <c:layout/>
      <c:barChart>
        <c:barDir val="col"/>
        <c:grouping val="stacked"/>
        <c:varyColors val="0"/>
        <c:ser>
          <c:idx val="0"/>
          <c:order val="0"/>
          <c:tx>
            <c:strRef>
              <c:f>Sheet1!$B$1</c:f>
              <c:strCache>
                <c:ptCount val="1"/>
                <c:pt idx="0">
                  <c:v>Retail</c:v>
                </c:pt>
              </c:strCache>
            </c:strRef>
          </c:tx>
          <c:spPr>
            <a:solidFill>
              <a:srgbClr val="B8893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M15</c:v>
                  </c:pt>
                  <c:pt idx="1">
                    <c:v>M18</c:v>
                  </c:pt>
                  <c:pt idx="2">
                    <c:v>M21</c:v>
                  </c:pt>
                  <c:pt idx="3">
                    <c:v>M24</c:v>
                  </c:pt>
                  <c:pt idx="4">
                    <c:v>M27</c:v>
                  </c:pt>
                  <c:pt idx="5">
                    <c:v>M30</c:v>
                  </c:pt>
                  <c:pt idx="6">
                    <c:v>M33</c:v>
                  </c:pt>
                  <c:pt idx="7">
                    <c:v>M36</c:v>
                  </c:pt>
                  <c:pt idx="8">
                    <c:v>M39</c:v>
                  </c:pt>
                  <c:pt idx="9">
                    <c:v>M42</c:v>
                  </c:pt>
                  <c:pt idx="10">
                    <c:v>M45</c:v>
                  </c:pt>
                  <c:pt idx="11">
                    <c:v>M48</c:v>
                  </c:pt>
                </c:lvl>
              </c:multiLvlStrCache>
            </c:multiLvlStrRef>
          </c:cat>
          <c:val>
            <c:numRef>
              <c:f>Sheet1!$B$2:$B$13</c:f>
              <c:numCache>
                <c:formatCode>General</c:formatCode>
                <c:ptCount val="12"/>
                <c:pt idx="0">
                  <c:v>111.825</c:v>
                </c:pt>
                <c:pt idx="1">
                  <c:v>111.825</c:v>
                </c:pt>
                <c:pt idx="2">
                  <c:v>123.0075</c:v>
                </c:pt>
                <c:pt idx="3">
                  <c:v>86.10525000000001</c:v>
                </c:pt>
                <c:pt idx="4">
                  <c:v>93.93300000000002</c:v>
                </c:pt>
                <c:pt idx="5">
                  <c:v>80.514</c:v>
                </c:pt>
                <c:pt idx="6">
                  <c:v>73.8045</c:v>
                </c:pt>
                <c:pt idx="7">
                  <c:v>73.8045</c:v>
                </c:pt>
                <c:pt idx="8">
                  <c:v>80.514</c:v>
                </c:pt>
                <c:pt idx="9">
                  <c:v>80.514</c:v>
                </c:pt>
                <c:pt idx="10">
                  <c:v>80.514</c:v>
                </c:pt>
                <c:pt idx="11">
                  <c:v>80.514</c:v>
                </c:pt>
              </c:numCache>
            </c:numRef>
          </c:val>
        </c:ser>
        <c:ser>
          <c:idx val="1"/>
          <c:order val="1"/>
          <c:tx>
            <c:strRef>
              <c:f>Sheet1!$C$1</c:f>
              <c:strCache>
                <c:ptCount val="1"/>
                <c:pt idx="0">
                  <c:v>Offices</c:v>
                </c:pt>
              </c:strCache>
            </c:strRef>
          </c:tx>
          <c:spPr>
            <a:solidFill>
              <a:srgbClr val="1732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M15</c:v>
                  </c:pt>
                  <c:pt idx="1">
                    <c:v>M18</c:v>
                  </c:pt>
                  <c:pt idx="2">
                    <c:v>M21</c:v>
                  </c:pt>
                  <c:pt idx="3">
                    <c:v>M24</c:v>
                  </c:pt>
                  <c:pt idx="4">
                    <c:v>M27</c:v>
                  </c:pt>
                  <c:pt idx="5">
                    <c:v>M30</c:v>
                  </c:pt>
                  <c:pt idx="6">
                    <c:v>M33</c:v>
                  </c:pt>
                  <c:pt idx="7">
                    <c:v>M36</c:v>
                  </c:pt>
                  <c:pt idx="8">
                    <c:v>M39</c:v>
                  </c:pt>
                  <c:pt idx="9">
                    <c:v>M42</c:v>
                  </c:pt>
                  <c:pt idx="10">
                    <c:v>M45</c:v>
                  </c:pt>
                  <c:pt idx="11">
                    <c:v>M48</c:v>
                  </c:pt>
                </c:lvl>
              </c:multiLvlStrCache>
            </c:multiLvlStrRef>
          </c:cat>
          <c:val>
            <c:numRef>
              <c:f>Sheet1!$C$2:$C$13</c:f>
              <c:numCache>
                <c:formatCode>General</c:formatCode>
                <c:ptCount val="12"/>
                <c:pt idx="0">
                  <c:v>250.488</c:v>
                </c:pt>
                <c:pt idx="1">
                  <c:v>250.488</c:v>
                </c:pt>
                <c:pt idx="2">
                  <c:v>187.866</c:v>
                </c:pt>
                <c:pt idx="3">
                  <c:v>93.933</c:v>
                </c:pt>
                <c:pt idx="4">
                  <c:v>104.37</c:v>
                </c:pt>
                <c:pt idx="5">
                  <c:v>104.37</c:v>
                </c:pt>
                <c:pt idx="6">
                  <c:v>114.807</c:v>
                </c:pt>
                <c:pt idx="7">
                  <c:v>114.807</c:v>
                </c:pt>
                <c:pt idx="8">
                  <c:v>125.244</c:v>
                </c:pt>
                <c:pt idx="9">
                  <c:v>125.244</c:v>
                </c:pt>
                <c:pt idx="10">
                  <c:v>62.622</c:v>
                </c:pt>
                <c:pt idx="11">
                  <c:v>62.622</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5DAE1"/>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1F2A"/>
                </a:solidFill>
                <a:latin typeface="Arial"/>
              </a:defRPr>
            </a:pPr>
            <a:r>
              <a:rPr sz="1300" b="0" i="0" u="none" strike="noStrike">
                <a:solidFill>
                  <a:srgbClr val="1B1F2A"/>
                </a:solidFill>
                <a:latin typeface="Arial"/>
              </a:rPr>
              <a:t>Project cash flow by project year (EGP million)</a:t>
            </a:r>
          </a:p>
        </c:rich>
      </c:tx>
      <c:layout/>
      <c:overlay val="0"/>
    </c:title>
    <c:autoTitleDeleted val="0"/>
    <c:plotArea>
      <c:layout/>
      <c:barChart>
        <c:barDir val="col"/>
        <c:grouping val="clustered"/>
        <c:varyColors val="0"/>
        <c:ser>
          <c:idx val="0"/>
          <c:order val="0"/>
          <c:tx>
            <c:strRef>
              <c:f>Sheet1!$B$1</c:f>
              <c:strCache>
                <c:ptCount val="1"/>
                <c:pt idx="0">
                  <c:v>Collections</c:v>
                </c:pt>
              </c:strCache>
            </c:strRef>
          </c:tx>
          <c:spPr>
            <a:solidFill>
              <a:srgbClr val="1732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Sheet1!$A$2:$A$11</c:f>
              <c:multiLvlStrCache>
                <c:ptCount val="10"/>
                <c:lvl>
                  <c:pt idx="0">
                    <c:v>Y1</c:v>
                  </c:pt>
                  <c:pt idx="1">
                    <c:v>Y2</c:v>
                  </c:pt>
                  <c:pt idx="2">
                    <c:v>Y3</c:v>
                  </c:pt>
                  <c:pt idx="3">
                    <c:v>Y4</c:v>
                  </c:pt>
                  <c:pt idx="4">
                    <c:v>Y5</c:v>
                  </c:pt>
                  <c:pt idx="5">
                    <c:v>Y6</c:v>
                  </c:pt>
                  <c:pt idx="6">
                    <c:v>Y7</c:v>
                  </c:pt>
                  <c:pt idx="7">
                    <c:v>Y8</c:v>
                  </c:pt>
                  <c:pt idx="8">
                    <c:v>Y9</c:v>
                  </c:pt>
                  <c:pt idx="9">
                    <c:v>Y10</c:v>
                  </c:pt>
                </c:lvl>
              </c:multiLvlStrCache>
            </c:multiLvlStrRef>
          </c:cat>
          <c:val>
            <c:numRef>
              <c:f>Sheet1!$B$2:$B$11</c:f>
              <c:numCache>
                <c:formatCode>General</c:formatCode>
                <c:ptCount val="10"/>
                <c:pt idx="0">
                  <c:v>0</c:v>
                </c:pt>
                <c:pt idx="1">
                  <c:v>181.62616500000001</c:v>
                </c:pt>
                <c:pt idx="2">
                  <c:v>334.5393975</c:v>
                </c:pt>
                <c:pt idx="3">
                  <c:v>1094.88043875</c:v>
                </c:pt>
                <c:pt idx="4">
                  <c:v>375.1728749999998</c:v>
                </c:pt>
                <c:pt idx="5">
                  <c:v>259.817000625</c:v>
                </c:pt>
                <c:pt idx="6">
                  <c:v>204.18499499999993</c:v>
                </c:pt>
                <c:pt idx="7">
                  <c:v>142.80704812499997</c:v>
                </c:pt>
                <c:pt idx="8">
                  <c:v>66.21531</c:v>
                </c:pt>
                <c:pt idx="9">
                  <c:v>14.49252</c:v>
                </c:pt>
              </c:numCache>
            </c:numRef>
          </c:val>
        </c:ser>
        <c:ser>
          <c:idx val="1"/>
          <c:order val="1"/>
          <c:tx>
            <c:strRef>
              <c:f>Sheet1!$C$1</c:f>
              <c:strCache>
                <c:ptCount val="1"/>
                <c:pt idx="0">
                  <c:v>Landlord payments</c:v>
                </c:pt>
              </c:strCache>
            </c:strRef>
          </c:tx>
          <c:spPr>
            <a:solidFill>
              <a:srgbClr val="B8893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Sheet1!$A$2:$A$11</c:f>
              <c:multiLvlStrCache>
                <c:ptCount val="10"/>
                <c:lvl>
                  <c:pt idx="0">
                    <c:v>Y1</c:v>
                  </c:pt>
                  <c:pt idx="1">
                    <c:v>Y2</c:v>
                  </c:pt>
                  <c:pt idx="2">
                    <c:v>Y3</c:v>
                  </c:pt>
                  <c:pt idx="3">
                    <c:v>Y4</c:v>
                  </c:pt>
                  <c:pt idx="4">
                    <c:v>Y5</c:v>
                  </c:pt>
                  <c:pt idx="5">
                    <c:v>Y6</c:v>
                  </c:pt>
                  <c:pt idx="6">
                    <c:v>Y7</c:v>
                  </c:pt>
                  <c:pt idx="7">
                    <c:v>Y8</c:v>
                  </c:pt>
                  <c:pt idx="8">
                    <c:v>Y9</c:v>
                  </c:pt>
                  <c:pt idx="9">
                    <c:v>Y10</c:v>
                  </c:pt>
                </c:lvl>
              </c:multiLvlStrCache>
            </c:multiLvlStrRef>
          </c:cat>
          <c:val>
            <c:numRef>
              <c:f>Sheet1!$C$2:$C$11</c:f>
              <c:numCache>
                <c:formatCode>General</c:formatCode>
                <c:ptCount val="10"/>
                <c:pt idx="0">
                  <c:v>-85</c:v>
                </c:pt>
                <c:pt idx="1">
                  <c:v>-90</c:v>
                </c:pt>
                <c:pt idx="2">
                  <c:v>-180</c:v>
                </c:pt>
                <c:pt idx="3">
                  <c:v>-225</c:v>
                </c:pt>
                <c:pt idx="4">
                  <c:v>-180</c:v>
                </c:pt>
                <c:pt idx="5">
                  <c:v>-90</c:v>
                </c:pt>
                <c:pt idx="6">
                  <c:v>0</c:v>
                </c:pt>
                <c:pt idx="7">
                  <c:v>-284.44971499999986</c:v>
                </c:pt>
                <c:pt idx="8">
                  <c:v>-28.969198125000045</c:v>
                </c:pt>
                <c:pt idx="9">
                  <c:v>-6.34047750000001</c:v>
                </c:pt>
              </c:numCache>
            </c:numRef>
          </c:val>
        </c:ser>
        <c:ser>
          <c:idx val="2"/>
          <c:order val="2"/>
          <c:tx>
            <c:strRef>
              <c:f>Sheet1!$D$1</c:f>
              <c:strCache>
                <c:ptCount val="1"/>
                <c:pt idx="0">
                  <c:v>Construction, commission, SG&amp;A</c:v>
                </c:pt>
              </c:strCache>
            </c:strRef>
          </c:tx>
          <c:spPr>
            <a:solidFill>
              <a:srgbClr val="6B7280"/>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Sheet1!$A$2:$A$11</c:f>
              <c:multiLvlStrCache>
                <c:ptCount val="10"/>
                <c:lvl>
                  <c:pt idx="0">
                    <c:v>Y1</c:v>
                  </c:pt>
                  <c:pt idx="1">
                    <c:v>Y2</c:v>
                  </c:pt>
                  <c:pt idx="2">
                    <c:v>Y3</c:v>
                  </c:pt>
                  <c:pt idx="3">
                    <c:v>Y4</c:v>
                  </c:pt>
                  <c:pt idx="4">
                    <c:v>Y5</c:v>
                  </c:pt>
                  <c:pt idx="5">
                    <c:v>Y6</c:v>
                  </c:pt>
                  <c:pt idx="6">
                    <c:v>Y7</c:v>
                  </c:pt>
                  <c:pt idx="7">
                    <c:v>Y8</c:v>
                  </c:pt>
                  <c:pt idx="8">
                    <c:v>Y9</c:v>
                  </c:pt>
                  <c:pt idx="9">
                    <c:v>Y10</c:v>
                  </c:pt>
                </c:lvl>
              </c:multiLvlStrCache>
            </c:multiLvlStrRef>
          </c:cat>
          <c:val>
            <c:numRef>
              <c:f>Sheet1!$D$2:$D$11</c:f>
              <c:numCache>
                <c:formatCode>General</c:formatCode>
                <c:ptCount val="10"/>
                <c:pt idx="0">
                  <c:v>0</c:v>
                </c:pt>
                <c:pt idx="1">
                  <c:v>-53.36</c:v>
                </c:pt>
                <c:pt idx="2">
                  <c:v>-185.70151</c:v>
                </c:pt>
                <c:pt idx="3">
                  <c:v>-318.5604</c:v>
                </c:pt>
                <c:pt idx="4">
                  <c:v>-351.06152</c:v>
                </c:pt>
                <c:pt idx="5">
                  <c:v>0</c:v>
                </c:pt>
                <c:pt idx="6">
                  <c:v>0</c:v>
                </c:pt>
                <c:pt idx="7">
                  <c:v>0</c:v>
                </c:pt>
                <c:pt idx="8">
                  <c:v>0</c:v>
                </c:pt>
                <c:pt idx="9">
                  <c:v>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150"/>
        <c:overlap val="0"/>
        <c:axId val="2094734554"/>
        <c:axId val="2094734552"/>
        <c:axId val="2094734556"/>
      </c:barChart>
      <c:lineChart>
        <c:varyColors val="0"/>
        <c:ser>
          <c:idx val="3"/>
          <c:order val="3"/>
          <c:tx>
            <c:strRef>
              <c:f>Sheet1!$E$1</c:f>
              <c:strCache>
                <c:ptCount val="1"/>
                <c:pt idx="0">
                  <c:v>Cumulative net cash flow</c:v>
                </c:pt>
              </c:strCache>
            </c:strRef>
          </c:tx>
          <c:spPr>
            <a:solidFill>
              <a:srgbClr val="A23B3B"/>
            </a:solidFill>
            <a:ln w="38100" cap="flat">
              <a:solidFill>
                <a:srgbClr val="A23B3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A23B3B"/>
              </a:solidFill>
              <a:ln w="9525" cap="flat">
                <a:solidFill>
                  <a:srgbClr val="A23B3B"/>
                </a:solidFill>
                <a:prstDash val="solid"/>
                <a:round/>
              </a:ln>
              <a:effectLst/>
            </c:spPr>
          </c:marker>
          <c:cat>
            <c:multiLvlStrRef>
              <c:f>Sheet1!$A$2:$A$11</c:f>
              <c:multiLvlStrCache>
                <c:ptCount val="10"/>
                <c:lvl>
                  <c:pt idx="0">
                    <c:v>Y1</c:v>
                  </c:pt>
                  <c:pt idx="1">
                    <c:v>Y2</c:v>
                  </c:pt>
                  <c:pt idx="2">
                    <c:v>Y3</c:v>
                  </c:pt>
                  <c:pt idx="3">
                    <c:v>Y4</c:v>
                  </c:pt>
                  <c:pt idx="4">
                    <c:v>Y5</c:v>
                  </c:pt>
                  <c:pt idx="5">
                    <c:v>Y6</c:v>
                  </c:pt>
                  <c:pt idx="6">
                    <c:v>Y7</c:v>
                  </c:pt>
                  <c:pt idx="7">
                    <c:v>Y8</c:v>
                  </c:pt>
                  <c:pt idx="8">
                    <c:v>Y9</c:v>
                  </c:pt>
                  <c:pt idx="9">
                    <c:v>Y10</c:v>
                  </c:pt>
                </c:lvl>
              </c:multiLvlStrCache>
            </c:multiLvlStrRef>
          </c:cat>
          <c:val>
            <c:numRef>
              <c:f>Sheet1!$E$2:$E$11</c:f>
              <c:numCache>
                <c:formatCode>General</c:formatCode>
                <c:ptCount val="10"/>
                <c:pt idx="0">
                  <c:v>-85</c:v>
                </c:pt>
                <c:pt idx="1">
                  <c:v>-46.733835</c:v>
                </c:pt>
                <c:pt idx="2">
                  <c:v>-77.89594749999998</c:v>
                </c:pt>
                <c:pt idx="3">
                  <c:v>473.4240912499998</c:v>
                </c:pt>
                <c:pt idx="4">
                  <c:v>317.5354462499996</c:v>
                </c:pt>
                <c:pt idx="5">
                  <c:v>487.35244687499954</c:v>
                </c:pt>
                <c:pt idx="6">
                  <c:v>691.5374418749996</c:v>
                </c:pt>
                <c:pt idx="7">
                  <c:v>549.8947749999996</c:v>
                </c:pt>
                <c:pt idx="8">
                  <c:v>587.1408868749996</c:v>
                </c:pt>
                <c:pt idx="9">
                  <c:v>595.2929293749995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5DAE1"/>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1F2A"/>
                </a:solidFill>
                <a:latin typeface="Arial"/>
              </a:defRPr>
            </a:pPr>
            <a:r>
              <a:rPr sz="1300" b="0" i="0" u="none" strike="noStrike">
                <a:solidFill>
                  <a:srgbClr val="1B1F2A"/>
                </a:solidFill>
                <a:latin typeface="Arial"/>
              </a:rPr>
              <a:t>Projected investor IRR (%)</a:t>
            </a:r>
          </a:p>
        </c:rich>
      </c:tx>
      <c:layout/>
      <c:overlay val="0"/>
    </c:title>
    <c:autoTitleDeleted val="0"/>
    <c:plotArea>
      <c:layout/>
      <c:barChart>
        <c:barDir val="col"/>
        <c:grouping val="clustered"/>
        <c:varyColors val="0"/>
        <c:ser>
          <c:idx val="0"/>
          <c:order val="0"/>
          <c:tx>
            <c:strRef>
              <c:f>Sheet1!$B$1</c:f>
              <c:strCache>
                <c:ptCount val="1"/>
                <c:pt idx="0">
                  <c:v>Investor IRR</c:v>
                </c:pt>
              </c:strCache>
            </c:strRef>
          </c:tx>
          <c:spPr>
            <a:solidFill>
              <a:srgbClr val="17324D"/>
            </a:solidFill>
            <a:effectLst/>
          </c:spPr>
          <c:invertIfNegative val="0"/>
          <c:dLbls>
            <c:numFmt formatCode="0.0&quot;%&quot;" sourceLinked="0"/>
            <c:txPr>
              <a:bodyPr/>
              <a:lstStyle/>
              <a:p>
                <a:pPr>
                  <a:defRPr b="0" i="0" strike="noStrike" sz="1100" u="none">
                    <a:solidFill>
                      <a:srgbClr val="1B1F2A"/>
                    </a:solidFill>
                    <a:latin typeface="Arial"/>
                  </a:defRPr>
                </a:pPr>
              </a:p>
            </c:txPr>
            <c:showLegendKey val="0"/>
            <c:showVal val="1"/>
            <c:showCatName val="0"/>
            <c:showSerName val="0"/>
            <c:showPercent val="0"/>
            <c:showBubbleSize val="0"/>
            <c:showLeaderLines val="0"/>
          </c:dLbls>
          <c:cat>
            <c:multiLvlStrRef>
              <c:f>Sheet1!$A$2:$A$5</c:f>
              <c:multiLvlStrCache>
                <c:ptCount val="4"/>
                <c:lvl>
                  <c:pt idx="0">
                    <c:v>Option A base</c:v>
                  </c:pt>
                  <c:pt idx="1">
                    <c:v>Option A downside</c:v>
                  </c:pt>
                  <c:pt idx="2">
                    <c:v>Option A upside</c:v>
                  </c:pt>
                  <c:pt idx="3">
                    <c:v>Option B (contractual)</c:v>
                  </c:pt>
                </c:lvl>
              </c:multiLvlStrCache>
            </c:multiLvlStrRef>
          </c:cat>
          <c:val>
            <c:numRef>
              <c:f>Sheet1!$B$2:$B$5</c:f>
              <c:numCache>
                <c:formatCode>General</c:formatCode>
                <c:ptCount val="4"/>
                <c:pt idx="0">
                  <c:v>29.247325055002815</c:v>
                </c:pt>
                <c:pt idx="1">
                  <c:v>20.406197386547248</c:v>
                </c:pt>
                <c:pt idx="2">
                  <c:v>32.28399853457024</c:v>
                </c:pt>
                <c:pt idx="3">
                  <c:v>26.54639948399945</c:v>
                </c:pt>
              </c:numCache>
            </c:numRef>
          </c:val>
        </c:ser>
        <c:dLbls>
          <c:numFmt formatCode="0.0&quot;%&quot;" sourceLinked="0"/>
          <c:txPr>
            <a:bodyPr/>
            <a:lstStyle/>
            <a:p>
              <a:pPr>
                <a:defRPr b="0" i="0" strike="noStrike" sz="1100" u="none">
                  <a:solidFill>
                    <a:srgbClr val="1B1F2A"/>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5DAE1"/>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All figures are projections based on the Jalour financial model; see the Financial Annex.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are taken from the Financial Annex (Summary sheet). All returns are projections.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are taken from the Financial Annex (Summary sheet). All returns are projections.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are taken from the Financial Annex (Summary sheet). All returns are projections.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are taken from the Financial Annex (Summary sheet). All returns are projections.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are taken from the Financial Annex (Summary sheet). All returns are projections.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are taken from the Financial Annex (Summary sheet). All returns are projections.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are taken from the Financial Annex (Summary sheet). All returns are projections.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are taken from the Financial Annex (Summary sheet). All returns are projections.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are taken from the Financial Annex (Summary sheet). All returns are projections.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are taken from the Financial Annex (Summary sheet). All returns are projections.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are taken from the Financial Annex (Summary sheet). All returns are projections.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are taken from the Financial Annex (Summary sheet). All returns are projections.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are taken from the Financial Annex (Summary sheet). All returns are projections.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are taken from the Financial Annex (Summary sheet). All returns are projections.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are taken from the Financial Annex (Summary sheet). All returns are projections.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steps and contact details to be added by Jalour.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6446520"/>
            <a:ext cx="9144000" cy="274320"/>
          </a:xfrm>
          <a:prstGeom prst="rect">
            <a:avLst/>
          </a:prstGeom>
          <a:noFill/>
          <a:ln/>
        </p:spPr>
        <p:txBody>
          <a:bodyPr wrap="square" lIns="0" tIns="0" rIns="0" bIns="0" rtlCol="0" anchor="ctr"/>
          <a:lstStyle/>
          <a:p>
            <a:pPr indent="0" marL="0">
              <a:buNone/>
            </a:pPr>
            <a:r>
              <a:rPr lang="en-US" sz="900" dirty="0">
                <a:solidFill>
                  <a:srgbClr val="6B7280"/>
                </a:solidFill>
              </a:rPr>
              <a:t>Jalour Developments  |  L'avenir  |  Strictly private and confidential. Projections, not guarantees.</a:t>
            </a:r>
            <a:endParaRPr lang="en-US" sz="9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7324D"/>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548640"/>
            <a:ext cx="7315200" cy="274320"/>
          </a:xfrm>
          <a:prstGeom prst="rect">
            <a:avLst/>
          </a:prstGeom>
          <a:noFill/>
          <a:ln/>
        </p:spPr>
        <p:txBody>
          <a:bodyPr wrap="square" lIns="0" tIns="0" rIns="0" bIns="0" rtlCol="0" anchor="ctr"/>
          <a:lstStyle/>
          <a:p>
            <a:pPr indent="0" marL="0">
              <a:buNone/>
            </a:pPr>
            <a:r>
              <a:rPr lang="en-US" sz="1100" b="1" spc="300" kern="0" dirty="0">
                <a:solidFill>
                  <a:srgbClr val="B8893B"/>
                </a:solidFill>
              </a:rPr>
              <a:t>STRICTLY PRIVATE AND CONFIDENTIAL</a:t>
            </a:r>
            <a:endParaRPr lang="en-US" sz="1100" dirty="0"/>
          </a:p>
        </p:txBody>
      </p:sp>
      <p:sp>
        <p:nvSpPr>
          <p:cNvPr id="3" name="Text 1"/>
          <p:cNvSpPr txBox="1"/>
          <p:nvPr/>
        </p:nvSpPr>
        <p:spPr>
          <a:xfrm>
            <a:off x="731520" y="1828800"/>
            <a:ext cx="10515600" cy="109728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L'avenir</a:t>
            </a:r>
            <a:endParaRPr lang="en-US" sz="5400" dirty="0"/>
          </a:p>
        </p:txBody>
      </p:sp>
      <p:sp>
        <p:nvSpPr>
          <p:cNvPr id="4" name="Text 2"/>
          <p:cNvSpPr txBox="1"/>
          <p:nvPr/>
        </p:nvSpPr>
        <p:spPr>
          <a:xfrm>
            <a:off x="731520" y="2926080"/>
            <a:ext cx="10515600" cy="457200"/>
          </a:xfrm>
          <a:prstGeom prst="rect">
            <a:avLst/>
          </a:prstGeom>
          <a:noFill/>
          <a:ln/>
        </p:spPr>
        <p:txBody>
          <a:bodyPr wrap="square" lIns="0" tIns="0" rIns="0" bIns="0" rtlCol="0" anchor="ctr"/>
          <a:lstStyle/>
          <a:p>
            <a:pPr indent="0" marL="0">
              <a:buNone/>
            </a:pPr>
            <a:r>
              <a:rPr lang="en-US" sz="2200" dirty="0">
                <a:solidFill>
                  <a:srgbClr val="D5DAE1"/>
                </a:solidFill>
              </a:rPr>
              <a:t>Commercial and office development, El Mostakbal City, Cairo</a:t>
            </a:r>
            <a:endParaRPr lang="en-US" sz="2200" dirty="0"/>
          </a:p>
        </p:txBody>
      </p:sp>
      <p:sp>
        <p:nvSpPr>
          <p:cNvPr id="5" name="Text 3"/>
          <p:cNvSpPr txBox="1"/>
          <p:nvPr/>
        </p:nvSpPr>
        <p:spPr>
          <a:xfrm>
            <a:off x="731520" y="3931920"/>
            <a:ext cx="10515600" cy="457200"/>
          </a:xfrm>
          <a:prstGeom prst="rect">
            <a:avLst/>
          </a:prstGeom>
          <a:noFill/>
          <a:ln/>
        </p:spPr>
        <p:txBody>
          <a:bodyPr wrap="square" lIns="0" tIns="0" rIns="0" bIns="0" rtlCol="0" anchor="ctr"/>
          <a:lstStyle/>
          <a:p>
            <a:pPr indent="0" marL="0">
              <a:buNone/>
            </a:pPr>
            <a:r>
              <a:rPr lang="en-US" sz="2000" b="1" dirty="0">
                <a:solidFill>
                  <a:srgbClr val="B8893B"/>
                </a:solidFill>
              </a:rPr>
              <a:t>Private placement: investor ticket of EGP 50 million</a:t>
            </a:r>
            <a:endParaRPr lang="en-US" sz="2000" dirty="0"/>
          </a:p>
        </p:txBody>
      </p:sp>
      <p:sp>
        <p:nvSpPr>
          <p:cNvPr id="6" name="Text 4"/>
          <p:cNvSpPr txBox="1"/>
          <p:nvPr/>
        </p:nvSpPr>
        <p:spPr>
          <a:xfrm>
            <a:off x="731520" y="5074920"/>
            <a:ext cx="10515600" cy="548640"/>
          </a:xfrm>
          <a:prstGeom prst="rect">
            <a:avLst/>
          </a:prstGeom>
          <a:noFill/>
          <a:ln/>
        </p:spPr>
        <p:txBody>
          <a:bodyPr wrap="square" lIns="0" tIns="0" rIns="0" bIns="0" rtlCol="0" anchor="ctr"/>
          <a:lstStyle/>
          <a:p>
            <a:pPr indent="0" marL="0">
              <a:buNone/>
            </a:pPr>
            <a:r>
              <a:rPr lang="en-US" sz="1300" b="1" dirty="0">
                <a:solidFill>
                  <a:srgbClr val="B8893B"/>
                </a:solidFill>
              </a:rPr>
              <a:t>ALL INFORMATION IN THIS PRESENTATION IS CONFIDENTIAL AND SUBJECT TO THE NON-DISCLOSURE AGREEMENT. Do not copy, forward or disclose it.</a:t>
            </a:r>
            <a:endParaRPr lang="en-US" sz="1300" dirty="0"/>
          </a:p>
        </p:txBody>
      </p:sp>
      <p:sp>
        <p:nvSpPr>
          <p:cNvPr id="7" name="Text 5"/>
          <p:cNvSpPr txBox="1"/>
          <p:nvPr/>
        </p:nvSpPr>
        <p:spPr>
          <a:xfrm>
            <a:off x="731520" y="5852160"/>
            <a:ext cx="10515600" cy="365760"/>
          </a:xfrm>
          <a:prstGeom prst="rect">
            <a:avLst/>
          </a:prstGeom>
          <a:noFill/>
          <a:ln/>
        </p:spPr>
        <p:txBody>
          <a:bodyPr wrap="square" lIns="0" tIns="0" rIns="0" bIns="0" rtlCol="0" anchor="ctr"/>
          <a:lstStyle/>
          <a:p>
            <a:pPr indent="0" marL="0">
              <a:buNone/>
            </a:pPr>
            <a:r>
              <a:rPr lang="en-US" sz="1300" dirty="0">
                <a:solidFill>
                  <a:srgbClr val="D5DAE1"/>
                </a:solidFill>
              </a:rPr>
              <a:t>Investment presentation  |  Jalour Developments, a subsidiary of Al Jalal Holding  |  October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20040"/>
            <a:ext cx="11064240" cy="822960"/>
          </a:xfrm>
          <a:prstGeom prst="rect">
            <a:avLst/>
          </a:prstGeom>
          <a:noFill/>
          <a:ln/>
        </p:spPr>
        <p:txBody>
          <a:bodyPr wrap="square" lIns="0" tIns="0" rIns="0" bIns="0" rtlCol="0" anchor="ctr">
            <a:normAutofit/>
          </a:bodyPr>
          <a:lstStyle/>
          <a:p>
            <a:pPr indent="0" marL="0">
              <a:buNone/>
            </a:pPr>
            <a:r>
              <a:rPr lang="en-US" sz="2800" b="1" dirty="0">
                <a:solidFill>
                  <a:srgbClr val="17324D"/>
                </a:solidFill>
                <a:latin typeface="Cambria" pitchFamily="34" charset="0"/>
                <a:ea typeface="Cambria" pitchFamily="34" charset="-122"/>
                <a:cs typeface="Cambria" pitchFamily="34" charset="-120"/>
              </a:rPr>
              <a:t>Investment highlights</a:t>
            </a:r>
            <a:endParaRPr lang="en-US" sz="2800" dirty="0"/>
          </a:p>
        </p:txBody>
      </p:sp>
      <p:sp>
        <p:nvSpPr>
          <p:cNvPr id="4" name="Shape 1"/>
          <p:cNvSpPr/>
          <p:nvPr/>
        </p:nvSpPr>
        <p:spPr>
          <a:xfrm>
            <a:off x="548640" y="1371600"/>
            <a:ext cx="2651760" cy="1417320"/>
          </a:xfrm>
          <a:prstGeom prst="rect">
            <a:avLst/>
          </a:prstGeom>
          <a:solidFill>
            <a:srgbClr val="F2F4F7"/>
          </a:solidFill>
          <a:ln w="12700">
            <a:solidFill>
              <a:srgbClr val="F2F4F7"/>
            </a:solidFill>
            <a:prstDash val="solid"/>
          </a:ln>
        </p:spPr>
      </p:sp>
      <p:sp>
        <p:nvSpPr>
          <p:cNvPr id="5" name="Text 2"/>
          <p:cNvSpPr txBox="1"/>
          <p:nvPr/>
        </p:nvSpPr>
        <p:spPr>
          <a:xfrm>
            <a:off x="731520" y="1481328"/>
            <a:ext cx="2286000" cy="731520"/>
          </a:xfrm>
          <a:prstGeom prst="rect">
            <a:avLst/>
          </a:prstGeom>
          <a:noFill/>
          <a:ln/>
        </p:spPr>
        <p:txBody>
          <a:bodyPr wrap="square" lIns="0" tIns="0" rIns="0" bIns="0" rtlCol="0" anchor="ctr">
            <a:normAutofit/>
          </a:bodyPr>
          <a:lstStyle/>
          <a:p>
            <a:pPr indent="0" marL="0">
              <a:buNone/>
            </a:pPr>
            <a:r>
              <a:rPr lang="en-US" sz="3000" b="1" dirty="0">
                <a:solidFill>
                  <a:srgbClr val="17324D"/>
                </a:solidFill>
                <a:latin typeface="Cambria" pitchFamily="34" charset="0"/>
                <a:ea typeface="Cambria" pitchFamily="34" charset="-122"/>
                <a:cs typeface="Cambria" pitchFamily="34" charset="-120"/>
              </a:rPr>
              <a:t>13,419 m2</a:t>
            </a:r>
            <a:endParaRPr lang="en-US" sz="3000" dirty="0"/>
          </a:p>
        </p:txBody>
      </p:sp>
      <p:sp>
        <p:nvSpPr>
          <p:cNvPr id="6" name="Text 3"/>
          <p:cNvSpPr txBox="1"/>
          <p:nvPr/>
        </p:nvSpPr>
        <p:spPr>
          <a:xfrm>
            <a:off x="731520" y="2212848"/>
            <a:ext cx="2286000" cy="502920"/>
          </a:xfrm>
          <a:prstGeom prst="rect">
            <a:avLst/>
          </a:prstGeom>
          <a:noFill/>
          <a:ln/>
        </p:spPr>
        <p:txBody>
          <a:bodyPr wrap="square" lIns="0" tIns="0" rIns="0" bIns="0" rtlCol="0" anchor="t"/>
          <a:lstStyle/>
          <a:p>
            <a:pPr indent="0" marL="0">
              <a:buNone/>
            </a:pPr>
            <a:r>
              <a:rPr lang="en-US" sz="1200" dirty="0">
                <a:solidFill>
                  <a:srgbClr val="6B7280"/>
                </a:solidFill>
              </a:rPr>
              <a:t>Built-up area, G+2: 4,473 m2 retail and 8,946 m2 offices</a:t>
            </a:r>
            <a:endParaRPr lang="en-US" sz="1200" dirty="0"/>
          </a:p>
        </p:txBody>
      </p:sp>
      <p:sp>
        <p:nvSpPr>
          <p:cNvPr id="7" name="Shape 4"/>
          <p:cNvSpPr/>
          <p:nvPr/>
        </p:nvSpPr>
        <p:spPr>
          <a:xfrm>
            <a:off x="3355848" y="1371600"/>
            <a:ext cx="2651760" cy="1417320"/>
          </a:xfrm>
          <a:prstGeom prst="rect">
            <a:avLst/>
          </a:prstGeom>
          <a:solidFill>
            <a:srgbClr val="F2F4F7"/>
          </a:solidFill>
          <a:ln w="12700">
            <a:solidFill>
              <a:srgbClr val="F2F4F7"/>
            </a:solidFill>
            <a:prstDash val="solid"/>
          </a:ln>
        </p:spPr>
      </p:sp>
      <p:sp>
        <p:nvSpPr>
          <p:cNvPr id="8" name="Text 5"/>
          <p:cNvSpPr txBox="1"/>
          <p:nvPr/>
        </p:nvSpPr>
        <p:spPr>
          <a:xfrm>
            <a:off x="3538728" y="1481328"/>
            <a:ext cx="2286000" cy="731520"/>
          </a:xfrm>
          <a:prstGeom prst="rect">
            <a:avLst/>
          </a:prstGeom>
          <a:noFill/>
          <a:ln/>
        </p:spPr>
        <p:txBody>
          <a:bodyPr wrap="square" lIns="0" tIns="0" rIns="0" bIns="0" rtlCol="0" anchor="ctr">
            <a:normAutofit/>
          </a:bodyPr>
          <a:lstStyle/>
          <a:p>
            <a:pPr indent="0" marL="0">
              <a:buNone/>
            </a:pPr>
            <a:r>
              <a:rPr lang="en-US" sz="3000" b="1" dirty="0">
                <a:solidFill>
                  <a:srgbClr val="17324D"/>
                </a:solidFill>
                <a:latin typeface="Cambria" pitchFamily="34" charset="0"/>
                <a:ea typeface="Cambria" pitchFamily="34" charset="-122"/>
                <a:cs typeface="Cambria" pitchFamily="34" charset="-120"/>
              </a:rPr>
              <a:t>Month 54</a:t>
            </a:r>
            <a:endParaRPr lang="en-US" sz="3000" dirty="0"/>
          </a:p>
        </p:txBody>
      </p:sp>
      <p:sp>
        <p:nvSpPr>
          <p:cNvPr id="9" name="Text 6"/>
          <p:cNvSpPr txBox="1"/>
          <p:nvPr/>
        </p:nvSpPr>
        <p:spPr>
          <a:xfrm>
            <a:off x="3538728" y="2212848"/>
            <a:ext cx="2286000" cy="502920"/>
          </a:xfrm>
          <a:prstGeom prst="rect">
            <a:avLst/>
          </a:prstGeom>
          <a:noFill/>
          <a:ln/>
        </p:spPr>
        <p:txBody>
          <a:bodyPr wrap="square" lIns="0" tIns="0" rIns="0" bIns="0" rtlCol="0" anchor="t"/>
          <a:lstStyle/>
          <a:p>
            <a:pPr indent="0" marL="0">
              <a:buNone/>
            </a:pPr>
            <a:r>
              <a:rPr lang="en-US" sz="1200" dirty="0">
                <a:solidFill>
                  <a:srgbClr val="6B7280"/>
                </a:solidFill>
              </a:rPr>
              <a:t>Handover; sales from month 13, construction from month 19 for 36 months</a:t>
            </a:r>
            <a:endParaRPr lang="en-US" sz="1200" dirty="0"/>
          </a:p>
        </p:txBody>
      </p:sp>
      <p:sp>
        <p:nvSpPr>
          <p:cNvPr id="10" name="Shape 7"/>
          <p:cNvSpPr/>
          <p:nvPr/>
        </p:nvSpPr>
        <p:spPr>
          <a:xfrm>
            <a:off x="6163056" y="1371600"/>
            <a:ext cx="2651760" cy="1417320"/>
          </a:xfrm>
          <a:prstGeom prst="rect">
            <a:avLst/>
          </a:prstGeom>
          <a:solidFill>
            <a:srgbClr val="F2F4F7"/>
          </a:solidFill>
          <a:ln w="12700">
            <a:solidFill>
              <a:srgbClr val="F2F4F7"/>
            </a:solidFill>
            <a:prstDash val="solid"/>
          </a:ln>
        </p:spPr>
      </p:sp>
      <p:sp>
        <p:nvSpPr>
          <p:cNvPr id="11" name="Text 8"/>
          <p:cNvSpPr txBox="1"/>
          <p:nvPr/>
        </p:nvSpPr>
        <p:spPr>
          <a:xfrm>
            <a:off x="6345936" y="1481328"/>
            <a:ext cx="2286000" cy="731520"/>
          </a:xfrm>
          <a:prstGeom prst="rect">
            <a:avLst/>
          </a:prstGeom>
          <a:noFill/>
          <a:ln/>
        </p:spPr>
        <p:txBody>
          <a:bodyPr wrap="square" lIns="0" tIns="0" rIns="0" bIns="0" rtlCol="0" anchor="ctr">
            <a:normAutofit/>
          </a:bodyPr>
          <a:lstStyle/>
          <a:p>
            <a:pPr indent="0" marL="0">
              <a:buNone/>
            </a:pPr>
            <a:r>
              <a:rPr lang="en-US" sz="3000" b="1" dirty="0">
                <a:solidFill>
                  <a:srgbClr val="17324D"/>
                </a:solidFill>
                <a:latin typeface="Cambria" pitchFamily="34" charset="0"/>
                <a:ea typeface="Cambria" pitchFamily="34" charset="-122"/>
                <a:cs typeface="Cambria" pitchFamily="34" charset="-120"/>
              </a:rPr>
              <a:t>EGP 2.67 bn</a:t>
            </a:r>
            <a:endParaRPr lang="en-US" sz="3000" dirty="0"/>
          </a:p>
        </p:txBody>
      </p:sp>
      <p:sp>
        <p:nvSpPr>
          <p:cNvPr id="12" name="Text 9"/>
          <p:cNvSpPr txBox="1"/>
          <p:nvPr/>
        </p:nvSpPr>
        <p:spPr>
          <a:xfrm>
            <a:off x="6345936" y="2212848"/>
            <a:ext cx="2286000" cy="502920"/>
          </a:xfrm>
          <a:prstGeom prst="rect">
            <a:avLst/>
          </a:prstGeom>
          <a:noFill/>
          <a:ln/>
        </p:spPr>
        <p:txBody>
          <a:bodyPr wrap="square" lIns="0" tIns="0" rIns="0" bIns="0" rtlCol="0" anchor="t"/>
          <a:lstStyle/>
          <a:p>
            <a:pPr indent="0" marL="0">
              <a:buNone/>
            </a:pPr>
            <a:r>
              <a:rPr lang="en-US" sz="1200" dirty="0">
                <a:solidFill>
                  <a:srgbClr val="6B7280"/>
                </a:solidFill>
              </a:rPr>
              <a:t>Sales plan: 80% of units sold over the sales window, at modelled prices</a:t>
            </a:r>
            <a:endParaRPr lang="en-US" sz="1200" dirty="0"/>
          </a:p>
        </p:txBody>
      </p:sp>
      <p:sp>
        <p:nvSpPr>
          <p:cNvPr id="13" name="Shape 10"/>
          <p:cNvSpPr/>
          <p:nvPr/>
        </p:nvSpPr>
        <p:spPr>
          <a:xfrm>
            <a:off x="8970264" y="1371600"/>
            <a:ext cx="2651760" cy="1417320"/>
          </a:xfrm>
          <a:prstGeom prst="rect">
            <a:avLst/>
          </a:prstGeom>
          <a:solidFill>
            <a:srgbClr val="17324D"/>
          </a:solidFill>
          <a:ln w="12700">
            <a:solidFill>
              <a:srgbClr val="17324D"/>
            </a:solidFill>
            <a:prstDash val="solid"/>
          </a:ln>
        </p:spPr>
      </p:sp>
      <p:sp>
        <p:nvSpPr>
          <p:cNvPr id="14" name="Text 11"/>
          <p:cNvSpPr txBox="1"/>
          <p:nvPr/>
        </p:nvSpPr>
        <p:spPr>
          <a:xfrm>
            <a:off x="9153144" y="1481328"/>
            <a:ext cx="2286000" cy="731520"/>
          </a:xfrm>
          <a:prstGeom prst="rect">
            <a:avLst/>
          </a:prstGeom>
          <a:noFill/>
          <a:ln/>
        </p:spPr>
        <p:txBody>
          <a:bodyPr wrap="square" lIns="0" tIns="0" rIns="0" bIns="0" rtlCol="0" anchor="ctr">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35 / 65</a:t>
            </a:r>
            <a:endParaRPr lang="en-US" sz="3000" dirty="0"/>
          </a:p>
        </p:txBody>
      </p:sp>
      <p:sp>
        <p:nvSpPr>
          <p:cNvPr id="15" name="Text 12"/>
          <p:cNvSpPr txBox="1"/>
          <p:nvPr/>
        </p:nvSpPr>
        <p:spPr>
          <a:xfrm>
            <a:off x="9153144" y="2212848"/>
            <a:ext cx="2286000" cy="502920"/>
          </a:xfrm>
          <a:prstGeom prst="rect">
            <a:avLst/>
          </a:prstGeom>
          <a:noFill/>
          <a:ln/>
        </p:spPr>
        <p:txBody>
          <a:bodyPr wrap="square" lIns="0" tIns="0" rIns="0" bIns="0" rtlCol="0" anchor="t"/>
          <a:lstStyle/>
          <a:p>
            <a:pPr indent="0" marL="0">
              <a:buNone/>
            </a:pPr>
            <a:r>
              <a:rPr lang="en-US" sz="1200" dirty="0">
                <a:solidFill>
                  <a:srgbClr val="D5DAE1"/>
                </a:solidFill>
              </a:rPr>
              <a:t>Revenue split between the landowner (Al Ahly Sabbour) and Jalour</a:t>
            </a:r>
            <a:endParaRPr lang="en-US" sz="1200" dirty="0"/>
          </a:p>
        </p:txBody>
      </p:sp>
      <p:sp>
        <p:nvSpPr>
          <p:cNvPr id="16" name="Text 13"/>
          <p:cNvSpPr txBox="1"/>
          <p:nvPr/>
        </p:nvSpPr>
        <p:spPr>
          <a:xfrm>
            <a:off x="548640" y="3200400"/>
            <a:ext cx="11064240" cy="2743200"/>
          </a:xfrm>
          <a:prstGeom prst="rect">
            <a:avLst/>
          </a:prstGeom>
          <a:noFill/>
          <a:ln/>
        </p:spPr>
        <p:txBody>
          <a:bodyPr wrap="square" lIns="0" tIns="0" rIns="0" bIns="0" rtlCol="0" anchor="t"/>
          <a:lstStyle/>
          <a:p>
            <a:pPr marL="342900" indent="-342900">
              <a:spcAft>
                <a:spcPts val="600"/>
              </a:spcAft>
              <a:buSzPct val="100000"/>
              <a:buChar char="•"/>
            </a:pPr>
            <a:r>
              <a:rPr lang="en-US" sz="1700" dirty="0">
                <a:solidFill>
                  <a:srgbClr val="1B1F2A"/>
                </a:solidFill>
              </a:rPr>
              <a:t>Land owned by Al Ahly Sabbour; Jalour designs, permits, builds (core and shell), markets, sells, collects and operates.</a:t>
            </a:r>
            <a:endParaRPr lang="en-US" sz="1700" dirty="0"/>
          </a:p>
          <a:p>
            <a:pPr marL="342900" indent="-342900">
              <a:spcAft>
                <a:spcPts val="600"/>
              </a:spcAft>
              <a:buSzPct val="100000"/>
              <a:buChar char="•"/>
            </a:pPr>
            <a:r>
              <a:rPr lang="en-US" sz="1700" dirty="0">
                <a:solidFill>
                  <a:srgbClr val="1B1F2A"/>
                </a:solidFill>
              </a:rPr>
              <a:t>Landlord receives 35% of collections with a minimum guarantee of EGP 850 million over six years; Jalour keeps 65%.</a:t>
            </a:r>
            <a:endParaRPr lang="en-US" sz="1700" dirty="0"/>
          </a:p>
          <a:p>
            <a:pPr marL="342900" indent="-342900">
              <a:spcAft>
                <a:spcPts val="600"/>
              </a:spcAft>
              <a:buSzPct val="100000"/>
              <a:buChar char="•"/>
            </a:pPr>
            <a:r>
              <a:rPr lang="en-US" sz="1700" dirty="0">
                <a:solidFill>
                  <a:srgbClr val="1B1F2A"/>
                </a:solidFill>
              </a:rPr>
              <a:t>Option A: units with a face value of EGP 100 million (2.0x the ticket) at launch list prices. Projected investor IRR 29.2% (base).</a:t>
            </a:r>
            <a:endParaRPr lang="en-US" sz="1700" dirty="0"/>
          </a:p>
          <a:p>
            <a:pPr marL="342900" indent="-342900">
              <a:spcAft>
                <a:spcPts val="600"/>
              </a:spcAft>
              <a:buSzPct val="100000"/>
              <a:buChar char="•"/>
            </a:pPr>
            <a:r>
              <a:rPr lang="en-US" sz="1700" dirty="0">
                <a:solidFill>
                  <a:srgbClr val="1B1F2A"/>
                </a:solidFill>
              </a:rPr>
              <a:t>Option B: cash return of EGP 115 million (2.3x the ticket) in 12 quarterly instalments after a 24-month grace period. Projected investor IRR 26.5%.</a:t>
            </a:r>
            <a:endParaRPr lang="en-US" sz="1700" dirty="0"/>
          </a:p>
          <a:p>
            <a:pPr marL="342900" indent="-342900">
              <a:spcAft>
                <a:spcPts val="600"/>
              </a:spcAft>
              <a:buSzPct val="100000"/>
              <a:buChar char="•"/>
            </a:pPr>
            <a:r>
              <a:rPr lang="en-US" sz="1700" dirty="0">
                <a:solidFill>
                  <a:srgbClr val="1B1F2A"/>
                </a:solidFill>
              </a:rPr>
              <a:t>Project-level exposure only: the investment has no exposure to other Jalour projects.</a:t>
            </a:r>
            <a:endParaRPr lang="en-US" sz="1700" dirty="0"/>
          </a:p>
        </p:txBody>
      </p:sp>
      <p:sp>
        <p:nvSpPr>
          <p:cNvPr id="17" name="Text 14"/>
          <p:cNvSpPr txBox="1"/>
          <p:nvPr/>
        </p:nvSpPr>
        <p:spPr>
          <a:xfrm>
            <a:off x="548640" y="6144768"/>
            <a:ext cx="11064240" cy="274320"/>
          </a:xfrm>
          <a:prstGeom prst="rect">
            <a:avLst/>
          </a:prstGeom>
          <a:noFill/>
          <a:ln/>
        </p:spPr>
        <p:txBody>
          <a:bodyPr wrap="square" lIns="0" tIns="0" rIns="0" bIns="0" rtlCol="0" anchor="ctr"/>
          <a:lstStyle/>
          <a:p>
            <a:pPr indent="0" marL="0">
              <a:buNone/>
            </a:pPr>
            <a:r>
              <a:rPr lang="en-US" sz="900" i="1" dirty="0">
                <a:solidFill>
                  <a:srgbClr val="6B7280"/>
                </a:solidFill>
              </a:rPr>
              <a:t>Source: Jalour financial model; Financial Annex, Summary sheet. IRRs are projections, not guarantees.</a:t>
            </a:r>
            <a:endParaRPr lang="en-US" sz="9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20040"/>
            <a:ext cx="11064240" cy="822960"/>
          </a:xfrm>
          <a:prstGeom prst="rect">
            <a:avLst/>
          </a:prstGeom>
          <a:noFill/>
          <a:ln/>
        </p:spPr>
        <p:txBody>
          <a:bodyPr wrap="square" lIns="0" tIns="0" rIns="0" bIns="0" rtlCol="0" anchor="ctr">
            <a:normAutofit/>
          </a:bodyPr>
          <a:lstStyle/>
          <a:p>
            <a:pPr indent="0" marL="0">
              <a:buNone/>
            </a:pPr>
            <a:r>
              <a:rPr lang="en-US" sz="2800" b="1" dirty="0">
                <a:solidFill>
                  <a:srgbClr val="17324D"/>
                </a:solidFill>
                <a:latin typeface="Cambria" pitchFamily="34" charset="0"/>
                <a:ea typeface="Cambria" pitchFamily="34" charset="-122"/>
                <a:cs typeface="Cambria" pitchFamily="34" charset="-120"/>
              </a:rPr>
              <a:t>Transaction overview</a:t>
            </a:r>
            <a:endParaRPr lang="en-US" sz="28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94560"/>
                <a:gridCol w="8869680"/>
              </a:tblGrid>
              <a:tr h="457200">
                <a:tc>
                  <a:txBody>
                    <a:bodyPr/>
                    <a:lstStyle/>
                    <a:p>
                      <a:pPr algn="l" indent="0" marL="0">
                        <a:buNone/>
                      </a:pPr>
                      <a:r>
                        <a:rPr lang="en-US" sz="1300" b="1" dirty="0">
                          <a:solidFill>
                            <a:srgbClr val="FFFFFF"/>
                          </a:solidFill>
                        </a:rPr>
                        <a:t>Term</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c>
                  <a:txBody>
                    <a:bodyPr/>
                    <a:lstStyle/>
                    <a:p>
                      <a:pPr algn="l" indent="0" marL="0">
                        <a:buNone/>
                      </a:pPr>
                      <a:r>
                        <a:rPr lang="en-US" sz="1300" b="1" dirty="0">
                          <a:solidFill>
                            <a:srgbClr val="FFFFFF"/>
                          </a:solidFill>
                        </a:rPr>
                        <a:t>Summary</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r>
              <a:tr h="457200">
                <a:tc>
                  <a:txBody>
                    <a:bodyPr/>
                    <a:lstStyle/>
                    <a:p>
                      <a:pPr algn="l" indent="0" marL="0">
                        <a:buNone/>
                      </a:pPr>
                      <a:r>
                        <a:rPr lang="en-US" sz="1300" b="1" dirty="0">
                          <a:solidFill>
                            <a:srgbClr val="1B1F2A"/>
                          </a:solidFill>
                        </a:rPr>
                        <a:t>Investor ticket</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F2A"/>
                          </a:solidFill>
                        </a:rPr>
                        <a:t>EGP 50 million (USD 1.0 million at EGP 48 per USD)</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57200">
                <a:tc>
                  <a:txBody>
                    <a:bodyPr/>
                    <a:lstStyle/>
                    <a:p>
                      <a:pPr algn="l" indent="0" marL="0">
                        <a:buNone/>
                      </a:pPr>
                      <a:r>
                        <a:rPr lang="en-US" sz="1300" b="1" dirty="0">
                          <a:solidFill>
                            <a:srgbClr val="1B1F2A"/>
                          </a:solidFill>
                        </a:rPr>
                        <a:t>Issuer</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300" dirty="0">
                          <a:solidFill>
                            <a:srgbClr val="1B1F2A"/>
                          </a:solidFill>
                        </a:rPr>
                        <a:t>Project company for this development (name, jurisdiction and instrument to be confirmed by counsel)</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457200">
                <a:tc>
                  <a:txBody>
                    <a:bodyPr/>
                    <a:lstStyle/>
                    <a:p>
                      <a:pPr algn="l" indent="0" marL="0">
                        <a:buNone/>
                      </a:pPr>
                      <a:r>
                        <a:rPr lang="en-US" sz="1300" b="1" dirty="0">
                          <a:solidFill>
                            <a:srgbClr val="1B1F2A"/>
                          </a:solidFill>
                        </a:rPr>
                        <a:t>Use of proceeds</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F2A"/>
                          </a:solidFill>
                        </a:rPr>
                        <a:t>Down payment to the landowner, guarantee instalments and working capital to the funding peak, and pre-construction costs (total modelled need EGP 112.5 million)</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57200">
                <a:tc>
                  <a:txBody>
                    <a:bodyPr/>
                    <a:lstStyle/>
                    <a:p>
                      <a:pPr algn="l" indent="0" marL="0">
                        <a:buNone/>
                      </a:pPr>
                      <a:r>
                        <a:rPr lang="en-US" sz="1300" b="1" dirty="0">
                          <a:solidFill>
                            <a:srgbClr val="1B1F2A"/>
                          </a:solidFill>
                        </a:rPr>
                        <a:t>Option A: units</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300" dirty="0">
                          <a:solidFill>
                            <a:srgbClr val="1B1F2A"/>
                          </a:solidFill>
                        </a:rPr>
                        <a:t>Units with a face value of EGP 100 million at launch list prices, allocated from the first two sales tranches; resale rights subject to consents</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457200">
                <a:tc>
                  <a:txBody>
                    <a:bodyPr/>
                    <a:lstStyle/>
                    <a:p>
                      <a:pPr algn="l" indent="0" marL="0">
                        <a:buNone/>
                      </a:pPr>
                      <a:r>
                        <a:rPr lang="en-US" sz="1300" b="1" dirty="0">
                          <a:solidFill>
                            <a:srgbClr val="1B1F2A"/>
                          </a:solidFill>
                        </a:rPr>
                        <a:t>Option B: cash</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F2A"/>
                          </a:solidFill>
                        </a:rPr>
                        <a:t>EGP 115 million in 12 equal quarterly instalments of EGP 9.58 million; first payment month 39, last month 72</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57200">
                <a:tc>
                  <a:txBody>
                    <a:bodyPr/>
                    <a:lstStyle/>
                    <a:p>
                      <a:pPr algn="l" indent="0" marL="0">
                        <a:buNone/>
                      </a:pPr>
                      <a:r>
                        <a:rPr lang="en-US" sz="1300" b="1" dirty="0">
                          <a:solidFill>
                            <a:srgbClr val="1B1F2A"/>
                          </a:solidFill>
                        </a:rPr>
                        <a:t>Choice</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300" dirty="0">
                          <a:solidFill>
                            <a:srgbClr val="1B1F2A"/>
                          </a:solidFill>
                        </a:rPr>
                        <a:t>The investor chooses Option A or Option B at signing</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457200">
                <a:tc>
                  <a:txBody>
                    <a:bodyPr/>
                    <a:lstStyle/>
                    <a:p>
                      <a:pPr algn="l" indent="0" marL="0">
                        <a:buNone/>
                      </a:pPr>
                      <a:r>
                        <a:rPr lang="en-US" sz="1300" b="1" dirty="0">
                          <a:solidFill>
                            <a:srgbClr val="1B1F2A"/>
                          </a:solidFill>
                        </a:rPr>
                        <a:t>Balance of funding</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F2A"/>
                          </a:solidFill>
                        </a:rPr>
                        <a:t>The balance of project funding is provided by Jalour sponsor equity, project collections and other capital sources.</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57200">
                <a:tc>
                  <a:txBody>
                    <a:bodyPr/>
                    <a:lstStyle/>
                    <a:p>
                      <a:pPr algn="l" indent="0" marL="0">
                        <a:buNone/>
                      </a:pPr>
                      <a:r>
                        <a:rPr lang="en-US" sz="1300" b="1" dirty="0">
                          <a:solidFill>
                            <a:srgbClr val="1B1F2A"/>
                          </a:solidFill>
                        </a:rPr>
                        <a:t>Further capital</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300" dirty="0">
                          <a:solidFill>
                            <a:srgbClr val="1B1F2A"/>
                          </a:solidFill>
                        </a:rPr>
                        <a:t>Jalour may raise further capital at project or holding level, subject to the investor's stated rights (ranking, collateral, information rights)</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bl>
          </a:graphicData>
        </a:graphic>
      </p:graphicFrame>
      <p:sp>
        <p:nvSpPr>
          <p:cNvPr id="5" name="Text 1"/>
          <p:cNvSpPr txBox="1"/>
          <p:nvPr/>
        </p:nvSpPr>
        <p:spPr>
          <a:xfrm>
            <a:off x="548640" y="6144768"/>
            <a:ext cx="11064240" cy="274320"/>
          </a:xfrm>
          <a:prstGeom prst="rect">
            <a:avLst/>
          </a:prstGeom>
          <a:noFill/>
          <a:ln/>
        </p:spPr>
        <p:txBody>
          <a:bodyPr wrap="square" lIns="0" tIns="0" rIns="0" bIns="0" rtlCol="0" anchor="ctr"/>
          <a:lstStyle/>
          <a:p>
            <a:pPr indent="0" marL="0">
              <a:buNone/>
            </a:pPr>
            <a:r>
              <a:rPr lang="en-US" sz="900" i="1" dirty="0">
                <a:solidFill>
                  <a:srgbClr val="6B7280"/>
                </a:solidFill>
              </a:rPr>
              <a:t>Source: Term summary; final terms are set by the definitive agreements.</a:t>
            </a:r>
            <a:endParaRPr lang="en-US" sz="9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20040"/>
            <a:ext cx="11064240" cy="822960"/>
          </a:xfrm>
          <a:prstGeom prst="rect">
            <a:avLst/>
          </a:prstGeom>
          <a:noFill/>
          <a:ln/>
        </p:spPr>
        <p:txBody>
          <a:bodyPr wrap="square" lIns="0" tIns="0" rIns="0" bIns="0" rtlCol="0" anchor="ctr">
            <a:normAutofit/>
          </a:bodyPr>
          <a:lstStyle/>
          <a:p>
            <a:pPr indent="0" marL="0">
              <a:buNone/>
            </a:pPr>
            <a:r>
              <a:rPr lang="en-US" sz="2800" b="1" dirty="0">
                <a:solidFill>
                  <a:srgbClr val="17324D"/>
                </a:solidFill>
                <a:latin typeface="Cambria" pitchFamily="34" charset="0"/>
                <a:ea typeface="Cambria" pitchFamily="34" charset="-122"/>
                <a:cs typeface="Cambria" pitchFamily="34" charset="-120"/>
              </a:rPr>
              <a:t>Market: Cairo office and commercial supply and demand</a:t>
            </a:r>
            <a:endParaRPr lang="en-US" sz="2800" dirty="0"/>
          </a:p>
        </p:txBody>
      </p:sp>
      <p:sp>
        <p:nvSpPr>
          <p:cNvPr id="4" name="Shape 1"/>
          <p:cNvSpPr/>
          <p:nvPr/>
        </p:nvSpPr>
        <p:spPr>
          <a:xfrm>
            <a:off x="548640" y="1371600"/>
            <a:ext cx="2651760" cy="1417320"/>
          </a:xfrm>
          <a:prstGeom prst="rect">
            <a:avLst/>
          </a:prstGeom>
          <a:solidFill>
            <a:srgbClr val="F2F4F7"/>
          </a:solidFill>
          <a:ln w="12700">
            <a:solidFill>
              <a:srgbClr val="F2F4F7"/>
            </a:solidFill>
            <a:prstDash val="solid"/>
          </a:ln>
        </p:spPr>
      </p:sp>
      <p:sp>
        <p:nvSpPr>
          <p:cNvPr id="5" name="Text 2"/>
          <p:cNvSpPr txBox="1"/>
          <p:nvPr/>
        </p:nvSpPr>
        <p:spPr>
          <a:xfrm>
            <a:off x="731520" y="1481328"/>
            <a:ext cx="2286000" cy="731520"/>
          </a:xfrm>
          <a:prstGeom prst="rect">
            <a:avLst/>
          </a:prstGeom>
          <a:noFill/>
          <a:ln/>
        </p:spPr>
        <p:txBody>
          <a:bodyPr wrap="square" lIns="0" tIns="0" rIns="0" bIns="0" rtlCol="0" anchor="ctr">
            <a:normAutofit/>
          </a:bodyPr>
          <a:lstStyle/>
          <a:p>
            <a:pPr indent="0" marL="0">
              <a:buNone/>
            </a:pPr>
            <a:r>
              <a:rPr lang="en-US" sz="3000" b="1" dirty="0">
                <a:solidFill>
                  <a:srgbClr val="17324D"/>
                </a:solidFill>
                <a:latin typeface="Cambria" pitchFamily="34" charset="0"/>
                <a:ea typeface="Cambria" pitchFamily="34" charset="-122"/>
                <a:cs typeface="Cambria" pitchFamily="34" charset="-120"/>
              </a:rPr>
              <a:t>73%</a:t>
            </a:r>
            <a:endParaRPr lang="en-US" sz="3000" dirty="0"/>
          </a:p>
        </p:txBody>
      </p:sp>
      <p:sp>
        <p:nvSpPr>
          <p:cNvPr id="6" name="Text 3"/>
          <p:cNvSpPr txBox="1"/>
          <p:nvPr/>
        </p:nvSpPr>
        <p:spPr>
          <a:xfrm>
            <a:off x="731520" y="2212848"/>
            <a:ext cx="2286000" cy="502920"/>
          </a:xfrm>
          <a:prstGeom prst="rect">
            <a:avLst/>
          </a:prstGeom>
          <a:noFill/>
          <a:ln/>
        </p:spPr>
        <p:txBody>
          <a:bodyPr wrap="square" lIns="0" tIns="0" rIns="0" bIns="0" rtlCol="0" anchor="t"/>
          <a:lstStyle/>
          <a:p>
            <a:pPr indent="0" marL="0">
              <a:buNone/>
            </a:pPr>
            <a:r>
              <a:rPr lang="en-US" sz="1200" dirty="0">
                <a:solidFill>
                  <a:srgbClr val="6B7280"/>
                </a:solidFill>
              </a:rPr>
              <a:t>of Cairo office stock, current and future, is in New Cairo</a:t>
            </a:r>
            <a:endParaRPr lang="en-US" sz="1200" dirty="0"/>
          </a:p>
        </p:txBody>
      </p:sp>
      <p:sp>
        <p:nvSpPr>
          <p:cNvPr id="7" name="Shape 4"/>
          <p:cNvSpPr/>
          <p:nvPr/>
        </p:nvSpPr>
        <p:spPr>
          <a:xfrm>
            <a:off x="3355848" y="1371600"/>
            <a:ext cx="2651760" cy="1417320"/>
          </a:xfrm>
          <a:prstGeom prst="rect">
            <a:avLst/>
          </a:prstGeom>
          <a:solidFill>
            <a:srgbClr val="F2F4F7"/>
          </a:solidFill>
          <a:ln w="12700">
            <a:solidFill>
              <a:srgbClr val="F2F4F7"/>
            </a:solidFill>
            <a:prstDash val="solid"/>
          </a:ln>
        </p:spPr>
      </p:sp>
      <p:sp>
        <p:nvSpPr>
          <p:cNvPr id="8" name="Text 5"/>
          <p:cNvSpPr txBox="1"/>
          <p:nvPr/>
        </p:nvSpPr>
        <p:spPr>
          <a:xfrm>
            <a:off x="3538728" y="1481328"/>
            <a:ext cx="2286000" cy="731520"/>
          </a:xfrm>
          <a:prstGeom prst="rect">
            <a:avLst/>
          </a:prstGeom>
          <a:noFill/>
          <a:ln/>
        </p:spPr>
        <p:txBody>
          <a:bodyPr wrap="square" lIns="0" tIns="0" rIns="0" bIns="0" rtlCol="0" anchor="ctr">
            <a:normAutofit/>
          </a:bodyPr>
          <a:lstStyle/>
          <a:p>
            <a:pPr indent="0" marL="0">
              <a:buNone/>
            </a:pPr>
            <a:r>
              <a:rPr lang="en-US" sz="3000" b="1" dirty="0">
                <a:solidFill>
                  <a:srgbClr val="17324D"/>
                </a:solidFill>
                <a:latin typeface="Cambria" pitchFamily="34" charset="0"/>
                <a:ea typeface="Cambria" pitchFamily="34" charset="-122"/>
                <a:cs typeface="Cambria" pitchFamily="34" charset="-120"/>
              </a:rPr>
              <a:t>~9%</a:t>
            </a:r>
            <a:endParaRPr lang="en-US" sz="3000" dirty="0"/>
          </a:p>
        </p:txBody>
      </p:sp>
      <p:sp>
        <p:nvSpPr>
          <p:cNvPr id="9" name="Text 6"/>
          <p:cNvSpPr txBox="1"/>
          <p:nvPr/>
        </p:nvSpPr>
        <p:spPr>
          <a:xfrm>
            <a:off x="3538728" y="2212848"/>
            <a:ext cx="2286000" cy="502920"/>
          </a:xfrm>
          <a:prstGeom prst="rect">
            <a:avLst/>
          </a:prstGeom>
          <a:noFill/>
          <a:ln/>
        </p:spPr>
        <p:txBody>
          <a:bodyPr wrap="square" lIns="0" tIns="0" rIns="0" bIns="0" rtlCol="0" anchor="t"/>
          <a:lstStyle/>
          <a:p>
            <a:pPr indent="0" marL="0">
              <a:buNone/>
            </a:pPr>
            <a:r>
              <a:rPr lang="en-US" sz="1200" dirty="0">
                <a:solidFill>
                  <a:srgbClr val="6B7280"/>
                </a:solidFill>
              </a:rPr>
              <a:t>office vacancy, stable (Q1 2026); Grade A occupancy about 90%</a:t>
            </a:r>
            <a:endParaRPr lang="en-US" sz="1200" dirty="0"/>
          </a:p>
        </p:txBody>
      </p:sp>
      <p:sp>
        <p:nvSpPr>
          <p:cNvPr id="10" name="Shape 7"/>
          <p:cNvSpPr/>
          <p:nvPr/>
        </p:nvSpPr>
        <p:spPr>
          <a:xfrm>
            <a:off x="6163056" y="1371600"/>
            <a:ext cx="2651760" cy="1417320"/>
          </a:xfrm>
          <a:prstGeom prst="rect">
            <a:avLst/>
          </a:prstGeom>
          <a:solidFill>
            <a:srgbClr val="F2F4F7"/>
          </a:solidFill>
          <a:ln w="12700">
            <a:solidFill>
              <a:srgbClr val="F2F4F7"/>
            </a:solidFill>
            <a:prstDash val="solid"/>
          </a:ln>
        </p:spPr>
      </p:sp>
      <p:sp>
        <p:nvSpPr>
          <p:cNvPr id="11" name="Text 8"/>
          <p:cNvSpPr txBox="1"/>
          <p:nvPr/>
        </p:nvSpPr>
        <p:spPr>
          <a:xfrm>
            <a:off x="6345936" y="1481328"/>
            <a:ext cx="2286000" cy="731520"/>
          </a:xfrm>
          <a:prstGeom prst="rect">
            <a:avLst/>
          </a:prstGeom>
          <a:noFill/>
          <a:ln/>
        </p:spPr>
        <p:txBody>
          <a:bodyPr wrap="square" lIns="0" tIns="0" rIns="0" bIns="0" rtlCol="0" anchor="ctr">
            <a:normAutofit/>
          </a:bodyPr>
          <a:lstStyle/>
          <a:p>
            <a:pPr indent="0" marL="0">
              <a:buNone/>
            </a:pPr>
            <a:r>
              <a:rPr lang="en-US" sz="3000" b="1" dirty="0">
                <a:solidFill>
                  <a:srgbClr val="17324D"/>
                </a:solidFill>
                <a:latin typeface="Cambria" pitchFamily="34" charset="0"/>
                <a:ea typeface="Cambria" pitchFamily="34" charset="-122"/>
                <a:cs typeface="Cambria" pitchFamily="34" charset="-120"/>
              </a:rPr>
              <a:t>+82%</a:t>
            </a:r>
            <a:endParaRPr lang="en-US" sz="3000" dirty="0"/>
          </a:p>
        </p:txBody>
      </p:sp>
      <p:sp>
        <p:nvSpPr>
          <p:cNvPr id="12" name="Text 9"/>
          <p:cNvSpPr txBox="1"/>
          <p:nvPr/>
        </p:nvSpPr>
        <p:spPr>
          <a:xfrm>
            <a:off x="6345936" y="2212848"/>
            <a:ext cx="2286000" cy="502920"/>
          </a:xfrm>
          <a:prstGeom prst="rect">
            <a:avLst/>
          </a:prstGeom>
          <a:noFill/>
          <a:ln/>
        </p:spPr>
        <p:txBody>
          <a:bodyPr wrap="square" lIns="0" tIns="0" rIns="0" bIns="0" rtlCol="0" anchor="t"/>
          <a:lstStyle/>
          <a:p>
            <a:pPr indent="0" marL="0">
              <a:buNone/>
            </a:pPr>
            <a:r>
              <a:rPr lang="en-US" sz="1200" dirty="0">
                <a:solidFill>
                  <a:srgbClr val="6B7280"/>
                </a:solidFill>
              </a:rPr>
              <a:t>office pipeline to 2029 relative to current stock: supply is the main risk</a:t>
            </a:r>
            <a:endParaRPr lang="en-US" sz="1200" dirty="0"/>
          </a:p>
        </p:txBody>
      </p:sp>
      <p:sp>
        <p:nvSpPr>
          <p:cNvPr id="13" name="Shape 10"/>
          <p:cNvSpPr/>
          <p:nvPr/>
        </p:nvSpPr>
        <p:spPr>
          <a:xfrm>
            <a:off x="8970264" y="1371600"/>
            <a:ext cx="2651760" cy="1417320"/>
          </a:xfrm>
          <a:prstGeom prst="rect">
            <a:avLst/>
          </a:prstGeom>
          <a:solidFill>
            <a:srgbClr val="F2F4F7"/>
          </a:solidFill>
          <a:ln w="12700">
            <a:solidFill>
              <a:srgbClr val="F2F4F7"/>
            </a:solidFill>
            <a:prstDash val="solid"/>
          </a:ln>
        </p:spPr>
      </p:sp>
      <p:sp>
        <p:nvSpPr>
          <p:cNvPr id="14" name="Text 11"/>
          <p:cNvSpPr txBox="1"/>
          <p:nvPr/>
        </p:nvSpPr>
        <p:spPr>
          <a:xfrm>
            <a:off x="9153144" y="1481328"/>
            <a:ext cx="2286000" cy="731520"/>
          </a:xfrm>
          <a:prstGeom prst="rect">
            <a:avLst/>
          </a:prstGeom>
          <a:noFill/>
          <a:ln/>
        </p:spPr>
        <p:txBody>
          <a:bodyPr wrap="square" lIns="0" tIns="0" rIns="0" bIns="0" rtlCol="0" anchor="ctr">
            <a:normAutofit/>
          </a:bodyPr>
          <a:lstStyle/>
          <a:p>
            <a:pPr indent="0" marL="0">
              <a:buNone/>
            </a:pPr>
            <a:r>
              <a:rPr lang="en-US" sz="3000" b="1" dirty="0">
                <a:solidFill>
                  <a:srgbClr val="17324D"/>
                </a:solidFill>
                <a:latin typeface="Cambria" pitchFamily="34" charset="0"/>
                <a:ea typeface="Cambria" pitchFamily="34" charset="-122"/>
                <a:cs typeface="Cambria" pitchFamily="34" charset="-120"/>
              </a:rPr>
              <a:t>USD 348</a:t>
            </a:r>
            <a:endParaRPr lang="en-US" sz="3000" dirty="0"/>
          </a:p>
        </p:txBody>
      </p:sp>
      <p:sp>
        <p:nvSpPr>
          <p:cNvPr id="15" name="Text 12"/>
          <p:cNvSpPr txBox="1"/>
          <p:nvPr/>
        </p:nvSpPr>
        <p:spPr>
          <a:xfrm>
            <a:off x="9153144" y="2212848"/>
            <a:ext cx="2286000" cy="502920"/>
          </a:xfrm>
          <a:prstGeom prst="rect">
            <a:avLst/>
          </a:prstGeom>
          <a:noFill/>
          <a:ln/>
        </p:spPr>
        <p:txBody>
          <a:bodyPr wrap="square" lIns="0" tIns="0" rIns="0" bIns="0" rtlCol="0" anchor="t"/>
          <a:lstStyle/>
          <a:p>
            <a:pPr indent="0" marL="0">
              <a:buNone/>
            </a:pPr>
            <a:r>
              <a:rPr lang="en-US" sz="1200" dirty="0">
                <a:solidFill>
                  <a:srgbClr val="6B7280"/>
                </a:solidFill>
              </a:rPr>
              <a:t>Grade A rent per m2 per year in New Cairo business parks (Q2 2026)</a:t>
            </a:r>
            <a:endParaRPr lang="en-US" sz="1200" dirty="0"/>
          </a:p>
        </p:txBody>
      </p:sp>
      <p:sp>
        <p:nvSpPr>
          <p:cNvPr id="16" name="Text 13"/>
          <p:cNvSpPr txBox="1"/>
          <p:nvPr/>
        </p:nvSpPr>
        <p:spPr>
          <a:xfrm>
            <a:off x="548640" y="3063240"/>
            <a:ext cx="11064240" cy="292608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1F2A"/>
                </a:solidFill>
              </a:rPr>
              <a:t>Mostakbal City covers about 11,000 feddans, with a planned population of about 1 million; master developer is the state-linked Mostakbal for Urban Development (MIDAR).</a:t>
            </a:r>
            <a:endParaRPr lang="en-US" sz="1600" dirty="0"/>
          </a:p>
          <a:p>
            <a:pPr marL="342900" indent="-342900">
              <a:spcAft>
                <a:spcPts val="600"/>
              </a:spcAft>
              <a:buSzPct val="100000"/>
              <a:buChar char="•"/>
            </a:pPr>
            <a:r>
              <a:rPr lang="en-US" sz="1600" dirty="0">
                <a:solidFill>
                  <a:srgbClr val="1B1F2A"/>
                </a:solidFill>
              </a:rPr>
              <a:t>Connected by the Regional (Middle) Ring Road and the East Cairo monorail corridor to Shorouk, Obour, Badr and the New Administrative Capital.</a:t>
            </a:r>
            <a:endParaRPr lang="en-US" sz="1600" dirty="0"/>
          </a:p>
          <a:p>
            <a:pPr marL="342900" indent="-342900">
              <a:spcAft>
                <a:spcPts val="600"/>
              </a:spcAft>
              <a:buSzPct val="100000"/>
              <a:buChar char="•"/>
            </a:pPr>
            <a:r>
              <a:rPr lang="en-US" sz="1600" dirty="0">
                <a:solidFill>
                  <a:srgbClr val="1B1F2A"/>
                </a:solidFill>
              </a:rPr>
              <a:t>Cairo retail stock above 3.3 million m2 after about 89,000 m2 delivered in Q1 2026, mostly small malls in New Cairo and Giza; about 331,300 m2 more due by end 2026.</a:t>
            </a:r>
            <a:endParaRPr lang="en-US" sz="1600" dirty="0"/>
          </a:p>
          <a:p>
            <a:pPr marL="342900" indent="-342900">
              <a:spcAft>
                <a:spcPts val="600"/>
              </a:spcAft>
              <a:buSzPct val="100000"/>
              <a:buChar char="•"/>
            </a:pPr>
            <a:r>
              <a:rPr lang="en-US" sz="1600" dirty="0">
                <a:solidFill>
                  <a:srgbClr val="1B1F2A"/>
                </a:solidFill>
              </a:rPr>
              <a:t>Comparable commercial schemes are under way: Hassan Allam's HAPTOWN (offices G+1 to G+4, retail, healthcare) in Mostakbal City.</a:t>
            </a:r>
            <a:endParaRPr lang="en-US" sz="1600" dirty="0"/>
          </a:p>
        </p:txBody>
      </p:sp>
      <p:sp>
        <p:nvSpPr>
          <p:cNvPr id="17" name="Text 14"/>
          <p:cNvSpPr txBox="1"/>
          <p:nvPr/>
        </p:nvSpPr>
        <p:spPr>
          <a:xfrm>
            <a:off x="548640" y="6035040"/>
            <a:ext cx="11064240" cy="274320"/>
          </a:xfrm>
          <a:prstGeom prst="rect">
            <a:avLst/>
          </a:prstGeom>
          <a:noFill/>
          <a:ln/>
        </p:spPr>
        <p:txBody>
          <a:bodyPr wrap="square" lIns="0" tIns="0" rIns="0" bIns="0" rtlCol="0" anchor="ctr"/>
          <a:lstStyle/>
          <a:p>
            <a:pPr indent="0" marL="0">
              <a:buNone/>
            </a:pPr>
            <a:r>
              <a:rPr lang="en-US" sz="900" i="1" dirty="0">
                <a:solidFill>
                  <a:srgbClr val="6B7280"/>
                </a:solidFill>
              </a:rPr>
              <a:t>Source: Knight Frank (via Arabian Business, Jul 2026; Enterprise, Jul 2026); JLL Q1 2026 (via Invest-Gate); MIDAR; Nawy; Bayut; Invest-Gate. Knight Frank and JLL use different office-stock definitions.</a:t>
            </a:r>
            <a:endParaRPr lang="en-US" sz="9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20040"/>
            <a:ext cx="11064240" cy="822960"/>
          </a:xfrm>
          <a:prstGeom prst="rect">
            <a:avLst/>
          </a:prstGeom>
          <a:noFill/>
          <a:ln/>
        </p:spPr>
        <p:txBody>
          <a:bodyPr wrap="square" lIns="0" tIns="0" rIns="0" bIns="0" rtlCol="0" anchor="ctr">
            <a:normAutofit/>
          </a:bodyPr>
          <a:lstStyle/>
          <a:p>
            <a:pPr indent="0" marL="0">
              <a:buNone/>
            </a:pPr>
            <a:r>
              <a:rPr lang="en-US" sz="2800" b="1" dirty="0">
                <a:solidFill>
                  <a:srgbClr val="17324D"/>
                </a:solidFill>
                <a:latin typeface="Cambria" pitchFamily="34" charset="0"/>
                <a:ea typeface="Cambria" pitchFamily="34" charset="-122"/>
                <a:cs typeface="Cambria" pitchFamily="34" charset="-120"/>
              </a:rPr>
              <a:t>Market: pricing evidence and demand drivers</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1737360"/>
                <a:gridCol w="5120640"/>
                <a:gridCol w="4206240"/>
              </a:tblGrid>
              <a:tr h="548640">
                <a:tc>
                  <a:txBody>
                    <a:bodyPr/>
                    <a:lstStyle/>
                    <a:p>
                      <a:pPr algn="l" indent="0" marL="0">
                        <a:buNone/>
                      </a:pPr>
                      <a:r>
                        <a:rPr lang="en-US" sz="1200" b="1" dirty="0">
                          <a:solidFill>
                            <a:srgbClr val="FFFFFF"/>
                          </a:solidFill>
                        </a:rPr>
                        <a:t>Indicator</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c>
                  <a:txBody>
                    <a:bodyPr/>
                    <a:lstStyle/>
                    <a:p>
                      <a:pPr algn="l" indent="0" marL="0">
                        <a:buNone/>
                      </a:pPr>
                      <a:r>
                        <a:rPr lang="en-US" sz="1200" b="1" dirty="0">
                          <a:solidFill>
                            <a:srgbClr val="FFFFFF"/>
                          </a:solidFill>
                        </a:rPr>
                        <a:t>Evidence</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c>
                  <a:txBody>
                    <a:bodyPr/>
                    <a:lstStyle/>
                    <a:p>
                      <a:pPr algn="l" indent="0" marL="0">
                        <a:buNone/>
                      </a:pPr>
                      <a:r>
                        <a:rPr lang="en-US" sz="1200" b="1" dirty="0">
                          <a:solidFill>
                            <a:srgbClr val="FFFFFF"/>
                          </a:solidFill>
                        </a:rPr>
                        <a:t>Model assumption</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r>
              <a:tr h="548640">
                <a:tc>
                  <a:txBody>
                    <a:bodyPr/>
                    <a:lstStyle/>
                    <a:p>
                      <a:pPr algn="l" indent="0" marL="0">
                        <a:buNone/>
                      </a:pPr>
                      <a:r>
                        <a:rPr lang="en-US" sz="1200" b="1" dirty="0">
                          <a:solidFill>
                            <a:srgbClr val="1B1F2A"/>
                          </a:solidFill>
                        </a:rPr>
                        <a:t>Office prices</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F2A"/>
                          </a:solidFill>
                        </a:rPr>
                        <a:t>Mostakbal City listings: EGP 106,000 to 120,000 per m2 (asking)</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F2A"/>
                          </a:solidFill>
                        </a:rPr>
                        <a:t>Launch EGP 160,000 per m2, rising to 240,000 at the delivery list</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548640">
                <a:tc>
                  <a:txBody>
                    <a:bodyPr/>
                    <a:lstStyle/>
                    <a:p>
                      <a:pPr algn="l" indent="0" marL="0">
                        <a:buNone/>
                      </a:pPr>
                      <a:r>
                        <a:rPr lang="en-US" sz="1200" b="1" dirty="0">
                          <a:solidFill>
                            <a:srgbClr val="1B1F2A"/>
                          </a:solidFill>
                        </a:rPr>
                        <a:t>Retail prices</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200" dirty="0">
                          <a:solidFill>
                            <a:srgbClr val="1B1F2A"/>
                          </a:solidFill>
                        </a:rPr>
                        <a:t>New Cairo listings: EGP 139,000 to 325,000 per m2 (asking, individual listings)</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200" dirty="0">
                          <a:solidFill>
                            <a:srgbClr val="1B1F2A"/>
                          </a:solidFill>
                        </a:rPr>
                        <a:t>Launch EGP 250,000 per m2, rising to 360,000</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548640">
                <a:tc>
                  <a:txBody>
                    <a:bodyPr/>
                    <a:lstStyle/>
                    <a:p>
                      <a:pPr algn="l" indent="0" marL="0">
                        <a:buNone/>
                      </a:pPr>
                      <a:r>
                        <a:rPr lang="en-US" sz="1200" b="1" dirty="0">
                          <a:solidFill>
                            <a:srgbClr val="1B1F2A"/>
                          </a:solidFill>
                        </a:rPr>
                        <a:t>Price growth</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F2A"/>
                          </a:solidFill>
                        </a:rPr>
                        <a:t>New Cairo secondary prices +3.1% y/y (Q1 2026); broker estimates 10 to 16% a year for 2026</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F2A"/>
                          </a:solidFill>
                        </a:rPr>
                        <a:t>Launch to delivery list: +44% retail, +50% offices; offices +112% on today's asking, about 18% a year</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548640">
                <a:tc>
                  <a:txBody>
                    <a:bodyPr/>
                    <a:lstStyle/>
                    <a:p>
                      <a:pPr algn="l" indent="0" marL="0">
                        <a:buNone/>
                      </a:pPr>
                      <a:r>
                        <a:rPr lang="en-US" sz="1200" b="1" dirty="0">
                          <a:solidFill>
                            <a:srgbClr val="1B1F2A"/>
                          </a:solidFill>
                        </a:rPr>
                        <a:t>Interest rates</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200" dirty="0">
                          <a:solidFill>
                            <a:srgbClr val="1B1F2A"/>
                          </a:solidFill>
                        </a:rPr>
                        <a:t>CBE overnight deposit rate 19.00% (Sep 2026); urban inflation 14.5% (Aug 2026)</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200" dirty="0">
                          <a:solidFill>
                            <a:srgbClr val="1B1F2A"/>
                          </a:solidFill>
                        </a:rPr>
                        <a:t>Discount rate 14% in the model</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548640">
                <a:tc>
                  <a:txBody>
                    <a:bodyPr/>
                    <a:lstStyle/>
                    <a:p>
                      <a:pPr algn="l" indent="0" marL="0">
                        <a:buNone/>
                      </a:pPr>
                      <a:r>
                        <a:rPr lang="en-US" sz="1200" b="1" dirty="0">
                          <a:solidFill>
                            <a:srgbClr val="1B1F2A"/>
                          </a:solidFill>
                        </a:rPr>
                        <a:t>Developer sales</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F2A"/>
                          </a:solidFill>
                        </a:rPr>
                        <a:t>Top 10 developers EGP 670 bn in H1 2026, +2.9% y/y; units sold -5%</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F2A"/>
                          </a:solidFill>
                        </a:rPr>
                        <a:t>Sales over about 3 years from launch</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548640">
                <a:tc>
                  <a:txBody>
                    <a:bodyPr/>
                    <a:lstStyle/>
                    <a:p>
                      <a:pPr algn="l" indent="0" marL="0">
                        <a:buNone/>
                      </a:pPr>
                      <a:r>
                        <a:rPr lang="en-US" sz="1200" b="1" dirty="0">
                          <a:solidFill>
                            <a:srgbClr val="1B1F2A"/>
                          </a:solidFill>
                        </a:rPr>
                        <a:t>Payment plans</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200" dirty="0">
                          <a:solidFill>
                            <a:srgbClr val="1B1F2A"/>
                          </a:solidFill>
                        </a:rPr>
                        <a:t>Typically 8 to 12 years with 1.5% to 10% down payment</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200" dirty="0">
                          <a:solidFill>
                            <a:srgbClr val="1B1F2A"/>
                          </a:solidFill>
                        </a:rPr>
                        <a:t>Down payments 5% to 20%; instalments 2 to 8 years</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bl>
          </a:graphicData>
        </a:graphic>
      </p:graphicFrame>
      <p:sp>
        <p:nvSpPr>
          <p:cNvPr id="5" name="Text 1"/>
          <p:cNvSpPr txBox="1"/>
          <p:nvPr/>
        </p:nvSpPr>
        <p:spPr>
          <a:xfrm>
            <a:off x="548640" y="5166360"/>
            <a:ext cx="11064240" cy="640080"/>
          </a:xfrm>
          <a:prstGeom prst="rect">
            <a:avLst/>
          </a:prstGeom>
          <a:noFill/>
          <a:ln/>
        </p:spPr>
        <p:txBody>
          <a:bodyPr wrap="square" lIns="0" tIns="0" rIns="0" bIns="0" rtlCol="0" anchor="ctr"/>
          <a:lstStyle/>
          <a:p>
            <a:pPr indent="0" marL="0">
              <a:buNone/>
            </a:pPr>
            <a:r>
              <a:rPr lang="en-US" sz="1300" dirty="0">
                <a:solidFill>
                  <a:srgbClr val="1B1F2A"/>
                </a:solidFill>
              </a:rPr>
              <a:t>Reading across: the sales plan needs price growth that sits at the upper end of recent evidence. The downside case on slide 14 tests lower prices and later sales.</a:t>
            </a:r>
            <a:endParaRPr lang="en-US" sz="1300" dirty="0"/>
          </a:p>
        </p:txBody>
      </p:sp>
      <p:sp>
        <p:nvSpPr>
          <p:cNvPr id="6" name="Text 2"/>
          <p:cNvSpPr txBox="1"/>
          <p:nvPr/>
        </p:nvSpPr>
        <p:spPr>
          <a:xfrm>
            <a:off x="548640" y="5989320"/>
            <a:ext cx="11064240" cy="274320"/>
          </a:xfrm>
          <a:prstGeom prst="rect">
            <a:avLst/>
          </a:prstGeom>
          <a:noFill/>
          <a:ln/>
        </p:spPr>
        <p:txBody>
          <a:bodyPr wrap="square" lIns="0" tIns="0" rIns="0" bIns="0" rtlCol="0" anchor="ctr"/>
          <a:lstStyle/>
          <a:p>
            <a:pPr indent="0" marL="0">
              <a:buNone/>
            </a:pPr>
            <a:r>
              <a:rPr lang="en-US" sz="900" i="1" dirty="0">
                <a:solidFill>
                  <a:srgbClr val="6B7280"/>
                </a:solidFill>
              </a:rPr>
              <a:t>Source: Property Finder listings (2026); JLL via Enterprise (2026); Sands of Wealth (2026); CBE via Bnok24; CAPMAS via Ahram Online; Daily News Egypt; Bayut. Listings are asking prices, not transactions.</a:t>
            </a:r>
            <a:endParaRPr lang="en-US" sz="9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20040"/>
            <a:ext cx="11064240" cy="822960"/>
          </a:xfrm>
          <a:prstGeom prst="rect">
            <a:avLst/>
          </a:prstGeom>
          <a:noFill/>
          <a:ln/>
        </p:spPr>
        <p:txBody>
          <a:bodyPr wrap="square" lIns="0" tIns="0" rIns="0" bIns="0" rtlCol="0" anchor="ctr">
            <a:normAutofit/>
          </a:bodyPr>
          <a:lstStyle/>
          <a:p>
            <a:pPr indent="0" marL="0">
              <a:buNone/>
            </a:pPr>
            <a:r>
              <a:rPr lang="en-US" sz="2800" b="1" dirty="0">
                <a:solidFill>
                  <a:srgbClr val="17324D"/>
                </a:solidFill>
                <a:latin typeface="Cambria" pitchFamily="34" charset="0"/>
                <a:ea typeface="Cambria" pitchFamily="34" charset="-122"/>
                <a:cs typeface="Cambria" pitchFamily="34" charset="-120"/>
              </a:rPr>
              <a:t>The project</a:t>
            </a:r>
            <a:endParaRPr lang="en-US" sz="28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6035040" cy="914400"/>
        </p:xfrm>
        <a:graphic>
          <a:graphicData uri="http://schemas.openxmlformats.org/drawingml/2006/table">
            <a:tbl>
              <a:tblPr/>
              <a:tblGrid>
                <a:gridCol w="2651760"/>
                <a:gridCol w="3383280"/>
              </a:tblGrid>
              <a:tr h="411480">
                <a:tc>
                  <a:txBody>
                    <a:bodyPr/>
                    <a:lstStyle/>
                    <a:p>
                      <a:pPr algn="l" indent="0" marL="0">
                        <a:buNone/>
                      </a:pPr>
                      <a:r>
                        <a:rPr lang="en-US" sz="1400" b="1" dirty="0">
                          <a:solidFill>
                            <a:srgbClr val="FFFFFF"/>
                          </a:solidFill>
                        </a:rPr>
                        <a:t>Item</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c>
                  <a:txBody>
                    <a:bodyPr/>
                    <a:lstStyle/>
                    <a:p>
                      <a:pPr algn="l" indent="0" marL="0">
                        <a:buNone/>
                      </a:pPr>
                      <a:r>
                        <a:rPr lang="en-US" sz="1400" b="1" dirty="0">
                          <a:solidFill>
                            <a:srgbClr val="FFFFFF"/>
                          </a:solidFill>
                        </a:rPr>
                        <a:t>Detail</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r>
              <a:tr h="411480">
                <a:tc>
                  <a:txBody>
                    <a:bodyPr/>
                    <a:lstStyle/>
                    <a:p>
                      <a:pPr algn="l" indent="0" marL="0">
                        <a:buNone/>
                      </a:pPr>
                      <a:r>
                        <a:rPr lang="en-US" sz="1400" b="1" dirty="0">
                          <a:solidFill>
                            <a:srgbClr val="1B1F2A"/>
                          </a:solidFill>
                        </a:rPr>
                        <a:t>Land area</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1F2A"/>
                          </a:solidFill>
                        </a:rPr>
                        <a:t>14,910 m2</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11480">
                <a:tc>
                  <a:txBody>
                    <a:bodyPr/>
                    <a:lstStyle/>
                    <a:p>
                      <a:pPr algn="l" indent="0" marL="0">
                        <a:buNone/>
                      </a:pPr>
                      <a:r>
                        <a:rPr lang="en-US" sz="1400" b="1" dirty="0">
                          <a:solidFill>
                            <a:srgbClr val="1B1F2A"/>
                          </a:solidFill>
                        </a:rPr>
                        <a:t>Footprint (30%)</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400" dirty="0">
                          <a:solidFill>
                            <a:srgbClr val="1B1F2A"/>
                          </a:solidFill>
                        </a:rPr>
                        <a:t>4,473 m2</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411480">
                <a:tc>
                  <a:txBody>
                    <a:bodyPr/>
                    <a:lstStyle/>
                    <a:p>
                      <a:pPr algn="l" indent="0" marL="0">
                        <a:buNone/>
                      </a:pPr>
                      <a:r>
                        <a:rPr lang="en-US" sz="1400" b="1" dirty="0">
                          <a:solidFill>
                            <a:srgbClr val="1B1F2A"/>
                          </a:solidFill>
                        </a:rPr>
                        <a:t>Height</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1F2A"/>
                          </a:solidFill>
                        </a:rPr>
                        <a:t>G+2</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11480">
                <a:tc>
                  <a:txBody>
                    <a:bodyPr/>
                    <a:lstStyle/>
                    <a:p>
                      <a:pPr algn="l" indent="0" marL="0">
                        <a:buNone/>
                      </a:pPr>
                      <a:r>
                        <a:rPr lang="en-US" sz="1400" b="1" dirty="0">
                          <a:solidFill>
                            <a:srgbClr val="1B1F2A"/>
                          </a:solidFill>
                        </a:rPr>
                        <a:t>Retail built-up area</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400" dirty="0">
                          <a:solidFill>
                            <a:srgbClr val="1B1F2A"/>
                          </a:solidFill>
                        </a:rPr>
                        <a:t>4,473 m2</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411480">
                <a:tc>
                  <a:txBody>
                    <a:bodyPr/>
                    <a:lstStyle/>
                    <a:p>
                      <a:pPr algn="l" indent="0" marL="0">
                        <a:buNone/>
                      </a:pPr>
                      <a:r>
                        <a:rPr lang="en-US" sz="1400" b="1" dirty="0">
                          <a:solidFill>
                            <a:srgbClr val="1B1F2A"/>
                          </a:solidFill>
                        </a:rPr>
                        <a:t>Office built-up area</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1F2A"/>
                          </a:solidFill>
                        </a:rPr>
                        <a:t>8,946 m2</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11480">
                <a:tc>
                  <a:txBody>
                    <a:bodyPr/>
                    <a:lstStyle/>
                    <a:p>
                      <a:pPr algn="l" indent="0" marL="0">
                        <a:buNone/>
                      </a:pPr>
                      <a:r>
                        <a:rPr lang="en-US" sz="1400" b="1" dirty="0">
                          <a:solidFill>
                            <a:srgbClr val="1B1F2A"/>
                          </a:solidFill>
                        </a:rPr>
                        <a:t>Total built-up area</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400" dirty="0">
                          <a:solidFill>
                            <a:srgbClr val="1B1F2A"/>
                          </a:solidFill>
                        </a:rPr>
                        <a:t>13,419 m2</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411480">
                <a:tc>
                  <a:txBody>
                    <a:bodyPr/>
                    <a:lstStyle/>
                    <a:p>
                      <a:pPr algn="l" indent="0" marL="0">
                        <a:buNone/>
                      </a:pPr>
                      <a:r>
                        <a:rPr lang="en-US" sz="1400" b="1" dirty="0">
                          <a:solidFill>
                            <a:srgbClr val="1B1F2A"/>
                          </a:solidFill>
                        </a:rPr>
                        <a:t>Finishing standard</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1F2A"/>
                          </a:solidFill>
                        </a:rPr>
                        <a:t>Core and shell</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11480">
                <a:tc>
                  <a:txBody>
                    <a:bodyPr/>
                    <a:lstStyle/>
                    <a:p>
                      <a:pPr algn="l" indent="0" marL="0">
                        <a:buNone/>
                      </a:pPr>
                      <a:r>
                        <a:rPr lang="en-US" sz="1400" b="1" dirty="0">
                          <a:solidFill>
                            <a:srgbClr val="1B1F2A"/>
                          </a:solidFill>
                        </a:rPr>
                        <a:t>Sales start</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400" dirty="0">
                          <a:solidFill>
                            <a:srgbClr val="1B1F2A"/>
                          </a:solidFill>
                        </a:rPr>
                        <a:t>Month 13</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411480">
                <a:tc>
                  <a:txBody>
                    <a:bodyPr/>
                    <a:lstStyle/>
                    <a:p>
                      <a:pPr algn="l" indent="0" marL="0">
                        <a:buNone/>
                      </a:pPr>
                      <a:r>
                        <a:rPr lang="en-US" sz="1400" b="1" dirty="0">
                          <a:solidFill>
                            <a:srgbClr val="1B1F2A"/>
                          </a:solidFill>
                        </a:rPr>
                        <a:t>Construction</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1F2A"/>
                          </a:solidFill>
                        </a:rPr>
                        <a:t>Month 19 to 54 (36 months)</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11480">
                <a:tc>
                  <a:txBody>
                    <a:bodyPr/>
                    <a:lstStyle/>
                    <a:p>
                      <a:pPr algn="l" indent="0" marL="0">
                        <a:buNone/>
                      </a:pPr>
                      <a:r>
                        <a:rPr lang="en-US" sz="1400" b="1" dirty="0">
                          <a:solidFill>
                            <a:srgbClr val="1B1F2A"/>
                          </a:solidFill>
                        </a:rPr>
                        <a:t>Handover</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400" dirty="0">
                          <a:solidFill>
                            <a:srgbClr val="1B1F2A"/>
                          </a:solidFill>
                        </a:rPr>
                        <a:t>Month 54</a:t>
                      </a:r>
                      <a:endParaRPr lang="en-US" sz="14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bl>
          </a:graphicData>
        </a:graphic>
      </p:graphicFrame>
      <p:graphicFrame>
        <p:nvGraphicFramePr>
          <p:cNvPr id="5" name="Chart 0" descr=""/>
          <p:cNvGraphicFramePr/>
          <p:nvPr/>
        </p:nvGraphicFramePr>
        <p:xfrm>
          <a:off x="6949440" y="1371600"/>
          <a:ext cx="4663440" cy="3840480"/>
        </p:xfrm>
        <a:graphic xmlns:a="http://schemas.openxmlformats.org/drawingml/2006/main">
          <a:graphicData uri="http://schemas.openxmlformats.org/drawingml/2006/chart">
            <c:chart xmlns:c="http://schemas.openxmlformats.org/drawingml/2006/chart" r:id="rId1"/>
          </a:graphicData>
        </a:graphic>
      </p:graphicFrame>
      <p:sp>
        <p:nvSpPr>
          <p:cNvPr id="6" name="Text 1"/>
          <p:cNvSpPr txBox="1"/>
          <p:nvPr/>
        </p:nvSpPr>
        <p:spPr>
          <a:xfrm>
            <a:off x="548640" y="6035040"/>
            <a:ext cx="11064240" cy="274320"/>
          </a:xfrm>
          <a:prstGeom prst="rect">
            <a:avLst/>
          </a:prstGeom>
          <a:noFill/>
          <a:ln/>
        </p:spPr>
        <p:txBody>
          <a:bodyPr wrap="square" lIns="0" tIns="0" rIns="0" bIns="0" rtlCol="0" anchor="ctr"/>
          <a:lstStyle/>
          <a:p>
            <a:pPr indent="0" marL="0">
              <a:buNone/>
            </a:pPr>
            <a:r>
              <a:rPr lang="en-US" sz="900" i="1" dirty="0">
                <a:solidFill>
                  <a:srgbClr val="6B7280"/>
                </a:solidFill>
              </a:rPr>
              <a:t>Source: Jalour financial model (project summary). Jalour retains 20% of units, outside the sales plan and outside this offering.</a:t>
            </a:r>
            <a:endParaRPr lang="en-US" sz="9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20040"/>
            <a:ext cx="11064240" cy="822960"/>
          </a:xfrm>
          <a:prstGeom prst="rect">
            <a:avLst/>
          </a:prstGeom>
          <a:noFill/>
          <a:ln/>
        </p:spPr>
        <p:txBody>
          <a:bodyPr wrap="square" lIns="0" tIns="0" rIns="0" bIns="0" rtlCol="0" anchor="ctr">
            <a:normAutofit/>
          </a:bodyPr>
          <a:lstStyle/>
          <a:p>
            <a:pPr indent="0" marL="0">
              <a:buNone/>
            </a:pPr>
            <a:r>
              <a:rPr lang="en-US" sz="2800" b="1" dirty="0">
                <a:solidFill>
                  <a:srgbClr val="17324D"/>
                </a:solidFill>
                <a:latin typeface="Cambria" pitchFamily="34" charset="0"/>
                <a:ea typeface="Cambria" pitchFamily="34" charset="-122"/>
                <a:cs typeface="Cambria" pitchFamily="34" charset="-120"/>
              </a:rPr>
              <a:t>Partnership with Al Ahly Sabbour and the revenue share</a:t>
            </a:r>
            <a:endParaRPr lang="en-US" sz="2800" dirty="0"/>
          </a:p>
        </p:txBody>
      </p:sp>
      <p:sp>
        <p:nvSpPr>
          <p:cNvPr id="4" name="Shape 1"/>
          <p:cNvSpPr/>
          <p:nvPr/>
        </p:nvSpPr>
        <p:spPr>
          <a:xfrm>
            <a:off x="548640" y="1371600"/>
            <a:ext cx="2743200" cy="1188720"/>
          </a:xfrm>
          <a:prstGeom prst="rect">
            <a:avLst/>
          </a:prstGeom>
          <a:solidFill>
            <a:srgbClr val="F2F4F7"/>
          </a:solidFill>
          <a:ln w="12700">
            <a:solidFill>
              <a:srgbClr val="F2F4F7"/>
            </a:solidFill>
            <a:prstDash val="solid"/>
          </a:ln>
        </p:spPr>
      </p:sp>
      <p:sp>
        <p:nvSpPr>
          <p:cNvPr id="5" name="Text 2"/>
          <p:cNvSpPr txBox="1"/>
          <p:nvPr/>
        </p:nvSpPr>
        <p:spPr>
          <a:xfrm>
            <a:off x="685800" y="1417320"/>
            <a:ext cx="2468880" cy="1097280"/>
          </a:xfrm>
          <a:prstGeom prst="rect">
            <a:avLst/>
          </a:prstGeom>
          <a:noFill/>
          <a:ln/>
        </p:spPr>
        <p:txBody>
          <a:bodyPr wrap="square" lIns="0" tIns="0" rIns="0" bIns="0" rtlCol="0" anchor="t"/>
          <a:lstStyle/>
          <a:p>
            <a:pPr indent="0" marL="0">
              <a:buNone/>
            </a:pPr>
            <a:r>
              <a:rPr lang="en-US" sz="1200" b="1" dirty="0">
                <a:solidFill>
                  <a:srgbClr val="1B1F2A"/>
                </a:solidFill>
              </a:rPr>
              <a:t>Al Ahly Sabbour</a:t>
            </a:r>
            <a:endParaRPr lang="en-US" sz="1200" dirty="0"/>
          </a:p>
          <a:p>
            <a:pPr indent="0" marL="0">
              <a:buNone/>
            </a:pPr>
            <a:r>
              <a:rPr lang="en-US" sz="1200" dirty="0">
                <a:solidFill>
                  <a:srgbClr val="1B1F2A"/>
                </a:solidFill>
              </a:rPr>
              <a:t>Landowner. Receives 35% of collections, subject to a minimum guarantee.</a:t>
            </a:r>
            <a:endParaRPr lang="en-US" sz="1200" dirty="0"/>
          </a:p>
        </p:txBody>
      </p:sp>
      <p:sp>
        <p:nvSpPr>
          <p:cNvPr id="6" name="Shape 3"/>
          <p:cNvSpPr/>
          <p:nvPr/>
        </p:nvSpPr>
        <p:spPr>
          <a:xfrm>
            <a:off x="548640" y="2743200"/>
            <a:ext cx="2743200" cy="1554480"/>
          </a:xfrm>
          <a:prstGeom prst="rect">
            <a:avLst/>
          </a:prstGeom>
          <a:solidFill>
            <a:srgbClr val="F2F4F7"/>
          </a:solidFill>
          <a:ln w="12700">
            <a:solidFill>
              <a:srgbClr val="F2F4F7"/>
            </a:solidFill>
            <a:prstDash val="solid"/>
          </a:ln>
        </p:spPr>
      </p:sp>
      <p:sp>
        <p:nvSpPr>
          <p:cNvPr id="7" name="Text 4"/>
          <p:cNvSpPr txBox="1"/>
          <p:nvPr/>
        </p:nvSpPr>
        <p:spPr>
          <a:xfrm>
            <a:off x="685800" y="2788920"/>
            <a:ext cx="2468880" cy="1463040"/>
          </a:xfrm>
          <a:prstGeom prst="rect">
            <a:avLst/>
          </a:prstGeom>
          <a:noFill/>
          <a:ln/>
        </p:spPr>
        <p:txBody>
          <a:bodyPr wrap="square" lIns="0" tIns="0" rIns="0" bIns="0" rtlCol="0" anchor="t"/>
          <a:lstStyle/>
          <a:p>
            <a:pPr indent="0" marL="0">
              <a:buNone/>
            </a:pPr>
            <a:r>
              <a:rPr lang="en-US" sz="1200" b="1" dirty="0">
                <a:solidFill>
                  <a:srgbClr val="1B1F2A"/>
                </a:solidFill>
              </a:rPr>
              <a:t>Jalour</a:t>
            </a:r>
            <a:endParaRPr lang="en-US" sz="1200" dirty="0"/>
          </a:p>
          <a:p>
            <a:pPr indent="0" marL="0">
              <a:buNone/>
            </a:pPr>
            <a:r>
              <a:rPr lang="en-US" sz="1200" dirty="0">
                <a:solidFill>
                  <a:srgbClr val="1B1F2A"/>
                </a:solidFill>
              </a:rPr>
              <a:t>Developer and operator. Keeps 65% of collections. Carries design, permits, core-and-shell construction, marketing, sales, collection and operation costs.</a:t>
            </a:r>
            <a:endParaRPr lang="en-US" sz="1200" dirty="0"/>
          </a:p>
        </p:txBody>
      </p:sp>
      <p:sp>
        <p:nvSpPr>
          <p:cNvPr id="8" name="Text 5"/>
          <p:cNvSpPr txBox="1"/>
          <p:nvPr/>
        </p:nvSpPr>
        <p:spPr>
          <a:xfrm>
            <a:off x="548640" y="4434840"/>
            <a:ext cx="11064240" cy="16459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B1F2A"/>
                </a:solidFill>
              </a:rPr>
              <a:t>Minimum guarantee EGP 850 million over six years; down payment EGP 85 million (10%) paid up front.</a:t>
            </a:r>
            <a:endParaRPr lang="en-US" sz="1300" dirty="0"/>
          </a:p>
          <a:p>
            <a:pPr marL="342900" indent="-342900">
              <a:spcAft>
                <a:spcPts val="600"/>
              </a:spcAft>
              <a:buSzPct val="100000"/>
              <a:buChar char="•"/>
            </a:pPr>
            <a:r>
              <a:rPr lang="en-US" sz="1300" dirty="0">
                <a:solidFill>
                  <a:srgbClr val="1B1F2A"/>
                </a:solidFill>
              </a:rPr>
              <a:t>Landlord share is 35% of collections or the guaranteed instalment, whichever is higher.</a:t>
            </a:r>
            <a:endParaRPr lang="en-US" sz="1300" dirty="0"/>
          </a:p>
          <a:p>
            <a:pPr marL="342900" indent="-342900">
              <a:spcAft>
                <a:spcPts val="600"/>
              </a:spcAft>
              <a:buSzPct val="100000"/>
              <a:buChar char="•"/>
            </a:pPr>
            <a:r>
              <a:rPr lang="en-US" sz="1300" dirty="0">
                <a:solidFill>
                  <a:srgbClr val="1B1F2A"/>
                </a:solidFill>
              </a:rPr>
              <a:t>Any excess of 35% over the guarantee is settled from year 8.</a:t>
            </a:r>
            <a:endParaRPr lang="en-US" sz="1300" dirty="0"/>
          </a:p>
          <a:p>
            <a:pPr marL="342900" indent="-342900">
              <a:spcAft>
                <a:spcPts val="600"/>
              </a:spcAft>
              <a:buSzPct val="100000"/>
              <a:buChar char="•"/>
            </a:pPr>
            <a:r>
              <a:rPr lang="en-US" sz="1300" dirty="0">
                <a:solidFill>
                  <a:srgbClr val="1B1F2A"/>
                </a:solidFill>
              </a:rPr>
              <a:t>Allocation of units, assignment of collections or any encumbrance affecting the landlord share requires the landlord's written consent.</a:t>
            </a:r>
            <a:endParaRPr lang="en-US" sz="1300" dirty="0"/>
          </a:p>
        </p:txBody>
      </p:sp>
      <p:graphicFrame>
        <p:nvGraphicFramePr>
          <p:cNvPr id="9" name="Chart 0" descr=""/>
          <p:cNvGraphicFramePr/>
          <p:nvPr/>
        </p:nvGraphicFramePr>
        <p:xfrm>
          <a:off x="3657600" y="1280160"/>
          <a:ext cx="7955280" cy="3108960"/>
        </p:xfrm>
        <a:graphic xmlns:a="http://schemas.openxmlformats.org/drawingml/2006/main">
          <a:graphicData uri="http://schemas.openxmlformats.org/drawingml/2006/chart">
            <c:chart xmlns:c="http://schemas.openxmlformats.org/drawingml/2006/chart" r:id="rId1"/>
          </a:graphicData>
        </a:graphic>
      </p:graphicFrame>
      <p:sp>
        <p:nvSpPr>
          <p:cNvPr id="10" name="Text 6"/>
          <p:cNvSpPr txBox="1"/>
          <p:nvPr/>
        </p:nvSpPr>
        <p:spPr>
          <a:xfrm>
            <a:off x="548640" y="6080760"/>
            <a:ext cx="11064240" cy="274320"/>
          </a:xfrm>
          <a:prstGeom prst="rect">
            <a:avLst/>
          </a:prstGeom>
          <a:noFill/>
          <a:ln/>
        </p:spPr>
        <p:txBody>
          <a:bodyPr wrap="square" lIns="0" tIns="0" rIns="0" bIns="0" rtlCol="0" anchor="ctr"/>
          <a:lstStyle/>
          <a:p>
            <a:pPr indent="0" marL="0">
              <a:buNone/>
            </a:pPr>
            <a:r>
              <a:rPr lang="en-US" sz="900" i="1" dirty="0">
                <a:solidFill>
                  <a:srgbClr val="6B7280"/>
                </a:solidFill>
              </a:rPr>
              <a:t>Source: Jalour financial model (landlord terms); agreement terms to be confirmed in the data room.</a:t>
            </a:r>
            <a:endParaRPr lang="en-US" sz="9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320040"/>
            <a:ext cx="11064240" cy="822960"/>
          </a:xfrm>
          <a:prstGeom prst="rect">
            <a:avLst/>
          </a:prstGeom>
          <a:noFill/>
          <a:ln/>
        </p:spPr>
        <p:txBody>
          <a:bodyPr wrap="square" lIns="0" tIns="0" rIns="0" bIns="0" rtlCol="0" anchor="ctr">
            <a:normAutofit/>
          </a:bodyPr>
          <a:lstStyle/>
          <a:p>
            <a:pPr indent="0" marL="0">
              <a:buNone/>
            </a:pPr>
            <a:r>
              <a:rPr lang="en-US" sz="2800" b="1" dirty="0">
                <a:solidFill>
                  <a:srgbClr val="17324D"/>
                </a:solidFill>
                <a:latin typeface="Cambria" pitchFamily="34" charset="0"/>
                <a:ea typeface="Cambria" pitchFamily="34" charset="-122"/>
                <a:cs typeface="Cambria" pitchFamily="34" charset="-120"/>
              </a:rPr>
              <a:t>Jalour Developments: role and track record</a:t>
            </a:r>
            <a:endParaRPr lang="en-US" sz="2800" dirty="0"/>
          </a:p>
        </p:txBody>
      </p:sp>
      <p:sp>
        <p:nvSpPr>
          <p:cNvPr id="4" name="Shape 1"/>
          <p:cNvSpPr/>
          <p:nvPr/>
        </p:nvSpPr>
        <p:spPr>
          <a:xfrm>
            <a:off x="548640" y="1371600"/>
            <a:ext cx="5394960" cy="4480560"/>
          </a:xfrm>
          <a:prstGeom prst="rect">
            <a:avLst/>
          </a:prstGeom>
          <a:solidFill>
            <a:srgbClr val="F2F4F7"/>
          </a:solidFill>
          <a:ln w="12700">
            <a:solidFill>
              <a:srgbClr val="F2F4F7"/>
            </a:solidFill>
            <a:prstDash val="solid"/>
          </a:ln>
        </p:spPr>
      </p:sp>
      <p:sp>
        <p:nvSpPr>
          <p:cNvPr id="5" name="Text 2"/>
          <p:cNvSpPr txBox="1"/>
          <p:nvPr/>
        </p:nvSpPr>
        <p:spPr>
          <a:xfrm>
            <a:off x="731520" y="1463040"/>
            <a:ext cx="5029200" cy="365760"/>
          </a:xfrm>
          <a:prstGeom prst="rect">
            <a:avLst/>
          </a:prstGeom>
          <a:noFill/>
          <a:ln/>
        </p:spPr>
        <p:txBody>
          <a:bodyPr wrap="square" lIns="0" tIns="0" rIns="0" bIns="0" rtlCol="0" anchor="ctr"/>
          <a:lstStyle/>
          <a:p>
            <a:pPr indent="0" marL="0">
              <a:buNone/>
            </a:pPr>
            <a:r>
              <a:rPr lang="en-US" sz="1600" b="1" dirty="0">
                <a:solidFill>
                  <a:srgbClr val="17324D"/>
                </a:solidFill>
              </a:rPr>
              <a:t>Role in this project</a:t>
            </a:r>
            <a:endParaRPr lang="en-US" sz="1600" dirty="0"/>
          </a:p>
        </p:txBody>
      </p:sp>
      <p:sp>
        <p:nvSpPr>
          <p:cNvPr id="6" name="Text 3"/>
          <p:cNvSpPr txBox="1"/>
          <p:nvPr/>
        </p:nvSpPr>
        <p:spPr>
          <a:xfrm>
            <a:off x="731520" y="1920240"/>
            <a:ext cx="5029200" cy="38404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1F2A"/>
                </a:solidFill>
              </a:rPr>
              <a:t>Design and permits</a:t>
            </a:r>
            <a:endParaRPr lang="en-US" sz="1400" dirty="0"/>
          </a:p>
          <a:p>
            <a:pPr marL="342900" indent="-342900">
              <a:spcAft>
                <a:spcPts val="600"/>
              </a:spcAft>
              <a:buSzPct val="100000"/>
              <a:buChar char="•"/>
            </a:pPr>
            <a:r>
              <a:rPr lang="en-US" sz="1400" dirty="0">
                <a:solidFill>
                  <a:srgbClr val="1B1F2A"/>
                </a:solidFill>
              </a:rPr>
              <a:t>Construction to core-and-shell standard</a:t>
            </a:r>
            <a:endParaRPr lang="en-US" sz="1400" dirty="0"/>
          </a:p>
          <a:p>
            <a:pPr marL="342900" indent="-342900">
              <a:spcAft>
                <a:spcPts val="600"/>
              </a:spcAft>
              <a:buSzPct val="100000"/>
              <a:buChar char="•"/>
            </a:pPr>
            <a:r>
              <a:rPr lang="en-US" sz="1400" dirty="0">
                <a:solidFill>
                  <a:srgbClr val="1B1F2A"/>
                </a:solidFill>
              </a:rPr>
              <a:t>Marketing, branding and sales</a:t>
            </a:r>
            <a:endParaRPr lang="en-US" sz="1400" dirty="0"/>
          </a:p>
          <a:p>
            <a:pPr marL="342900" indent="-342900">
              <a:spcAft>
                <a:spcPts val="600"/>
              </a:spcAft>
              <a:buSzPct val="100000"/>
              <a:buChar char="•"/>
            </a:pPr>
            <a:r>
              <a:rPr lang="en-US" sz="1400" dirty="0">
                <a:solidFill>
                  <a:srgbClr val="1B1F2A"/>
                </a:solidFill>
              </a:rPr>
              <a:t>Collection of instalments</a:t>
            </a:r>
            <a:endParaRPr lang="en-US" sz="1400" dirty="0"/>
          </a:p>
          <a:p>
            <a:pPr marL="342900" indent="-342900">
              <a:spcAft>
                <a:spcPts val="600"/>
              </a:spcAft>
              <a:buSzPct val="100000"/>
              <a:buChar char="•"/>
            </a:pPr>
            <a:r>
              <a:rPr lang="en-US" sz="1400" dirty="0">
                <a:solidFill>
                  <a:srgbClr val="1B1F2A"/>
                </a:solidFill>
              </a:rPr>
              <a:t>Operation, management and maintenance, directly or through a facility management company</a:t>
            </a:r>
            <a:endParaRPr lang="en-US" sz="1400" dirty="0"/>
          </a:p>
          <a:p>
            <a:pPr marL="342900" indent="-342900">
              <a:spcAft>
                <a:spcPts val="600"/>
              </a:spcAft>
              <a:buSzPct val="100000"/>
              <a:buChar char="•"/>
            </a:pPr>
            <a:r>
              <a:rPr lang="en-US" sz="1400" dirty="0">
                <a:solidFill>
                  <a:srgbClr val="1B1F2A"/>
                </a:solidFill>
              </a:rPr>
              <a:t>Covers project funding gaps from its cash reserves and cash from other projects it is constructing (to be documented)</a:t>
            </a:r>
            <a:endParaRPr lang="en-US" sz="1400" dirty="0"/>
          </a:p>
        </p:txBody>
      </p:sp>
      <p:sp>
        <p:nvSpPr>
          <p:cNvPr id="7" name="Shape 4"/>
          <p:cNvSpPr/>
          <p:nvPr/>
        </p:nvSpPr>
        <p:spPr>
          <a:xfrm>
            <a:off x="6217920" y="1371600"/>
            <a:ext cx="5394960" cy="4480560"/>
          </a:xfrm>
          <a:prstGeom prst="rect">
            <a:avLst/>
          </a:prstGeom>
          <a:solidFill>
            <a:srgbClr val="FBF3E4"/>
          </a:solidFill>
          <a:ln w="12700">
            <a:solidFill>
              <a:srgbClr val="FBF3E4"/>
            </a:solidFill>
            <a:prstDash val="solid"/>
          </a:ln>
        </p:spPr>
      </p:sp>
      <p:sp>
        <p:nvSpPr>
          <p:cNvPr id="8" name="Text 5"/>
          <p:cNvSpPr txBox="1"/>
          <p:nvPr/>
        </p:nvSpPr>
        <p:spPr>
          <a:xfrm>
            <a:off x="6400800" y="1463040"/>
            <a:ext cx="5029200" cy="365760"/>
          </a:xfrm>
          <a:prstGeom prst="rect">
            <a:avLst/>
          </a:prstGeom>
          <a:noFill/>
          <a:ln/>
        </p:spPr>
        <p:txBody>
          <a:bodyPr wrap="square" lIns="0" tIns="0" rIns="0" bIns="0" rtlCol="0" anchor="ctr"/>
          <a:lstStyle/>
          <a:p>
            <a:pPr indent="0" marL="0">
              <a:buNone/>
            </a:pPr>
            <a:r>
              <a:rPr lang="en-US" sz="1600" b="1" dirty="0">
                <a:solidFill>
                  <a:srgbClr val="B8893B"/>
                </a:solidFill>
              </a:rPr>
              <a:t>Track record and team</a:t>
            </a:r>
            <a:endParaRPr lang="en-US" sz="1600" dirty="0"/>
          </a:p>
        </p:txBody>
      </p:sp>
      <p:sp>
        <p:nvSpPr>
          <p:cNvPr id="9" name="Text 6"/>
          <p:cNvSpPr txBox="1"/>
          <p:nvPr/>
        </p:nvSpPr>
        <p:spPr>
          <a:xfrm>
            <a:off x="6400800" y="1920240"/>
            <a:ext cx="5029200" cy="38404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1F2A"/>
                </a:solidFill>
              </a:rPr>
              <a:t>Completed projects, area delivered and units handed over</a:t>
            </a:r>
            <a:endParaRPr lang="en-US" sz="1400" dirty="0"/>
          </a:p>
          <a:p>
            <a:pPr marL="342900" indent="-342900">
              <a:spcAft>
                <a:spcPts val="600"/>
              </a:spcAft>
              <a:buSzPct val="100000"/>
              <a:buChar char="•"/>
            </a:pPr>
            <a:r>
              <a:rPr lang="en-US" sz="1400" dirty="0">
                <a:solidFill>
                  <a:srgbClr val="1B1F2A"/>
                </a:solidFill>
              </a:rPr>
              <a:t>Management team biographies</a:t>
            </a:r>
            <a:endParaRPr lang="en-US" sz="1400" dirty="0"/>
          </a:p>
          <a:p>
            <a:pPr marL="342900" indent="-342900">
              <a:spcAft>
                <a:spcPts val="600"/>
              </a:spcAft>
              <a:buSzPct val="100000"/>
              <a:buChar char="•"/>
            </a:pPr>
            <a:r>
              <a:rPr lang="en-US" sz="1400" dirty="0">
                <a:solidFill>
                  <a:srgbClr val="1B1F2A"/>
                </a:solidFill>
              </a:rPr>
              <a:t>Audited financial statements of Jalour and Al Jalal Holding</a:t>
            </a:r>
            <a:endParaRPr lang="en-US" sz="1400" dirty="0"/>
          </a:p>
          <a:p>
            <a:pPr marL="342900" indent="-342900">
              <a:spcAft>
                <a:spcPts val="600"/>
              </a:spcAft>
              <a:buSzPct val="100000"/>
              <a:buChar char="•"/>
            </a:pPr>
            <a:r>
              <a:rPr lang="en-US" sz="1400" dirty="0">
                <a:solidFill>
                  <a:srgbClr val="1B1F2A"/>
                </a:solidFill>
              </a:rPr>
              <a:t>References from landlords, contractors and buyers</a:t>
            </a:r>
            <a:endParaRPr lang="en-US" sz="1400" dirty="0"/>
          </a:p>
          <a:p>
            <a:pPr marL="342900" indent="-342900">
              <a:spcAft>
                <a:spcPts val="600"/>
              </a:spcAft>
              <a:buSzPct val="100000"/>
              <a:buChar char="•"/>
            </a:pPr>
            <a:r>
              <a:rPr lang="en-US" sz="1400" dirty="0">
                <a:solidFill>
                  <a:srgbClr val="1B1F2A"/>
                </a:solidFill>
              </a:rPr>
              <a:t>All provided after the investor signs a non-disclosure agreement</a:t>
            </a:r>
            <a:endParaRPr lang="en-US" sz="1400" dirty="0"/>
          </a:p>
        </p:txBody>
      </p:sp>
      <p:sp>
        <p:nvSpPr>
          <p:cNvPr id="10" name="Text 7"/>
          <p:cNvSpPr txBox="1"/>
          <p:nvPr/>
        </p:nvSpPr>
        <p:spPr>
          <a:xfrm>
            <a:off x="548640" y="6035040"/>
            <a:ext cx="11064240" cy="274320"/>
          </a:xfrm>
          <a:prstGeom prst="rect">
            <a:avLst/>
          </a:prstGeom>
          <a:noFill/>
          <a:ln/>
        </p:spPr>
        <p:txBody>
          <a:bodyPr wrap="square" lIns="0" tIns="0" rIns="0" bIns="0" rtlCol="0" anchor="ctr"/>
          <a:lstStyle/>
          <a:p>
            <a:pPr indent="0" marL="0">
              <a:buNone/>
            </a:pPr>
            <a:r>
              <a:rPr lang="en-US" sz="900" i="1" dirty="0">
                <a:solidFill>
                  <a:srgbClr val="6B7280"/>
                </a:solidFill>
              </a:rPr>
              <a:t>Source: Jalour Developments is the real estate arm of Al Jalal Holding, Cairo. Sponsor materials are provided after the investor signs a non-disclosure agreement.</a:t>
            </a:r>
            <a:endParaRPr lang="en-US" sz="9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320040"/>
            <a:ext cx="11064240" cy="822960"/>
          </a:xfrm>
          <a:prstGeom prst="rect">
            <a:avLst/>
          </a:prstGeom>
          <a:noFill/>
          <a:ln/>
        </p:spPr>
        <p:txBody>
          <a:bodyPr wrap="square" lIns="0" tIns="0" rIns="0" bIns="0" rtlCol="0" anchor="ctr">
            <a:normAutofit/>
          </a:bodyPr>
          <a:lstStyle/>
          <a:p>
            <a:pPr indent="0" marL="0">
              <a:buNone/>
            </a:pPr>
            <a:r>
              <a:rPr lang="en-US" sz="2800" b="1" dirty="0">
                <a:solidFill>
                  <a:srgbClr val="17324D"/>
                </a:solidFill>
                <a:latin typeface="Cambria" pitchFamily="34" charset="0"/>
                <a:ea typeface="Cambria" pitchFamily="34" charset="-122"/>
                <a:cs typeface="Cambria" pitchFamily="34" charset="-120"/>
              </a:rPr>
              <a:t>Sales plan and pricing</a:t>
            </a:r>
            <a:endParaRPr lang="en-US" sz="2800" dirty="0"/>
          </a:p>
        </p:txBody>
      </p:sp>
      <p:graphicFrame>
        <p:nvGraphicFramePr>
          <p:cNvPr id="4" name="Chart 0" descr=""/>
          <p:cNvGraphicFramePr/>
          <p:nvPr/>
        </p:nvGraphicFramePr>
        <p:xfrm>
          <a:off x="548640" y="1280160"/>
          <a:ext cx="6766560" cy="4023360"/>
        </p:xfrm>
        <a:graphic xmlns:a="http://schemas.openxmlformats.org/drawingml/2006/main">
          <a:graphicData uri="http://schemas.openxmlformats.org/drawingml/2006/chart">
            <c:chart xmlns:c="http://schemas.openxmlformats.org/drawingml/2006/chart" r:id="rId1"/>
          </a:graphicData>
        </a:graphic>
      </p:graphicFrame>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7589520" y="1463040"/>
          <a:ext cx="4023360" cy="914400"/>
        </p:xfrm>
        <a:graphic>
          <a:graphicData uri="http://schemas.openxmlformats.org/drawingml/2006/table">
            <a:tbl>
              <a:tblPr/>
              <a:tblGrid>
                <a:gridCol w="1645920"/>
                <a:gridCol w="777240"/>
                <a:gridCol w="777240"/>
                <a:gridCol w="822960"/>
              </a:tblGrid>
              <a:tr h="411480">
                <a:tc>
                  <a:txBody>
                    <a:bodyPr/>
                    <a:lstStyle/>
                    <a:p>
                      <a:pPr algn="l" indent="0" marL="0">
                        <a:buNone/>
                      </a:pPr>
                      <a:r>
                        <a:rPr lang="en-US" sz="1200" b="1" dirty="0">
                          <a:solidFill>
                            <a:srgbClr val="FFFFFF"/>
                          </a:solidFill>
                        </a:rPr>
                        <a:t>EGP thousand per m2</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c>
                  <a:txBody>
                    <a:bodyPr/>
                    <a:lstStyle/>
                    <a:p>
                      <a:pPr algn="r" indent="0" marL="0">
                        <a:buNone/>
                      </a:pPr>
                      <a:r>
                        <a:rPr lang="en-US" sz="1200" b="1" dirty="0">
                          <a:solidFill>
                            <a:srgbClr val="FFFFFF"/>
                          </a:solidFill>
                        </a:rPr>
                        <a:t>Launch</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c>
                  <a:txBody>
                    <a:bodyPr/>
                    <a:lstStyle/>
                    <a:p>
                      <a:pPr algn="r" indent="0" marL="0">
                        <a:buNone/>
                      </a:pPr>
                      <a:r>
                        <a:rPr lang="en-US" sz="1200" b="1" dirty="0">
                          <a:solidFill>
                            <a:srgbClr val="FFFFFF"/>
                          </a:solidFill>
                        </a:rPr>
                        <a:t>Delivery list</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c>
                  <a:txBody>
                    <a:bodyPr/>
                    <a:lstStyle/>
                    <a:p>
                      <a:pPr algn="r" indent="0" marL="0">
                        <a:buNone/>
                      </a:pPr>
                      <a:r>
                        <a:rPr lang="en-US" sz="1200" b="1" dirty="0">
                          <a:solidFill>
                            <a:srgbClr val="FFFFFF"/>
                          </a:solidFill>
                        </a:rPr>
                        <a:t>Average</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r>
              <a:tr h="411480">
                <a:tc>
                  <a:txBody>
                    <a:bodyPr/>
                    <a:lstStyle/>
                    <a:p>
                      <a:pPr algn="l" indent="0" marL="0">
                        <a:buNone/>
                      </a:pPr>
                      <a:r>
                        <a:rPr lang="en-US" sz="1200" dirty="0">
                          <a:solidFill>
                            <a:srgbClr val="1B1F2A"/>
                          </a:solidFill>
                        </a:rPr>
                        <a:t>Retail</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1F2A"/>
                          </a:solidFill>
                        </a:rPr>
                        <a:t>250</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1F2A"/>
                          </a:solidFill>
                        </a:rPr>
                        <a:t>360</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1F2A"/>
                          </a:solidFill>
                        </a:rPr>
                        <a:t>301</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11480">
                <a:tc>
                  <a:txBody>
                    <a:bodyPr/>
                    <a:lstStyle/>
                    <a:p>
                      <a:pPr algn="l" indent="0" marL="0">
                        <a:buNone/>
                      </a:pPr>
                      <a:r>
                        <a:rPr lang="en-US" sz="1200" dirty="0">
                          <a:solidFill>
                            <a:srgbClr val="1B1F2A"/>
                          </a:solidFill>
                        </a:rPr>
                        <a:t>Offices</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r" indent="0" marL="0">
                        <a:buNone/>
                      </a:pPr>
                      <a:r>
                        <a:rPr lang="en-US" sz="1200" dirty="0">
                          <a:solidFill>
                            <a:srgbClr val="1B1F2A"/>
                          </a:solidFill>
                        </a:rPr>
                        <a:t>160</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r" indent="0" marL="0">
                        <a:buNone/>
                      </a:pPr>
                      <a:r>
                        <a:rPr lang="en-US" sz="1200" dirty="0">
                          <a:solidFill>
                            <a:srgbClr val="1B1F2A"/>
                          </a:solidFill>
                        </a:rPr>
                        <a:t>240</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r" indent="0" marL="0">
                        <a:buNone/>
                      </a:pPr>
                      <a:r>
                        <a:rPr lang="en-US" sz="1200" dirty="0">
                          <a:solidFill>
                            <a:srgbClr val="1B1F2A"/>
                          </a:solidFill>
                        </a:rPr>
                        <a:t>191</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bl>
          </a:graphicData>
        </a:graphic>
      </p:graphicFrame>
      <p:sp>
        <p:nvSpPr>
          <p:cNvPr id="6" name="Text 1"/>
          <p:cNvSpPr txBox="1"/>
          <p:nvPr/>
        </p:nvSpPr>
        <p:spPr>
          <a:xfrm>
            <a:off x="7589520" y="2926080"/>
            <a:ext cx="4023360" cy="310896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1B1F2A"/>
                </a:solidFill>
              </a:rPr>
              <a:t>Total sales at 100% of units: EGP 3,342 million; plan sells 80%: EGP 2,674 million.</a:t>
            </a:r>
            <a:endParaRPr lang="en-US" sz="1200" dirty="0"/>
          </a:p>
          <a:p>
            <a:pPr marL="342900" indent="-342900">
              <a:spcAft>
                <a:spcPts val="600"/>
              </a:spcAft>
              <a:buSzPct val="100000"/>
              <a:buChar char="•"/>
            </a:pPr>
            <a:r>
              <a:rPr lang="en-US" sz="1200" dirty="0">
                <a:solidFill>
                  <a:srgbClr val="1B1F2A"/>
                </a:solidFill>
              </a:rPr>
              <a:t>Payment plans: down payment 5% to 20%, a second equal payment three months later, instalments of 2 to 8 years and a delivery payment of 20% to 25%.</a:t>
            </a:r>
            <a:endParaRPr lang="en-US" sz="1200" dirty="0"/>
          </a:p>
          <a:p>
            <a:pPr marL="342900" indent="-342900">
              <a:spcAft>
                <a:spcPts val="600"/>
              </a:spcAft>
              <a:buSzPct val="100000"/>
              <a:buChar char="•"/>
            </a:pPr>
            <a:r>
              <a:rPr lang="en-US" sz="1200" dirty="0">
                <a:solidFill>
                  <a:srgbClr val="1B1F2A"/>
                </a:solidFill>
              </a:rPr>
              <a:t>Delivery payments are collected on a contractual milestone ahead of handover (see risks).</a:t>
            </a:r>
            <a:endParaRPr lang="en-US" sz="1200" dirty="0"/>
          </a:p>
        </p:txBody>
      </p:sp>
      <p:sp>
        <p:nvSpPr>
          <p:cNvPr id="7" name="Text 2"/>
          <p:cNvSpPr txBox="1"/>
          <p:nvPr/>
        </p:nvSpPr>
        <p:spPr>
          <a:xfrm>
            <a:off x="548640" y="6035040"/>
            <a:ext cx="11064240" cy="274320"/>
          </a:xfrm>
          <a:prstGeom prst="rect">
            <a:avLst/>
          </a:prstGeom>
          <a:noFill/>
          <a:ln/>
        </p:spPr>
        <p:txBody>
          <a:bodyPr wrap="square" lIns="0" tIns="0" rIns="0" bIns="0" rtlCol="0" anchor="ctr"/>
          <a:lstStyle/>
          <a:p>
            <a:pPr indent="0" marL="0">
              <a:buNone/>
            </a:pPr>
            <a:r>
              <a:rPr lang="en-US" sz="900" i="1" dirty="0">
                <a:solidFill>
                  <a:srgbClr val="6B7280"/>
                </a:solidFill>
              </a:rPr>
              <a:t>Source: Jalour financial model (sales sheet). Prices are model assumptions; see slide 5 for market evidence.</a:t>
            </a:r>
            <a:endParaRPr lang="en-US" sz="9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320040"/>
            <a:ext cx="11064240" cy="822960"/>
          </a:xfrm>
          <a:prstGeom prst="rect">
            <a:avLst/>
          </a:prstGeom>
          <a:noFill/>
          <a:ln/>
        </p:spPr>
        <p:txBody>
          <a:bodyPr wrap="square" lIns="0" tIns="0" rIns="0" bIns="0" rtlCol="0" anchor="ctr">
            <a:normAutofit/>
          </a:bodyPr>
          <a:lstStyle/>
          <a:p>
            <a:pPr indent="0" marL="0">
              <a:buNone/>
            </a:pPr>
            <a:r>
              <a:rPr lang="en-US" sz="2800" b="1" dirty="0">
                <a:solidFill>
                  <a:srgbClr val="17324D"/>
                </a:solidFill>
                <a:latin typeface="Cambria" pitchFamily="34" charset="0"/>
                <a:ea typeface="Cambria" pitchFamily="34" charset="-122"/>
                <a:cs typeface="Cambria" pitchFamily="34" charset="-120"/>
              </a:rPr>
              <a:t>Collections, costs and cash flow</a:t>
            </a:r>
            <a:endParaRPr lang="en-US" sz="2800" dirty="0"/>
          </a:p>
        </p:txBody>
      </p:sp>
      <p:graphicFrame>
        <p:nvGraphicFramePr>
          <p:cNvPr id="4" name="Chart 0" descr=""/>
          <p:cNvGraphicFramePr/>
          <p:nvPr/>
        </p:nvGraphicFramePr>
        <p:xfrm>
          <a:off x="548640" y="1280160"/>
          <a:ext cx="7498080" cy="4572000"/>
        </p:xfrm>
        <a:graphic xmlns:a="http://schemas.openxmlformats.org/drawingml/2006/main">
          <a:graphicData uri="http://schemas.openxmlformats.org/drawingml/2006/chart">
            <c:chart xmlns:c="http://schemas.openxmlformats.org/drawingml/2006/chart" r:id="rId1"/>
          </a:graphicData>
        </a:graphic>
      </p:graphicFrame>
      <p:sp>
        <p:nvSpPr>
          <p:cNvPr id="5" name="Shape 1"/>
          <p:cNvSpPr/>
          <p:nvPr/>
        </p:nvSpPr>
        <p:spPr>
          <a:xfrm>
            <a:off x="8321040" y="1371600"/>
            <a:ext cx="3291840" cy="1417320"/>
          </a:xfrm>
          <a:prstGeom prst="rect">
            <a:avLst/>
          </a:prstGeom>
          <a:solidFill>
            <a:srgbClr val="F2F4F7"/>
          </a:solidFill>
          <a:ln w="12700">
            <a:solidFill>
              <a:srgbClr val="F2F4F7"/>
            </a:solidFill>
            <a:prstDash val="solid"/>
          </a:ln>
        </p:spPr>
      </p:sp>
      <p:sp>
        <p:nvSpPr>
          <p:cNvPr id="6" name="Text 2"/>
          <p:cNvSpPr txBox="1"/>
          <p:nvPr/>
        </p:nvSpPr>
        <p:spPr>
          <a:xfrm>
            <a:off x="8503920" y="1481328"/>
            <a:ext cx="2926080" cy="731520"/>
          </a:xfrm>
          <a:prstGeom prst="rect">
            <a:avLst/>
          </a:prstGeom>
          <a:noFill/>
          <a:ln/>
        </p:spPr>
        <p:txBody>
          <a:bodyPr wrap="square" lIns="0" tIns="0" rIns="0" bIns="0" rtlCol="0" anchor="ctr">
            <a:normAutofit/>
          </a:bodyPr>
          <a:lstStyle/>
          <a:p>
            <a:pPr indent="0" marL="0">
              <a:buNone/>
            </a:pPr>
            <a:r>
              <a:rPr lang="en-US" sz="3000" b="1" dirty="0">
                <a:solidFill>
                  <a:srgbClr val="17324D"/>
                </a:solidFill>
                <a:latin typeface="Cambria" pitchFamily="34" charset="0"/>
                <a:ea typeface="Cambria" pitchFamily="34" charset="-122"/>
                <a:cs typeface="Cambria" pitchFamily="34" charset="-120"/>
              </a:rPr>
              <a:t>595</a:t>
            </a:r>
            <a:endParaRPr lang="en-US" sz="3000" dirty="0"/>
          </a:p>
        </p:txBody>
      </p:sp>
      <p:sp>
        <p:nvSpPr>
          <p:cNvPr id="7" name="Text 3"/>
          <p:cNvSpPr txBox="1"/>
          <p:nvPr/>
        </p:nvSpPr>
        <p:spPr>
          <a:xfrm>
            <a:off x="8503920" y="2212848"/>
            <a:ext cx="2926080" cy="502920"/>
          </a:xfrm>
          <a:prstGeom prst="rect">
            <a:avLst/>
          </a:prstGeom>
          <a:noFill/>
          <a:ln/>
        </p:spPr>
        <p:txBody>
          <a:bodyPr wrap="square" lIns="0" tIns="0" rIns="0" bIns="0" rtlCol="0" anchor="t"/>
          <a:lstStyle/>
          <a:p>
            <a:pPr indent="0" marL="0">
              <a:buNone/>
            </a:pPr>
            <a:r>
              <a:rPr lang="en-US" sz="1200" dirty="0">
                <a:solidFill>
                  <a:srgbClr val="6B7280"/>
                </a:solidFill>
              </a:rPr>
              <a:t>Jalour net cash flow, nominal, EGP million</a:t>
            </a:r>
            <a:endParaRPr lang="en-US" sz="1200" dirty="0"/>
          </a:p>
        </p:txBody>
      </p:sp>
      <p:sp>
        <p:nvSpPr>
          <p:cNvPr id="8" name="Shape 4"/>
          <p:cNvSpPr/>
          <p:nvPr/>
        </p:nvSpPr>
        <p:spPr>
          <a:xfrm>
            <a:off x="8321040" y="2926080"/>
            <a:ext cx="3291840" cy="1417320"/>
          </a:xfrm>
          <a:prstGeom prst="rect">
            <a:avLst/>
          </a:prstGeom>
          <a:solidFill>
            <a:srgbClr val="F2F4F7"/>
          </a:solidFill>
          <a:ln w="12700">
            <a:solidFill>
              <a:srgbClr val="F2F4F7"/>
            </a:solidFill>
            <a:prstDash val="solid"/>
          </a:ln>
        </p:spPr>
      </p:sp>
      <p:sp>
        <p:nvSpPr>
          <p:cNvPr id="9" name="Text 5"/>
          <p:cNvSpPr txBox="1"/>
          <p:nvPr/>
        </p:nvSpPr>
        <p:spPr>
          <a:xfrm>
            <a:off x="8503920" y="3035808"/>
            <a:ext cx="2926080" cy="731520"/>
          </a:xfrm>
          <a:prstGeom prst="rect">
            <a:avLst/>
          </a:prstGeom>
          <a:noFill/>
          <a:ln/>
        </p:spPr>
        <p:txBody>
          <a:bodyPr wrap="square" lIns="0" tIns="0" rIns="0" bIns="0" rtlCol="0" anchor="ctr">
            <a:normAutofit/>
          </a:bodyPr>
          <a:lstStyle/>
          <a:p>
            <a:pPr indent="0" marL="0">
              <a:buNone/>
            </a:pPr>
            <a:r>
              <a:rPr lang="en-US" sz="3000" b="1" dirty="0">
                <a:solidFill>
                  <a:srgbClr val="17324D"/>
                </a:solidFill>
                <a:latin typeface="Cambria" pitchFamily="34" charset="0"/>
                <a:ea typeface="Cambria" pitchFamily="34" charset="-122"/>
                <a:cs typeface="Cambria" pitchFamily="34" charset="-120"/>
              </a:rPr>
              <a:t>308</a:t>
            </a:r>
            <a:endParaRPr lang="en-US" sz="3000" dirty="0"/>
          </a:p>
        </p:txBody>
      </p:sp>
      <p:sp>
        <p:nvSpPr>
          <p:cNvPr id="10" name="Text 6"/>
          <p:cNvSpPr txBox="1"/>
          <p:nvPr/>
        </p:nvSpPr>
        <p:spPr>
          <a:xfrm>
            <a:off x="8503920" y="3767328"/>
            <a:ext cx="2926080" cy="502920"/>
          </a:xfrm>
          <a:prstGeom prst="rect">
            <a:avLst/>
          </a:prstGeom>
          <a:noFill/>
          <a:ln/>
        </p:spPr>
        <p:txBody>
          <a:bodyPr wrap="square" lIns="0" tIns="0" rIns="0" bIns="0" rtlCol="0" anchor="t"/>
          <a:lstStyle/>
          <a:p>
            <a:pPr indent="0" marL="0">
              <a:buNone/>
            </a:pPr>
            <a:r>
              <a:rPr lang="en-US" sz="1200" dirty="0">
                <a:solidFill>
                  <a:srgbClr val="6B7280"/>
                </a:solidFill>
              </a:rPr>
              <a:t>NPV at 14%, EGP million</a:t>
            </a:r>
            <a:endParaRPr lang="en-US" sz="1200" dirty="0"/>
          </a:p>
        </p:txBody>
      </p:sp>
      <p:sp>
        <p:nvSpPr>
          <p:cNvPr id="11" name="Shape 7"/>
          <p:cNvSpPr/>
          <p:nvPr/>
        </p:nvSpPr>
        <p:spPr>
          <a:xfrm>
            <a:off x="8321040" y="4480560"/>
            <a:ext cx="3291840" cy="1417320"/>
          </a:xfrm>
          <a:prstGeom prst="rect">
            <a:avLst/>
          </a:prstGeom>
          <a:solidFill>
            <a:srgbClr val="F2F4F7"/>
          </a:solidFill>
          <a:ln w="12700">
            <a:solidFill>
              <a:srgbClr val="F2F4F7"/>
            </a:solidFill>
            <a:prstDash val="solid"/>
          </a:ln>
        </p:spPr>
      </p:sp>
      <p:sp>
        <p:nvSpPr>
          <p:cNvPr id="12" name="Text 8"/>
          <p:cNvSpPr txBox="1"/>
          <p:nvPr/>
        </p:nvSpPr>
        <p:spPr>
          <a:xfrm>
            <a:off x="8503920" y="4590288"/>
            <a:ext cx="2926080" cy="731520"/>
          </a:xfrm>
          <a:prstGeom prst="rect">
            <a:avLst/>
          </a:prstGeom>
          <a:noFill/>
          <a:ln/>
        </p:spPr>
        <p:txBody>
          <a:bodyPr wrap="square" lIns="0" tIns="0" rIns="0" bIns="0" rtlCol="0" anchor="ctr">
            <a:normAutofit/>
          </a:bodyPr>
          <a:lstStyle/>
          <a:p>
            <a:pPr indent="0" marL="0">
              <a:buNone/>
            </a:pPr>
            <a:r>
              <a:rPr lang="en-US" sz="3000" b="1" dirty="0">
                <a:solidFill>
                  <a:srgbClr val="17324D"/>
                </a:solidFill>
                <a:latin typeface="Cambria" pitchFamily="34" charset="0"/>
                <a:ea typeface="Cambria" pitchFamily="34" charset="-122"/>
                <a:cs typeface="Cambria" pitchFamily="34" charset="-120"/>
              </a:rPr>
              <a:t>102.0</a:t>
            </a:r>
            <a:endParaRPr lang="en-US" sz="3000" dirty="0"/>
          </a:p>
        </p:txBody>
      </p:sp>
      <p:sp>
        <p:nvSpPr>
          <p:cNvPr id="13" name="Text 9"/>
          <p:cNvSpPr txBox="1"/>
          <p:nvPr/>
        </p:nvSpPr>
        <p:spPr>
          <a:xfrm>
            <a:off x="8503920" y="5321808"/>
            <a:ext cx="2926080" cy="502920"/>
          </a:xfrm>
          <a:prstGeom prst="rect">
            <a:avLst/>
          </a:prstGeom>
          <a:noFill/>
          <a:ln/>
        </p:spPr>
        <p:txBody>
          <a:bodyPr wrap="square" lIns="0" tIns="0" rIns="0" bIns="0" rtlCol="0" anchor="t"/>
          <a:lstStyle/>
          <a:p>
            <a:pPr indent="0" marL="0">
              <a:buNone/>
            </a:pPr>
            <a:r>
              <a:rPr lang="en-US" sz="1200" dirty="0">
                <a:solidFill>
                  <a:srgbClr val="6B7280"/>
                </a:solidFill>
              </a:rPr>
              <a:t>Peak cumulative shortage, EGP million (month 30)</a:t>
            </a:r>
            <a:endParaRPr lang="en-US" sz="1200" dirty="0"/>
          </a:p>
        </p:txBody>
      </p:sp>
      <p:sp>
        <p:nvSpPr>
          <p:cNvPr id="14" name="Text 10"/>
          <p:cNvSpPr txBox="1"/>
          <p:nvPr/>
        </p:nvSpPr>
        <p:spPr>
          <a:xfrm>
            <a:off x="548640" y="6035040"/>
            <a:ext cx="11064240" cy="274320"/>
          </a:xfrm>
          <a:prstGeom prst="rect">
            <a:avLst/>
          </a:prstGeom>
          <a:noFill/>
          <a:ln/>
        </p:spPr>
        <p:txBody>
          <a:bodyPr wrap="square" lIns="0" tIns="0" rIns="0" bIns="0" rtlCol="0" anchor="ctr"/>
          <a:lstStyle/>
          <a:p>
            <a:pPr indent="0" marL="0">
              <a:buNone/>
            </a:pPr>
            <a:r>
              <a:rPr lang="en-US" sz="900" i="1" dirty="0">
                <a:solidFill>
                  <a:srgbClr val="6B7280"/>
                </a:solidFill>
              </a:rPr>
              <a:t>Source: Jalour financial model; Financial Annex, Project_CF sheet. Project years: Y1 = months 1 to 12. Excludes the 20% of units retained by Jalour.</a:t>
            </a:r>
            <a:endParaRPr lang="en-US" sz="9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320040"/>
            <a:ext cx="11064240" cy="822960"/>
          </a:xfrm>
          <a:prstGeom prst="rect">
            <a:avLst/>
          </a:prstGeom>
          <a:noFill/>
          <a:ln/>
        </p:spPr>
        <p:txBody>
          <a:bodyPr wrap="square" lIns="0" tIns="0" rIns="0" bIns="0" rtlCol="0" anchor="ctr">
            <a:normAutofit/>
          </a:bodyPr>
          <a:lstStyle/>
          <a:p>
            <a:pPr indent="0" marL="0">
              <a:buNone/>
            </a:pPr>
            <a:r>
              <a:rPr lang="en-US" sz="2800" b="1" dirty="0">
                <a:solidFill>
                  <a:srgbClr val="17324D"/>
                </a:solidFill>
                <a:latin typeface="Cambria" pitchFamily="34" charset="0"/>
                <a:ea typeface="Cambria" pitchFamily="34" charset="-122"/>
                <a:cs typeface="Cambria" pitchFamily="34" charset="-120"/>
              </a:rPr>
              <a:t>Sources and uses of funds</a:t>
            </a:r>
            <a:endParaRPr lang="en-US" sz="28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5486400" cy="914400"/>
        </p:xfrm>
        <a:graphic>
          <a:graphicData uri="http://schemas.openxmlformats.org/drawingml/2006/table">
            <a:tbl>
              <a:tblPr/>
              <a:tblGrid>
                <a:gridCol w="3931920"/>
                <a:gridCol w="1554480"/>
              </a:tblGrid>
              <a:tr h="502920">
                <a:tc>
                  <a:txBody>
                    <a:bodyPr/>
                    <a:lstStyle/>
                    <a:p>
                      <a:pPr algn="l" indent="0" marL="0">
                        <a:buNone/>
                      </a:pPr>
                      <a:r>
                        <a:rPr lang="en-US" sz="1300" b="1" dirty="0">
                          <a:solidFill>
                            <a:srgbClr val="FFFFFF"/>
                          </a:solidFill>
                        </a:rPr>
                        <a:t>Uses</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c>
                  <a:txBody>
                    <a:bodyPr/>
                    <a:lstStyle/>
                    <a:p>
                      <a:pPr algn="r" indent="0" marL="0">
                        <a:buNone/>
                      </a:pPr>
                      <a:r>
                        <a:rPr lang="en-US" sz="1300" b="1" dirty="0">
                          <a:solidFill>
                            <a:srgbClr val="FFFFFF"/>
                          </a:solidFill>
                        </a:rPr>
                        <a:t>EGP million</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r>
              <a:tr h="502920">
                <a:tc>
                  <a:txBody>
                    <a:bodyPr/>
                    <a:lstStyle/>
                    <a:p>
                      <a:pPr algn="l" indent="0" marL="0">
                        <a:buNone/>
                      </a:pPr>
                      <a:r>
                        <a:rPr lang="en-US" sz="1300" dirty="0">
                          <a:solidFill>
                            <a:srgbClr val="1B1F2A"/>
                          </a:solidFill>
                        </a:rPr>
                        <a:t>Down payment to landowner</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B1F2A"/>
                          </a:solidFill>
                        </a:rPr>
                        <a:t>85.0</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502920">
                <a:tc>
                  <a:txBody>
                    <a:bodyPr/>
                    <a:lstStyle/>
                    <a:p>
                      <a:pPr algn="l" indent="0" marL="0">
                        <a:buNone/>
                      </a:pPr>
                      <a:r>
                        <a:rPr lang="en-US" sz="1300" dirty="0">
                          <a:solidFill>
                            <a:srgbClr val="1B1F2A"/>
                          </a:solidFill>
                        </a:rPr>
                        <a:t>Guarantee instalments and working capital to the funding peak</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r" indent="0" marL="0">
                        <a:buNone/>
                      </a:pPr>
                      <a:r>
                        <a:rPr lang="en-US" sz="1300" dirty="0">
                          <a:solidFill>
                            <a:srgbClr val="1B1F2A"/>
                          </a:solidFill>
                        </a:rPr>
                        <a:t>17.0</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502920">
                <a:tc>
                  <a:txBody>
                    <a:bodyPr/>
                    <a:lstStyle/>
                    <a:p>
                      <a:pPr algn="l" indent="0" marL="0">
                        <a:buNone/>
                      </a:pPr>
                      <a:r>
                        <a:rPr lang="en-US" sz="1300" dirty="0">
                          <a:solidFill>
                            <a:srgbClr val="1B1F2A"/>
                          </a:solidFill>
                        </a:rPr>
                        <a:t>Design, permits and pre-construction (assumption)</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B1F2A"/>
                          </a:solidFill>
                        </a:rPr>
                        <a:t>10.5</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502920">
                <a:tc>
                  <a:txBody>
                    <a:bodyPr/>
                    <a:lstStyle/>
                    <a:p>
                      <a:pPr algn="l" indent="0" marL="0">
                        <a:buNone/>
                      </a:pPr>
                      <a:r>
                        <a:rPr lang="en-US" sz="1300" dirty="0">
                          <a:solidFill>
                            <a:srgbClr val="1B1F2A"/>
                          </a:solidFill>
                        </a:rPr>
                        <a:t>Total uses at peak</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r" indent="0" marL="0">
                        <a:buNone/>
                      </a:pPr>
                      <a:r>
                        <a:rPr lang="en-US" sz="1300" dirty="0">
                          <a:solidFill>
                            <a:srgbClr val="1B1F2A"/>
                          </a:solidFill>
                        </a:rPr>
                        <a:t>112.5</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bl>
          </a:graphicData>
        </a:graphic>
      </p:graphicFrame>
      <p:graphicFrame>
        <p:nvGraphicFramePr>
          <p:cNvPr id="23" name="Table 1"/>
          <p:cNvGraphicFramePr>
            <a:graphicFrameLocks noGrp="1"/>
          </p:cNvGraphicFramePr>
          <p:nvPr>
            <p:extLst>
              <p:ext uri="{D42A27DB-BD31-4B8C-83A1-F6EECF244321}">
                <p14:modId xmlns:p14="http://schemas.microsoft.com/office/powerpoint/2010/main" val="1579011935"/>
              </p:ext>
            </p:extLst>
          </p:nvPr>
        </p:nvGraphicFramePr>
        <p:xfrm>
          <a:off x="6309360" y="1371600"/>
          <a:ext cx="5303520" cy="914400"/>
        </p:xfrm>
        <a:graphic>
          <a:graphicData uri="http://schemas.openxmlformats.org/drawingml/2006/table">
            <a:tbl>
              <a:tblPr/>
              <a:tblGrid>
                <a:gridCol w="3108960"/>
                <a:gridCol w="1097280"/>
                <a:gridCol w="1097280"/>
              </a:tblGrid>
              <a:tr h="502920">
                <a:tc>
                  <a:txBody>
                    <a:bodyPr/>
                    <a:lstStyle/>
                    <a:p>
                      <a:pPr algn="l" indent="0" marL="0">
                        <a:buNone/>
                      </a:pPr>
                      <a:r>
                        <a:rPr lang="en-US" sz="1300" b="1" dirty="0">
                          <a:solidFill>
                            <a:srgbClr val="FFFFFF"/>
                          </a:solidFill>
                        </a:rPr>
                        <a:t>Sources</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c>
                  <a:txBody>
                    <a:bodyPr/>
                    <a:lstStyle/>
                    <a:p>
                      <a:pPr algn="r" indent="0" marL="0">
                        <a:buNone/>
                      </a:pPr>
                      <a:r>
                        <a:rPr lang="en-US" sz="1300" b="1" dirty="0">
                          <a:solidFill>
                            <a:srgbClr val="FFFFFF"/>
                          </a:solidFill>
                        </a:rPr>
                        <a:t>EGP million</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c>
                  <a:txBody>
                    <a:bodyPr/>
                    <a:lstStyle/>
                    <a:p>
                      <a:pPr algn="r" indent="0" marL="0">
                        <a:buNone/>
                      </a:pPr>
                      <a:r>
                        <a:rPr lang="en-US" sz="1300" b="1" dirty="0">
                          <a:solidFill>
                            <a:srgbClr val="FFFFFF"/>
                          </a:solidFill>
                        </a:rPr>
                        <a:t>% of uses</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r>
              <a:tr h="502920">
                <a:tc>
                  <a:txBody>
                    <a:bodyPr/>
                    <a:lstStyle/>
                    <a:p>
                      <a:pPr algn="l" indent="0" marL="0">
                        <a:buNone/>
                      </a:pPr>
                      <a:r>
                        <a:rPr lang="en-US" sz="1300" dirty="0">
                          <a:solidFill>
                            <a:srgbClr val="1B1F2A"/>
                          </a:solidFill>
                        </a:rPr>
                        <a:t>Investor ticket</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B1F2A"/>
                          </a:solidFill>
                        </a:rPr>
                        <a:t>50.0</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B1F2A"/>
                          </a:solidFill>
                        </a:rPr>
                        <a:t>44%</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502920">
                <a:tc>
                  <a:txBody>
                    <a:bodyPr/>
                    <a:lstStyle/>
                    <a:p>
                      <a:pPr algn="l" indent="0" marL="0">
                        <a:buNone/>
                      </a:pPr>
                      <a:r>
                        <a:rPr lang="en-US" sz="1300" dirty="0">
                          <a:solidFill>
                            <a:srgbClr val="1B1F2A"/>
                          </a:solidFill>
                        </a:rPr>
                        <a:t>Balance of project funding</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r" indent="0" marL="0">
                        <a:buNone/>
                      </a:pPr>
                      <a:r>
                        <a:rPr lang="en-US" sz="1300" dirty="0">
                          <a:solidFill>
                            <a:srgbClr val="1B1F2A"/>
                          </a:solidFill>
                        </a:rPr>
                        <a:t>62.5</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r" indent="0" marL="0">
                        <a:buNone/>
                      </a:pPr>
                      <a:r>
                        <a:rPr lang="en-US" sz="1300" dirty="0">
                          <a:solidFill>
                            <a:srgbClr val="1B1F2A"/>
                          </a:solidFill>
                        </a:rPr>
                        <a:t>56%</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502920">
                <a:tc>
                  <a:txBody>
                    <a:bodyPr/>
                    <a:lstStyle/>
                    <a:p>
                      <a:pPr algn="l" indent="0" marL="0">
                        <a:buNone/>
                      </a:pPr>
                      <a:r>
                        <a:rPr lang="en-US" sz="1300" dirty="0">
                          <a:solidFill>
                            <a:srgbClr val="1B1F2A"/>
                          </a:solidFill>
                        </a:rPr>
                        <a:t>Total sources</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B1F2A"/>
                          </a:solidFill>
                        </a:rPr>
                        <a:t>112.5</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B1F2A"/>
                          </a:solidFill>
                        </a:rPr>
                        <a:t>100%</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bl>
          </a:graphicData>
        </a:graphic>
      </p:graphicFrame>
      <p:sp>
        <p:nvSpPr>
          <p:cNvPr id="6" name="Text 1"/>
          <p:cNvSpPr txBox="1"/>
          <p:nvPr/>
        </p:nvSpPr>
        <p:spPr>
          <a:xfrm>
            <a:off x="548640" y="4206240"/>
            <a:ext cx="11064240" cy="182880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B1F2A"/>
                </a:solidFill>
              </a:rPr>
              <a:t>The balance of project funding is provided by Jalour sponsor equity, project collections and other capital sources.</a:t>
            </a:r>
            <a:endParaRPr lang="en-US" sz="1300" dirty="0"/>
          </a:p>
          <a:p>
            <a:pPr marL="342900" indent="-342900">
              <a:spcAft>
                <a:spcPts val="600"/>
              </a:spcAft>
              <a:buSzPct val="100000"/>
              <a:buChar char="•"/>
            </a:pPr>
            <a:r>
              <a:rPr lang="en-US" sz="1300" dirty="0">
                <a:solidFill>
                  <a:srgbClr val="1B1F2A"/>
                </a:solidFill>
              </a:rPr>
              <a:t>Modelled peak cumulative shortage EGP 102.0 million; the ticket is 49% of it.</a:t>
            </a:r>
            <a:endParaRPr lang="en-US" sz="1300" dirty="0"/>
          </a:p>
          <a:p>
            <a:pPr marL="342900" indent="-342900">
              <a:spcAft>
                <a:spcPts val="600"/>
              </a:spcAft>
              <a:buSzPct val="100000"/>
              <a:buChar char="•"/>
            </a:pPr>
            <a:r>
              <a:rPr lang="en-US" sz="1300" dirty="0">
                <a:solidFill>
                  <a:srgbClr val="1B1F2A"/>
                </a:solidFill>
              </a:rPr>
              <a:t>If delivery payments arrive at handover the peak shortage is EGP 244 million; if sales slip 12 months with prices 10% lower it is EGP 849 million. Jalour will cover gaps above project cash from its cash reserves and cash from other projects it is constructing.</a:t>
            </a:r>
            <a:endParaRPr lang="en-US" sz="1300" dirty="0"/>
          </a:p>
          <a:p>
            <a:pPr marL="342900" indent="-342900">
              <a:spcAft>
                <a:spcPts val="600"/>
              </a:spcAft>
              <a:buSzPct val="100000"/>
              <a:buChar char="•"/>
            </a:pPr>
            <a:r>
              <a:rPr lang="en-US" sz="1300" dirty="0">
                <a:solidFill>
                  <a:srgbClr val="1B1F2A"/>
                </a:solidFill>
              </a:rPr>
              <a:t>Nothing in this structure is ring-fenced: the ticket is project funding.</a:t>
            </a:r>
            <a:endParaRPr lang="en-US" sz="1300" dirty="0"/>
          </a:p>
        </p:txBody>
      </p:sp>
      <p:sp>
        <p:nvSpPr>
          <p:cNvPr id="7" name="Text 2"/>
          <p:cNvSpPr txBox="1"/>
          <p:nvPr/>
        </p:nvSpPr>
        <p:spPr>
          <a:xfrm>
            <a:off x="548640" y="6080760"/>
            <a:ext cx="11064240" cy="274320"/>
          </a:xfrm>
          <a:prstGeom prst="rect">
            <a:avLst/>
          </a:prstGeom>
          <a:noFill/>
          <a:ln/>
        </p:spPr>
        <p:txBody>
          <a:bodyPr wrap="square" lIns="0" tIns="0" rIns="0" bIns="0" rtlCol="0" anchor="ctr"/>
          <a:lstStyle/>
          <a:p>
            <a:pPr indent="0" marL="0">
              <a:buNone/>
            </a:pPr>
            <a:r>
              <a:rPr lang="en-US" sz="900" i="1" dirty="0">
                <a:solidFill>
                  <a:srgbClr val="6B7280"/>
                </a:solidFill>
              </a:rPr>
              <a:t>Source: Financial Annex, Sources_Uses sheet. Pre-construction cost is an assumption pending Jalour's budget.</a:t>
            </a:r>
            <a:endParaRPr lang="en-US" sz="9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320040"/>
            <a:ext cx="11064240" cy="822960"/>
          </a:xfrm>
          <a:prstGeom prst="rect">
            <a:avLst/>
          </a:prstGeom>
          <a:noFill/>
          <a:ln/>
        </p:spPr>
        <p:txBody>
          <a:bodyPr wrap="square" lIns="0" tIns="0" rIns="0" bIns="0" rtlCol="0" anchor="ctr">
            <a:normAutofit/>
          </a:bodyPr>
          <a:lstStyle/>
          <a:p>
            <a:pPr indent="0" marL="0">
              <a:buNone/>
            </a:pPr>
            <a:r>
              <a:rPr lang="en-US" sz="2800" b="1" dirty="0">
                <a:solidFill>
                  <a:srgbClr val="17324D"/>
                </a:solidFill>
                <a:latin typeface="Cambria" pitchFamily="34" charset="0"/>
                <a:ea typeface="Cambria" pitchFamily="34" charset="-122"/>
                <a:cs typeface="Cambria" pitchFamily="34" charset="-120"/>
              </a:rPr>
              <a:t>Option A (units) and Option B (cash) side by side</a:t>
            </a:r>
            <a:endParaRPr lang="en-US" sz="28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011680"/>
                <a:gridCol w="4572000"/>
                <a:gridCol w="4480560"/>
              </a:tblGrid>
              <a:tr h="457200">
                <a:tc>
                  <a:txBody>
                    <a:bodyPr/>
                    <a:lstStyle/>
                    <a:p>
                      <a:pPr algn="l" indent="0" marL="0">
                        <a:buNone/>
                      </a:pP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c>
                  <a:txBody>
                    <a:bodyPr/>
                    <a:lstStyle/>
                    <a:p>
                      <a:pPr algn="l" indent="0" marL="0">
                        <a:buNone/>
                      </a:pPr>
                      <a:r>
                        <a:rPr lang="en-US" sz="1300" b="1" dirty="0">
                          <a:solidFill>
                            <a:srgbClr val="FFFFFF"/>
                          </a:solidFill>
                        </a:rPr>
                        <a:t>Option A: units</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c>
                  <a:txBody>
                    <a:bodyPr/>
                    <a:lstStyle/>
                    <a:p>
                      <a:pPr algn="l" indent="0" marL="0">
                        <a:buNone/>
                      </a:pPr>
                      <a:r>
                        <a:rPr lang="en-US" sz="1300" b="1" dirty="0">
                          <a:solidFill>
                            <a:srgbClr val="FFFFFF"/>
                          </a:solidFill>
                        </a:rPr>
                        <a:t>Option B: cash</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r>
              <a:tr h="457200">
                <a:tc>
                  <a:txBody>
                    <a:bodyPr/>
                    <a:lstStyle/>
                    <a:p>
                      <a:pPr algn="l" indent="0" marL="0">
                        <a:buNone/>
                      </a:pPr>
                      <a:r>
                        <a:rPr lang="en-US" sz="1300" b="1" dirty="0">
                          <a:solidFill>
                            <a:srgbClr val="1B1F2A"/>
                          </a:solidFill>
                        </a:rPr>
                        <a:t>Entitlement</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F2A"/>
                          </a:solidFill>
                        </a:rPr>
                        <a:t>Units with a face value of EGP 100 million (2.0x) at launch list</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F2A"/>
                          </a:solidFill>
                        </a:rPr>
                        <a:t>EGP 115 million (2.3x) in cash</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57200">
                <a:tc>
                  <a:txBody>
                    <a:bodyPr/>
                    <a:lstStyle/>
                    <a:p>
                      <a:pPr algn="l" indent="0" marL="0">
                        <a:buNone/>
                      </a:pPr>
                      <a:r>
                        <a:rPr lang="en-US" sz="1300" b="1" dirty="0">
                          <a:solidFill>
                            <a:srgbClr val="1B1F2A"/>
                          </a:solidFill>
                        </a:rPr>
                        <a:t>Timing</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300" dirty="0">
                          <a:solidFill>
                            <a:srgbClr val="1B1F2A"/>
                          </a:solidFill>
                        </a:rPr>
                        <a:t>Allocation at signing; handover month 54; resale from month 57</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300" dirty="0">
                          <a:solidFill>
                            <a:srgbClr val="1B1F2A"/>
                          </a:solidFill>
                        </a:rPr>
                        <a:t>Grace 24 months; 12 quarterly instalments, months 39 to 72</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457200">
                <a:tc>
                  <a:txBody>
                    <a:bodyPr/>
                    <a:lstStyle/>
                    <a:p>
                      <a:pPr algn="l" indent="0" marL="0">
                        <a:buNone/>
                      </a:pPr>
                      <a:r>
                        <a:rPr lang="en-US" sz="1300" b="1" dirty="0">
                          <a:solidFill>
                            <a:srgbClr val="1B1F2A"/>
                          </a:solidFill>
                        </a:rPr>
                        <a:t>Price exposure</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F2A"/>
                          </a:solidFill>
                        </a:rPr>
                        <a:t>Yes: value moves with Mostakbal City prices (delivery list 1.48x launch)</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F2A"/>
                          </a:solidFill>
                        </a:rPr>
                        <a:t>No unit price exposure; fixed instalments</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57200">
                <a:tc>
                  <a:txBody>
                    <a:bodyPr/>
                    <a:lstStyle/>
                    <a:p>
                      <a:pPr algn="l" indent="0" marL="0">
                        <a:buNone/>
                      </a:pPr>
                      <a:r>
                        <a:rPr lang="en-US" sz="1300" b="1" dirty="0">
                          <a:solidFill>
                            <a:srgbClr val="1B1F2A"/>
                          </a:solidFill>
                        </a:rPr>
                        <a:t>Projected IRR, base</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300" dirty="0">
                          <a:solidFill>
                            <a:srgbClr val="1B1F2A"/>
                          </a:solidFill>
                        </a:rPr>
                        <a:t>29.2%</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300" dirty="0">
                          <a:solidFill>
                            <a:srgbClr val="1B1F2A"/>
                          </a:solidFill>
                        </a:rPr>
                        <a:t>26.5%</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457200">
                <a:tc>
                  <a:txBody>
                    <a:bodyPr/>
                    <a:lstStyle/>
                    <a:p>
                      <a:pPr algn="l" indent="0" marL="0">
                        <a:buNone/>
                      </a:pPr>
                      <a:r>
                        <a:rPr lang="en-US" sz="1300" b="1" dirty="0">
                          <a:solidFill>
                            <a:srgbClr val="1B1F2A"/>
                          </a:solidFill>
                        </a:rPr>
                        <a:t>Projected multiple, base</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F2A"/>
                          </a:solidFill>
                        </a:rPr>
                        <a:t>2.87x</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F2A"/>
                          </a:solidFill>
                        </a:rPr>
                        <a:t>2.30x</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57200">
                <a:tc>
                  <a:txBody>
                    <a:bodyPr/>
                    <a:lstStyle/>
                    <a:p>
                      <a:pPr algn="l" indent="0" marL="0">
                        <a:buNone/>
                      </a:pPr>
                      <a:r>
                        <a:rPr lang="en-US" sz="1300" b="1" dirty="0">
                          <a:solidFill>
                            <a:srgbClr val="1B1F2A"/>
                          </a:solidFill>
                        </a:rPr>
                        <a:t>Upside IRR</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300" dirty="0">
                          <a:solidFill>
                            <a:srgbClr val="1B1F2A"/>
                          </a:solidFill>
                        </a:rPr>
                        <a:t>32.3% (3.16x)</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300" dirty="0">
                          <a:solidFill>
                            <a:srgbClr val="1B1F2A"/>
                          </a:solidFill>
                        </a:rPr>
                        <a:t>Contractual: 26.5% if paid</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457200">
                <a:tc>
                  <a:txBody>
                    <a:bodyPr/>
                    <a:lstStyle/>
                    <a:p>
                      <a:pPr algn="l" indent="0" marL="0">
                        <a:buNone/>
                      </a:pPr>
                      <a:r>
                        <a:rPr lang="en-US" sz="1300" b="1" dirty="0">
                          <a:solidFill>
                            <a:srgbClr val="1B1F2A"/>
                          </a:solidFill>
                        </a:rPr>
                        <a:t>Downside IRR</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F2A"/>
                          </a:solidFill>
                        </a:rPr>
                        <a:t>20.4% (2.59x)</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F2A"/>
                          </a:solidFill>
                        </a:rPr>
                        <a:t>Contractual: 26.5% if paid; depends on Jalour funding</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57200">
                <a:tc>
                  <a:txBody>
                    <a:bodyPr/>
                    <a:lstStyle/>
                    <a:p>
                      <a:pPr algn="l" indent="0" marL="0">
                        <a:buNone/>
                      </a:pPr>
                      <a:r>
                        <a:rPr lang="en-US" sz="1300" b="1" dirty="0">
                          <a:solidFill>
                            <a:srgbClr val="1B1F2A"/>
                          </a:solidFill>
                        </a:rPr>
                        <a:t>Payback</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300" dirty="0">
                          <a:solidFill>
                            <a:srgbClr val="1B1F2A"/>
                          </a:solidFill>
                        </a:rPr>
                        <a:t>Month 60</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300" dirty="0">
                          <a:solidFill>
                            <a:srgbClr val="1B1F2A"/>
                          </a:solidFill>
                        </a:rPr>
                        <a:t>Month 54</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457200">
                <a:tc>
                  <a:txBody>
                    <a:bodyPr/>
                    <a:lstStyle/>
                    <a:p>
                      <a:pPr algn="l" indent="0" marL="0">
                        <a:buNone/>
                      </a:pPr>
                      <a:r>
                        <a:rPr lang="en-US" sz="1300" b="1" dirty="0">
                          <a:solidFill>
                            <a:srgbClr val="1B1F2A"/>
                          </a:solidFill>
                        </a:rPr>
                        <a:t>Main risk</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F2A"/>
                          </a:solidFill>
                        </a:rPr>
                        <a:t>Resale price and timing; consents to assign</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F2A"/>
                          </a:solidFill>
                        </a:rPr>
                        <a:t>Payment capacity during the construction peak</a:t>
                      </a:r>
                      <a:endParaRPr lang="en-US" sz="13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bl>
          </a:graphicData>
        </a:graphic>
      </p:graphicFrame>
      <p:sp>
        <p:nvSpPr>
          <p:cNvPr id="5" name="Text 1"/>
          <p:cNvSpPr txBox="1"/>
          <p:nvPr/>
        </p:nvSpPr>
        <p:spPr>
          <a:xfrm>
            <a:off x="548640" y="6035040"/>
            <a:ext cx="11064240" cy="274320"/>
          </a:xfrm>
          <a:prstGeom prst="rect">
            <a:avLst/>
          </a:prstGeom>
          <a:noFill/>
          <a:ln/>
        </p:spPr>
        <p:txBody>
          <a:bodyPr wrap="square" lIns="0" tIns="0" rIns="0" bIns="0" rtlCol="0" anchor="ctr"/>
          <a:lstStyle/>
          <a:p>
            <a:pPr indent="0" marL="0">
              <a:buNone/>
            </a:pPr>
            <a:r>
              <a:rPr lang="en-US" sz="900" i="1" dirty="0">
                <a:solidFill>
                  <a:srgbClr val="6B7280"/>
                </a:solidFill>
              </a:rPr>
              <a:t>Source: Financial Annex, Option_A and Option_B sheets. Projections; downside = sales delayed 12 months and prices 10% lower.</a:t>
            </a:r>
            <a:endParaRPr lang="en-US" sz="9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320040"/>
            <a:ext cx="11064240" cy="822960"/>
          </a:xfrm>
          <a:prstGeom prst="rect">
            <a:avLst/>
          </a:prstGeom>
          <a:noFill/>
          <a:ln/>
        </p:spPr>
        <p:txBody>
          <a:bodyPr wrap="square" lIns="0" tIns="0" rIns="0" bIns="0" rtlCol="0" anchor="ctr">
            <a:normAutofit/>
          </a:bodyPr>
          <a:lstStyle/>
          <a:p>
            <a:pPr indent="0" marL="0">
              <a:buNone/>
            </a:pPr>
            <a:r>
              <a:rPr lang="en-US" sz="2800" b="1" dirty="0">
                <a:solidFill>
                  <a:srgbClr val="17324D"/>
                </a:solidFill>
                <a:latin typeface="Cambria" pitchFamily="34" charset="0"/>
                <a:ea typeface="Cambria" pitchFamily="34" charset="-122"/>
                <a:cs typeface="Cambria" pitchFamily="34" charset="-120"/>
              </a:rPr>
              <a:t>Security package and investor protections</a:t>
            </a:r>
            <a:endParaRPr lang="en-US" sz="2800" dirty="0"/>
          </a:p>
        </p:txBody>
      </p:sp>
      <p:sp>
        <p:nvSpPr>
          <p:cNvPr id="4" name="Shape 1"/>
          <p:cNvSpPr/>
          <p:nvPr/>
        </p:nvSpPr>
        <p:spPr>
          <a:xfrm>
            <a:off x="548640" y="1371600"/>
            <a:ext cx="5394960" cy="4480560"/>
          </a:xfrm>
          <a:prstGeom prst="rect">
            <a:avLst/>
          </a:prstGeom>
          <a:solidFill>
            <a:srgbClr val="F2F4F7"/>
          </a:solidFill>
          <a:ln w="12700">
            <a:solidFill>
              <a:srgbClr val="F2F4F7"/>
            </a:solidFill>
            <a:prstDash val="solid"/>
          </a:ln>
        </p:spPr>
      </p:sp>
      <p:sp>
        <p:nvSpPr>
          <p:cNvPr id="5" name="Text 2"/>
          <p:cNvSpPr txBox="1"/>
          <p:nvPr/>
        </p:nvSpPr>
        <p:spPr>
          <a:xfrm>
            <a:off x="731520" y="1463040"/>
            <a:ext cx="5029200" cy="365760"/>
          </a:xfrm>
          <a:prstGeom prst="rect">
            <a:avLst/>
          </a:prstGeom>
          <a:noFill/>
          <a:ln/>
        </p:spPr>
        <p:txBody>
          <a:bodyPr wrap="square" lIns="0" tIns="0" rIns="0" bIns="0" rtlCol="0" anchor="ctr"/>
          <a:lstStyle/>
          <a:p>
            <a:pPr indent="0" marL="0">
              <a:buNone/>
            </a:pPr>
            <a:r>
              <a:rPr lang="en-US" sz="1600" b="1" dirty="0">
                <a:solidFill>
                  <a:srgbClr val="17324D"/>
                </a:solidFill>
              </a:rPr>
              <a:t>Proposed base package</a:t>
            </a:r>
            <a:endParaRPr lang="en-US" sz="1600" dirty="0"/>
          </a:p>
        </p:txBody>
      </p:sp>
      <p:sp>
        <p:nvSpPr>
          <p:cNvPr id="6" name="Text 3"/>
          <p:cNvSpPr txBox="1"/>
          <p:nvPr/>
        </p:nvSpPr>
        <p:spPr>
          <a:xfrm>
            <a:off x="731520" y="1920240"/>
            <a:ext cx="5029200" cy="384048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B1F2A"/>
                </a:solidFill>
              </a:rPr>
              <a:t>Option A: a registered allocation of specific units from the first two sales tranches; the units are the investor's asset</a:t>
            </a:r>
            <a:endParaRPr lang="en-US" sz="1300" dirty="0"/>
          </a:p>
          <a:p>
            <a:pPr marL="342900" indent="-342900">
              <a:spcAft>
                <a:spcPts val="600"/>
              </a:spcAft>
              <a:buSzPct val="100000"/>
              <a:buChar char="•"/>
            </a:pPr>
            <a:r>
              <a:rPr lang="en-US" sz="1300" dirty="0">
                <a:solidFill>
                  <a:srgbClr val="1B1F2A"/>
                </a:solidFill>
              </a:rPr>
              <a:t>Option B: earmark of specific unsold units with a list value of at least the ticket, with a right to substitute equal value</a:t>
            </a:r>
            <a:endParaRPr lang="en-US" sz="1300" dirty="0"/>
          </a:p>
          <a:p>
            <a:pPr marL="342900" indent="-342900">
              <a:spcAft>
                <a:spcPts val="600"/>
              </a:spcAft>
              <a:buSzPct val="100000"/>
              <a:buChar char="•"/>
            </a:pPr>
            <a:r>
              <a:rPr lang="en-US" sz="1300" dirty="0">
                <a:solidFill>
                  <a:srgbClr val="1B1F2A"/>
                </a:solidFill>
              </a:rPr>
              <a:t>Payment priority covenant: no shareholder distributions or shareholder-loan repayments while an instalment is overdue</a:t>
            </a:r>
            <a:endParaRPr lang="en-US" sz="1300" dirty="0"/>
          </a:p>
          <a:p>
            <a:pPr marL="342900" indent="-342900">
              <a:spcAft>
                <a:spcPts val="600"/>
              </a:spcAft>
              <a:buSzPct val="100000"/>
              <a:buChar char="•"/>
            </a:pPr>
            <a:r>
              <a:rPr lang="en-US" sz="1300" dirty="0">
                <a:solidFill>
                  <a:srgbClr val="1B1F2A"/>
                </a:solidFill>
              </a:rPr>
              <a:t>Negative pledge on the earmarked units</a:t>
            </a:r>
            <a:endParaRPr lang="en-US" sz="1300" dirty="0"/>
          </a:p>
          <a:p>
            <a:pPr marL="342900" indent="-342900">
              <a:spcAft>
                <a:spcPts val="600"/>
              </a:spcAft>
              <a:buSzPct val="100000"/>
              <a:buChar char="•"/>
            </a:pPr>
            <a:r>
              <a:rPr lang="en-US" sz="1300" dirty="0">
                <a:solidFill>
                  <a:srgbClr val="1B1F2A"/>
                </a:solidFill>
              </a:rPr>
              <a:t>Information rights: monthly reporting and audit rights</a:t>
            </a:r>
            <a:endParaRPr lang="en-US" sz="1300" dirty="0"/>
          </a:p>
          <a:p>
            <a:pPr marL="342900" indent="-342900">
              <a:spcAft>
                <a:spcPts val="600"/>
              </a:spcAft>
              <a:buSzPct val="100000"/>
              <a:buChar char="•"/>
            </a:pPr>
            <a:r>
              <a:rPr lang="en-US" sz="1300" dirty="0">
                <a:solidFill>
                  <a:srgbClr val="1B1F2A"/>
                </a:solidFill>
              </a:rPr>
              <a:t>Sponsor funding undertaking for project gaps from Jalour cash reserves and other projects' cash; no guarantee of return</a:t>
            </a:r>
            <a:endParaRPr lang="en-US" sz="1300" dirty="0"/>
          </a:p>
        </p:txBody>
      </p:sp>
      <p:sp>
        <p:nvSpPr>
          <p:cNvPr id="7" name="Shape 4"/>
          <p:cNvSpPr/>
          <p:nvPr/>
        </p:nvSpPr>
        <p:spPr>
          <a:xfrm>
            <a:off x="6217920" y="1371600"/>
            <a:ext cx="5394960" cy="4480560"/>
          </a:xfrm>
          <a:prstGeom prst="rect">
            <a:avLst/>
          </a:prstGeom>
          <a:solidFill>
            <a:srgbClr val="FBF3E4"/>
          </a:solidFill>
          <a:ln w="12700">
            <a:solidFill>
              <a:srgbClr val="FBF3E4"/>
            </a:solidFill>
            <a:prstDash val="solid"/>
          </a:ln>
        </p:spPr>
      </p:sp>
      <p:sp>
        <p:nvSpPr>
          <p:cNvPr id="8" name="Text 5"/>
          <p:cNvSpPr txBox="1"/>
          <p:nvPr/>
        </p:nvSpPr>
        <p:spPr>
          <a:xfrm>
            <a:off x="6400800" y="1463040"/>
            <a:ext cx="5029200" cy="365760"/>
          </a:xfrm>
          <a:prstGeom prst="rect">
            <a:avLst/>
          </a:prstGeom>
          <a:noFill/>
          <a:ln/>
        </p:spPr>
        <p:txBody>
          <a:bodyPr wrap="square" lIns="0" tIns="0" rIns="0" bIns="0" rtlCol="0" anchor="ctr"/>
          <a:lstStyle/>
          <a:p>
            <a:pPr indent="0" marL="0">
              <a:buNone/>
            </a:pPr>
            <a:r>
              <a:rPr lang="en-US" sz="1600" b="1" dirty="0">
                <a:solidFill>
                  <a:srgbClr val="B8893B"/>
                </a:solidFill>
              </a:rPr>
              <a:t>Optional and for counsel</a:t>
            </a:r>
            <a:endParaRPr lang="en-US" sz="1600" dirty="0"/>
          </a:p>
        </p:txBody>
      </p:sp>
      <p:sp>
        <p:nvSpPr>
          <p:cNvPr id="9" name="Text 6"/>
          <p:cNvSpPr txBox="1"/>
          <p:nvPr/>
        </p:nvSpPr>
        <p:spPr>
          <a:xfrm>
            <a:off x="6400800" y="1920240"/>
            <a:ext cx="5029200" cy="384048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B1F2A"/>
                </a:solidFill>
              </a:rPr>
              <a:t>Promissory note or post-dated cheques for each Option B instalment (common practice in Egypt)</a:t>
            </a:r>
            <a:endParaRPr lang="en-US" sz="1300" dirty="0"/>
          </a:p>
          <a:p>
            <a:pPr marL="342900" indent="-342900">
              <a:spcAft>
                <a:spcPts val="600"/>
              </a:spcAft>
              <a:buSzPct val="100000"/>
              <a:buChar char="•"/>
            </a:pPr>
            <a:r>
              <a:rPr lang="en-US" sz="1300" dirty="0">
                <a:solidFill>
                  <a:srgbClr val="1B1F2A"/>
                </a:solidFill>
              </a:rPr>
              <a:t>Independent engineer reporting on construction progress</a:t>
            </a:r>
            <a:endParaRPr lang="en-US" sz="1300" dirty="0"/>
          </a:p>
          <a:p>
            <a:pPr marL="342900" indent="-342900">
              <a:spcAft>
                <a:spcPts val="600"/>
              </a:spcAft>
              <a:buSzPct val="100000"/>
              <a:buChar char="•"/>
            </a:pPr>
            <a:r>
              <a:rPr lang="en-US" sz="1300" dirty="0">
                <a:solidFill>
                  <a:srgbClr val="1B1F2A"/>
                </a:solidFill>
              </a:rPr>
              <a:t>Step-in right to market the earmarked units after a payment default</a:t>
            </a:r>
            <a:endParaRPr lang="en-US" sz="1300" dirty="0"/>
          </a:p>
          <a:p>
            <a:pPr marL="342900" indent="-342900">
              <a:spcAft>
                <a:spcPts val="600"/>
              </a:spcAft>
              <a:buSzPct val="100000"/>
              <a:buChar char="•"/>
            </a:pPr>
            <a:r>
              <a:rPr lang="en-US" sz="1300" dirty="0">
                <a:solidFill>
                  <a:srgbClr val="1B1F2A"/>
                </a:solidFill>
              </a:rPr>
              <a:t>Landlord acknowledgement of the unit allocation</a:t>
            </a:r>
            <a:endParaRPr lang="en-US" sz="1300" dirty="0"/>
          </a:p>
          <a:p>
            <a:pPr marL="342900" indent="-342900">
              <a:spcAft>
                <a:spcPts val="600"/>
              </a:spcAft>
              <a:buSzPct val="100000"/>
              <a:buChar char="•"/>
            </a:pPr>
            <a:r>
              <a:rPr lang="en-US" sz="1300" dirty="0">
                <a:solidFill>
                  <a:srgbClr val="1B1F2A"/>
                </a:solidFill>
              </a:rPr>
              <a:t>Parent guarantee: not offered in this structure</a:t>
            </a:r>
            <a:endParaRPr lang="en-US" sz="1300" dirty="0"/>
          </a:p>
        </p:txBody>
      </p:sp>
      <p:sp>
        <p:nvSpPr>
          <p:cNvPr id="10" name="Text 7"/>
          <p:cNvSpPr txBox="1"/>
          <p:nvPr/>
        </p:nvSpPr>
        <p:spPr>
          <a:xfrm>
            <a:off x="548640" y="6035040"/>
            <a:ext cx="11064240" cy="274320"/>
          </a:xfrm>
          <a:prstGeom prst="rect">
            <a:avLst/>
          </a:prstGeom>
          <a:noFill/>
          <a:ln/>
        </p:spPr>
        <p:txBody>
          <a:bodyPr wrap="square" lIns="0" tIns="0" rIns="0" bIns="0" rtlCol="0" anchor="ctr"/>
          <a:lstStyle/>
          <a:p>
            <a:pPr indent="0" marL="0">
              <a:buNone/>
            </a:pPr>
            <a:r>
              <a:rPr lang="en-US" sz="900" i="1" dirty="0">
                <a:solidFill>
                  <a:srgbClr val="6B7280"/>
                </a:solidFill>
              </a:rPr>
              <a:t>Source: Proposal for review by Jalour's lawyers. Landlord consent is required for any allocation or encumbrance affecting its 35% share.</a:t>
            </a:r>
            <a:endParaRPr lang="en-US" sz="9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320040"/>
            <a:ext cx="11064240" cy="822960"/>
          </a:xfrm>
          <a:prstGeom prst="rect">
            <a:avLst/>
          </a:prstGeom>
          <a:noFill/>
          <a:ln/>
        </p:spPr>
        <p:txBody>
          <a:bodyPr wrap="square" lIns="0" tIns="0" rIns="0" bIns="0" rtlCol="0" anchor="ctr">
            <a:normAutofit/>
          </a:bodyPr>
          <a:lstStyle/>
          <a:p>
            <a:pPr indent="0" marL="0">
              <a:buNone/>
            </a:pPr>
            <a:r>
              <a:rPr lang="en-US" sz="2800" b="1" dirty="0">
                <a:solidFill>
                  <a:srgbClr val="17324D"/>
                </a:solidFill>
                <a:latin typeface="Cambria" pitchFamily="34" charset="0"/>
                <a:ea typeface="Cambria" pitchFamily="34" charset="-122"/>
                <a:cs typeface="Cambria" pitchFamily="34" charset="-120"/>
              </a:rPr>
              <a:t>Returns and sensitivity</a:t>
            </a:r>
            <a:endParaRPr lang="en-US" sz="2800" dirty="0"/>
          </a:p>
        </p:txBody>
      </p:sp>
      <p:graphicFrame>
        <p:nvGraphicFramePr>
          <p:cNvPr id="4" name="Chart 0" descr=""/>
          <p:cNvGraphicFramePr/>
          <p:nvPr/>
        </p:nvGraphicFramePr>
        <p:xfrm>
          <a:off x="548640" y="1280160"/>
          <a:ext cx="5394960" cy="3291840"/>
        </p:xfrm>
        <a:graphic xmlns:a="http://schemas.openxmlformats.org/drawingml/2006/main">
          <a:graphicData uri="http://schemas.openxmlformats.org/drawingml/2006/chart">
            <c:chart xmlns:c="http://schemas.openxmlformats.org/drawingml/2006/chart" r:id="rId1"/>
          </a:graphicData>
        </a:graphic>
      </p:graphicFrame>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217920" y="1371600"/>
          <a:ext cx="5394960" cy="914400"/>
        </p:xfrm>
        <a:graphic>
          <a:graphicData uri="http://schemas.openxmlformats.org/drawingml/2006/table">
            <a:tbl>
              <a:tblPr/>
              <a:tblGrid>
                <a:gridCol w="2743200"/>
                <a:gridCol w="1234440"/>
                <a:gridCol w="1417320"/>
              </a:tblGrid>
              <a:tr h="384048">
                <a:tc>
                  <a:txBody>
                    <a:bodyPr/>
                    <a:lstStyle/>
                    <a:p>
                      <a:pPr algn="l" indent="0" marL="0">
                        <a:buNone/>
                      </a:pPr>
                      <a:r>
                        <a:rPr lang="en-US" sz="1200" b="1" dirty="0">
                          <a:solidFill>
                            <a:srgbClr val="FFFFFF"/>
                          </a:solidFill>
                        </a:rPr>
                        <a:t>Project case</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c>
                  <a:txBody>
                    <a:bodyPr/>
                    <a:lstStyle/>
                    <a:p>
                      <a:pPr algn="r" indent="0" marL="0">
                        <a:buNone/>
                      </a:pPr>
                      <a:r>
                        <a:rPr lang="en-US" sz="1200" b="1" dirty="0">
                          <a:solidFill>
                            <a:srgbClr val="FFFFFF"/>
                          </a:solidFill>
                        </a:rPr>
                        <a:t>NPV (EGP m)</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c>
                  <a:txBody>
                    <a:bodyPr/>
                    <a:lstStyle/>
                    <a:p>
                      <a:pPr algn="r" indent="0" marL="0">
                        <a:buNone/>
                      </a:pPr>
                      <a:r>
                        <a:rPr lang="en-US" sz="1200" b="1" dirty="0">
                          <a:solidFill>
                            <a:srgbClr val="FFFFFF"/>
                          </a:solidFill>
                        </a:rPr>
                        <a:t>Peak shortage (EGP m)</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r>
              <a:tr h="384048">
                <a:tc>
                  <a:txBody>
                    <a:bodyPr/>
                    <a:lstStyle/>
                    <a:p>
                      <a:pPr algn="l" indent="0" marL="0">
                        <a:buNone/>
                      </a:pPr>
                      <a:r>
                        <a:rPr lang="en-US" sz="1200" dirty="0">
                          <a:solidFill>
                            <a:srgbClr val="1B1F2A"/>
                          </a:solidFill>
                        </a:rPr>
                        <a:t>Base</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1F2A"/>
                          </a:solidFill>
                        </a:rPr>
                        <a:t>308</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1F2A"/>
                          </a:solidFill>
                        </a:rPr>
                        <a:t>102</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384048">
                <a:tc>
                  <a:txBody>
                    <a:bodyPr/>
                    <a:lstStyle/>
                    <a:p>
                      <a:pPr algn="l" indent="0" marL="0">
                        <a:buNone/>
                      </a:pPr>
                      <a:r>
                        <a:rPr lang="en-US" sz="1200" dirty="0">
                          <a:solidFill>
                            <a:srgbClr val="1B1F2A"/>
                          </a:solidFill>
                        </a:rPr>
                        <a:t>Prices -10%</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r" indent="0" marL="0">
                        <a:buNone/>
                      </a:pPr>
                      <a:r>
                        <a:rPr lang="en-US" sz="1200" dirty="0">
                          <a:solidFill>
                            <a:srgbClr val="1B1F2A"/>
                          </a:solidFill>
                        </a:rPr>
                        <a:t>204</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r" indent="0" marL="0">
                        <a:buNone/>
                      </a:pPr>
                      <a:r>
                        <a:rPr lang="en-US" sz="1200" dirty="0">
                          <a:solidFill>
                            <a:srgbClr val="1B1F2A"/>
                          </a:solidFill>
                        </a:rPr>
                        <a:t>138</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384048">
                <a:tc>
                  <a:txBody>
                    <a:bodyPr/>
                    <a:lstStyle/>
                    <a:p>
                      <a:pPr algn="l" indent="0" marL="0">
                        <a:buNone/>
                      </a:pPr>
                      <a:r>
                        <a:rPr lang="en-US" sz="1200" dirty="0">
                          <a:solidFill>
                            <a:srgbClr val="1B1F2A"/>
                          </a:solidFill>
                        </a:rPr>
                        <a:t>Prices +10%</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1F2A"/>
                          </a:solidFill>
                        </a:rPr>
                        <a:t>412</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1F2A"/>
                          </a:solidFill>
                        </a:rPr>
                        <a:t>88</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384048">
                <a:tc>
                  <a:txBody>
                    <a:bodyPr/>
                    <a:lstStyle/>
                    <a:p>
                      <a:pPr algn="l" indent="0" marL="0">
                        <a:buNone/>
                      </a:pPr>
                      <a:r>
                        <a:rPr lang="en-US" sz="1200" dirty="0">
                          <a:solidFill>
                            <a:srgbClr val="1B1F2A"/>
                          </a:solidFill>
                        </a:rPr>
                        <a:t>Sales delay 12 months</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r" indent="0" marL="0">
                        <a:buNone/>
                      </a:pPr>
                      <a:r>
                        <a:rPr lang="en-US" sz="1200" dirty="0">
                          <a:solidFill>
                            <a:srgbClr val="1B1F2A"/>
                          </a:solidFill>
                        </a:rPr>
                        <a:t>126</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r" indent="0" marL="0">
                        <a:buNone/>
                      </a:pPr>
                      <a:r>
                        <a:rPr lang="en-US" sz="1200" dirty="0">
                          <a:solidFill>
                            <a:srgbClr val="1B1F2A"/>
                          </a:solidFill>
                        </a:rPr>
                        <a:t>779</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384048">
                <a:tc>
                  <a:txBody>
                    <a:bodyPr/>
                    <a:lstStyle/>
                    <a:p>
                      <a:pPr algn="l" indent="0" marL="0">
                        <a:buNone/>
                      </a:pPr>
                      <a:r>
                        <a:rPr lang="en-US" sz="1200" dirty="0">
                          <a:solidFill>
                            <a:srgbClr val="1B1F2A"/>
                          </a:solidFill>
                        </a:rPr>
                        <a:t>Cost overrun +10%</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1F2A"/>
                          </a:solidFill>
                        </a:rPr>
                        <a:t>258</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1F2A"/>
                          </a:solidFill>
                        </a:rPr>
                        <a:t>117</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384048">
                <a:tc>
                  <a:txBody>
                    <a:bodyPr/>
                    <a:lstStyle/>
                    <a:p>
                      <a:pPr algn="l" indent="0" marL="0">
                        <a:buNone/>
                      </a:pPr>
                      <a:r>
                        <a:rPr lang="en-US" sz="1200" dirty="0">
                          <a:solidFill>
                            <a:srgbClr val="1B1F2A"/>
                          </a:solidFill>
                        </a:rPr>
                        <a:t>Collections slip 2 quarters</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r" indent="0" marL="0">
                        <a:buNone/>
                      </a:pPr>
                      <a:r>
                        <a:rPr lang="en-US" sz="1200" dirty="0">
                          <a:solidFill>
                            <a:srgbClr val="1B1F2A"/>
                          </a:solidFill>
                        </a:rPr>
                        <a:t>209</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r" indent="0" marL="0">
                        <a:buNone/>
                      </a:pPr>
                      <a:r>
                        <a:rPr lang="en-US" sz="1200" dirty="0">
                          <a:solidFill>
                            <a:srgbClr val="1B1F2A"/>
                          </a:solidFill>
                        </a:rPr>
                        <a:t>381</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384048">
                <a:tc>
                  <a:txBody>
                    <a:bodyPr/>
                    <a:lstStyle/>
                    <a:p>
                      <a:pPr algn="l" indent="0" marL="0">
                        <a:buNone/>
                      </a:pPr>
                      <a:r>
                        <a:rPr lang="en-US" sz="1200" dirty="0">
                          <a:solidFill>
                            <a:srgbClr val="1B1F2A"/>
                          </a:solidFill>
                        </a:rPr>
                        <a:t>Delivery payments at handover</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1F2A"/>
                          </a:solidFill>
                        </a:rPr>
                        <a:t>275</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1F2A"/>
                          </a:solidFill>
                        </a:rPr>
                        <a:t>244</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bl>
          </a:graphicData>
        </a:graphic>
      </p:graphicFrame>
      <p:sp>
        <p:nvSpPr>
          <p:cNvPr id="6" name="Text 1"/>
          <p:cNvSpPr txBox="1"/>
          <p:nvPr/>
        </p:nvSpPr>
        <p:spPr>
          <a:xfrm>
            <a:off x="548640" y="4663440"/>
            <a:ext cx="11064240" cy="13716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1B1F2A"/>
                </a:solidFill>
              </a:rPr>
              <a:t>Option A break-even: the units could be resold at 35% of the delivery list price before the ticket is lost.</a:t>
            </a:r>
            <a:endParaRPr lang="en-US" sz="1200" dirty="0"/>
          </a:p>
          <a:p>
            <a:pPr marL="342900" indent="-342900">
              <a:spcAft>
                <a:spcPts val="600"/>
              </a:spcAft>
              <a:buSzPct val="100000"/>
              <a:buChar char="•"/>
            </a:pPr>
            <a:r>
              <a:rPr lang="en-US" sz="1200" dirty="0">
                <a:solidFill>
                  <a:srgbClr val="1B1F2A"/>
                </a:solidFill>
              </a:rPr>
              <a:t>Option B: cash available covers each instalment at least 1.8x on a pooled-cash basis; net cash flow alone covers it in 9 of 12 quarters because of the construction peak.</a:t>
            </a:r>
            <a:endParaRPr lang="en-US" sz="1200" dirty="0"/>
          </a:p>
          <a:p>
            <a:pPr marL="342900" indent="-342900">
              <a:spcAft>
                <a:spcPts val="600"/>
              </a:spcAft>
              <a:buSzPct val="100000"/>
              <a:buChar char="•"/>
            </a:pPr>
            <a:r>
              <a:rPr lang="en-US" sz="1200" dirty="0">
                <a:solidFill>
                  <a:srgbClr val="1B1F2A"/>
                </a:solidFill>
              </a:rPr>
              <a:t>Returns are projections, not guarantees.</a:t>
            </a:r>
            <a:endParaRPr lang="en-US" sz="1200" dirty="0"/>
          </a:p>
        </p:txBody>
      </p:sp>
      <p:sp>
        <p:nvSpPr>
          <p:cNvPr id="7" name="Text 2"/>
          <p:cNvSpPr txBox="1"/>
          <p:nvPr/>
        </p:nvSpPr>
        <p:spPr>
          <a:xfrm>
            <a:off x="548640" y="6080760"/>
            <a:ext cx="11064240" cy="274320"/>
          </a:xfrm>
          <a:prstGeom prst="rect">
            <a:avLst/>
          </a:prstGeom>
          <a:noFill/>
          <a:ln/>
        </p:spPr>
        <p:txBody>
          <a:bodyPr wrap="square" lIns="0" tIns="0" rIns="0" bIns="0" rtlCol="0" anchor="ctr"/>
          <a:lstStyle/>
          <a:p>
            <a:pPr indent="0" marL="0">
              <a:buNone/>
            </a:pPr>
            <a:r>
              <a:rPr lang="en-US" sz="900" i="1" dirty="0">
                <a:solidFill>
                  <a:srgbClr val="6B7280"/>
                </a:solidFill>
              </a:rPr>
              <a:t>Source: Financial Annex, Scenarios, Sensitivity and Option sheets. Project cases show Jalour net cash flow before any investor instrument.</a:t>
            </a:r>
            <a:endParaRPr lang="en-US" sz="9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320040"/>
            <a:ext cx="11064240" cy="822960"/>
          </a:xfrm>
          <a:prstGeom prst="rect">
            <a:avLst/>
          </a:prstGeom>
          <a:noFill/>
          <a:ln/>
        </p:spPr>
        <p:txBody>
          <a:bodyPr wrap="square" lIns="0" tIns="0" rIns="0" bIns="0" rtlCol="0" anchor="ctr">
            <a:normAutofit/>
          </a:bodyPr>
          <a:lstStyle/>
          <a:p>
            <a:pPr indent="0" marL="0">
              <a:buNone/>
            </a:pPr>
            <a:r>
              <a:rPr lang="en-US" sz="2800" b="1" dirty="0">
                <a:solidFill>
                  <a:srgbClr val="17324D"/>
                </a:solidFill>
                <a:latin typeface="Cambria" pitchFamily="34" charset="0"/>
                <a:ea typeface="Cambria" pitchFamily="34" charset="-122"/>
                <a:cs typeface="Cambria" pitchFamily="34" charset="-120"/>
              </a:rPr>
              <a:t>Risks and mitigants</a:t>
            </a:r>
            <a:endParaRPr lang="en-US" sz="28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4937760"/>
                <a:gridCol w="6126480"/>
              </a:tblGrid>
              <a:tr h="475488">
                <a:tc>
                  <a:txBody>
                    <a:bodyPr/>
                    <a:lstStyle/>
                    <a:p>
                      <a:pPr algn="l" indent="0" marL="0">
                        <a:buNone/>
                      </a:pPr>
                      <a:r>
                        <a:rPr lang="en-US" sz="1200" b="1" dirty="0">
                          <a:solidFill>
                            <a:srgbClr val="FFFFFF"/>
                          </a:solidFill>
                        </a:rPr>
                        <a:t>Risk</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c>
                  <a:txBody>
                    <a:bodyPr/>
                    <a:lstStyle/>
                    <a:p>
                      <a:pPr algn="l" indent="0" marL="0">
                        <a:buNone/>
                      </a:pPr>
                      <a:r>
                        <a:rPr lang="en-US" sz="1200" b="1" dirty="0">
                          <a:solidFill>
                            <a:srgbClr val="FFFFFF"/>
                          </a:solidFill>
                        </a:rPr>
                        <a:t>Mitigant</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7324D"/>
                    </a:solidFill>
                  </a:tcPr>
                </a:tc>
              </a:tr>
              <a:tr h="475488">
                <a:tc>
                  <a:txBody>
                    <a:bodyPr/>
                    <a:lstStyle/>
                    <a:p>
                      <a:pPr algn="l" indent="0" marL="0">
                        <a:buNone/>
                      </a:pPr>
                      <a:r>
                        <a:rPr lang="en-US" sz="1200" dirty="0">
                          <a:solidFill>
                            <a:srgbClr val="1B1F2A"/>
                          </a:solidFill>
                        </a:rPr>
                        <a:t>Market and price: sales plan assumes list-price rises of 44% to 50% over the sales window</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F2A"/>
                          </a:solidFill>
                        </a:rPr>
                        <a:t>Downside case shown; Option B has no unit price exposure; price evidence in the data room</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75488">
                <a:tc>
                  <a:txBody>
                    <a:bodyPr/>
                    <a:lstStyle/>
                    <a:p>
                      <a:pPr algn="l" indent="0" marL="0">
                        <a:buNone/>
                      </a:pPr>
                      <a:r>
                        <a:rPr lang="en-US" sz="1200" dirty="0">
                          <a:solidFill>
                            <a:srgbClr val="1B1F2A"/>
                          </a:solidFill>
                        </a:rPr>
                        <a:t>Delivery payments collected ahead of handover</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200" dirty="0">
                          <a:solidFill>
                            <a:srgbClr val="1B1F2A"/>
                          </a:solidFill>
                        </a:rPr>
                        <a:t>Contractual milestone; Jalour covers any gap from cash reserves and other projects' cash; stress case shown</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475488">
                <a:tc>
                  <a:txBody>
                    <a:bodyPr/>
                    <a:lstStyle/>
                    <a:p>
                      <a:pPr algn="l" indent="0" marL="0">
                        <a:buNone/>
                      </a:pPr>
                      <a:r>
                        <a:rPr lang="en-US" sz="1200" dirty="0">
                          <a:solidFill>
                            <a:srgbClr val="1B1F2A"/>
                          </a:solidFill>
                        </a:rPr>
                        <a:t>Construction cost and inflation (costs flat in the model)</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F2A"/>
                          </a:solidFill>
                        </a:rPr>
                        <a:t>Cost +10% case; fixed-price contracting to be sought; contingency 5% in the model</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75488">
                <a:tc>
                  <a:txBody>
                    <a:bodyPr/>
                    <a:lstStyle/>
                    <a:p>
                      <a:pPr algn="l" indent="0" marL="0">
                        <a:buNone/>
                      </a:pPr>
                      <a:r>
                        <a:rPr lang="en-US" sz="1200" dirty="0">
                          <a:solidFill>
                            <a:srgbClr val="1B1F2A"/>
                          </a:solidFill>
                        </a:rPr>
                        <a:t>Landlord: consent and minimum guarantee payments</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200" dirty="0">
                          <a:solidFill>
                            <a:srgbClr val="1B1F2A"/>
                          </a:solidFill>
                        </a:rPr>
                        <a:t>Written consent as a condition precedent; guarantee schedule fully funded in the plan</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475488">
                <a:tc>
                  <a:txBody>
                    <a:bodyPr/>
                    <a:lstStyle/>
                    <a:p>
                      <a:pPr algn="l" indent="0" marL="0">
                        <a:buNone/>
                      </a:pPr>
                      <a:r>
                        <a:rPr lang="en-US" sz="1200" dirty="0">
                          <a:solidFill>
                            <a:srgbClr val="1B1F2A"/>
                          </a:solidFill>
                        </a:rPr>
                        <a:t>Delivery and permits</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F2A"/>
                          </a:solidFill>
                        </a:rPr>
                        <a:t>Permit status in the data room; independent engineer (optional)</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75488">
                <a:tc>
                  <a:txBody>
                    <a:bodyPr/>
                    <a:lstStyle/>
                    <a:p>
                      <a:pPr algn="l" indent="0" marL="0">
                        <a:buNone/>
                      </a:pPr>
                      <a:r>
                        <a:rPr lang="en-US" sz="1200" dirty="0">
                          <a:solidFill>
                            <a:srgbClr val="1B1F2A"/>
                          </a:solidFill>
                        </a:rPr>
                        <a:t>Legal and regulatory: private placement, off-plan rules, assignment of contracts</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200" dirty="0">
                          <a:solidFill>
                            <a:srgbClr val="1B1F2A"/>
                          </a:solidFill>
                        </a:rPr>
                        <a:t>Counsel review before signing; developer and landlord consent mechanics defined</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r h="475488">
                <a:tc>
                  <a:txBody>
                    <a:bodyPr/>
                    <a:lstStyle/>
                    <a:p>
                      <a:pPr algn="l" indent="0" marL="0">
                        <a:buNone/>
                      </a:pPr>
                      <a:r>
                        <a:rPr lang="en-US" sz="1200" dirty="0">
                          <a:solidFill>
                            <a:srgbClr val="1B1F2A"/>
                          </a:solidFill>
                        </a:rPr>
                        <a:t>Currency and FX: EGP returns; USD value may fall</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1F2A"/>
                          </a:solidFill>
                        </a:rPr>
                        <a:t>USD equivalents shown at EGP 48; foreign investors take FX advice</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75488">
                <a:tc>
                  <a:txBody>
                    <a:bodyPr/>
                    <a:lstStyle/>
                    <a:p>
                      <a:pPr algn="l" indent="0" marL="0">
                        <a:buNone/>
                      </a:pPr>
                      <a:r>
                        <a:rPr lang="en-US" sz="1200" dirty="0">
                          <a:solidFill>
                            <a:srgbClr val="1B1F2A"/>
                          </a:solidFill>
                        </a:rPr>
                        <a:t>Concentration: single project</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200" dirty="0">
                          <a:solidFill>
                            <a:srgbClr val="1B1F2A"/>
                          </a:solidFill>
                        </a:rPr>
                        <a:t>No cross-collateral or cross-default with other Jalour projects; investor exposed to this project only</a:t>
                      </a:r>
                      <a:endParaRPr lang="en-US" sz="1200" dirty="0"/>
                    </a:p>
                  </a:txBody>
                  <a:tcPr marL="73152" marR="73152"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2F4F7"/>
                    </a:solidFill>
                  </a:tcPr>
                </a:tc>
              </a:tr>
            </a:tbl>
          </a:graphicData>
        </a:graphic>
      </p:graphicFrame>
      <p:sp>
        <p:nvSpPr>
          <p:cNvPr id="5" name="Text 1"/>
          <p:cNvSpPr txBox="1"/>
          <p:nvPr/>
        </p:nvSpPr>
        <p:spPr>
          <a:xfrm>
            <a:off x="548640" y="6080760"/>
            <a:ext cx="11064240" cy="274320"/>
          </a:xfrm>
          <a:prstGeom prst="rect">
            <a:avLst/>
          </a:prstGeom>
          <a:noFill/>
          <a:ln/>
        </p:spPr>
        <p:txBody>
          <a:bodyPr wrap="square" lIns="0" tIns="0" rIns="0" bIns="0" rtlCol="0" anchor="ctr"/>
          <a:lstStyle/>
          <a:p>
            <a:pPr indent="0" marL="0">
              <a:buNone/>
            </a:pPr>
            <a:r>
              <a:rPr lang="en-US" sz="900" i="1" dirty="0">
                <a:solidFill>
                  <a:srgbClr val="6B7280"/>
                </a:solidFill>
              </a:rPr>
              <a:t>Source: Jalour; full risk factors in the Investment Memorandum and the Due Diligence Memorandum.</a:t>
            </a:r>
            <a:endParaRPr lang="en-US" sz="9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320040"/>
            <a:ext cx="11064240" cy="822960"/>
          </a:xfrm>
          <a:prstGeom prst="rect">
            <a:avLst/>
          </a:prstGeom>
          <a:noFill/>
          <a:ln/>
        </p:spPr>
        <p:txBody>
          <a:bodyPr wrap="square" lIns="0" tIns="0" rIns="0" bIns="0" rtlCol="0" anchor="ctr">
            <a:normAutofit/>
          </a:bodyPr>
          <a:lstStyle/>
          <a:p>
            <a:pPr indent="0" marL="0">
              <a:buNone/>
            </a:pPr>
            <a:r>
              <a:rPr lang="en-US" sz="2800" b="1" dirty="0">
                <a:solidFill>
                  <a:srgbClr val="17324D"/>
                </a:solidFill>
                <a:latin typeface="Cambria" pitchFamily="34" charset="0"/>
                <a:ea typeface="Cambria" pitchFamily="34" charset="-122"/>
                <a:cs typeface="Cambria" pitchFamily="34" charset="-120"/>
              </a:rPr>
              <a:t>Timeline and milestones</a:t>
            </a:r>
            <a:endParaRPr lang="en-US" sz="2800" dirty="0"/>
          </a:p>
        </p:txBody>
      </p:sp>
      <p:sp>
        <p:nvSpPr>
          <p:cNvPr id="4" name="Shape 1"/>
          <p:cNvSpPr/>
          <p:nvPr/>
        </p:nvSpPr>
        <p:spPr>
          <a:xfrm>
            <a:off x="822960" y="3108960"/>
            <a:ext cx="10515600" cy="0"/>
          </a:xfrm>
          <a:prstGeom prst="line">
            <a:avLst/>
          </a:prstGeom>
          <a:noFill/>
          <a:ln w="25400">
            <a:solidFill>
              <a:srgbClr val="17324D"/>
            </a:solidFill>
            <a:prstDash val="solid"/>
          </a:ln>
        </p:spPr>
      </p:sp>
      <p:sp>
        <p:nvSpPr>
          <p:cNvPr id="5" name="Shape 2"/>
          <p:cNvSpPr/>
          <p:nvPr/>
        </p:nvSpPr>
        <p:spPr>
          <a:xfrm>
            <a:off x="740664" y="3026664"/>
            <a:ext cx="164592" cy="164592"/>
          </a:xfrm>
          <a:prstGeom prst="ellipse">
            <a:avLst/>
          </a:prstGeom>
          <a:solidFill>
            <a:srgbClr val="B8893B"/>
          </a:solidFill>
          <a:ln w="12700">
            <a:solidFill>
              <a:srgbClr val="FFFFFF"/>
            </a:solidFill>
            <a:prstDash val="solid"/>
          </a:ln>
        </p:spPr>
      </p:sp>
      <p:sp>
        <p:nvSpPr>
          <p:cNvPr id="6" name="Text 3"/>
          <p:cNvSpPr txBox="1"/>
          <p:nvPr/>
        </p:nvSpPr>
        <p:spPr>
          <a:xfrm>
            <a:off x="45720" y="2103120"/>
            <a:ext cx="1554480" cy="822960"/>
          </a:xfrm>
          <a:prstGeom prst="rect">
            <a:avLst/>
          </a:prstGeom>
          <a:noFill/>
          <a:ln/>
        </p:spPr>
        <p:txBody>
          <a:bodyPr wrap="square" lIns="0" tIns="0" rIns="0" bIns="0" rtlCol="0" anchor="b"/>
          <a:lstStyle/>
          <a:p>
            <a:pPr algn="ctr" indent="0" marL="0">
              <a:buNone/>
            </a:pPr>
            <a:r>
              <a:rPr lang="en-US" sz="1100" b="1" dirty="0">
                <a:solidFill>
                  <a:srgbClr val="1B1F2A"/>
                </a:solidFill>
              </a:rPr>
              <a:t>Model start</a:t>
            </a:r>
            <a:endParaRPr lang="en-US" sz="1100" dirty="0"/>
          </a:p>
          <a:p>
            <a:pPr algn="ctr" indent="0" marL="0">
              <a:buNone/>
            </a:pPr>
            <a:r>
              <a:rPr lang="en-US" sz="1100" dirty="0">
                <a:solidFill>
                  <a:srgbClr val="1B1F2A"/>
                </a:solidFill>
              </a:rPr>
              <a:t>Month 0</a:t>
            </a:r>
            <a:endParaRPr lang="en-US" sz="1100" dirty="0"/>
          </a:p>
        </p:txBody>
      </p:sp>
      <p:sp>
        <p:nvSpPr>
          <p:cNvPr id="7" name="Shape 4"/>
          <p:cNvSpPr/>
          <p:nvPr/>
        </p:nvSpPr>
        <p:spPr>
          <a:xfrm>
            <a:off x="2563368" y="3026664"/>
            <a:ext cx="164592" cy="164592"/>
          </a:xfrm>
          <a:prstGeom prst="ellipse">
            <a:avLst/>
          </a:prstGeom>
          <a:solidFill>
            <a:srgbClr val="B8893B"/>
          </a:solidFill>
          <a:ln w="12700">
            <a:solidFill>
              <a:srgbClr val="FFFFFF"/>
            </a:solidFill>
            <a:prstDash val="solid"/>
          </a:ln>
        </p:spPr>
      </p:sp>
      <p:sp>
        <p:nvSpPr>
          <p:cNvPr id="8" name="Text 5"/>
          <p:cNvSpPr txBox="1"/>
          <p:nvPr/>
        </p:nvSpPr>
        <p:spPr>
          <a:xfrm>
            <a:off x="1868424" y="3337560"/>
            <a:ext cx="1554480" cy="822960"/>
          </a:xfrm>
          <a:prstGeom prst="rect">
            <a:avLst/>
          </a:prstGeom>
          <a:noFill/>
          <a:ln/>
        </p:spPr>
        <p:txBody>
          <a:bodyPr wrap="square" lIns="0" tIns="0" rIns="0" bIns="0" rtlCol="0" anchor="t"/>
          <a:lstStyle/>
          <a:p>
            <a:pPr algn="ctr" indent="0" marL="0">
              <a:buNone/>
            </a:pPr>
            <a:r>
              <a:rPr lang="en-US" sz="1100" b="1" dirty="0">
                <a:solidFill>
                  <a:srgbClr val="1B1F2A"/>
                </a:solidFill>
              </a:rPr>
              <a:t>Sales start</a:t>
            </a:r>
            <a:endParaRPr lang="en-US" sz="1100" dirty="0"/>
          </a:p>
          <a:p>
            <a:pPr algn="ctr" indent="0" marL="0">
              <a:buNone/>
            </a:pPr>
            <a:r>
              <a:rPr lang="en-US" sz="1100" dirty="0">
                <a:solidFill>
                  <a:srgbClr val="1B1F2A"/>
                </a:solidFill>
              </a:rPr>
              <a:t>Month 13</a:t>
            </a:r>
            <a:endParaRPr lang="en-US" sz="1100" dirty="0"/>
          </a:p>
        </p:txBody>
      </p:sp>
      <p:sp>
        <p:nvSpPr>
          <p:cNvPr id="9" name="Shape 6"/>
          <p:cNvSpPr/>
          <p:nvPr/>
        </p:nvSpPr>
        <p:spPr>
          <a:xfrm>
            <a:off x="3404616" y="3026664"/>
            <a:ext cx="164592" cy="164592"/>
          </a:xfrm>
          <a:prstGeom prst="ellipse">
            <a:avLst/>
          </a:prstGeom>
          <a:solidFill>
            <a:srgbClr val="B8893B"/>
          </a:solidFill>
          <a:ln w="12700">
            <a:solidFill>
              <a:srgbClr val="FFFFFF"/>
            </a:solidFill>
            <a:prstDash val="solid"/>
          </a:ln>
        </p:spPr>
      </p:sp>
      <p:sp>
        <p:nvSpPr>
          <p:cNvPr id="10" name="Text 7"/>
          <p:cNvSpPr txBox="1"/>
          <p:nvPr/>
        </p:nvSpPr>
        <p:spPr>
          <a:xfrm>
            <a:off x="2709672" y="2103120"/>
            <a:ext cx="1554480" cy="822960"/>
          </a:xfrm>
          <a:prstGeom prst="rect">
            <a:avLst/>
          </a:prstGeom>
          <a:noFill/>
          <a:ln/>
        </p:spPr>
        <p:txBody>
          <a:bodyPr wrap="square" lIns="0" tIns="0" rIns="0" bIns="0" rtlCol="0" anchor="b"/>
          <a:lstStyle/>
          <a:p>
            <a:pPr algn="ctr" indent="0" marL="0">
              <a:buNone/>
            </a:pPr>
            <a:r>
              <a:rPr lang="en-US" sz="1100" b="1" dirty="0">
                <a:solidFill>
                  <a:srgbClr val="1B1F2A"/>
                </a:solidFill>
              </a:rPr>
              <a:t>Construction start</a:t>
            </a:r>
            <a:endParaRPr lang="en-US" sz="1100" dirty="0"/>
          </a:p>
          <a:p>
            <a:pPr algn="ctr" indent="0" marL="0">
              <a:buNone/>
            </a:pPr>
            <a:r>
              <a:rPr lang="en-US" sz="1100" dirty="0">
                <a:solidFill>
                  <a:srgbClr val="1B1F2A"/>
                </a:solidFill>
              </a:rPr>
              <a:t>Month 19</a:t>
            </a:r>
            <a:endParaRPr lang="en-US" sz="1100" dirty="0"/>
          </a:p>
        </p:txBody>
      </p:sp>
      <p:sp>
        <p:nvSpPr>
          <p:cNvPr id="11" name="Shape 8"/>
          <p:cNvSpPr/>
          <p:nvPr/>
        </p:nvSpPr>
        <p:spPr>
          <a:xfrm>
            <a:off x="5788152" y="3026664"/>
            <a:ext cx="164592" cy="164592"/>
          </a:xfrm>
          <a:prstGeom prst="ellipse">
            <a:avLst/>
          </a:prstGeom>
          <a:solidFill>
            <a:srgbClr val="B8893B"/>
          </a:solidFill>
          <a:ln w="12700">
            <a:solidFill>
              <a:srgbClr val="FFFFFF"/>
            </a:solidFill>
            <a:prstDash val="solid"/>
          </a:ln>
        </p:spPr>
      </p:sp>
      <p:sp>
        <p:nvSpPr>
          <p:cNvPr id="12" name="Text 9"/>
          <p:cNvSpPr txBox="1"/>
          <p:nvPr/>
        </p:nvSpPr>
        <p:spPr>
          <a:xfrm>
            <a:off x="5093208" y="3337560"/>
            <a:ext cx="1554480" cy="822960"/>
          </a:xfrm>
          <a:prstGeom prst="rect">
            <a:avLst/>
          </a:prstGeom>
          <a:noFill/>
          <a:ln/>
        </p:spPr>
        <p:txBody>
          <a:bodyPr wrap="square" lIns="0" tIns="0" rIns="0" bIns="0" rtlCol="0" anchor="t"/>
          <a:lstStyle/>
          <a:p>
            <a:pPr algn="ctr" indent="0" marL="0">
              <a:buNone/>
            </a:pPr>
            <a:r>
              <a:rPr lang="en-US" sz="1100" b="1" dirty="0">
                <a:solidFill>
                  <a:srgbClr val="1B1F2A"/>
                </a:solidFill>
              </a:rPr>
              <a:t>Grace ends</a:t>
            </a:r>
            <a:endParaRPr lang="en-US" sz="1100" dirty="0"/>
          </a:p>
          <a:p>
            <a:pPr algn="ctr" indent="0" marL="0">
              <a:buNone/>
            </a:pPr>
            <a:r>
              <a:rPr lang="en-US" sz="1100" dirty="0">
                <a:solidFill>
                  <a:srgbClr val="1B1F2A"/>
                </a:solidFill>
              </a:rPr>
              <a:t>Month 36</a:t>
            </a:r>
            <a:endParaRPr lang="en-US" sz="1100" dirty="0"/>
          </a:p>
        </p:txBody>
      </p:sp>
      <p:sp>
        <p:nvSpPr>
          <p:cNvPr id="13" name="Shape 10"/>
          <p:cNvSpPr/>
          <p:nvPr/>
        </p:nvSpPr>
        <p:spPr>
          <a:xfrm>
            <a:off x="6208776" y="3026664"/>
            <a:ext cx="164592" cy="164592"/>
          </a:xfrm>
          <a:prstGeom prst="ellipse">
            <a:avLst/>
          </a:prstGeom>
          <a:solidFill>
            <a:srgbClr val="B8893B"/>
          </a:solidFill>
          <a:ln w="12700">
            <a:solidFill>
              <a:srgbClr val="FFFFFF"/>
            </a:solidFill>
            <a:prstDash val="solid"/>
          </a:ln>
        </p:spPr>
      </p:sp>
      <p:sp>
        <p:nvSpPr>
          <p:cNvPr id="14" name="Text 11"/>
          <p:cNvSpPr txBox="1"/>
          <p:nvPr/>
        </p:nvSpPr>
        <p:spPr>
          <a:xfrm>
            <a:off x="5513832" y="2103120"/>
            <a:ext cx="1554480" cy="822960"/>
          </a:xfrm>
          <a:prstGeom prst="rect">
            <a:avLst/>
          </a:prstGeom>
          <a:noFill/>
          <a:ln/>
        </p:spPr>
        <p:txBody>
          <a:bodyPr wrap="square" lIns="0" tIns="0" rIns="0" bIns="0" rtlCol="0" anchor="b"/>
          <a:lstStyle/>
          <a:p>
            <a:pPr algn="ctr" indent="0" marL="0">
              <a:buNone/>
            </a:pPr>
            <a:r>
              <a:rPr lang="en-US" sz="1100" b="1" dirty="0">
                <a:solidFill>
                  <a:srgbClr val="1B1F2A"/>
                </a:solidFill>
              </a:rPr>
              <a:t>First Option B payment</a:t>
            </a:r>
            <a:endParaRPr lang="en-US" sz="1100" dirty="0"/>
          </a:p>
          <a:p>
            <a:pPr algn="ctr" indent="0" marL="0">
              <a:buNone/>
            </a:pPr>
            <a:r>
              <a:rPr lang="en-US" sz="1100" dirty="0">
                <a:solidFill>
                  <a:srgbClr val="1B1F2A"/>
                </a:solidFill>
              </a:rPr>
              <a:t>Month 39</a:t>
            </a:r>
            <a:endParaRPr lang="en-US" sz="1100" dirty="0"/>
          </a:p>
        </p:txBody>
      </p:sp>
      <p:sp>
        <p:nvSpPr>
          <p:cNvPr id="15" name="Shape 12"/>
          <p:cNvSpPr/>
          <p:nvPr/>
        </p:nvSpPr>
        <p:spPr>
          <a:xfrm>
            <a:off x="8311896" y="3026664"/>
            <a:ext cx="164592" cy="164592"/>
          </a:xfrm>
          <a:prstGeom prst="ellipse">
            <a:avLst/>
          </a:prstGeom>
          <a:solidFill>
            <a:srgbClr val="B8893B"/>
          </a:solidFill>
          <a:ln w="12700">
            <a:solidFill>
              <a:srgbClr val="FFFFFF"/>
            </a:solidFill>
            <a:prstDash val="solid"/>
          </a:ln>
        </p:spPr>
      </p:sp>
      <p:sp>
        <p:nvSpPr>
          <p:cNvPr id="16" name="Text 13"/>
          <p:cNvSpPr txBox="1"/>
          <p:nvPr/>
        </p:nvSpPr>
        <p:spPr>
          <a:xfrm>
            <a:off x="7616952" y="3337560"/>
            <a:ext cx="1554480" cy="822960"/>
          </a:xfrm>
          <a:prstGeom prst="rect">
            <a:avLst/>
          </a:prstGeom>
          <a:noFill/>
          <a:ln/>
        </p:spPr>
        <p:txBody>
          <a:bodyPr wrap="square" lIns="0" tIns="0" rIns="0" bIns="0" rtlCol="0" anchor="t"/>
          <a:lstStyle/>
          <a:p>
            <a:pPr algn="ctr" indent="0" marL="0">
              <a:buNone/>
            </a:pPr>
            <a:r>
              <a:rPr lang="en-US" sz="1100" b="1" dirty="0">
                <a:solidFill>
                  <a:srgbClr val="1B1F2A"/>
                </a:solidFill>
              </a:rPr>
              <a:t>Handover</a:t>
            </a:r>
            <a:endParaRPr lang="en-US" sz="1100" dirty="0"/>
          </a:p>
          <a:p>
            <a:pPr algn="ctr" indent="0" marL="0">
              <a:buNone/>
            </a:pPr>
            <a:r>
              <a:rPr lang="en-US" sz="1100" dirty="0">
                <a:solidFill>
                  <a:srgbClr val="1B1F2A"/>
                </a:solidFill>
              </a:rPr>
              <a:t>Month 54</a:t>
            </a:r>
            <a:endParaRPr lang="en-US" sz="1100" dirty="0"/>
          </a:p>
        </p:txBody>
      </p:sp>
      <p:sp>
        <p:nvSpPr>
          <p:cNvPr id="17" name="Shape 14"/>
          <p:cNvSpPr/>
          <p:nvPr/>
        </p:nvSpPr>
        <p:spPr>
          <a:xfrm>
            <a:off x="8732520" y="3026664"/>
            <a:ext cx="164592" cy="164592"/>
          </a:xfrm>
          <a:prstGeom prst="ellipse">
            <a:avLst/>
          </a:prstGeom>
          <a:solidFill>
            <a:srgbClr val="B8893B"/>
          </a:solidFill>
          <a:ln w="12700">
            <a:solidFill>
              <a:srgbClr val="FFFFFF"/>
            </a:solidFill>
            <a:prstDash val="solid"/>
          </a:ln>
        </p:spPr>
      </p:sp>
      <p:sp>
        <p:nvSpPr>
          <p:cNvPr id="18" name="Text 15"/>
          <p:cNvSpPr txBox="1"/>
          <p:nvPr/>
        </p:nvSpPr>
        <p:spPr>
          <a:xfrm>
            <a:off x="8037576" y="2103120"/>
            <a:ext cx="1554480" cy="822960"/>
          </a:xfrm>
          <a:prstGeom prst="rect">
            <a:avLst/>
          </a:prstGeom>
          <a:noFill/>
          <a:ln/>
        </p:spPr>
        <p:txBody>
          <a:bodyPr wrap="square" lIns="0" tIns="0" rIns="0" bIns="0" rtlCol="0" anchor="b"/>
          <a:lstStyle/>
          <a:p>
            <a:pPr algn="ctr" indent="0" marL="0">
              <a:buNone/>
            </a:pPr>
            <a:r>
              <a:rPr lang="en-US" sz="1100" b="1" dirty="0">
                <a:solidFill>
                  <a:srgbClr val="1B1F2A"/>
                </a:solidFill>
              </a:rPr>
              <a:t>First resales</a:t>
            </a:r>
            <a:endParaRPr lang="en-US" sz="1100" dirty="0"/>
          </a:p>
          <a:p>
            <a:pPr algn="ctr" indent="0" marL="0">
              <a:buNone/>
            </a:pPr>
            <a:r>
              <a:rPr lang="en-US" sz="1100" dirty="0">
                <a:solidFill>
                  <a:srgbClr val="1B1F2A"/>
                </a:solidFill>
              </a:rPr>
              <a:t>Month 57</a:t>
            </a:r>
            <a:endParaRPr lang="en-US" sz="1100" dirty="0"/>
          </a:p>
        </p:txBody>
      </p:sp>
      <p:sp>
        <p:nvSpPr>
          <p:cNvPr id="19" name="Shape 16"/>
          <p:cNvSpPr/>
          <p:nvPr/>
        </p:nvSpPr>
        <p:spPr>
          <a:xfrm>
            <a:off x="10835640" y="3026664"/>
            <a:ext cx="164592" cy="164592"/>
          </a:xfrm>
          <a:prstGeom prst="ellipse">
            <a:avLst/>
          </a:prstGeom>
          <a:solidFill>
            <a:srgbClr val="B8893B"/>
          </a:solidFill>
          <a:ln w="12700">
            <a:solidFill>
              <a:srgbClr val="FFFFFF"/>
            </a:solidFill>
            <a:prstDash val="solid"/>
          </a:ln>
        </p:spPr>
      </p:sp>
      <p:sp>
        <p:nvSpPr>
          <p:cNvPr id="20" name="Text 17"/>
          <p:cNvSpPr txBox="1"/>
          <p:nvPr/>
        </p:nvSpPr>
        <p:spPr>
          <a:xfrm>
            <a:off x="10140696" y="3337560"/>
            <a:ext cx="1554480" cy="822960"/>
          </a:xfrm>
          <a:prstGeom prst="rect">
            <a:avLst/>
          </a:prstGeom>
          <a:noFill/>
          <a:ln/>
        </p:spPr>
        <p:txBody>
          <a:bodyPr wrap="square" lIns="0" tIns="0" rIns="0" bIns="0" rtlCol="0" anchor="t"/>
          <a:lstStyle/>
          <a:p>
            <a:pPr algn="ctr" indent="0" marL="0">
              <a:buNone/>
            </a:pPr>
            <a:r>
              <a:rPr lang="en-US" sz="1100" b="1" dirty="0">
                <a:solidFill>
                  <a:srgbClr val="1B1F2A"/>
                </a:solidFill>
              </a:rPr>
              <a:t>Last Option B payment</a:t>
            </a:r>
            <a:endParaRPr lang="en-US" sz="1100" dirty="0"/>
          </a:p>
          <a:p>
            <a:pPr algn="ctr" indent="0" marL="0">
              <a:buNone/>
            </a:pPr>
            <a:r>
              <a:rPr lang="en-US" sz="1100" dirty="0">
                <a:solidFill>
                  <a:srgbClr val="1B1F2A"/>
                </a:solidFill>
              </a:rPr>
              <a:t>Month 72</a:t>
            </a:r>
            <a:endParaRPr lang="en-US" sz="1100" dirty="0"/>
          </a:p>
        </p:txBody>
      </p:sp>
      <p:sp>
        <p:nvSpPr>
          <p:cNvPr id="21" name="Text 18"/>
          <p:cNvSpPr txBox="1"/>
          <p:nvPr/>
        </p:nvSpPr>
        <p:spPr>
          <a:xfrm>
            <a:off x="548640" y="4480560"/>
            <a:ext cx="11064240" cy="14630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B1F2A"/>
                </a:solidFill>
              </a:rPr>
              <a:t>Funding and signing: month 12 (ticket due when the down payment of EGP 85 million falls due).</a:t>
            </a:r>
            <a:endParaRPr lang="en-US" sz="1300" dirty="0"/>
          </a:p>
          <a:p>
            <a:pPr marL="342900" indent="-342900">
              <a:spcAft>
                <a:spcPts val="600"/>
              </a:spcAft>
              <a:buSzPct val="100000"/>
              <a:buChar char="•"/>
            </a:pPr>
            <a:r>
              <a:rPr lang="en-US" sz="1300" dirty="0">
                <a:solidFill>
                  <a:srgbClr val="1B1F2A"/>
                </a:solidFill>
              </a:rPr>
              <a:t>Option A: units are allocated at signing and delivered at handover (month 54); the investor may resell after consents.</a:t>
            </a:r>
            <a:endParaRPr lang="en-US" sz="1300" dirty="0"/>
          </a:p>
          <a:p>
            <a:pPr marL="342900" indent="-342900">
              <a:spcAft>
                <a:spcPts val="600"/>
              </a:spcAft>
              <a:buSzPct val="100000"/>
              <a:buChar char="•"/>
            </a:pPr>
            <a:r>
              <a:rPr lang="en-US" sz="1300" dirty="0">
                <a:solidFill>
                  <a:srgbClr val="1B1F2A"/>
                </a:solidFill>
              </a:rPr>
              <a:t>Option B: 24-month grace, then 12 quarterly instalments from month 39.</a:t>
            </a:r>
            <a:endParaRPr lang="en-US" sz="1300" dirty="0"/>
          </a:p>
        </p:txBody>
      </p:sp>
      <p:sp>
        <p:nvSpPr>
          <p:cNvPr id="22" name="Text 19"/>
          <p:cNvSpPr txBox="1"/>
          <p:nvPr/>
        </p:nvSpPr>
        <p:spPr>
          <a:xfrm>
            <a:off x="548640" y="6080760"/>
            <a:ext cx="11064240" cy="274320"/>
          </a:xfrm>
          <a:prstGeom prst="rect">
            <a:avLst/>
          </a:prstGeom>
          <a:noFill/>
          <a:ln/>
        </p:spPr>
        <p:txBody>
          <a:bodyPr wrap="square" lIns="0" tIns="0" rIns="0" bIns="0" rtlCol="0" anchor="ctr"/>
          <a:lstStyle/>
          <a:p>
            <a:pPr indent="0" marL="0">
              <a:buNone/>
            </a:pPr>
            <a:r>
              <a:rPr lang="en-US" sz="900" i="1" dirty="0">
                <a:solidFill>
                  <a:srgbClr val="6B7280"/>
                </a:solidFill>
              </a:rPr>
              <a:t>Source: Jalour financial model; Financial Annex. Months count from the start of the model timeline.</a:t>
            </a:r>
            <a:endParaRPr lang="en-US" sz="9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731520" y="640080"/>
            <a:ext cx="10515600" cy="82296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The ask and next steps</a:t>
            </a:r>
            <a:endParaRPr lang="en-US" sz="3400" dirty="0"/>
          </a:p>
        </p:txBody>
      </p:sp>
      <p:sp>
        <p:nvSpPr>
          <p:cNvPr id="3" name="Text 1"/>
          <p:cNvSpPr txBox="1"/>
          <p:nvPr/>
        </p:nvSpPr>
        <p:spPr>
          <a:xfrm>
            <a:off x="731520" y="1645920"/>
            <a:ext cx="10515600" cy="1097280"/>
          </a:xfrm>
          <a:prstGeom prst="rect">
            <a:avLst/>
          </a:prstGeom>
          <a:noFill/>
          <a:ln/>
        </p:spPr>
        <p:txBody>
          <a:bodyPr wrap="square" lIns="0" tIns="0" rIns="0" bIns="0" rtlCol="0" anchor="ctr"/>
          <a:lstStyle/>
          <a:p>
            <a:pPr indent="0" marL="0">
              <a:buNone/>
            </a:pPr>
            <a:r>
              <a:rPr lang="en-US" sz="1800" dirty="0">
                <a:solidFill>
                  <a:srgbClr val="D5DAE1"/>
                </a:solidFill>
              </a:rPr>
              <a:t>Jalour invites an investment of EGP 50 million in L'avenir, with the choice of Option A (units, 2.0x face value) or Option B (cash, 2.3x over 3 years after a 24-month grace period).</a:t>
            </a:r>
            <a:endParaRPr lang="en-US" sz="1800" dirty="0"/>
          </a:p>
        </p:txBody>
      </p:sp>
      <p:sp>
        <p:nvSpPr>
          <p:cNvPr id="4" name="Shape 2"/>
          <p:cNvSpPr/>
          <p:nvPr/>
        </p:nvSpPr>
        <p:spPr>
          <a:xfrm>
            <a:off x="731520" y="3017520"/>
            <a:ext cx="384048" cy="384048"/>
          </a:xfrm>
          <a:prstGeom prst="ellipse">
            <a:avLst/>
          </a:prstGeom>
          <a:solidFill>
            <a:srgbClr val="B8893B"/>
          </a:solidFill>
          <a:ln w="12700">
            <a:solidFill>
              <a:srgbClr val="B8893B"/>
            </a:solidFill>
            <a:prstDash val="solid"/>
          </a:ln>
        </p:spPr>
      </p:sp>
      <p:sp>
        <p:nvSpPr>
          <p:cNvPr id="5" name="Text 3"/>
          <p:cNvSpPr txBox="1"/>
          <p:nvPr/>
        </p:nvSpPr>
        <p:spPr>
          <a:xfrm>
            <a:off x="731520" y="30175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6" name="Text 4"/>
          <p:cNvSpPr txBox="1"/>
          <p:nvPr/>
        </p:nvSpPr>
        <p:spPr>
          <a:xfrm>
            <a:off x="1325880" y="3017520"/>
            <a:ext cx="9875520" cy="384048"/>
          </a:xfrm>
          <a:prstGeom prst="rect">
            <a:avLst/>
          </a:prstGeom>
          <a:noFill/>
          <a:ln/>
        </p:spPr>
        <p:txBody>
          <a:bodyPr wrap="square" lIns="0" tIns="0" rIns="0" bIns="0" rtlCol="0" anchor="ctr"/>
          <a:lstStyle/>
          <a:p>
            <a:pPr indent="0" marL="0">
              <a:buNone/>
            </a:pPr>
            <a:r>
              <a:rPr lang="en-US" sz="1600" dirty="0">
                <a:solidFill>
                  <a:srgbClr val="FFFFFF"/>
                </a:solidFill>
              </a:rPr>
              <a:t>Review this presentation, the Investment Memorandum and the Financial Annex</a:t>
            </a:r>
            <a:endParaRPr lang="en-US" sz="1600" dirty="0"/>
          </a:p>
        </p:txBody>
      </p:sp>
      <p:sp>
        <p:nvSpPr>
          <p:cNvPr id="7" name="Shape 5"/>
          <p:cNvSpPr/>
          <p:nvPr/>
        </p:nvSpPr>
        <p:spPr>
          <a:xfrm>
            <a:off x="731520" y="3584448"/>
            <a:ext cx="384048" cy="384048"/>
          </a:xfrm>
          <a:prstGeom prst="ellipse">
            <a:avLst/>
          </a:prstGeom>
          <a:solidFill>
            <a:srgbClr val="B8893B"/>
          </a:solidFill>
          <a:ln w="12700">
            <a:solidFill>
              <a:srgbClr val="B8893B"/>
            </a:solidFill>
            <a:prstDash val="solid"/>
          </a:ln>
        </p:spPr>
      </p:sp>
      <p:sp>
        <p:nvSpPr>
          <p:cNvPr id="8" name="Text 6"/>
          <p:cNvSpPr txBox="1"/>
          <p:nvPr/>
        </p:nvSpPr>
        <p:spPr>
          <a:xfrm>
            <a:off x="731520" y="35844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9" name="Text 7"/>
          <p:cNvSpPr txBox="1"/>
          <p:nvPr/>
        </p:nvSpPr>
        <p:spPr>
          <a:xfrm>
            <a:off x="1325880" y="3584448"/>
            <a:ext cx="9875520" cy="384048"/>
          </a:xfrm>
          <a:prstGeom prst="rect">
            <a:avLst/>
          </a:prstGeom>
          <a:noFill/>
          <a:ln/>
        </p:spPr>
        <p:txBody>
          <a:bodyPr wrap="square" lIns="0" tIns="0" rIns="0" bIns="0" rtlCol="0" anchor="ctr"/>
          <a:lstStyle/>
          <a:p>
            <a:pPr indent="0" marL="0">
              <a:buNone/>
            </a:pPr>
            <a:r>
              <a:rPr lang="en-US" sz="1600" dirty="0">
                <a:solidFill>
                  <a:srgbClr val="FFFFFF"/>
                </a:solidFill>
              </a:rPr>
              <a:t>Select Option A or Option B and confirm the ticket</a:t>
            </a:r>
            <a:endParaRPr lang="en-US" sz="1600" dirty="0"/>
          </a:p>
        </p:txBody>
      </p:sp>
      <p:sp>
        <p:nvSpPr>
          <p:cNvPr id="10" name="Shape 8"/>
          <p:cNvSpPr/>
          <p:nvPr/>
        </p:nvSpPr>
        <p:spPr>
          <a:xfrm>
            <a:off x="731520" y="4151376"/>
            <a:ext cx="384048" cy="384048"/>
          </a:xfrm>
          <a:prstGeom prst="ellipse">
            <a:avLst/>
          </a:prstGeom>
          <a:solidFill>
            <a:srgbClr val="B8893B"/>
          </a:solidFill>
          <a:ln w="12700">
            <a:solidFill>
              <a:srgbClr val="B8893B"/>
            </a:solidFill>
            <a:prstDash val="solid"/>
          </a:ln>
        </p:spPr>
      </p:sp>
      <p:sp>
        <p:nvSpPr>
          <p:cNvPr id="11" name="Text 9"/>
          <p:cNvSpPr txBox="1"/>
          <p:nvPr/>
        </p:nvSpPr>
        <p:spPr>
          <a:xfrm>
            <a:off x="731520" y="415137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2" name="Text 10"/>
          <p:cNvSpPr txBox="1"/>
          <p:nvPr/>
        </p:nvSpPr>
        <p:spPr>
          <a:xfrm>
            <a:off x="1325880" y="4151376"/>
            <a:ext cx="9875520" cy="384048"/>
          </a:xfrm>
          <a:prstGeom prst="rect">
            <a:avLst/>
          </a:prstGeom>
          <a:noFill/>
          <a:ln/>
        </p:spPr>
        <p:txBody>
          <a:bodyPr wrap="square" lIns="0" tIns="0" rIns="0" bIns="0" rtlCol="0" anchor="ctr"/>
          <a:lstStyle/>
          <a:p>
            <a:pPr indent="0" marL="0">
              <a:buNone/>
            </a:pPr>
            <a:r>
              <a:rPr lang="en-US" sz="1600" dirty="0">
                <a:solidFill>
                  <a:srgbClr val="FFFFFF"/>
                </a:solidFill>
              </a:rPr>
              <a:t>Due diligence: data room, legal and technical review</a:t>
            </a:r>
            <a:endParaRPr lang="en-US" sz="1600" dirty="0"/>
          </a:p>
        </p:txBody>
      </p:sp>
      <p:sp>
        <p:nvSpPr>
          <p:cNvPr id="13" name="Shape 11"/>
          <p:cNvSpPr/>
          <p:nvPr/>
        </p:nvSpPr>
        <p:spPr>
          <a:xfrm>
            <a:off x="731520" y="4718304"/>
            <a:ext cx="384048" cy="384048"/>
          </a:xfrm>
          <a:prstGeom prst="ellipse">
            <a:avLst/>
          </a:prstGeom>
          <a:solidFill>
            <a:srgbClr val="B8893B"/>
          </a:solidFill>
          <a:ln w="12700">
            <a:solidFill>
              <a:srgbClr val="B8893B"/>
            </a:solidFill>
            <a:prstDash val="solid"/>
          </a:ln>
        </p:spPr>
      </p:sp>
      <p:sp>
        <p:nvSpPr>
          <p:cNvPr id="14" name="Text 12"/>
          <p:cNvSpPr txBox="1"/>
          <p:nvPr/>
        </p:nvSpPr>
        <p:spPr>
          <a:xfrm>
            <a:off x="731520" y="471830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15" name="Text 13"/>
          <p:cNvSpPr txBox="1"/>
          <p:nvPr/>
        </p:nvSpPr>
        <p:spPr>
          <a:xfrm>
            <a:off x="1325880" y="4718304"/>
            <a:ext cx="9875520" cy="384048"/>
          </a:xfrm>
          <a:prstGeom prst="rect">
            <a:avLst/>
          </a:prstGeom>
          <a:noFill/>
          <a:ln/>
        </p:spPr>
        <p:txBody>
          <a:bodyPr wrap="square" lIns="0" tIns="0" rIns="0" bIns="0" rtlCol="0" anchor="ctr"/>
          <a:lstStyle/>
          <a:p>
            <a:pPr indent="0" marL="0">
              <a:buNone/>
            </a:pPr>
            <a:r>
              <a:rPr lang="en-US" sz="1600" dirty="0">
                <a:solidFill>
                  <a:srgbClr val="FFFFFF"/>
                </a:solidFill>
              </a:rPr>
              <a:t>Landlord consent and definitive documents</a:t>
            </a:r>
            <a:endParaRPr lang="en-US" sz="1600" dirty="0"/>
          </a:p>
        </p:txBody>
      </p:sp>
      <p:sp>
        <p:nvSpPr>
          <p:cNvPr id="16" name="Shape 14"/>
          <p:cNvSpPr/>
          <p:nvPr/>
        </p:nvSpPr>
        <p:spPr>
          <a:xfrm>
            <a:off x="731520" y="5285232"/>
            <a:ext cx="384048" cy="384048"/>
          </a:xfrm>
          <a:prstGeom prst="ellipse">
            <a:avLst/>
          </a:prstGeom>
          <a:solidFill>
            <a:srgbClr val="B8893B"/>
          </a:solidFill>
          <a:ln w="12700">
            <a:solidFill>
              <a:srgbClr val="B8893B"/>
            </a:solidFill>
            <a:prstDash val="solid"/>
          </a:ln>
        </p:spPr>
      </p:sp>
      <p:sp>
        <p:nvSpPr>
          <p:cNvPr id="17" name="Text 15"/>
          <p:cNvSpPr txBox="1"/>
          <p:nvPr/>
        </p:nvSpPr>
        <p:spPr>
          <a:xfrm>
            <a:off x="731520" y="528523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5</a:t>
            </a:r>
            <a:endParaRPr lang="en-US" sz="1400" dirty="0"/>
          </a:p>
        </p:txBody>
      </p:sp>
      <p:sp>
        <p:nvSpPr>
          <p:cNvPr id="18" name="Text 16"/>
          <p:cNvSpPr txBox="1"/>
          <p:nvPr/>
        </p:nvSpPr>
        <p:spPr>
          <a:xfrm>
            <a:off x="1325880" y="5285232"/>
            <a:ext cx="9875520" cy="384048"/>
          </a:xfrm>
          <a:prstGeom prst="rect">
            <a:avLst/>
          </a:prstGeom>
          <a:noFill/>
          <a:ln/>
        </p:spPr>
        <p:txBody>
          <a:bodyPr wrap="square" lIns="0" tIns="0" rIns="0" bIns="0" rtlCol="0" anchor="ctr"/>
          <a:lstStyle/>
          <a:p>
            <a:pPr indent="0" marL="0">
              <a:buNone/>
            </a:pPr>
            <a:r>
              <a:rPr lang="en-US" sz="1600" dirty="0">
                <a:solidFill>
                  <a:srgbClr val="FFFFFF"/>
                </a:solidFill>
              </a:rPr>
              <a:t>Signing and funding</a:t>
            </a:r>
            <a:endParaRPr lang="en-US" sz="1600" dirty="0"/>
          </a:p>
        </p:txBody>
      </p:sp>
      <p:sp>
        <p:nvSpPr>
          <p:cNvPr id="19" name="Text 17"/>
          <p:cNvSpPr txBox="1"/>
          <p:nvPr/>
        </p:nvSpPr>
        <p:spPr>
          <a:xfrm>
            <a:off x="731520" y="5989320"/>
            <a:ext cx="10515600" cy="457200"/>
          </a:xfrm>
          <a:prstGeom prst="rect">
            <a:avLst/>
          </a:prstGeom>
          <a:noFill/>
          <a:ln/>
        </p:spPr>
        <p:txBody>
          <a:bodyPr wrap="square" lIns="0" tIns="0" rIns="0" bIns="0" rtlCol="0" anchor="ctr"/>
          <a:lstStyle/>
          <a:p>
            <a:pPr indent="0" marL="0">
              <a:buNone/>
            </a:pPr>
            <a:r>
              <a:rPr lang="en-US" sz="1100" dirty="0">
                <a:solidFill>
                  <a:srgbClr val="AAB2BD"/>
                </a:solidFill>
              </a:rPr>
              <a:t>Jalour may raise further capital at project or holding level, subject to the investor's stated rights. Projections are not guarantees. All information in this presentation and in the other documents of this pack is confidential and subject to the non-disclosure agreement.</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Jalour Developments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L'avenir - Investment Presentation (EGP 50 million)</dc:title>
  <dc:subject>Strictly private and confidential</dc:subject>
  <dc:creator>Jalour Developments</dc:creator>
  <cp:lastModifiedBy>Jalour Developments</cp:lastModifiedBy>
  <cp:revision>1</cp:revision>
  <dcterms:created xsi:type="dcterms:W3CDTF">2026-10-08T08:57:07Z</dcterms:created>
  <dcterms:modified xsi:type="dcterms:W3CDTF">2026-10-08T08:57:07Z</dcterms:modified>
</cp:coreProperties>
</file>