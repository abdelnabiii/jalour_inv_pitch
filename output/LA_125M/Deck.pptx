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4473</c:v>
                </c:pt>
                <c:pt idx="1">
                  <c:v>8946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</c:v>
                </c:pt>
                <c:pt idx="1">
                  <c:v>0</c:v>
                </c:pt>
                <c:pt idx="2">
                  <c:v>90</c:v>
                </c:pt>
                <c:pt idx="3">
                  <c:v>180</c:v>
                </c:pt>
                <c:pt idx="4">
                  <c:v>225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111.825</c:v>
                </c:pt>
                <c:pt idx="1">
                  <c:v>111.825</c:v>
                </c:pt>
                <c:pt idx="2">
                  <c:v>123.0075</c:v>
                </c:pt>
                <c:pt idx="3">
                  <c:v>86.10525000000001</c:v>
                </c:pt>
                <c:pt idx="4">
                  <c:v>93.93300000000002</c:v>
                </c:pt>
                <c:pt idx="5">
                  <c:v>80.514</c:v>
                </c:pt>
                <c:pt idx="6">
                  <c:v>73.8045</c:v>
                </c:pt>
                <c:pt idx="7">
                  <c:v>73.8045</c:v>
                </c:pt>
                <c:pt idx="8">
                  <c:v>80.514</c:v>
                </c:pt>
                <c:pt idx="9">
                  <c:v>80.514</c:v>
                </c:pt>
                <c:pt idx="10">
                  <c:v>80.514</c:v>
                </c:pt>
                <c:pt idx="11">
                  <c:v>80.514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M15</c:v>
                  </c:pt>
                  <c:pt idx="1">
                    <c:v>M18</c:v>
                  </c:pt>
                  <c:pt idx="2">
                    <c:v>M21</c:v>
                  </c:pt>
                  <c:pt idx="3">
                    <c:v>M24</c:v>
                  </c:pt>
                  <c:pt idx="4">
                    <c:v>M27</c:v>
                  </c:pt>
                  <c:pt idx="5">
                    <c:v>M30</c:v>
                  </c:pt>
                  <c:pt idx="6">
                    <c:v>M33</c:v>
                  </c:pt>
                  <c:pt idx="7">
                    <c:v>M36</c:v>
                  </c:pt>
                  <c:pt idx="8">
                    <c:v>M39</c:v>
                  </c:pt>
                  <c:pt idx="9">
                    <c:v>M42</c:v>
                  </c:pt>
                  <c:pt idx="10">
                    <c:v>M45</c:v>
                  </c:pt>
                  <c:pt idx="11">
                    <c:v>M48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250.488</c:v>
                </c:pt>
                <c:pt idx="1">
                  <c:v>250.488</c:v>
                </c:pt>
                <c:pt idx="2">
                  <c:v>187.866</c:v>
                </c:pt>
                <c:pt idx="3">
                  <c:v>93.933</c:v>
                </c:pt>
                <c:pt idx="4">
                  <c:v>104.37</c:v>
                </c:pt>
                <c:pt idx="5">
                  <c:v>104.37</c:v>
                </c:pt>
                <c:pt idx="6">
                  <c:v>114.807</c:v>
                </c:pt>
                <c:pt idx="7">
                  <c:v>114.807</c:v>
                </c:pt>
                <c:pt idx="8">
                  <c:v>125.244</c:v>
                </c:pt>
                <c:pt idx="9">
                  <c:v>125.244</c:v>
                </c:pt>
                <c:pt idx="10">
                  <c:v>62.622</c:v>
                </c:pt>
                <c:pt idx="11">
                  <c:v>62.622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181.62616500000001</c:v>
                </c:pt>
                <c:pt idx="2">
                  <c:v>334.5393975</c:v>
                </c:pt>
                <c:pt idx="3">
                  <c:v>1094.88043875</c:v>
                </c:pt>
                <c:pt idx="4">
                  <c:v>375.1728749999998</c:v>
                </c:pt>
                <c:pt idx="5">
                  <c:v>259.817000625</c:v>
                </c:pt>
                <c:pt idx="6">
                  <c:v>204.18499499999993</c:v>
                </c:pt>
                <c:pt idx="7">
                  <c:v>142.80704812499997</c:v>
                </c:pt>
                <c:pt idx="8">
                  <c:v>66.21531</c:v>
                </c:pt>
                <c:pt idx="9">
                  <c:v>14.49252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-85</c:v>
                </c:pt>
                <c:pt idx="1">
                  <c:v>-90</c:v>
                </c:pt>
                <c:pt idx="2">
                  <c:v>-180</c:v>
                </c:pt>
                <c:pt idx="3">
                  <c:v>-225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-284.44971499999986</c:v>
                </c:pt>
                <c:pt idx="8">
                  <c:v>-28.969198125000045</c:v>
                </c:pt>
                <c:pt idx="9">
                  <c:v>-6.34047750000001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-53.36</c:v>
                </c:pt>
                <c:pt idx="2">
                  <c:v>-185.70151</c:v>
                </c:pt>
                <c:pt idx="3">
                  <c:v>-318.5604</c:v>
                </c:pt>
                <c:pt idx="4">
                  <c:v>-351.06152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-85</c:v>
                </c:pt>
                <c:pt idx="1">
                  <c:v>-46.733835</c:v>
                </c:pt>
                <c:pt idx="2">
                  <c:v>-77.89594749999998</c:v>
                </c:pt>
                <c:pt idx="3">
                  <c:v>473.4240912499998</c:v>
                </c:pt>
                <c:pt idx="4">
                  <c:v>317.5354462499996</c:v>
                </c:pt>
                <c:pt idx="5">
                  <c:v>487.35244687499954</c:v>
                </c:pt>
                <c:pt idx="6">
                  <c:v>691.5374418749996</c:v>
                </c:pt>
                <c:pt idx="7">
                  <c:v>549.8947749999996</c:v>
                </c:pt>
                <c:pt idx="8">
                  <c:v>587.1408868749996</c:v>
                </c:pt>
                <c:pt idx="9">
                  <c:v>595.2929293749995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B1F2A"/>
                </a:solidFill>
                <a:latin typeface="Arial"/>
              </a:rPr>
              <a:t>Cumulative net cash flow before investor instruments (EGP million)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L'avenir</c:v>
                </c:pt>
              </c:strCache>
            </c:strRef>
          </c:tx>
          <c:spPr>
            <a:solidFill>
              <a:srgbClr val="17324D"/>
            </a:solidFill>
            <a:ln w="31750" cap="flat">
              <a:solidFill>
                <a:srgbClr val="1732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7324D"/>
              </a:solidFill>
              <a:ln w="9525" cap="flat">
                <a:solidFill>
                  <a:srgbClr val="1732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M3</c:v>
                  </c:pt>
                  <c:pt idx="1">
                    <c:v>M6</c:v>
                  </c:pt>
                  <c:pt idx="2">
                    <c:v>M9</c:v>
                  </c:pt>
                  <c:pt idx="3">
                    <c:v>M12</c:v>
                  </c:pt>
                  <c:pt idx="4">
                    <c:v>M15</c:v>
                  </c:pt>
                  <c:pt idx="5">
                    <c:v>M18</c:v>
                  </c:pt>
                  <c:pt idx="6">
                    <c:v>M21</c:v>
                  </c:pt>
                  <c:pt idx="7">
                    <c:v>M24</c:v>
                  </c:pt>
                  <c:pt idx="8">
                    <c:v>M27</c:v>
                  </c:pt>
                  <c:pt idx="9">
                    <c:v>M30</c:v>
                  </c:pt>
                  <c:pt idx="10">
                    <c:v>M33</c:v>
                  </c:pt>
                  <c:pt idx="11">
                    <c:v>M36</c:v>
                  </c:pt>
                  <c:pt idx="12">
                    <c:v>M39</c:v>
                  </c:pt>
                  <c:pt idx="13">
                    <c:v>M42</c:v>
                  </c:pt>
                  <c:pt idx="14">
                    <c:v>M45</c:v>
                  </c:pt>
                  <c:pt idx="15">
                    <c:v>M48</c:v>
                  </c:pt>
                  <c:pt idx="16">
                    <c:v>M51</c:v>
                  </c:pt>
                  <c:pt idx="17">
                    <c:v>M54</c:v>
                  </c:pt>
                  <c:pt idx="18">
                    <c:v>M57</c:v>
                  </c:pt>
                  <c:pt idx="19">
                    <c:v>M60</c:v>
                  </c:pt>
                  <c:pt idx="20">
                    <c:v>M63</c:v>
                  </c:pt>
                  <c:pt idx="21">
                    <c:v>M66</c:v>
                  </c:pt>
                  <c:pt idx="22">
                    <c:v>M69</c:v>
                  </c:pt>
                  <c:pt idx="23">
                    <c:v>M72</c:v>
                  </c:pt>
                  <c:pt idx="24">
                    <c:v>M75</c:v>
                  </c:pt>
                  <c:pt idx="25">
                    <c:v>M78</c:v>
                  </c:pt>
                  <c:pt idx="26">
                    <c:v>M81</c:v>
                  </c:pt>
                  <c:pt idx="27">
                    <c:v>M84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-85</c:v>
                </c:pt>
                <c:pt idx="4">
                  <c:v>-89.38435</c:v>
                </c:pt>
                <c:pt idx="5">
                  <c:v>-75.65305</c:v>
                </c:pt>
                <c:pt idx="6">
                  <c:v>-62.892224999999996</c:v>
                </c:pt>
                <c:pt idx="7">
                  <c:v>-46.733835</c:v>
                </c:pt>
                <c:pt idx="8">
                  <c:v>-85.13881</c:v>
                </c:pt>
                <c:pt idx="9">
                  <c:v>-102.0180625</c:v>
                </c:pt>
                <c:pt idx="10">
                  <c:v>-100.94194749999998</c:v>
                </c:pt>
                <c:pt idx="11">
                  <c:v>-77.89594749999998</c:v>
                </c:pt>
                <c:pt idx="12">
                  <c:v>-32.897631249999975</c:v>
                </c:pt>
                <c:pt idx="13">
                  <c:v>22.282351250000005</c:v>
                </c:pt>
                <c:pt idx="14">
                  <c:v>503.5783587499998</c:v>
                </c:pt>
                <c:pt idx="15">
                  <c:v>473.4240912499998</c:v>
                </c:pt>
                <c:pt idx="16">
                  <c:v>344.19036374999973</c:v>
                </c:pt>
                <c:pt idx="17">
                  <c:v>245.74703624999967</c:v>
                </c:pt>
                <c:pt idx="18">
                  <c:v>282.54702374999965</c:v>
                </c:pt>
                <c:pt idx="19">
                  <c:v>317.5354462499996</c:v>
                </c:pt>
                <c:pt idx="20">
                  <c:v>372.3149081249996</c:v>
                </c:pt>
                <c:pt idx="21">
                  <c:v>419.9683218749996</c:v>
                </c:pt>
                <c:pt idx="22">
                  <c:v>458.8061981249996</c:v>
                </c:pt>
                <c:pt idx="23">
                  <c:v>487.35244687499954</c:v>
                </c:pt>
                <c:pt idx="24">
                  <c:v>538.3986956249995</c:v>
                </c:pt>
                <c:pt idx="25">
                  <c:v>589.4449443749995</c:v>
                </c:pt>
                <c:pt idx="26">
                  <c:v>640.4911931249995</c:v>
                </c:pt>
                <c:pt idx="27">
                  <c:v>691.5374418749996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Green Square</c:v>
                </c:pt>
              </c:strCache>
            </c:strRef>
          </c:tx>
          <c:spPr>
            <a:solidFill>
              <a:srgbClr val="B8893B"/>
            </a:solidFill>
            <a:ln w="31750" cap="flat">
              <a:solidFill>
                <a:srgbClr val="B889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893B"/>
              </a:solidFill>
              <a:ln w="9525" cap="flat">
                <a:solidFill>
                  <a:srgbClr val="B889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M3</c:v>
                  </c:pt>
                  <c:pt idx="1">
                    <c:v>M6</c:v>
                  </c:pt>
                  <c:pt idx="2">
                    <c:v>M9</c:v>
                  </c:pt>
                  <c:pt idx="3">
                    <c:v>M12</c:v>
                  </c:pt>
                  <c:pt idx="4">
                    <c:v>M15</c:v>
                  </c:pt>
                  <c:pt idx="5">
                    <c:v>M18</c:v>
                  </c:pt>
                  <c:pt idx="6">
                    <c:v>M21</c:v>
                  </c:pt>
                  <c:pt idx="7">
                    <c:v>M24</c:v>
                  </c:pt>
                  <c:pt idx="8">
                    <c:v>M27</c:v>
                  </c:pt>
                  <c:pt idx="9">
                    <c:v>M30</c:v>
                  </c:pt>
                  <c:pt idx="10">
                    <c:v>M33</c:v>
                  </c:pt>
                  <c:pt idx="11">
                    <c:v>M36</c:v>
                  </c:pt>
                  <c:pt idx="12">
                    <c:v>M39</c:v>
                  </c:pt>
                  <c:pt idx="13">
                    <c:v>M42</c:v>
                  </c:pt>
                  <c:pt idx="14">
                    <c:v>M45</c:v>
                  </c:pt>
                  <c:pt idx="15">
                    <c:v>M48</c:v>
                  </c:pt>
                  <c:pt idx="16">
                    <c:v>M51</c:v>
                  </c:pt>
                  <c:pt idx="17">
                    <c:v>M54</c:v>
                  </c:pt>
                  <c:pt idx="18">
                    <c:v>M57</c:v>
                  </c:pt>
                  <c:pt idx="19">
                    <c:v>M60</c:v>
                  </c:pt>
                  <c:pt idx="20">
                    <c:v>M63</c:v>
                  </c:pt>
                  <c:pt idx="21">
                    <c:v>M66</c:v>
                  </c:pt>
                  <c:pt idx="22">
                    <c:v>M69</c:v>
                  </c:pt>
                  <c:pt idx="23">
                    <c:v>M72</c:v>
                  </c:pt>
                  <c:pt idx="24">
                    <c:v>M75</c:v>
                  </c:pt>
                  <c:pt idx="25">
                    <c:v>M78</c:v>
                  </c:pt>
                  <c:pt idx="26">
                    <c:v>M81</c:v>
                  </c:pt>
                  <c:pt idx="27">
                    <c:v>M84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-91.25</c:v>
                </c:pt>
                <c:pt idx="1">
                  <c:v>-102.5</c:v>
                </c:pt>
                <c:pt idx="2">
                  <c:v>-98.61076249999999</c:v>
                </c:pt>
                <c:pt idx="3">
                  <c:v>-79.58228749999999</c:v>
                </c:pt>
                <c:pt idx="4">
                  <c:v>-78.57028125</c:v>
                </c:pt>
                <c:pt idx="5">
                  <c:v>-68.68474375</c:v>
                </c:pt>
                <c:pt idx="6">
                  <c:v>-86.93043374999999</c:v>
                </c:pt>
                <c:pt idx="7">
                  <c:v>-88.42826437499998</c:v>
                </c:pt>
                <c:pt idx="8">
                  <c:v>-81.73067593749997</c:v>
                </c:pt>
                <c:pt idx="9">
                  <c:v>339.89190156250015</c:v>
                </c:pt>
                <c:pt idx="10">
                  <c:v>478.6586415625002</c:v>
                </c:pt>
                <c:pt idx="11">
                  <c:v>608.3816315625002</c:v>
                </c:pt>
                <c:pt idx="12">
                  <c:v>514.9943415625002</c:v>
                </c:pt>
                <c:pt idx="13">
                  <c:v>394.04351031250013</c:v>
                </c:pt>
                <c:pt idx="14">
                  <c:v>222.49267906250014</c:v>
                </c:pt>
                <c:pt idx="15">
                  <c:v>104.32351468750014</c:v>
                </c:pt>
                <c:pt idx="16">
                  <c:v>120.55015437500013</c:v>
                </c:pt>
                <c:pt idx="17">
                  <c:v>135.26287031250013</c:v>
                </c:pt>
                <c:pt idx="18">
                  <c:v>143.98681500000012</c:v>
                </c:pt>
                <c:pt idx="19">
                  <c:v>148.3697596875001</c:v>
                </c:pt>
                <c:pt idx="20">
                  <c:v>175.25270437500012</c:v>
                </c:pt>
                <c:pt idx="21">
                  <c:v>194.85543031250012</c:v>
                </c:pt>
                <c:pt idx="22">
                  <c:v>214.45815625000012</c:v>
                </c:pt>
                <c:pt idx="23">
                  <c:v>234.0608821875001</c:v>
                </c:pt>
                <c:pt idx="24">
                  <c:v>270.3756081250001</c:v>
                </c:pt>
                <c:pt idx="25">
                  <c:v>303.4142356250001</c:v>
                </c:pt>
                <c:pt idx="26">
                  <c:v>332.8444068750001</c:v>
                </c:pt>
                <c:pt idx="27">
                  <c:v>357.9335781250001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Combined</c:v>
                </c:pt>
              </c:strCache>
            </c:strRef>
          </c:tx>
          <c:spPr>
            <a:solidFill>
              <a:srgbClr val="A23B3B"/>
            </a:solidFill>
            <a:ln w="3175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M3</c:v>
                  </c:pt>
                  <c:pt idx="1">
                    <c:v>M6</c:v>
                  </c:pt>
                  <c:pt idx="2">
                    <c:v>M9</c:v>
                  </c:pt>
                  <c:pt idx="3">
                    <c:v>M12</c:v>
                  </c:pt>
                  <c:pt idx="4">
                    <c:v>M15</c:v>
                  </c:pt>
                  <c:pt idx="5">
                    <c:v>M18</c:v>
                  </c:pt>
                  <c:pt idx="6">
                    <c:v>M21</c:v>
                  </c:pt>
                  <c:pt idx="7">
                    <c:v>M24</c:v>
                  </c:pt>
                  <c:pt idx="8">
                    <c:v>M27</c:v>
                  </c:pt>
                  <c:pt idx="9">
                    <c:v>M30</c:v>
                  </c:pt>
                  <c:pt idx="10">
                    <c:v>M33</c:v>
                  </c:pt>
                  <c:pt idx="11">
                    <c:v>M36</c:v>
                  </c:pt>
                  <c:pt idx="12">
                    <c:v>M39</c:v>
                  </c:pt>
                  <c:pt idx="13">
                    <c:v>M42</c:v>
                  </c:pt>
                  <c:pt idx="14">
                    <c:v>M45</c:v>
                  </c:pt>
                  <c:pt idx="15">
                    <c:v>M48</c:v>
                  </c:pt>
                  <c:pt idx="16">
                    <c:v>M51</c:v>
                  </c:pt>
                  <c:pt idx="17">
                    <c:v>M54</c:v>
                  </c:pt>
                  <c:pt idx="18">
                    <c:v>M57</c:v>
                  </c:pt>
                  <c:pt idx="19">
                    <c:v>M60</c:v>
                  </c:pt>
                  <c:pt idx="20">
                    <c:v>M63</c:v>
                  </c:pt>
                  <c:pt idx="21">
                    <c:v>M66</c:v>
                  </c:pt>
                  <c:pt idx="22">
                    <c:v>M69</c:v>
                  </c:pt>
                  <c:pt idx="23">
                    <c:v>M72</c:v>
                  </c:pt>
                  <c:pt idx="24">
                    <c:v>M75</c:v>
                  </c:pt>
                  <c:pt idx="25">
                    <c:v>M78</c:v>
                  </c:pt>
                  <c:pt idx="26">
                    <c:v>M81</c:v>
                  </c:pt>
                  <c:pt idx="27">
                    <c:v>M84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-91.25</c:v>
                </c:pt>
                <c:pt idx="1">
                  <c:v>-102.5</c:v>
                </c:pt>
                <c:pt idx="2">
                  <c:v>-98.61076249999999</c:v>
                </c:pt>
                <c:pt idx="3">
                  <c:v>-164.5822875</c:v>
                </c:pt>
                <c:pt idx="4">
                  <c:v>-167.95463124999998</c:v>
                </c:pt>
                <c:pt idx="5">
                  <c:v>-144.33779375</c:v>
                </c:pt>
                <c:pt idx="6">
                  <c:v>-149.82265875</c:v>
                </c:pt>
                <c:pt idx="7">
                  <c:v>-135.16209937499997</c:v>
                </c:pt>
                <c:pt idx="8">
                  <c:v>-166.86948593749997</c:v>
                </c:pt>
                <c:pt idx="9">
                  <c:v>237.87383906250017</c:v>
                </c:pt>
                <c:pt idx="10">
                  <c:v>377.7166940625002</c:v>
                </c:pt>
                <c:pt idx="11">
                  <c:v>530.4856840625002</c:v>
                </c:pt>
                <c:pt idx="12">
                  <c:v>482.0967103125002</c:v>
                </c:pt>
                <c:pt idx="13">
                  <c:v>416.3258615625001</c:v>
                </c:pt>
                <c:pt idx="14">
                  <c:v>726.0710378125</c:v>
                </c:pt>
                <c:pt idx="15">
                  <c:v>577.7476059374999</c:v>
                </c:pt>
                <c:pt idx="16">
                  <c:v>464.7405181249999</c:v>
                </c:pt>
                <c:pt idx="17">
                  <c:v>381.0099065624998</c:v>
                </c:pt>
                <c:pt idx="18">
                  <c:v>426.53383874999975</c:v>
                </c:pt>
                <c:pt idx="19">
                  <c:v>465.9052059374997</c:v>
                </c:pt>
                <c:pt idx="20">
                  <c:v>547.5676124999998</c:v>
                </c:pt>
                <c:pt idx="21">
                  <c:v>614.8237521874997</c:v>
                </c:pt>
                <c:pt idx="22">
                  <c:v>673.2643543749997</c:v>
                </c:pt>
                <c:pt idx="23">
                  <c:v>721.4133290624997</c:v>
                </c:pt>
                <c:pt idx="24">
                  <c:v>808.7743037499996</c:v>
                </c:pt>
                <c:pt idx="25">
                  <c:v>892.8591799999997</c:v>
                </c:pt>
                <c:pt idx="26">
                  <c:v>973.3355999999997</c:v>
                </c:pt>
                <c:pt idx="27">
                  <c:v>1049.4710199999997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29.247325055002815</c:v>
                </c:pt>
                <c:pt idx="1">
                  <c:v>20.406197386547255</c:v>
                </c:pt>
                <c:pt idx="2">
                  <c:v>32.283998534570216</c:v>
                </c:pt>
                <c:pt idx="3">
                  <c:v>26.54639948399945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L'avenir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L'avenir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125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13,419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4,473 m2 retail and 8,946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54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13, construction from month 19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2.67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850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250 million (2.0x the ticket) at launch list prices. Projected investor IRR 29.2%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288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125 million (USD 2.6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112.5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250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288 million in 12 equal quarterly instalments of EGP 23.96 million; first payment month 39, last month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160,000 per m2, rising to 240,000 at the 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250,000 per m2, rising to 360,000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delivery list: +44% retail, +50% offices; offices +112% on today's asking, about 18% a year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15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14,910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4,473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8,946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13,419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19 to 54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850 million over six years; down payment EGP 85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Covers project funding gaps from its cash reserves and cash from other projects it is constructing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Completed projects, area delivered and units handed over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Management team biographies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Audited financial statements of Jalour and Al Jalal Holding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References from landlords, contractors and buyers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All provided after the investor signs a non-disclosure agreement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Sponsor materials are provided after the investor signs a non-disclosure agreement.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191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3,342 million; plan sells 80%: EGP 2,674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308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102.0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30)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Combined cash position: L'avenir and Green Square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28016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L'avenir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Green Square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Handover (month)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54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48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Sales plan, 80% of units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2,674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2,253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Net cash flow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595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375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NPV at 14%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308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215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Peak shortage (month)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102.0 (30)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102.5 (6)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24612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L'avenir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Green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Combined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102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244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269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318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236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478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Sales +12 months, prices -10%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849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441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1,089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 1"/>
          <p:cNvSpPr txBox="1"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Base case: the combined position is lowest at EGP 168.0 million in month 15 and turns positive in month 30.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In the stress cases both projects are short at the same time, so one project's cash cannot be assumed to fund the other.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Shown: these two projects only, before any investor instrument. Jalour's cash reserves and other projects are not included. No cross-collateral or cross-default between the projects.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Combined_Position sheet.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17.0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 (applied to uses)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Ticket above modelled uses (general liquidity)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125.0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102.0 million; the ticket is 123%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ticket exceeds the modelled peak by EGP 23.0 million. The excess is general project liquidity: it absorbs the timing risk on delivery payments (peak shortage EGP 244 million if they arrive at handover). It is not held in a restricted account.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250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288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54; resale from month 57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39 to 72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(delivery list 1.48x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2.87x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32.3% (3.16x)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20.4% (2.59x)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60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gaps from Jalour cash reserves and other projects' cash;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412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88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779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258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117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381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275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244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35% of the delivery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3.8x on a pooled-cash basis; net cash flow alone covers it in 7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44% to 50%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covers any gap from cash reserves and other projects' cash;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563368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68424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0461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0967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19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78815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9320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877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13832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39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11896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6952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3252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37576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57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83564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14069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72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12 (ticket due when the down payment of EGP 85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54);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39.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125 million in L'avenir,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L'avenir - Investment Presentation (EGP 125 million)</dc:title>
  <dc:subject>Strictly private and confidential</dc:subject>
  <dc:creator>Jalour Developments</dc:creator>
  <cp:lastModifiedBy>Jalour Developments</cp:lastModifiedBy>
  <cp:revision>1</cp:revision>
  <dcterms:created xsi:type="dcterms:W3CDTF">2026-10-08T08:36:31Z</dcterms:created>
  <dcterms:modified xsi:type="dcterms:W3CDTF">2026-10-08T08:36:31Z</dcterms:modified>
</cp:coreProperties>
</file>